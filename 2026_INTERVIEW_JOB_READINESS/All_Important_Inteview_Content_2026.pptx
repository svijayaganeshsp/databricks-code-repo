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472" r:id="rId2"/>
    <p:sldId id="479" r:id="rId3"/>
    <p:sldId id="703" r:id="rId4"/>
    <p:sldId id="708" r:id="rId5"/>
    <p:sldId id="475" r:id="rId6"/>
    <p:sldId id="497" r:id="rId7"/>
    <p:sldId id="705" r:id="rId8"/>
    <p:sldId id="682" r:id="rId9"/>
    <p:sldId id="709" r:id="rId10"/>
    <p:sldId id="684" r:id="rId11"/>
    <p:sldId id="685" r:id="rId12"/>
    <p:sldId id="689" r:id="rId13"/>
    <p:sldId id="693" r:id="rId14"/>
    <p:sldId id="706" r:id="rId15"/>
    <p:sldId id="707" r:id="rId16"/>
    <p:sldId id="694" r:id="rId17"/>
    <p:sldId id="695" r:id="rId18"/>
    <p:sldId id="696" r:id="rId19"/>
    <p:sldId id="697" r:id="rId20"/>
    <p:sldId id="698" r:id="rId21"/>
    <p:sldId id="699" r:id="rId22"/>
    <p:sldId id="700" r:id="rId23"/>
    <p:sldId id="701" r:id="rId24"/>
    <p:sldId id="702" r:id="rId25"/>
  </p:sldIdLst>
  <p:sldSz cx="12192000" cy="6858000"/>
  <p:notesSz cx="7102475" cy="897255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63" autoAdjust="0"/>
    <p:restoredTop sz="94660" autoAdjust="0"/>
  </p:normalViewPr>
  <p:slideViewPr>
    <p:cSldViewPr snapToGrid="0">
      <p:cViewPr varScale="1">
        <p:scale>
          <a:sx n="87" d="100"/>
          <a:sy n="87" d="100"/>
        </p:scale>
        <p:origin x="-725" y="-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2047.9375" units="1/cm"/>
          <inkml:channelProperty channel="Y" name="resolution" value="3276.69995" units="1/cm"/>
          <inkml:channelProperty channel="F" name="resolution" value="0" units="1/dev"/>
        </inkml:channelProperties>
      </inkml:inkSource>
      <inkml:timestamp xml:id="ts0" timeString="2024-03-04T01:21:29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2221 178,'4'-4'253,"0"2"-24,-2 0-28,2-2-59,-4 4-83,4-3-95,-2 1-313,1-2 118,-3 4 79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2047.9375" units="1/cm"/>
          <inkml:channelProperty channel="Y" name="resolution" value="3276.69995" units="1/cm"/>
          <inkml:channelProperty channel="F" name="resolution" value="0" units="1/dev"/>
        </inkml:channelProperties>
      </inkml:inkSource>
      <inkml:timestamp xml:id="ts0" timeString="2024-03-04T01:21:29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2221 178,'4'-4'253,"0"2"-24,-2 0-28,2-2-59,-4 4-83,4-3-95,-2 1-313,1-2 118,-3 4 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2047.9375" units="1/cm"/>
          <inkml:channelProperty channel="Y" name="resolution" value="3276.69995" units="1/cm"/>
          <inkml:channelProperty channel="F" name="resolution" value="0" units="1/dev"/>
        </inkml:channelProperties>
      </inkml:inkSource>
      <inkml:timestamp xml:id="ts0" timeString="2024-03-04T01:21:29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2221 178,'4'-4'253,"0"2"-24,-2 0-28,2-2-59,-4 4-83,4-3-95,-2 1-313,1-2 118,-3 4 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2047.9375" units="1/cm"/>
          <inkml:channelProperty channel="Y" name="resolution" value="3276.69995" units="1/cm"/>
          <inkml:channelProperty channel="F" name="resolution" value="0" units="1/dev"/>
        </inkml:channelProperties>
      </inkml:inkSource>
      <inkml:timestamp xml:id="ts0" timeString="2024-03-04T01:21:29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2221 178,'4'-4'253,"0"2"-24,-2 0-28,2-2-59,-4 4-83,4-3-95,-2 1-313,1-2 118,-3 4 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2-07-28T02:49:38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16651 10160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2-07-27T02:52:04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17868 12559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4-04-23T03:10:09.169"/>
    </inkml:context>
    <inkml:brush xml:id="br0">
      <inkml:brushProperty name="width" value="0.05292" units="cm"/>
      <inkml:brushProperty name="height" value="0.05292" units="cm"/>
      <inkml:brushProperty name="color" value="#1F497D"/>
    </inkml:brush>
  </inkml:definitions>
  <inkml:trace contextRef="#ctx0" brushRef="#br0">21502 16986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2047.9375" units="1/cm"/>
          <inkml:channelProperty channel="Y" name="resolution" value="3276.69995" units="1/cm"/>
          <inkml:channelProperty channel="F" name="resolution" value="0" units="1/dev"/>
        </inkml:channelProperties>
      </inkml:inkSource>
      <inkml:timestamp xml:id="ts0" timeString="2024-03-04T01:21:29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2221 178,'4'-4'253,"0"2"-24,-2 0-28,2-2-59,-4 4-83,4-3-95,-2 1-313,1-2 118,-3 4 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4-20T08:37:49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18697 11871 0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4-19T06:57:43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11342 8625 0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00" units="cm"/>
          <inkml:channel name="Y" type="integer" max="1350" units="cm"/>
        </inkml:traceFormat>
        <inkml:channelProperties>
          <inkml:channelProperty channel="X" name="resolution" value="47.15128" units="1/cm"/>
          <inkml:channelProperty channel="Y" name="resolution" value="47.2028" units="1/cm"/>
        </inkml:channelProperties>
      </inkml:inkSource>
      <inkml:timestamp xml:id="ts0" timeString="2022-07-25T02:46:55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18768 4022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4-20T05:12:51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11959 2522 0,'0'18'78,"-35"-18"-62,-106-18 15,35-35-15,71 36-1,-54-18 1,-34-54 15,88 72-15,-1-1 15,1-17 0,0-1-15,17 19 0,-17-18-1,0 17 1,17-17 15,-17-18 16,17 17-31,18 1-1,-18 18-15,18-36 47,-17 17-47,17 1 31,-18 17 1,18-17-1,0 0 0,0-18-15,0 18 15,0 17 0,18-17-15,-18 17-16,0 0 16,17-17-1,19 0 1,-19-18 15,1 35-15,17-17-16,-17 0 15,17 0 17,-17 17-32,17-17 31,0-1 0,18 1 0,-35 17-31,0 1 32,-1-1-17,19 18 16,-19-17 16,18-1-15,18 0-17,-17-17 1,-1 17-1,-17 1 1,34-1 15,-52 0 16,53 1 16,0-19-32,-35 36-15</inkml:trace>
  <inkml:trace contextRef="#ctx0" brushRef="#br0" timeOffset="1967.57">11800 900 0,'0'-18'16,"18"18"249,17 18-233,1-1 46,-19-17 250,-17 35-312,0 36 30,-17-53-30,-1 17 15,0 0 32</inkml:trace>
  <inkml:trace contextRef="#ctx0" brushRef="#br0" timeOffset="11528.4">12012 2981 0,'-18'0'203,"1"0"-187,-36 0 15,35 0-15,1 0-16,-1 0 15,-35 0 1,18 0-1,-18-18 17,35 18-32,1 0 15,-36-17 17,35 17-32,0 0 15,-17-18 1,17 0-1,1 18-15,-18-17 32,17-1-17,0 18-15,1-18 16,-1 1 0,0 17-16,1-18 15,-19 1 16,19-1-31,-1 18 0,-17-35 32,17 35-32,18-18 15,-17 0 1,-1 18-16,-17-53 31,-1 1 16,19 34-31,17-17-1,0 17 1,-18-17 15,0-1-15,18-16 15,0 34-31,0-17 31,0-18 1,0 17-17,0 19 1,0-1 15,0 0 0,0 1 47,0-1 79,0 1-110,0-1-32,0-17 1,0 17-1,0 0 1,0 1 15,0-1-15,18 18 0,-18-18 30,0 1 64</inkml:trace>
  <inkml:trace contextRef="#ctx0" brushRef="#br0" timeOffset="18370.93">12012 3828 0,'0'17'78,"-18"-17"16,1 0-78,-18 0-16,-18 0 15,17 0 1,1 0-1,0-17 1,-1 17 15,1-18-15,-18 0 0,36 1-16,-19 17 15,1-18 1,0 0-1,17 1 1,-17-1 0,-18 1-1,35-1-15,1 0 16,-19-17 0,36 17-1,-35-17 1,18 0-1,-54-18 17,71 35-32,-35 1 15,-1-19 1,36 19 0,-17-1-1,-1 0 1,0-17-1,18 17 1,-17 1 0,-1-36 15,18 35-31,-17 1 16,17-36 15,0 35-31,0-35 31,0 36-31,-18-19 31,0 1-15,18 17-16,0 1 31,0-1-15,18 0-1,-18-17 1,0 17 0,0 1-1,0-1 1,0 1 0,0-1-1,0 0 1,35 1 15,-35-19 16,18 19-31,-18-1 30,0 0-30,0 1 0,17 17-1,-17-18 48,0 1-48,0-1 32,0 0 16</inkml:trace>
  <inkml:trace contextRef="#ctx0" brushRef="#br0" timeOffset="43228.45">11730 4621 0,'-18'18'15,"-17"35"32,158-35-15,71-124-1,-123 53 16,-36 194 0,-35-106-32</inkml:trace>
  <inkml:trace contextRef="#ctx0" brushRef="#br0" timeOffset="49478.56">11959 4992 0,'-17'0'47,"-19"0"-15,-105 88-1,53-35 0,35 0-15,53-36-1,0 1 1,18-18-16,35 0 31,35 35-15,-71-17-1,-87 176 32,70-176-47,-35 35 16,-1-36-16,1 36 31,53-70 16,-1 17-31,19 0 15,-19 0-15,1 35-1,-18 18 1,-18 35-1,18-53-15,-53 36 32,18-1-1,88 1 0,53 17 0,-89-70-31,36-1 16,53-17 15,-71 0-15</inkml:trace>
  <inkml:trace contextRef="#ctx0" brushRef="#br0" timeOffset="50658.5199">10037 5274 0,'17'-18'31,"-17"54"-15,0-19-16,0 142 46,-17-159-30</inkml:trace>
  <inkml:trace contextRef="#ctx0" brushRef="#br0" timeOffset="50933.91">10072 5274 0,'17'0'0,"-34"0"0,70-18 15,-53 107 16,17-54-15,-17-18-16,53 36 31,18-70-15,-18-36 0,0-71 15,-53 107-31,17-1 0,1-35 31</inkml:trace>
  <inkml:trace contextRef="#ctx0" brushRef="#br0" timeOffset="51225.2">10460 5380 0,'0'17'0,"0"-34"0,0 52 15,0-17 1,17-18 0,36 0-1,-35 0-15,35 0 16,35-159 31,-229 106 0,35 124-32</inkml:trace>
  <inkml:trace contextRef="#ctx0" brushRef="#br0" timeOffset="52528.25">9613 5750 0,'0'36'16,"-35"34"15,17-35-15,18-35 30,53-105-14,-18 140 15,-17 18-1,88-124-14,-18 36 15,-88 105-16,0-34-16</inkml:trace>
  <inkml:trace contextRef="#ctx0" brushRef="#br0" timeOffset="52810.58">10001 5768 0,'0'0'0,"0"35"16,-53 0 15,36 18 0,52-53-15,18 0 0,17-70-1,-52-18 16,-18 70-15,-18 18 0,-17 0-16</inkml:trace>
  <inkml:trace contextRef="#ctx0" brushRef="#br0" timeOffset="53042.88">10107 5821 0,'18'0'0,"-36"0"0,89 17 31,-71-52 16,0-18-31,17 53-16,-17-35 31,18 35-16,0 0-15,-1 0 16,-17 18-16</inkml:trace>
  <inkml:trace contextRef="#ctx0" brushRef="#br0" timeOffset="53387.49">10354 5838 0,'35'-17'63,"-17"17"-47,0-18-1,-1-17 1,-17 17-1,-53 1 1,18 17 0,-18 53-1,35-36 1,54 54 15,246-54 0</inkml:trace>
  <inkml:trace contextRef="#ctx0" brushRef="#br0" timeOffset="53997.55">10954 5697 0,'0'0'15,"-18"0"16,0 36-15,1-19 0,-18 19-16,-1 34 31,36-35-15,18-35-1,70 0 1</inkml:trace>
  <inkml:trace contextRef="#ctx0" brushRef="#br0" timeOffset="54246.65">11130 5803 0,'0'0'0,"-35"0"31,0 35 0,35-17-31,17 0 31,1-18-15,-1-18 0,1-35 15,-18 36-15,-18 17-16,18-18 15,-17 18 1</inkml:trace>
  <inkml:trace contextRef="#ctx0" brushRef="#br0" timeOffset="54867.38">11359 5609 0,'0'0'0,"18"0"16,-18 18 15,-35 35-31,35-36 15,-35 54 1,-1 35 15,36-89-15,18-17 0,0-105 15,-18 69-16,-36 1 17,1 35-17,17 35 1,1-17-16,-1-18 0,0 70 16,18-34 15,0-19-31,53 1 15,141-36 17,-123-70-1,-71 53-15,0 17-16,0 1 15,-18 52 16,-35 18-15,53-36-16,-17 1 16,-1 35 15,53-53-31,124 18 16,-88-18-1</inkml:trace>
  <inkml:trace contextRef="#ctx0" brushRef="#br0" timeOffset="57563.66">20214 4674 0,'-17'0'15,"105"0"32,229 0-16,-140 0 1,-124 0-17,-36 0-15,18 0 16,-17 0 15</inkml:trace>
  <inkml:trace contextRef="#ctx0" brushRef="#br0" timeOffset="58332.53">20884 4568 0,'18'0'94,"53"53"-63,17-17-16,-71-19 1,1-17 15,-53 0 16,17 18-16,-35 35-15,36-36-16,-1 36 16,-17-17-1,17-19 1</inkml:trace>
  <inkml:trace contextRef="#ctx0" brushRef="#br0" timeOffset="60164.2">21502 4516 0,'17'0'31,"-52"17"-15,-53 177 31,70-141-32</inkml:trace>
  <inkml:trace contextRef="#ctx0" brushRef="#br0" timeOffset="60412.67">21537 4498 0,'-18'0'31,"18"35"-15,18-35-16,53 177 47,-54-89-16</inkml:trace>
  <inkml:trace contextRef="#ctx0" brushRef="#br0" timeOffset="60577.25">21449 4639 0,'0'0'15,"53"18"17,88-1-1</inkml:trace>
  <inkml:trace contextRef="#ctx0" brushRef="#br0" timeOffset="60778.25">21749 4621 0,'0'0'15,"17"36"1,-17-19 0,0 71-1,0-52-15,-17 34 16,17-17-1,0-35-15</inkml:trace>
  <inkml:trace contextRef="#ctx0" brushRef="#br0" timeOffset="61029.08">21837 4639 0,'0'-18'0,"0"36"0,35-71 31,36 53 1,-71 18-17,0 17-15,0-17 16,-18-1 0,0-17-16,-52 18 15,17-18 1,53 18-1</inkml:trace>
  <inkml:trace contextRef="#ctx0" brushRef="#br0" timeOffset="61212.17">22049 4657 0,'0'17'31,"0"19"-15,0 52 0,0 0 15</inkml:trace>
  <inkml:trace contextRef="#ctx0" brushRef="#br0" timeOffset="61458.97">22084 4621 0,'0'0'0,"18"-17"15,-1 17 1,1 35 0,-1-17-1,-17 35 1,0-18-1,-52-18 1,16-17 15,19 0-15,17-17-16</inkml:trace>
  <inkml:trace contextRef="#ctx0" brushRef="#br0" timeOffset="61835.03">22296 4498 0,'0'0'0,"17"-18"16,-17 89 15,0 17-15,0-70-16,0 52 15,0-17 1</inkml:trace>
  <inkml:trace contextRef="#ctx0" brushRef="#br0" timeOffset="61971.73">22525 4692 0,'0'0'0,"-18"18"47,1 17-31</inkml:trace>
  <inkml:trace contextRef="#ctx0" brushRef="#br0" timeOffset="62125.91">22542 4533 0,'0'0'0,"0"-35"16,0 17 0,-17 18-1</inkml:trace>
  <inkml:trace contextRef="#ctx0" brushRef="#br0" timeOffset="62366.63">22789 4604 0,'-17'0'31,"34"0"-31,-69 0 15,34 0-15,-35 17 16,0 54 0,53-36-1,35 0 1,89-17 0,-1-18-1,-87 0-15,-1-18 16</inkml:trace>
  <inkml:trace contextRef="#ctx0" brushRef="#br0" timeOffset="62661.27">23072 4692 0,'0'0'16,"-71"-18"15,-17 89 0,88-36-15,0-17-1,35-18-15,0 0 16,54-53 0,-72 53-16,54-18 31,-18 18 31</inkml:trace>
  <inkml:trace contextRef="#ctx0" brushRef="#br0" timeOffset="62842.23">23336 4533 0,'18'-17'16,"-36"34"-16,54-52 15,-36 70 16,0 18-15,0-35-16,0 17 16,-53 53 15,35-88-31</inkml:trace>
  <inkml:trace contextRef="#ctx0" brushRef="#br0" timeOffset="63045.66">23266 4674 0,'17'0'16,"1"0"-16,-53 0 0,123-17 31,-70 17-15,70 17 0,-35 71 15,-89-35 16</inkml:trace>
  <inkml:trace contextRef="#ctx0" brushRef="#br0" timeOffset="63193.45">23566 4568 0,'0'-17'31,"0"34"-15</inkml:trace>
  <inkml:trace contextRef="#ctx0" brushRef="#br0" timeOffset="63462.75">23654 4674 0,'-53'36'31,"53"52"16,35-88-16,-17-18-31,17-17 0,0 0 16,-35 17-1,0 0-15,0 1 32</inkml:trace>
  <inkml:trace contextRef="#ctx0" brushRef="#br0" timeOffset="63692.13">23760 4710 0,'0'0'0,"17"0"16,-17 17-16,35-17 31,18-35 0,-35 35-15,-18 35 15,18-35-31,-1 53 16,1-35-1</inkml:trace>
  <inkml:trace contextRef="#ctx0" brushRef="#br0" timeOffset="64158.86">24430 4621 0,'0'18'0,"0"0"15,0-1 1,-18 19 15,18-19-31</inkml:trace>
  <inkml:trace contextRef="#ctx0" brushRef="#br0" timeOffset="64283.41">24553 4480 0,'0'-17'0,"0"34"0,0-52 15,-35 35 1</inkml:trace>
  <inkml:trace contextRef="#ctx0" brushRef="#br0" timeOffset="64597.87">24818 4551 0,'0'0'16,"-53"0"15,35 0-31,-35 17 16,-35 54-1,71-53 1,70 35 0,35-36 15,-35 1-16,-212-18 48,53 0-47</inkml:trace>
  <inkml:trace contextRef="#ctx0" brushRef="#br0" timeOffset="65229.91">25312 4621 0,'17'0'15,"19"0"32,52-17-31,-18-54 15,-122 36 0,16 35-15,-52 123 15,88-105-31,124 70 31,122-53 1</inkml:trace>
  <inkml:trace contextRef="#ctx0" brushRef="#br0" timeOffset="65450.17">25717 4604 0,'195'123'93,"-178"-123"-77</inkml:trace>
  <inkml:trace contextRef="#ctx0" brushRef="#br0" timeOffset="65632.14">25876 4586 0,'-17'0'32,"34"0"-32,-158 106 31,123-88-31,-17 17 16,0 53 15</inkml:trace>
  <inkml:trace contextRef="#ctx0" brushRef="#br0" timeOffset="65797.34">26000 4657 0,'-36'17'15,"36"1"1,-17 0 0</inkml:trace>
  <inkml:trace contextRef="#ctx0" brushRef="#br0" timeOffset="65960.2">26053 4463 0,'0'0'16,"0"-18"-1</inkml:trace>
  <inkml:trace contextRef="#ctx0" brushRef="#br0" timeOffset="66227.75">26264 4463 0,'-35'0'16,"35"53"-1,-18-53-15,18 17 0,-35 54 16,17-1 15,1-17-15,34-35 15,19-36-31,-1 18 16</inkml:trace>
  <inkml:trace contextRef="#ctx0" brushRef="#br0" timeOffset="66381.53">26158 4586 0,'0'0'15,"18"0"17,70 0-17,-70 0 1,17 0-16</inkml:trace>
  <inkml:trace contextRef="#ctx0" brushRef="#br0" timeOffset="66710.23">26370 4674 0,'0'0'16,"18"18"0,35-18 15,-18-18-16,0 1 1,-17-36 0,0 35-1,-18 0 1,-36 18 0,-17 36-1,36-36-15,-36 35 16,53 0-1,0-17 1,53 0 0,53-18 15,-71 0-31</inkml:trace>
  <inkml:trace contextRef="#ctx0" brushRef="#br0" timeOffset="66943.3">26811 4621 0,'0'0'0,"-35"18"63,-71 53-47,88-36-1,18-18 16,71-34-15,17-54 15</inkml:trace>
  <inkml:trace contextRef="#ctx0" brushRef="#br0" timeOffset="67160.48">26952 4392 0,'0'0'16,"-17"53"31,140 264 0,-70-281-32,-18-19-15</inkml:trace>
  <inkml:trace contextRef="#ctx0" brushRef="#br0" timeOffset="68980.31">26899 4639 0,'0'18'63,"-17"-18"-32,-1-18-15,0 18-1,-176 35 32,141 53-15,53-70-32,159 35 31,70-71 16,-211 18-47,0-17 0,17-19 31,-35 19-31</inkml:trace>
  <inkml:trace contextRef="#ctx0" brushRef="#br0" timeOffset="-55871.49">14482 15205 0,'35'-36'15,"35"-105"17,19 71-17,-1-54 17,35-17-17,1 0 1,70-35-1,53-71 48,-194 211-63,105-175 47,1 17 0,-141 158-47,70-87 78,0 17-47,36 36 0,34-36 1,-105 88-32,35-35 31,-88 36 63,36-1-48</inkml:trace>
  <inkml:trace contextRef="#ctx0" brushRef="#br0" timeOffset="-54548.25">16439 12947 0,'0'35'79,"53"-35"-64,-35 0 1,35 0-1,-35 0 1,52 0 0,-52 0-1,-1 0-15,1 18 63,-18-1 15,0 1-47,0 0-15,-18 17-1,1 18 17,-1-53-32,0 35 31,18-17 16,0 0-32,0-1-15,0 1 16,0 17 15</inkml:trace>
  <inkml:trace contextRef="#ctx0" brushRef="#br0" timeOffset="-49581.4">14482 15222 0,'-18'0'109,"-35"-17"-93,-18-107-1,-211-52 17,141 52-17,18 54 1,17 35-16,-18-54 47,-70-16-32,124 52 1,17 17 0,18 19-1,-1-1-15,-17-53 16,0 36-1,18-18 1,-106-70 15,106 105-15,-18-52 0,18 52-16,-1-17 15,19-1 1,-72-34-1,37 17 1,-19 0 15,53 35-31,1 1 16,-36-19 15,0 1-15,0 0 15,0 0 0,0-18 1,0 0-17,36 53 1,-19-18-1,19 1 1,-1-1 0,0 18-16,-17-35 31,17 35-15,1-18-16,-1 0 31,1 18 0,-19 0 16,19-17 31,17-1 0,-18 18-31,0-18 0,1-17-31,-1 35 15,18-17 63</inkml:trace>
  <inkml:trace contextRef="#ctx0" brushRef="#br0" timeOffset="-48364.64">11747 13458 0,'-17'-17'62,"17"-1"-30,0-52-1,0 52-15,0 0 15,0-17-16,17 17 17,1 1 140,0-1-157,17 18 16,-17-17-15,35 17 125,17 0-110,-52 0-15,17 17-1,-17-17-15,-1 0 16,19 0-1</inkml:trace>
  <inkml:trace contextRef="#ctx0" brushRef="#br0" timeOffset="-46480.0199">11007 12771 0,'17'0'47,"213"0"-32,-54 0 17,-105-18-17,-19 18 1,-34 0-1,0 0-15,17 0 16,53 0 0,-70 0-1,-1 0 17,1 0 46,0 18-63,-18 52 17,0-35-17,0-17 1,0 17 15,0-17-31,0 17 31,0-17-15,0-1 15,-71 54 0,36-53-15,-89-1 0,72-17 15,34 36-15,-35-36-1,-53 17 1,18 1-16,70-18 15,-158 0 1,141 0 0,-54 35 15,72-35-31,-18 0 16,-1 0 46,1-17-15,35-1-31,-18-53 15,18 36-16,0 17-15,0 1 16,0-54 0,18 18 15,-18 18-15,18 17-1,-18 1 16,0-1-15,17 18 0,1 0 77,35-18-77,-36 18-16,1 0 16,194-52 15,-142 34-15</inkml:trace>
  <inkml:trace contextRef="#ctx0" brushRef="#br0" timeOffset="-44975.1599">16739 12629 0,'18'0'62,"0"36"-46,17 105 15,-18-35 0,-17-71-15,18 53 15</inkml:trace>
  <inkml:trace contextRef="#ctx0" brushRef="#br0" timeOffset="-42936.21">16739 12665 0,'18'0'78,"176"0"-46,-18 0-1,-17-18-15,-71 0-1,-70 18 16,17 0 32,0 0-47,1 0 140,-19 89-125,1-19-15,-18-52-1,0 35 1,0-36-16,0 36 31,0-35-15,0 17-1,-35-17 282,-124-18-265,106 0-17,0 0 1,18 0-16,0 0 15,17 0 1,0 0 15,-17 0-15,-18 0 31,18 0-32,-18 0 48,35 0 15,-17 0-62,17 0 46,-17 0-31</inkml:trace>
  <inkml:trace contextRef="#ctx0" brushRef="#br0" timeOffset="-35431.56">17233 12382 0</inkml:trace>
  <inkml:trace contextRef="#ctx0" brushRef="#br0" timeOffset="-32158.82">11201 12506 0</inkml:trace>
  <inkml:trace contextRef="#ctx0" brushRef="#br0" timeOffset="-7733.17">17233 12365 0,'0'17'78,"18"1"1,-1 17-64,1-35 1,0 18-1,-1-18 110,1 0-109,0 0 0,35-35 15,-18-53-15,18 52-1,-53 19 1,17-1-1,1 0 17,0 1-1,-1 17 94,1 35-94,-18-17-15,0-1-1,0 1-15,18 17 32,-18 0 30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24-05-02T03:26:39.306"/>
    </inkml:context>
    <inkml:brush xml:id="br0">
      <inkml:brushProperty name="width" value="0.05292" units="cm"/>
      <inkml:brushProperty name="height" value="0.05292" units="cm"/>
      <inkml:brushProperty name="color" value="#9DBB61"/>
    </inkml:brush>
  </inkml:definitions>
  <inkml:trace contextRef="#ctx0" brushRef="#br0">23477 14393</inkml:trace>
  <inkml:trace contextRef="#ctx0" brushRef="#br0" timeOffset="2840.05">23160 10248,'0'18,"17"-18,1-18,17 18,-35-17,18 17,0-18,-18 0,17 18,19-17,-19 17</inkml:trace>
  <inkml:trace contextRef="#ctx0" brushRef="#br0" timeOffset="14736.63">10442 8114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0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0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4D6DA-17AE-4009-BCEB-33EAFFB3358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0425" y="1122363"/>
            <a:ext cx="5381625" cy="3027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18039"/>
            <a:ext cx="5681980" cy="353294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22366"/>
            <a:ext cx="3077739" cy="4501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22366"/>
            <a:ext cx="3077739" cy="4501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30D65-9EA7-4AAC-9D6A-4DD94828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4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2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1" y="3869639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182" indent="0" algn="ctr">
              <a:buNone/>
              <a:defRPr sz="2200"/>
            </a:lvl2pPr>
            <a:lvl3pPr marL="914363" indent="0" algn="ctr">
              <a:buNone/>
              <a:defRPr sz="2200"/>
            </a:lvl3pPr>
            <a:lvl4pPr marL="1371545" indent="0" algn="ctr">
              <a:buNone/>
              <a:defRPr sz="2000"/>
            </a:lvl4pPr>
            <a:lvl5pPr marL="1828727" indent="0" algn="ctr">
              <a:buNone/>
              <a:defRPr sz="2000"/>
            </a:lvl5pPr>
            <a:lvl6pPr marL="2285909" indent="0" algn="ctr">
              <a:buNone/>
              <a:defRPr sz="2000"/>
            </a:lvl6pPr>
            <a:lvl7pPr marL="2743090" indent="0" algn="ctr">
              <a:buNone/>
              <a:defRPr sz="2000"/>
            </a:lvl7pPr>
            <a:lvl8pPr marL="3200272" indent="0" algn="ctr">
              <a:buNone/>
              <a:defRPr sz="2000"/>
            </a:lvl8pPr>
            <a:lvl9pPr marL="3657454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0E9C89E-7664-4CD4-80E5-5CAB0EE8CA2D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F57CD89-757B-0440-8DF1-F633E909878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3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32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46F71-B750-4C3B-B9FE-636DEF20EF49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8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4B281-7472-426C-8574-BE3C2A53E986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3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27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0890-C305-4EC0-89C1-6B2AA232A444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13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F8715-5AA5-4D8F-B5FC-DEFE3841450A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77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625C-C969-4A75-8312-83B8CA507123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60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D41B-08CE-4F6F-BE3E-F5C38C3C4116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75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51F27-A33B-4B78-A7CE-C1FF9DD04B88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11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09" tIns="182873" anchor="t">
            <a:normAutofit/>
          </a:bodyPr>
          <a:lstStyle>
            <a:lvl1pPr marL="0" indent="0">
              <a:buNone/>
              <a:defRPr sz="28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A7CC-E82E-4997-AFAF-A42498C2F9FC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34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C2B2-1C51-4632-807E-B60994BCC9EE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86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3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2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C8E70-394A-4A58-B8FD-F5F5C50E307E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14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2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4" y="2057400"/>
            <a:ext cx="9872871" cy="4038600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8" y="6223833"/>
            <a:ext cx="2329075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C2BDA86-20A7-4E23-B042-40A0955C580C}" type="datetime1">
              <a:rPr lang="en-US" smtClean="0">
                <a:solidFill>
                  <a:srgbClr val="1CADE4"/>
                </a:solidFill>
              </a:rPr>
              <a:t>4/12/2026</a:t>
            </a:fld>
            <a:endParaRPr lang="en-US">
              <a:solidFill>
                <a:srgbClr val="1CADE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51" y="6223833"/>
            <a:ext cx="4717775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3" y="6223833"/>
            <a:ext cx="1706217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F57CD89-757B-0440-8DF1-F633E9098789}" type="slidenum">
              <a:rPr lang="en-US" smtClean="0">
                <a:solidFill>
                  <a:srgbClr val="1CADE4"/>
                </a:solidFill>
              </a:rPr>
              <a:pPr/>
              <a:t>‹#›</a:t>
            </a:fld>
            <a:endParaRPr lang="en-US">
              <a:solidFill>
                <a:srgbClr val="1CAD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8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1" indent="-182873" algn="l" defTabSz="914363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182" indent="-182873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491" indent="-182873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00" indent="-182873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09" indent="-182873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99936" indent="-228591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4" indent="-228591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99912" indent="-228591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00" indent="-228591" algn="l" defTabSz="914363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5.xml"/><Relationship Id="rId14" Type="http://schemas.openxmlformats.org/officeDocument/2006/relationships/image" Target="../media/image48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2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80.emf"/><Relationship Id="rId15" Type="http://schemas.openxmlformats.org/officeDocument/2006/relationships/image" Target="../media/image67.emf"/><Relationship Id="rId4" Type="http://schemas.openxmlformats.org/officeDocument/2006/relationships/customXml" Target="../ink/ink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0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0.png"/><Relationship Id="rId4" Type="http://schemas.openxmlformats.org/officeDocument/2006/relationships/customXml" Target="../ink/ink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3346" y="2671489"/>
            <a:ext cx="7998161" cy="122662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learnings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INCEPTEZ TECHNOLOGIES</a:t>
            </a:r>
          </a:p>
        </p:txBody>
      </p:sp>
    </p:spTree>
    <p:extLst>
      <p:ext uri="{BB962C8B-B14F-4D97-AF65-F5344CB8AC3E}">
        <p14:creationId xmlns:p14="http://schemas.microsoft.com/office/powerpoint/2010/main" val="3137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05F7E99-33DC-232B-79AC-F6EFF49F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7EF1DD0-123D-AD6A-5DEA-C4D8C51D9482}"/>
              </a:ext>
            </a:extLst>
          </p:cNvPr>
          <p:cNvSpPr txBox="1"/>
          <p:nvPr/>
        </p:nvSpPr>
        <p:spPr>
          <a:xfrm>
            <a:off x="1749693" y="2492256"/>
            <a:ext cx="8261549" cy="1077214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591" algn="ctr"/>
            <a:r>
              <a:rPr lang="en-US" sz="32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Hadoop Basics </a:t>
            </a:r>
          </a:p>
          <a:p>
            <a:pPr marL="228591" algn="ctr"/>
            <a:r>
              <a:rPr lang="en-US" sz="32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(Distributed Storage &amp; Processing)</a:t>
            </a:r>
            <a:endParaRPr lang="en-US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BEFA110-3680-6242-4EC8-A55436A7BA5A}"/>
              </a:ext>
            </a:extLst>
          </p:cNvPr>
          <p:cNvSpPr/>
          <p:nvPr/>
        </p:nvSpPr>
        <p:spPr>
          <a:xfrm>
            <a:off x="2766950" y="1947557"/>
            <a:ext cx="587995" cy="2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364F915E-B889-3848-EFEE-53584EAD8137}"/>
                  </a:ext>
                </a:extLst>
              </p14:cNvPr>
              <p14:cNvContentPartPr/>
              <p14:nvPr/>
            </p14:nvContentPartPr>
            <p14:xfrm>
              <a:off x="2736360" y="792000"/>
              <a:ext cx="8640" cy="7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840" y="788760"/>
                <a:ext cx="1440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Footer Placeholder 9">
            <a:extLst>
              <a:ext uri="{FF2B5EF4-FFF2-40B4-BE49-F238E27FC236}">
                <a16:creationId xmlns="" xmlns:a16="http://schemas.microsoft.com/office/drawing/2014/main" id="{73F54EF3-810A-F5DE-D938-DBC27A92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51" y="6223833"/>
            <a:ext cx="4717775" cy="365125"/>
          </a:xfrm>
        </p:spPr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</p:spTree>
    <p:extLst>
      <p:ext uri="{BB962C8B-B14F-4D97-AF65-F5344CB8AC3E}">
        <p14:creationId xmlns:p14="http://schemas.microsoft.com/office/powerpoint/2010/main" val="101582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1CADE4"/>
                </a:solidFill>
              </a:rPr>
              <a:t>INCEPTEZ TECHNOLOGIES</a:t>
            </a:r>
            <a:endParaRPr lang="en-US">
              <a:solidFill>
                <a:srgbClr val="1CADE4"/>
              </a:solidFill>
            </a:endParaRPr>
          </a:p>
        </p:txBody>
      </p:sp>
      <p:pic>
        <p:nvPicPr>
          <p:cNvPr id="7170" name="Picture 2" descr="C:\Users\moham\Downloads\ChatGPT Image Mar 28, 2026, 12_02_30 A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511" y="515054"/>
            <a:ext cx="2279051" cy="341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moham\Downloads\datanode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689" y="2728544"/>
            <a:ext cx="2279051" cy="341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moham\Downloads\DATANODE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518" y="2728544"/>
            <a:ext cx="2279051" cy="341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153716" y="187314"/>
            <a:ext cx="11716392" cy="436529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u="sng" dirty="0" smtClean="0"/>
              <a:t>Distributed Storage</a:t>
            </a:r>
            <a:r>
              <a:rPr lang="en-US" sz="2400" b="1" dirty="0" smtClean="0"/>
              <a:t> &amp; Processing Architecture </a:t>
            </a:r>
            <a:r>
              <a:rPr lang="en-US" sz="1100" b="1" dirty="0" smtClean="0"/>
              <a:t>(Master Slave Architecture)</a:t>
            </a:r>
            <a:endParaRPr lang="en-US" sz="2400" b="1" dirty="0"/>
          </a:p>
        </p:txBody>
      </p:sp>
      <p:pic>
        <p:nvPicPr>
          <p:cNvPr id="7174" name="Picture 6" descr="Modern Coworking Office Interior Three Computers Stock Illustration  1722562579 | Shutter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214" y="85458"/>
            <a:ext cx="2790946" cy="200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>
            <a:stCxn id="7172" idx="3"/>
            <a:endCxn id="7170" idx="1"/>
          </p:cNvCxnSpPr>
          <p:nvPr/>
        </p:nvCxnSpPr>
        <p:spPr>
          <a:xfrm flipV="1">
            <a:off x="3795569" y="2224343"/>
            <a:ext cx="578942" cy="22134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170" idx="3"/>
            <a:endCxn id="7171" idx="1"/>
          </p:cNvCxnSpPr>
          <p:nvPr/>
        </p:nvCxnSpPr>
        <p:spPr>
          <a:xfrm>
            <a:off x="6653562" y="2224343"/>
            <a:ext cx="987127" cy="22134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5569" y="4808286"/>
            <a:ext cx="263084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 smtClean="0"/>
              <a:t>BM Hardware</a:t>
            </a:r>
          </a:p>
          <a:p>
            <a:r>
              <a:rPr lang="en-US" sz="900" b="1" dirty="0" smtClean="0"/>
              <a:t>OS, RTE, MWE</a:t>
            </a:r>
          </a:p>
          <a:p>
            <a:r>
              <a:rPr lang="en-US" sz="900" b="1" dirty="0" smtClean="0"/>
              <a:t>Hadoop &amp; Spark</a:t>
            </a:r>
          </a:p>
          <a:p>
            <a:r>
              <a:rPr lang="en-US" sz="900" b="1" dirty="0" smtClean="0">
                <a:solidFill>
                  <a:srgbClr val="C00000"/>
                </a:solidFill>
              </a:rPr>
              <a:t>Data-node</a:t>
            </a:r>
          </a:p>
          <a:p>
            <a:r>
              <a:rPr lang="en-US" sz="900" b="1" dirty="0" smtClean="0">
                <a:solidFill>
                  <a:srgbClr val="C00000"/>
                </a:solidFill>
              </a:rPr>
              <a:t>(Data as Blocks, Responding </a:t>
            </a:r>
            <a:r>
              <a:rPr lang="en-US" sz="900" b="1" dirty="0" err="1" smtClean="0">
                <a:solidFill>
                  <a:srgbClr val="C00000"/>
                </a:solidFill>
              </a:rPr>
              <a:t>Namenode</a:t>
            </a:r>
            <a:r>
              <a:rPr lang="en-US" sz="900" b="1" dirty="0" smtClean="0">
                <a:solidFill>
                  <a:srgbClr val="C00000"/>
                </a:solidFill>
              </a:rPr>
              <a:t> &amp; Client)</a:t>
            </a:r>
            <a:endParaRPr lang="en-IN" sz="900" b="1" dirty="0">
              <a:solidFill>
                <a:srgbClr val="C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41917" y="833420"/>
            <a:ext cx="1555234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 smtClean="0"/>
              <a:t>BM Hardware</a:t>
            </a:r>
          </a:p>
          <a:p>
            <a:r>
              <a:rPr lang="en-US" sz="900" b="1" dirty="0" smtClean="0"/>
              <a:t>OS, RTE, MWE</a:t>
            </a:r>
          </a:p>
          <a:p>
            <a:r>
              <a:rPr lang="en-US" sz="900" b="1" dirty="0" smtClean="0"/>
              <a:t>Hadoop &amp; Spark</a:t>
            </a:r>
          </a:p>
          <a:p>
            <a:r>
              <a:rPr lang="en-US" sz="900" b="1" u="sng" dirty="0" smtClean="0">
                <a:solidFill>
                  <a:srgbClr val="C00000"/>
                </a:solidFill>
              </a:rPr>
              <a:t>Name-node </a:t>
            </a:r>
          </a:p>
          <a:p>
            <a:r>
              <a:rPr lang="en-US" sz="900" b="1" dirty="0" smtClean="0">
                <a:solidFill>
                  <a:srgbClr val="C00000"/>
                </a:solidFill>
              </a:rPr>
              <a:t>(Metadata &amp; Cluster admin)</a:t>
            </a:r>
            <a:endParaRPr lang="en-IN" sz="900" dirty="0">
              <a:solidFill>
                <a:srgbClr val="C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45963" y="3610465"/>
            <a:ext cx="263084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 smtClean="0"/>
              <a:t>BM Hardware</a:t>
            </a:r>
          </a:p>
          <a:p>
            <a:r>
              <a:rPr lang="en-US" sz="900" b="1" dirty="0" smtClean="0"/>
              <a:t>OS, RTE, MWE</a:t>
            </a:r>
          </a:p>
          <a:p>
            <a:r>
              <a:rPr lang="en-US" sz="900" b="1" dirty="0" smtClean="0"/>
              <a:t>Hadoop &amp; Spark</a:t>
            </a:r>
          </a:p>
          <a:p>
            <a:r>
              <a:rPr lang="en-US" sz="900" b="1" dirty="0" err="1" smtClean="0">
                <a:solidFill>
                  <a:srgbClr val="C00000"/>
                </a:solidFill>
              </a:rPr>
              <a:t>Datanode</a:t>
            </a:r>
            <a:endParaRPr lang="en-US" sz="900" b="1" dirty="0" smtClean="0">
              <a:solidFill>
                <a:srgbClr val="C00000"/>
              </a:solidFill>
            </a:endParaRPr>
          </a:p>
          <a:p>
            <a:r>
              <a:rPr lang="en-US" sz="900" b="1" dirty="0">
                <a:solidFill>
                  <a:srgbClr val="C00000"/>
                </a:solidFill>
              </a:rPr>
              <a:t>(Data as Blocks, Responding </a:t>
            </a:r>
            <a:r>
              <a:rPr lang="en-US" sz="900" b="1" dirty="0" err="1">
                <a:solidFill>
                  <a:srgbClr val="C00000"/>
                </a:solidFill>
              </a:rPr>
              <a:t>Namenode</a:t>
            </a:r>
            <a:r>
              <a:rPr lang="en-US" sz="900" b="1" dirty="0">
                <a:solidFill>
                  <a:srgbClr val="C00000"/>
                </a:solidFill>
              </a:rPr>
              <a:t> &amp; Client</a:t>
            </a:r>
            <a:r>
              <a:rPr lang="en-US" sz="900" b="1" dirty="0" smtClean="0">
                <a:solidFill>
                  <a:srgbClr val="C00000"/>
                </a:solidFill>
              </a:rPr>
              <a:t>)</a:t>
            </a:r>
            <a:endParaRPr lang="en-IN" sz="900" b="1" dirty="0">
              <a:solidFill>
                <a:srgbClr val="C00000"/>
              </a:solidFill>
            </a:endParaRPr>
          </a:p>
        </p:txBody>
      </p:sp>
      <p:sp>
        <p:nvSpPr>
          <p:cNvPr id="9" name="Can 8"/>
          <p:cNvSpPr/>
          <p:nvPr/>
        </p:nvSpPr>
        <p:spPr>
          <a:xfrm>
            <a:off x="708798" y="1001060"/>
            <a:ext cx="807720" cy="7667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/>
              <a:t>MYSQL</a:t>
            </a:r>
          </a:p>
          <a:p>
            <a:pPr algn="ctr"/>
            <a:r>
              <a:rPr lang="en-IN" sz="1200" dirty="0" smtClean="0"/>
              <a:t>200mb</a:t>
            </a:r>
            <a:endParaRPr lang="en-IN" sz="1200" dirty="0"/>
          </a:p>
        </p:txBody>
      </p:sp>
      <p:sp>
        <p:nvSpPr>
          <p:cNvPr id="17" name="Can 16"/>
          <p:cNvSpPr/>
          <p:nvPr/>
        </p:nvSpPr>
        <p:spPr>
          <a:xfrm>
            <a:off x="2415678" y="969595"/>
            <a:ext cx="807720" cy="7667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 smtClean="0"/>
              <a:t>Tool</a:t>
            </a:r>
          </a:p>
          <a:p>
            <a:pPr algn="ctr"/>
            <a:r>
              <a:rPr lang="en-IN" sz="1200" dirty="0" smtClean="0"/>
              <a:t>Client</a:t>
            </a:r>
            <a:endParaRPr lang="en-IN" sz="1200" dirty="0"/>
          </a:p>
        </p:txBody>
      </p:sp>
      <p:cxnSp>
        <p:nvCxnSpPr>
          <p:cNvPr id="12" name="Straight Arrow Connector 11"/>
          <p:cNvCxnSpPr>
            <a:stCxn id="9" idx="4"/>
            <a:endCxn id="17" idx="2"/>
          </p:cNvCxnSpPr>
          <p:nvPr/>
        </p:nvCxnSpPr>
        <p:spPr>
          <a:xfrm flipV="1">
            <a:off x="1516518" y="1352985"/>
            <a:ext cx="899160" cy="31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4"/>
          </p:cNvCxnSpPr>
          <p:nvPr/>
        </p:nvCxnSpPr>
        <p:spPr>
          <a:xfrm>
            <a:off x="3223398" y="1352985"/>
            <a:ext cx="1638162" cy="314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172" idx="0"/>
            <a:endCxn id="17" idx="3"/>
          </p:cNvCxnSpPr>
          <p:nvPr/>
        </p:nvCxnSpPr>
        <p:spPr>
          <a:xfrm flipV="1">
            <a:off x="2656044" y="1736375"/>
            <a:ext cx="163494" cy="99216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310601" y="679680"/>
            <a:ext cx="13564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latin typeface="Arial Black" panose="020B0A04020102020204" pitchFamily="34" charset="0"/>
              </a:rPr>
              <a:t>200mb/128mb</a:t>
            </a:r>
            <a:endParaRPr lang="en-IN" sz="1200" dirty="0">
              <a:latin typeface="Arial Black" panose="020B0A040201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68023" y="2221858"/>
            <a:ext cx="8515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9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B1- 128mb</a:t>
            </a:r>
            <a:endParaRPr lang="en-IN" sz="900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19538" y="5172966"/>
            <a:ext cx="851515" cy="2308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IN" sz="9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B1- 128mb</a:t>
            </a:r>
            <a:endParaRPr lang="en-IN" sz="900" dirty="0">
              <a:solidFill>
                <a:srgbClr val="C00000"/>
              </a:solidFill>
            </a:endParaRPr>
          </a:p>
        </p:txBody>
      </p:sp>
      <p:cxnSp>
        <p:nvCxnSpPr>
          <p:cNvPr id="30" name="Straight Arrow Connector 29"/>
          <p:cNvCxnSpPr>
            <a:stCxn id="7171" idx="0"/>
          </p:cNvCxnSpPr>
          <p:nvPr/>
        </p:nvCxnSpPr>
        <p:spPr>
          <a:xfrm flipH="1" flipV="1">
            <a:off x="2819538" y="1767841"/>
            <a:ext cx="5960677" cy="96070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147125" y="2258842"/>
            <a:ext cx="77457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900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B2- 72mb</a:t>
            </a:r>
            <a:endParaRPr lang="en-IN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94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33853A-A262-FCAB-3553-84610E08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A922D68-917C-7D45-A79E-E270179E7D9B}"/>
              </a:ext>
            </a:extLst>
          </p:cNvPr>
          <p:cNvSpPr txBox="1"/>
          <p:nvPr/>
        </p:nvSpPr>
        <p:spPr>
          <a:xfrm>
            <a:off x="-1175580" y="364135"/>
            <a:ext cx="7651703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591" algn="ctr"/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         1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.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Hadoop Architectures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(High level)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76CDAAD0-A472-0A30-8A18-D3682BA142F3}"/>
                  </a:ext>
                </a:extLst>
              </p14:cNvPr>
              <p14:cNvContentPartPr/>
              <p14:nvPr/>
            </p14:nvContentPartPr>
            <p14:xfrm>
              <a:off x="2736360" y="792000"/>
              <a:ext cx="8640" cy="7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840" y="788760"/>
                <a:ext cx="1440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AE6235E-E91E-87F4-C6E6-0B5786318BEE}"/>
              </a:ext>
            </a:extLst>
          </p:cNvPr>
          <p:cNvSpPr txBox="1"/>
          <p:nvPr/>
        </p:nvSpPr>
        <p:spPr>
          <a:xfrm>
            <a:off x="318794" y="886509"/>
            <a:ext cx="3461898" cy="30777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182" indent="-457182">
              <a:buAutoNum type="arabicPeriod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Hadoop </a:t>
            </a: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(HDFS</a:t>
            </a: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430951" y="1880008"/>
            <a:ext cx="5844932" cy="4387361"/>
            <a:chOff x="3413199" y="2545246"/>
            <a:chExt cx="4614402" cy="3429000"/>
          </a:xfrm>
        </p:grpSpPr>
        <p:grpSp>
          <p:nvGrpSpPr>
            <p:cNvPr id="6" name="Group 5"/>
            <p:cNvGrpSpPr/>
            <p:nvPr/>
          </p:nvGrpSpPr>
          <p:grpSpPr>
            <a:xfrm>
              <a:off x="3455601" y="2545246"/>
              <a:ext cx="4572000" cy="3429000"/>
              <a:chOff x="4495800" y="76200"/>
              <a:chExt cx="4572000" cy="3429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4495800" y="381000"/>
                <a:ext cx="4572000" cy="31242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8200" y="1600200"/>
                <a:ext cx="4257675" cy="846209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612" y="2506591"/>
                <a:ext cx="4257675" cy="846209"/>
              </a:xfrm>
              <a:prstGeom prst="rect">
                <a:avLst/>
              </a:prstGeom>
            </p:spPr>
          </p:pic>
          <p:sp>
            <p:nvSpPr>
              <p:cNvPr id="10" name="Bevel 9"/>
              <p:cNvSpPr/>
              <p:nvPr/>
            </p:nvSpPr>
            <p:spPr>
              <a:xfrm>
                <a:off x="6172200" y="609600"/>
                <a:ext cx="1143000" cy="533400"/>
              </a:xfrm>
              <a:prstGeom prst="bevel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/>
                  <a:t>Name Node</a:t>
                </a:r>
              </a:p>
            </p:txBody>
          </p:sp>
          <p:sp>
            <p:nvSpPr>
              <p:cNvPr id="11" name="Smiley Face 10"/>
              <p:cNvSpPr/>
              <p:nvPr/>
            </p:nvSpPr>
            <p:spPr>
              <a:xfrm>
                <a:off x="4724400" y="685800"/>
                <a:ext cx="457200" cy="400050"/>
              </a:xfrm>
              <a:prstGeom prst="smileyFace">
                <a:avLst/>
              </a:prstGeom>
              <a:solidFill>
                <a:srgbClr val="FFC000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/>
              <p:cNvCxnSpPr>
                <a:stCxn id="11" idx="6"/>
                <a:endCxn id="10" idx="4"/>
              </p:cNvCxnSpPr>
              <p:nvPr/>
            </p:nvCxnSpPr>
            <p:spPr>
              <a:xfrm flipV="1">
                <a:off x="5181600" y="876300"/>
                <a:ext cx="990600" cy="9525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rot="16200000" flipH="1">
                <a:off x="4652963" y="1376363"/>
                <a:ext cx="752474" cy="15240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5029200" y="1066800"/>
                <a:ext cx="1143000" cy="76200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433646" y="76200"/>
                <a:ext cx="3026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Hadoop </a:t>
                </a:r>
                <a:r>
                  <a:rPr lang="en-US" dirty="0" smtClean="0"/>
                  <a:t>Cluster (Architecture)</a:t>
                </a:r>
                <a:endParaRPr lang="en-US" dirty="0"/>
              </a:p>
            </p:txBody>
          </p:sp>
        </p:grpSp>
        <p:sp>
          <p:nvSpPr>
            <p:cNvPr id="3" name="Frame 2"/>
            <p:cNvSpPr/>
            <p:nvPr/>
          </p:nvSpPr>
          <p:spPr>
            <a:xfrm>
              <a:off x="3413199" y="2659391"/>
              <a:ext cx="949569" cy="48576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Client</a:t>
              </a:r>
            </a:p>
            <a:p>
              <a:pPr algn="ctr"/>
              <a:r>
                <a:rPr lang="en-IN" sz="1100" b="1" dirty="0">
                  <a:solidFill>
                    <a:schemeClr val="tx1"/>
                  </a:solidFill>
                </a:rPr>
                <a:t>Edge node</a:t>
              </a:r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5929393" y="4020848"/>
              <a:ext cx="69120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Hadoop</a:t>
              </a:r>
              <a:endParaRPr lang="en-IN" sz="12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71308" y="4034748"/>
              <a:ext cx="69120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Hadoop</a:t>
              </a:r>
              <a:endParaRPr lang="en-IN" sz="12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942581" y="3766587"/>
              <a:ext cx="54373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Spark</a:t>
              </a:r>
              <a:endParaRPr lang="en-IN" sz="120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84494" y="3780487"/>
              <a:ext cx="54373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Spark</a:t>
              </a:r>
              <a:endParaRPr lang="en-I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459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33853A-A262-FCAB-3553-84610E08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A922D68-917C-7D45-A79E-E270179E7D9B}"/>
              </a:ext>
            </a:extLst>
          </p:cNvPr>
          <p:cNvSpPr txBox="1"/>
          <p:nvPr/>
        </p:nvSpPr>
        <p:spPr>
          <a:xfrm>
            <a:off x="-1175580" y="364135"/>
            <a:ext cx="7651703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591" algn="ctr"/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         2. Hadoop Architectures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(High level)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76CDAAD0-A472-0A30-8A18-D3682BA142F3}"/>
                  </a:ext>
                </a:extLst>
              </p14:cNvPr>
              <p14:cNvContentPartPr/>
              <p14:nvPr/>
            </p14:nvContentPartPr>
            <p14:xfrm>
              <a:off x="2736360" y="792000"/>
              <a:ext cx="8640" cy="7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840" y="788760"/>
                <a:ext cx="1440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AE6235E-E91E-87F4-C6E6-0B5786318BEE}"/>
              </a:ext>
            </a:extLst>
          </p:cNvPr>
          <p:cNvSpPr txBox="1"/>
          <p:nvPr/>
        </p:nvSpPr>
        <p:spPr>
          <a:xfrm>
            <a:off x="318794" y="886509"/>
            <a:ext cx="3461898" cy="30777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182" indent="-457182">
              <a:buAutoNum type="arabicPeriod"/>
            </a:pP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Hadoop YARN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430951" y="1880008"/>
            <a:ext cx="5844932" cy="4387361"/>
            <a:chOff x="3413199" y="2545246"/>
            <a:chExt cx="4614402" cy="3429000"/>
          </a:xfrm>
        </p:grpSpPr>
        <p:grpSp>
          <p:nvGrpSpPr>
            <p:cNvPr id="6" name="Group 5"/>
            <p:cNvGrpSpPr/>
            <p:nvPr/>
          </p:nvGrpSpPr>
          <p:grpSpPr>
            <a:xfrm>
              <a:off x="3455601" y="2545246"/>
              <a:ext cx="4572000" cy="3429000"/>
              <a:chOff x="4495800" y="76200"/>
              <a:chExt cx="4572000" cy="3429000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4495800" y="381000"/>
                <a:ext cx="4572000" cy="31242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8200" y="1600200"/>
                <a:ext cx="4257675" cy="846209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612" y="2506591"/>
                <a:ext cx="4257675" cy="846209"/>
              </a:xfrm>
              <a:prstGeom prst="rect">
                <a:avLst/>
              </a:prstGeom>
            </p:spPr>
          </p:pic>
          <p:sp>
            <p:nvSpPr>
              <p:cNvPr id="10" name="Bevel 9"/>
              <p:cNvSpPr/>
              <p:nvPr/>
            </p:nvSpPr>
            <p:spPr>
              <a:xfrm>
                <a:off x="6172200" y="609600"/>
                <a:ext cx="1143000" cy="533400"/>
              </a:xfrm>
              <a:prstGeom prst="bevel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 smtClean="0"/>
                  <a:t>Resource Manager</a:t>
                </a:r>
                <a:endParaRPr lang="en-US" sz="1200" b="1" dirty="0"/>
              </a:p>
            </p:txBody>
          </p:sp>
          <p:sp>
            <p:nvSpPr>
              <p:cNvPr id="11" name="Smiley Face 10"/>
              <p:cNvSpPr/>
              <p:nvPr/>
            </p:nvSpPr>
            <p:spPr>
              <a:xfrm>
                <a:off x="4724400" y="685800"/>
                <a:ext cx="457200" cy="400050"/>
              </a:xfrm>
              <a:prstGeom prst="smileyFace">
                <a:avLst/>
              </a:prstGeom>
              <a:solidFill>
                <a:srgbClr val="FFC000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/>
              <p:cNvCxnSpPr>
                <a:stCxn id="11" idx="6"/>
                <a:endCxn id="10" idx="4"/>
              </p:cNvCxnSpPr>
              <p:nvPr/>
            </p:nvCxnSpPr>
            <p:spPr>
              <a:xfrm flipV="1">
                <a:off x="5181600" y="876300"/>
                <a:ext cx="990600" cy="9525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rot="16200000" flipH="1">
                <a:off x="4652963" y="1376363"/>
                <a:ext cx="752474" cy="15240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5029200" y="1066800"/>
                <a:ext cx="1143000" cy="76200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433646" y="76200"/>
                <a:ext cx="3026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Hadoop </a:t>
                </a:r>
                <a:r>
                  <a:rPr lang="en-US" dirty="0" smtClean="0"/>
                  <a:t>Cluster (Architecture)</a:t>
                </a:r>
                <a:endParaRPr lang="en-US" dirty="0"/>
              </a:p>
            </p:txBody>
          </p:sp>
        </p:grpSp>
        <p:sp>
          <p:nvSpPr>
            <p:cNvPr id="3" name="Frame 2"/>
            <p:cNvSpPr/>
            <p:nvPr/>
          </p:nvSpPr>
          <p:spPr>
            <a:xfrm>
              <a:off x="3413199" y="2659391"/>
              <a:ext cx="949569" cy="48576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Client</a:t>
              </a:r>
            </a:p>
            <a:p>
              <a:pPr algn="ctr"/>
              <a:r>
                <a:rPr lang="en-IN" sz="1100" b="1" dirty="0">
                  <a:solidFill>
                    <a:schemeClr val="tx1"/>
                  </a:solidFill>
                </a:rPr>
                <a:t>Edge node</a:t>
              </a:r>
              <a:endParaRPr lang="en-IN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5929393" y="4020848"/>
              <a:ext cx="69120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Hadoop</a:t>
              </a:r>
              <a:endParaRPr lang="en-IN" sz="12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71308" y="4034748"/>
              <a:ext cx="69120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Hadoop</a:t>
              </a:r>
              <a:endParaRPr lang="en-IN" sz="12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942581" y="3766587"/>
              <a:ext cx="54373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Spark</a:t>
              </a:r>
              <a:endParaRPr lang="en-IN" sz="120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84494" y="3780487"/>
              <a:ext cx="54373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Spark</a:t>
              </a:r>
              <a:endParaRPr lang="en-I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7581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492877"/>
            <a:ext cx="28956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38" y="1551554"/>
            <a:ext cx="6789420" cy="3670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A922D68-917C-7D45-A79E-E270179E7D9B}"/>
              </a:ext>
            </a:extLst>
          </p:cNvPr>
          <p:cNvSpPr txBox="1"/>
          <p:nvPr/>
        </p:nvSpPr>
        <p:spPr>
          <a:xfrm>
            <a:off x="-1278172" y="364135"/>
            <a:ext cx="7856887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591" algn="ctr"/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          3. Hadoop Architectures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(High level)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AE6235E-E91E-87F4-C6E6-0B5786318BEE}"/>
              </a:ext>
            </a:extLst>
          </p:cNvPr>
          <p:cNvSpPr txBox="1"/>
          <p:nvPr/>
        </p:nvSpPr>
        <p:spPr>
          <a:xfrm>
            <a:off x="318794" y="886509"/>
            <a:ext cx="3461898" cy="30777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457182" indent="-457182">
              <a:buAutoNum type="arabicPeriod"/>
            </a:pP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Hadoop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Framework (MR</a:t>
            </a:r>
            <a:r>
              <a:rPr lang="en-US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49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3346" y="2671489"/>
            <a:ext cx="7998161" cy="122662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Spark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INCEPTEZ TECHNOLOGIES</a:t>
            </a:r>
          </a:p>
        </p:txBody>
      </p:sp>
    </p:spTree>
    <p:extLst>
      <p:ext uri="{BB962C8B-B14F-4D97-AF65-F5344CB8AC3E}">
        <p14:creationId xmlns:p14="http://schemas.microsoft.com/office/powerpoint/2010/main" val="198617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F39DA3-7682-162F-7D48-57C9A41E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30F9ADA-5347-1DB9-06DC-A5345C3C7247}"/>
              </a:ext>
            </a:extLst>
          </p:cNvPr>
          <p:cNvSpPr txBox="1"/>
          <p:nvPr/>
        </p:nvSpPr>
        <p:spPr>
          <a:xfrm>
            <a:off x="1286000" y="2567255"/>
            <a:ext cx="934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600">
              <a:spcBef>
                <a:spcPts val="0"/>
              </a:spcBef>
            </a:pPr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</a:rPr>
              <a:t>4. Spark Terminologies &amp;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70478D5-09BD-3FC6-7EFA-CB400E93F621}"/>
              </a:ext>
            </a:extLst>
          </p:cNvPr>
          <p:cNvSpPr/>
          <p:nvPr/>
        </p:nvSpPr>
        <p:spPr>
          <a:xfrm>
            <a:off x="2766951" y="1947554"/>
            <a:ext cx="587994" cy="2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2954A337-8443-25D0-07CA-EC8EB8AF53B5}"/>
                  </a:ext>
                </a:extLst>
              </p14:cNvPr>
              <p14:cNvContentPartPr/>
              <p14:nvPr/>
            </p14:nvContentPartPr>
            <p14:xfrm>
              <a:off x="2736360" y="792000"/>
              <a:ext cx="8640" cy="7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840" y="788760"/>
                <a:ext cx="1440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Footer Placeholder 9">
            <a:extLst>
              <a:ext uri="{FF2B5EF4-FFF2-40B4-BE49-F238E27FC236}">
                <a16:creationId xmlns="" xmlns:a16="http://schemas.microsoft.com/office/drawing/2014/main" id="{F51A68C0-E121-7E53-1124-CB133015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</p:spTree>
    <p:extLst>
      <p:ext uri="{BB962C8B-B14F-4D97-AF65-F5344CB8AC3E}">
        <p14:creationId xmlns:p14="http://schemas.microsoft.com/office/powerpoint/2010/main" val="362393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6315" y="442289"/>
            <a:ext cx="4188185" cy="632753"/>
          </a:xfrm>
        </p:spPr>
        <p:txBody>
          <a:bodyPr/>
          <a:lstStyle/>
          <a:p>
            <a:r>
              <a:rPr lang="en-US" sz="3600" dirty="0"/>
              <a:t>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38" y="868272"/>
            <a:ext cx="8458200" cy="4953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Driver Program (AM)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JVM allocated where Spark Context is created.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Spark Session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Objet created that tells how to access the cluster </a:t>
            </a:r>
          </a:p>
          <a:p>
            <a:pPr marL="274320" lvl="1" indent="0">
              <a:lnSpc>
                <a:spcPct val="150000"/>
              </a:lnSpc>
              <a:buNone/>
            </a:pPr>
            <a:r>
              <a:rPr lang="en-US" dirty="0"/>
              <a:t>(internally uses </a:t>
            </a:r>
            <a:r>
              <a:rPr lang="en-US" b="1" dirty="0" err="1"/>
              <a:t>SparkContext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Cluster Manager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Services to manage resources on the cluster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Deploy Mode (</a:t>
            </a: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Only applicable for YARN, for other CMs we have only client mode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Cluster </a:t>
            </a:r>
            <a:r>
              <a:rPr lang="en-US" dirty="0"/>
              <a:t>:  Driver inside the cluster along with AM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Client</a:t>
            </a:r>
            <a:r>
              <a:rPr lang="en-US" dirty="0"/>
              <a:t>    :  Driver run in the </a:t>
            </a:r>
            <a:r>
              <a:rPr lang="en-US" dirty="0" err="1"/>
              <a:t>edgenode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819" y="442289"/>
            <a:ext cx="5687239" cy="3425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544" y="4265850"/>
            <a:ext cx="3053917" cy="9892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5994360" y="3657600"/>
              <a:ext cx="360" cy="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85000" y="36482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113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3935" y="-73595"/>
            <a:ext cx="9875520" cy="1050749"/>
          </a:xfrm>
        </p:spPr>
        <p:txBody>
          <a:bodyPr/>
          <a:lstStyle/>
          <a:p>
            <a:r>
              <a:rPr lang="en-US" sz="3600" dirty="0"/>
              <a:t>Terminologies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7" y="957319"/>
            <a:ext cx="5690773" cy="4800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Master (RM) : </a:t>
            </a:r>
            <a:r>
              <a:rPr lang="en-US" sz="1600" dirty="0"/>
              <a:t>Resource manager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Spark Worker  (NM) : </a:t>
            </a:r>
            <a:r>
              <a:rPr lang="en-US" sz="1600" dirty="0"/>
              <a:t>Node where resources are allocated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Executor (Container) :  </a:t>
            </a:r>
            <a:r>
              <a:rPr lang="en-US" sz="1600" dirty="0"/>
              <a:t>Memory where program runs on data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Job :  </a:t>
            </a:r>
            <a:r>
              <a:rPr lang="en-US" sz="1600" dirty="0"/>
              <a:t>Single job submitted consists of multiple tasks, </a:t>
            </a:r>
          </a:p>
          <a:p>
            <a:pPr marL="45720" indent="0">
              <a:lnSpc>
                <a:spcPct val="120000"/>
              </a:lnSpc>
              <a:buNone/>
            </a:pPr>
            <a:r>
              <a:rPr lang="en-US" sz="1600" dirty="0"/>
              <a:t>Created based on a Action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Stage : </a:t>
            </a:r>
            <a:r>
              <a:rPr lang="en-US" sz="1600" dirty="0"/>
              <a:t>Job is divided into a smaller set of tasks </a:t>
            </a:r>
          </a:p>
          <a:p>
            <a:pPr marL="45720" indent="0">
              <a:lnSpc>
                <a:spcPct val="120000"/>
              </a:lnSpc>
              <a:buNone/>
            </a:pPr>
            <a:r>
              <a:rPr lang="en-US" sz="1600" dirty="0"/>
              <a:t>    called Stages, stages are </a:t>
            </a:r>
            <a:r>
              <a:rPr lang="en-US" sz="1600" b="1" i="1" dirty="0"/>
              <a:t>sequential</a:t>
            </a:r>
            <a:r>
              <a:rPr lang="en-US" sz="1600" dirty="0"/>
              <a:t> and depend on each other (when shuffle happens stage split will happen) (stg2 depends on stg1)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Task : Jobs are divided into tasks, Task is </a:t>
            </a:r>
            <a:r>
              <a:rPr lang="en-US" sz="1600" dirty="0"/>
              <a:t>A unit of work that will be sent to executor run in </a:t>
            </a:r>
            <a:r>
              <a:rPr lang="en-US" sz="1600" b="1" i="1" dirty="0"/>
              <a:t>parallel</a:t>
            </a:r>
            <a:r>
              <a:rPr lang="en-US" sz="1600" dirty="0"/>
              <a:t>. (t1, t2,t3,t4 can run in parallel)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Partitions:  </a:t>
            </a:r>
            <a:r>
              <a:rPr lang="en-US" sz="1600" dirty="0"/>
              <a:t>Memory Data unit that will be handled parallel, Same as blocks in HDFS.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640" y="240404"/>
            <a:ext cx="5915025" cy="33725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526" y="3619550"/>
            <a:ext cx="4700197" cy="283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3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/>
          <p:cNvSpPr txBox="1">
            <a:spLocks/>
          </p:cNvSpPr>
          <p:nvPr/>
        </p:nvSpPr>
        <p:spPr>
          <a:xfrm>
            <a:off x="207433" y="247910"/>
            <a:ext cx="8980529" cy="6001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cs typeface="Consolas" panose="020B0609020204030204" pitchFamily="49" charset="0"/>
              </a:rPr>
              <a:t>Narrow &amp; Wide Dependent Transformations</a:t>
            </a:r>
            <a:endParaRPr lang="en-US" sz="2400" b="1" dirty="0">
              <a:cs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992EA51-244A-31A1-6663-5CAE4EBF9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328" y="772811"/>
            <a:ext cx="9619888" cy="54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71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714" y="848095"/>
            <a:ext cx="9875520" cy="135636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cs typeface="Consolas" panose="020B0609020204030204" pitchFamily="49" charset="0"/>
              </a:rPr>
              <a:t>Spark on YARN</a:t>
            </a:r>
          </a:p>
        </p:txBody>
      </p:sp>
      <p:pic>
        <p:nvPicPr>
          <p:cNvPr id="2050" name="Picture 2" descr="http://4.bp.blogspot.com/-Int0v044ME0/VN6cGU0ChVI/AAAAAAAAL-k/tWnles3GAmk/s1600/Screen%2BShot%2B2015-02-13%2Bat%2B2.56.22%2B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43" y="2344514"/>
            <a:ext cx="5389731" cy="302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/>
          <p:cNvSpPr txBox="1">
            <a:spLocks/>
          </p:cNvSpPr>
          <p:nvPr/>
        </p:nvSpPr>
        <p:spPr>
          <a:xfrm>
            <a:off x="332171" y="182534"/>
            <a:ext cx="4966116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Spark Cluster Deployment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20" y="1856608"/>
            <a:ext cx="5789477" cy="4172512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84800" y="848095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cs typeface="Consolas" panose="020B0609020204030204" pitchFamily="49" charset="0"/>
              </a:rPr>
              <a:t>Standalone Spark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6432480" y="4521240"/>
              <a:ext cx="360" cy="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23120" y="451188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/>
              <p14:cNvContentPartPr/>
              <p14:nvPr/>
            </p14:nvContentPartPr>
            <p14:xfrm>
              <a:off x="7740720" y="6114960"/>
              <a:ext cx="360" cy="3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31360" y="6105600"/>
                <a:ext cx="19080" cy="19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2BA1FC33-188C-A866-39C0-71471031372E}"/>
              </a:ext>
            </a:extLst>
          </p:cNvPr>
          <p:cNvCxnSpPr/>
          <p:nvPr/>
        </p:nvCxnSpPr>
        <p:spPr>
          <a:xfrm flipV="1">
            <a:off x="1181100" y="3362325"/>
            <a:ext cx="1485900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1803F402-694E-CBF5-558A-FF1C82485839}"/>
              </a:ext>
            </a:extLst>
          </p:cNvPr>
          <p:cNvCxnSpPr>
            <a:cxnSpLocks/>
          </p:cNvCxnSpPr>
          <p:nvPr/>
        </p:nvCxnSpPr>
        <p:spPr>
          <a:xfrm>
            <a:off x="1181100" y="3819525"/>
            <a:ext cx="1485900" cy="542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46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4F18C87-FC5E-616A-37F0-3E39A0B3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67BF720-C115-6C59-2177-8CBAA19E3AC8}"/>
              </a:ext>
            </a:extLst>
          </p:cNvPr>
          <p:cNvSpPr txBox="1"/>
          <p:nvPr/>
        </p:nvSpPr>
        <p:spPr>
          <a:xfrm>
            <a:off x="1286000" y="2567255"/>
            <a:ext cx="934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pPr marL="228600">
              <a:spcBef>
                <a:spcPts val="0"/>
              </a:spcBef>
            </a:pPr>
            <a:r>
              <a:rPr lang="en-US" sz="3200" dirty="0">
                <a:solidFill>
                  <a:srgbClr val="00B0F0"/>
                </a:solidFill>
                <a:latin typeface="Arial Black" panose="020B0A04020102020204" pitchFamily="34" charset="0"/>
              </a:rPr>
              <a:t>4.1. Performance Optimization (Core)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F3974D6C-04AB-D91F-5EDE-86C9DE14127D}"/>
              </a:ext>
            </a:extLst>
          </p:cNvPr>
          <p:cNvSpPr/>
          <p:nvPr/>
        </p:nvSpPr>
        <p:spPr>
          <a:xfrm>
            <a:off x="2766951" y="1947554"/>
            <a:ext cx="587994" cy="2452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="" xmlns:a16="http://schemas.microsoft.com/office/drawing/2014/main" id="{D720C53B-0CCF-7323-705D-E2DF85D853AE}"/>
                  </a:ext>
                </a:extLst>
              </p14:cNvPr>
              <p14:cNvContentPartPr/>
              <p14:nvPr/>
            </p14:nvContentPartPr>
            <p14:xfrm>
              <a:off x="2736360" y="792000"/>
              <a:ext cx="8640" cy="7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3840" y="788760"/>
                <a:ext cx="14400" cy="136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Footer Placeholder 9">
            <a:extLst>
              <a:ext uri="{FF2B5EF4-FFF2-40B4-BE49-F238E27FC236}">
                <a16:creationId xmlns="" xmlns:a16="http://schemas.microsoft.com/office/drawing/2014/main" id="{6DA4223D-DE02-FD20-C197-345AAD66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9148" y="6223828"/>
            <a:ext cx="4717774" cy="365125"/>
          </a:xfrm>
        </p:spPr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="" xmlns:a16="http://schemas.microsoft.com/office/drawing/2014/main" id="{B7239E2D-9C2D-1B35-4B8D-40437AB7F492}"/>
                  </a:ext>
                </a:extLst>
              </p14:cNvPr>
              <p14:cNvContentPartPr/>
              <p14:nvPr/>
            </p14:nvContentPartPr>
            <p14:xfrm>
              <a:off x="6730920" y="427356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239E2D-9C2D-1B35-4B8D-40437AB7F4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1560" y="42642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14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50A6D0-DE8D-D931-07AB-58869BDD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="" xmlns:a16="http://schemas.microsoft.com/office/drawing/2014/main" id="{31A102B9-918C-BAD8-0AAE-846FAF37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9" y="168665"/>
            <a:ext cx="6632152" cy="440677"/>
          </a:xfrm>
        </p:spPr>
        <p:txBody>
          <a:bodyPr vert="horz" lIns="91436" tIns="45718" rIns="91436" bIns="45718" rtlCol="0" anchor="ctr">
            <a:normAutofit fontScale="90000"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Partitioning 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in Spark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69B34A-C9C1-C695-757E-FEEB7FAA6DB7}"/>
              </a:ext>
            </a:extLst>
          </p:cNvPr>
          <p:cNvSpPr txBox="1"/>
          <p:nvPr/>
        </p:nvSpPr>
        <p:spPr>
          <a:xfrm>
            <a:off x="223740" y="540472"/>
            <a:ext cx="11855823" cy="1323435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buNone/>
            </a:pPr>
            <a:r>
              <a:rPr lang="en-US" sz="1600" dirty="0"/>
              <a:t>In Databricks, </a:t>
            </a:r>
            <a:r>
              <a:rPr lang="en-US" sz="1600" b="1" dirty="0"/>
              <a:t>data partitioning</a:t>
            </a:r>
            <a:r>
              <a:rPr lang="en-US" sz="1600" dirty="0"/>
              <a:t> means organizing large datasets into </a:t>
            </a:r>
            <a:r>
              <a:rPr lang="en-US" sz="1600" b="1" dirty="0"/>
              <a:t>directory structures</a:t>
            </a:r>
            <a:r>
              <a:rPr lang="en-US" sz="1600" dirty="0"/>
              <a:t> based on column values so that Spark can </a:t>
            </a:r>
          </a:p>
          <a:p>
            <a:pPr>
              <a:buNone/>
            </a:pPr>
            <a:r>
              <a:rPr lang="en-US" sz="1600" b="1" dirty="0"/>
              <a:t>read only what it needs</a:t>
            </a:r>
            <a:r>
              <a:rPr lang="en-US" sz="1600" dirty="0"/>
              <a:t> instead of scanning everything.</a:t>
            </a:r>
          </a:p>
          <a:p>
            <a:pPr marL="285739" indent="-28573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 data partition is a subdirectory of your dataset created based on the distinct values of a column.</a:t>
            </a:r>
          </a:p>
          <a:p>
            <a:pPr marL="285739" indent="-28573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Spark uses these folders to skip irrelevant data when you query with filter (known as partition pruning).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CE6386F-9449-D76B-F5C1-794A33E28971}"/>
              </a:ext>
            </a:extLst>
          </p:cNvPr>
          <p:cNvSpPr txBox="1"/>
          <p:nvPr/>
        </p:nvSpPr>
        <p:spPr>
          <a:xfrm>
            <a:off x="8612357" y="1922732"/>
            <a:ext cx="3351961" cy="1658531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/Volumes/</a:t>
            </a:r>
            <a:r>
              <a:rPr lang="en-US" sz="1100" b="1" i="1" dirty="0" err="1">
                <a:latin typeface="+mj-lt"/>
              </a:rPr>
              <a:t>inceptez_catalog</a:t>
            </a:r>
            <a:r>
              <a:rPr lang="en-US" sz="1100" b="1" i="1" dirty="0">
                <a:latin typeface="+mj-lt"/>
              </a:rPr>
              <a:t>/</a:t>
            </a:r>
            <a:r>
              <a:rPr lang="en-US" sz="1100" b="1" i="1" dirty="0" err="1">
                <a:latin typeface="+mj-lt"/>
              </a:rPr>
              <a:t>outputdb</a:t>
            </a:r>
            <a:r>
              <a:rPr lang="en-US" sz="1100" b="1" i="1" dirty="0">
                <a:latin typeface="+mj-lt"/>
              </a:rPr>
              <a:t>/</a:t>
            </a:r>
            <a:r>
              <a:rPr lang="en-US" sz="1100" b="1" i="1" dirty="0" err="1">
                <a:latin typeface="+mj-lt"/>
              </a:rPr>
              <a:t>customerdata</a:t>
            </a:r>
            <a:r>
              <a:rPr lang="en-US" sz="1100" b="1" i="1" dirty="0">
                <a:latin typeface="+mj-lt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  profession=Pilot/</a:t>
            </a:r>
          </a:p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  profession=Teacher/</a:t>
            </a:r>
          </a:p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  profession=Lawyer/</a:t>
            </a:r>
          </a:p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  profession=Firefighter/</a:t>
            </a:r>
          </a:p>
          <a:p>
            <a:pPr>
              <a:lnSpc>
                <a:spcPct val="150000"/>
              </a:lnSpc>
            </a:pPr>
            <a:r>
              <a:rPr lang="en-US" sz="1100" b="1" i="1" dirty="0">
                <a:latin typeface="+mj-lt"/>
              </a:rPr>
              <a:t>  ...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C0FC465-83DA-02FB-07FE-D4E83CF5E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85" y="2265957"/>
            <a:ext cx="7198950" cy="1708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36" tIns="45718" rIns="91436" bIns="45718" numCol="1" anchor="ctr" anchorCtr="0" compatLnSpc="1">
            <a:prstTxWarp prst="textNoShape">
              <a:avLst/>
            </a:prstTxWarp>
            <a:spAutoFit/>
          </a:bodyPr>
          <a:lstStyle/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cs typeface="Arial" panose="020B0604020202020204" pitchFamily="34" charset="0"/>
              </a:rPr>
              <a:t>Faster queries </a:t>
            </a:r>
            <a:r>
              <a:rPr lang="en-US" altLang="en-US" sz="1400" dirty="0">
                <a:cs typeface="Arial" panose="020B0604020202020204" pitchFamily="34" charset="0"/>
              </a:rPr>
              <a:t>– Spark reads only relevant partitions instead of scanning the entire dataset.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cs typeface="Arial" panose="020B0604020202020204" pitchFamily="34" charset="0"/>
              </a:rPr>
              <a:t>Reduced I/O </a:t>
            </a:r>
            <a:r>
              <a:rPr lang="en-US" altLang="en-US" sz="1400" dirty="0">
                <a:cs typeface="Arial" panose="020B0604020202020204" pitchFamily="34" charset="0"/>
              </a:rPr>
              <a:t>– Minimizes data read from storage, saving time and resources.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cs typeface="Arial" panose="020B0604020202020204" pitchFamily="34" charset="0"/>
              </a:rPr>
              <a:t>Faster incremental loads </a:t>
            </a:r>
            <a:r>
              <a:rPr lang="en-US" altLang="en-US" sz="1400" dirty="0">
                <a:cs typeface="Arial" panose="020B0604020202020204" pitchFamily="34" charset="0"/>
              </a:rPr>
              <a:t>– Enables quick updates or inserts for specific partitions.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cs typeface="Arial" panose="020B0604020202020204" pitchFamily="34" charset="0"/>
              </a:rPr>
              <a:t>Better parallelism </a:t>
            </a:r>
            <a:r>
              <a:rPr lang="en-US" altLang="en-US" sz="1400" dirty="0">
                <a:cs typeface="Arial" panose="020B0604020202020204" pitchFamily="34" charset="0"/>
              </a:rPr>
              <a:t>– Allows Spark to process partitions independently for faster execution.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cs typeface="Arial" panose="020B0604020202020204" pitchFamily="34" charset="0"/>
              </a:rPr>
              <a:t>Optimized filtering </a:t>
            </a:r>
            <a:r>
              <a:rPr lang="en-US" altLang="en-US" sz="1400" dirty="0">
                <a:cs typeface="Arial" panose="020B0604020202020204" pitchFamily="34" charset="0"/>
              </a:rPr>
              <a:t>– Queries with partition column filters become highly efficient.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EE37959-09F8-2362-FC57-725D84651238}"/>
              </a:ext>
            </a:extLst>
          </p:cNvPr>
          <p:cNvSpPr txBox="1"/>
          <p:nvPr/>
        </p:nvSpPr>
        <p:spPr>
          <a:xfrm>
            <a:off x="200575" y="1840071"/>
            <a:ext cx="3578212" cy="461661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u="sng" dirty="0"/>
              <a:t>Key Benefits of Partitioning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1280B1A-F66F-B09C-335D-83656B59E195}"/>
              </a:ext>
            </a:extLst>
          </p:cNvPr>
          <p:cNvSpPr txBox="1"/>
          <p:nvPr/>
        </p:nvSpPr>
        <p:spPr>
          <a:xfrm>
            <a:off x="190820" y="3952370"/>
            <a:ext cx="4138810" cy="461661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u="sng" dirty="0"/>
              <a:t>Best Practices in Partitioning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="" xmlns:a16="http://schemas.microsoft.com/office/drawing/2014/main" id="{2E90A69C-A872-E28D-1AAC-652980C6F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05" y="4319596"/>
            <a:ext cx="8121318" cy="23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36" tIns="45718" rIns="91436" bIns="45718" numCol="1" anchor="ctr" anchorCtr="0" compatLnSpc="1">
            <a:prstTxWarp prst="textNoShape">
              <a:avLst/>
            </a:prstTxWarp>
            <a:spAutoFit/>
          </a:bodyPr>
          <a:lstStyle/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Use low-cardinality columns – Partition on columns with relatively few unique values (e.g., year, region).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Keep partition size balanced – Aim for 100 MB to 1 GB per partition file for optimal performance.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Limit the number of partitions – Too many partitions can increase metadata overhead and slow queries.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Use dynamic partition overwrite – Overwrite only affected partitions during incremental loads.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Optimize and vacuum regularly – Compact small files and clean up old data in Delta tables.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Partition based on query patterns – Choose columns that are frequently used in filters.</a:t>
            </a:r>
          </a:p>
          <a:p>
            <a:pPr marL="285739" indent="-285739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Avoid over-partitioning small datasets – Small datasets do not benefit from heavy partitioning.</a:t>
            </a:r>
          </a:p>
        </p:txBody>
      </p:sp>
    </p:spTree>
    <p:extLst>
      <p:ext uri="{BB962C8B-B14F-4D97-AF65-F5344CB8AC3E}">
        <p14:creationId xmlns:p14="http://schemas.microsoft.com/office/powerpoint/2010/main" val="356643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A828215-2EE4-174B-D20B-8AA0D5A6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="" xmlns:a16="http://schemas.microsoft.com/office/drawing/2014/main" id="{74A9CDB8-6DBF-DC9E-B03D-2A3D9A1E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2" y="243781"/>
            <a:ext cx="10972800" cy="400615"/>
          </a:xfrm>
        </p:spPr>
        <p:txBody>
          <a:bodyPr vert="horz" lIns="91436" tIns="45718" rIns="91436" bIns="45718" rtlCol="0" anchor="ctr">
            <a:normAutofit fontScale="90000"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Databricks – ORC vs Parquet vs Delta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C3E08748-9B8B-765A-102A-8F9D4CD48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634478"/>
              </p:ext>
            </p:extLst>
          </p:nvPr>
        </p:nvGraphicFramePr>
        <p:xfrm>
          <a:off x="510152" y="688785"/>
          <a:ext cx="10972800" cy="660890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493962044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52714338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3081970103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3099453174"/>
                    </a:ext>
                  </a:extLst>
                </a:gridCol>
              </a:tblGrid>
              <a:tr h="55074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/>
                        <a:t>Feature</a:t>
                      </a:r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/>
                        <a:t>ORC</a:t>
                      </a:r>
                      <a:endParaRPr lang="en-US" sz="1600" dirty="0"/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/>
                        <a:t>Parquet</a:t>
                      </a:r>
                      <a:endParaRPr lang="en-US" sz="1600" dirty="0"/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/>
                        <a:t>Delta</a:t>
                      </a:r>
                      <a:endParaRPr lang="en-US" sz="1600" dirty="0"/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4677056"/>
                  </a:ext>
                </a:extLst>
              </a:tr>
              <a:tr h="457193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Type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Columnar file format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Columnar file format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b="0" dirty="0"/>
                        <a:t>Transactional layer on Parquet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605342705"/>
                  </a:ext>
                </a:extLst>
              </a:tr>
              <a:tr h="452297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Ecosystem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Hive, Presto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Spark, Databricks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b="0" dirty="0"/>
                        <a:t>Spark, Databricks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2981342348"/>
                  </a:ext>
                </a:extLst>
              </a:tr>
              <a:tr h="48804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Read </a:t>
                      </a:r>
                      <a:r>
                        <a:rPr lang="en-US" sz="1600" dirty="0"/>
                        <a:t>Performance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Very fast (Hive)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Fast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Fast + optimized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26036779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Write </a:t>
                      </a:r>
                      <a:r>
                        <a:rPr lang="en-US" sz="1600" dirty="0"/>
                        <a:t>Performance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Slower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Faster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Slightly slower (logs)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1979825333"/>
                  </a:ext>
                </a:extLst>
              </a:tr>
              <a:tr h="452304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File </a:t>
                      </a:r>
                      <a:r>
                        <a:rPr lang="en-US" sz="1600" dirty="0"/>
                        <a:t>Size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Larger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Smaller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Slightly larger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545781859"/>
                  </a:ext>
                </a:extLst>
              </a:tr>
              <a:tr h="457568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Schema </a:t>
                      </a:r>
                      <a:r>
                        <a:rPr lang="en-US" sz="1600" dirty="0"/>
                        <a:t>Evolution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Limited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/>
                        <a:t>Good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Excellent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501976485"/>
                  </a:ext>
                </a:extLst>
              </a:tr>
              <a:tr h="454741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Predicate </a:t>
                      </a:r>
                      <a:r>
                        <a:rPr lang="en-US" sz="1600" dirty="0"/>
                        <a:t>Pushdown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424447861"/>
                  </a:ext>
                </a:extLst>
              </a:tr>
              <a:tr h="462799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ACID </a:t>
                      </a:r>
                      <a:r>
                        <a:rPr lang="en-US" sz="1600" dirty="0"/>
                        <a:t>Transactions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305673321"/>
                  </a:ext>
                </a:extLst>
              </a:tr>
              <a:tr h="470857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Time </a:t>
                      </a:r>
                      <a:r>
                        <a:rPr lang="en-US" sz="1600" dirty="0"/>
                        <a:t>Travel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1573536724"/>
                  </a:ext>
                </a:extLst>
              </a:tr>
              <a:tr h="397635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Merge/</a:t>
                      </a:r>
                      <a:r>
                        <a:rPr lang="en-US" sz="1600" dirty="0" err="1" smtClean="0"/>
                        <a:t>Upsert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No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Yes</a:t>
                      </a:r>
                      <a:endParaRPr lang="en-US" sz="1600" dirty="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434484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 smtClean="0"/>
                        <a:t>Use </a:t>
                      </a:r>
                      <a:r>
                        <a:rPr lang="en-US" sz="1600" dirty="0"/>
                        <a:t>Case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Hive batch queries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General Spark ETL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1600" dirty="0"/>
                        <a:t>Lakehouse, real-time, analytics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="" xmlns:a16="http://schemas.microsoft.com/office/drawing/2014/main" val="347615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23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387D7A-7856-D6EE-D7DF-EC4A1491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>
            <a:extLst>
              <a:ext uri="{FF2B5EF4-FFF2-40B4-BE49-F238E27FC236}">
                <a16:creationId xmlns="" xmlns:a16="http://schemas.microsoft.com/office/drawing/2014/main" id="{CCAB213E-1261-618D-1C10-F9E9C0612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="" xmlns:a16="http://schemas.microsoft.com/office/drawing/2014/main" id="{EA01C33B-3146-544A-F196-0E900FEC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D3B8B39A-E66C-5B93-BBFE-396AB1DF6E31}"/>
                  </a:ext>
                </a:extLst>
              </p14:cNvPr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B8B39A-E66C-5B93-BBFE-396AB1DF6E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="" xmlns:a16="http://schemas.microsoft.com/office/drawing/2014/main" id="{170A0A91-AC3A-164C-1A47-6068E871C2B4}"/>
              </a:ext>
            </a:extLst>
          </p:cNvPr>
          <p:cNvSpPr txBox="1">
            <a:spLocks/>
          </p:cNvSpPr>
          <p:nvPr/>
        </p:nvSpPr>
        <p:spPr>
          <a:xfrm>
            <a:off x="207433" y="247910"/>
            <a:ext cx="7818967" cy="6001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>
                <a:cs typeface="Consolas" panose="020B0609020204030204" pitchFamily="49" charset="0"/>
              </a:rPr>
              <a:t>Reparition</a:t>
            </a:r>
            <a:r>
              <a:rPr lang="en-US" sz="2400" b="1" dirty="0">
                <a:cs typeface="Consolas" panose="020B0609020204030204" pitchFamily="49" charset="0"/>
              </a:rPr>
              <a:t> (internally calls coalesce(shuffle=True)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8A65A8C-A432-2A6A-3F9D-91AE422DC5AB}"/>
              </a:ext>
            </a:extLst>
          </p:cNvPr>
          <p:cNvSpPr/>
          <p:nvPr/>
        </p:nvSpPr>
        <p:spPr>
          <a:xfrm>
            <a:off x="1073020" y="1954346"/>
            <a:ext cx="3265715" cy="292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5DDCD39-E043-90E7-8E5C-521D9C9A8926}"/>
              </a:ext>
            </a:extLst>
          </p:cNvPr>
          <p:cNvSpPr/>
          <p:nvPr/>
        </p:nvSpPr>
        <p:spPr>
          <a:xfrm>
            <a:off x="5881396" y="1939030"/>
            <a:ext cx="3265715" cy="3006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3BC7F88-4750-8032-35D6-27E2D3C24390}"/>
              </a:ext>
            </a:extLst>
          </p:cNvPr>
          <p:cNvSpPr/>
          <p:nvPr/>
        </p:nvSpPr>
        <p:spPr>
          <a:xfrm>
            <a:off x="3558073" y="5481381"/>
            <a:ext cx="3265715" cy="520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Txns</a:t>
            </a:r>
            <a:r>
              <a:rPr lang="en-US" dirty="0"/>
              <a:t> File (8mb)</a:t>
            </a:r>
          </a:p>
          <a:p>
            <a:pPr algn="ctr"/>
            <a:r>
              <a:rPr lang="en-US" dirty="0" err="1"/>
              <a:t>txns</a:t>
            </a:r>
            <a:r>
              <a:rPr lang="en-US" dirty="0"/>
              <a:t> (1 to 100000)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9BF4F0E-E545-0490-2C8E-0DF36F13F7F1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flipH="1" flipV="1">
            <a:off x="2705878" y="4876222"/>
            <a:ext cx="2485053" cy="60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D229DDF4-5BF4-7C20-3DA7-69C90A9E8B7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5190931" y="4945177"/>
            <a:ext cx="2323323" cy="53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Heptagon 16">
            <a:extLst>
              <a:ext uri="{FF2B5EF4-FFF2-40B4-BE49-F238E27FC236}">
                <a16:creationId xmlns="" xmlns:a16="http://schemas.microsoft.com/office/drawing/2014/main" id="{696B86DE-789F-F9C3-8F18-307B27CF3811}"/>
              </a:ext>
            </a:extLst>
          </p:cNvPr>
          <p:cNvSpPr/>
          <p:nvPr/>
        </p:nvSpPr>
        <p:spPr>
          <a:xfrm>
            <a:off x="2248677" y="1048754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="" xmlns:a16="http://schemas.microsoft.com/office/drawing/2014/main" id="{2A1CA862-328E-A8B3-854C-A79AB0274AD7}"/>
              </a:ext>
            </a:extLst>
          </p:cNvPr>
          <p:cNvSpPr/>
          <p:nvPr/>
        </p:nvSpPr>
        <p:spPr>
          <a:xfrm>
            <a:off x="7112000" y="1020761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7696475-262D-2C37-F9CC-BF6C3DA2B6FB}"/>
              </a:ext>
            </a:extLst>
          </p:cNvPr>
          <p:cNvSpPr/>
          <p:nvPr/>
        </p:nvSpPr>
        <p:spPr>
          <a:xfrm>
            <a:off x="350673" y="667754"/>
            <a:ext cx="1444692" cy="762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FA59EBB-6924-7C42-C772-231F128AF102}"/>
              </a:ext>
            </a:extLst>
          </p:cNvPr>
          <p:cNvSpPr txBox="1"/>
          <p:nvPr/>
        </p:nvSpPr>
        <p:spPr>
          <a:xfrm>
            <a:off x="593990" y="4804707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1D46D11-3BE2-2D6C-3AC4-72D052E96238}"/>
              </a:ext>
            </a:extLst>
          </p:cNvPr>
          <p:cNvSpPr txBox="1"/>
          <p:nvPr/>
        </p:nvSpPr>
        <p:spPr>
          <a:xfrm>
            <a:off x="8204719" y="4907651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Executor2</a:t>
            </a:r>
          </a:p>
        </p:txBody>
      </p:sp>
    </p:spTree>
    <p:extLst>
      <p:ext uri="{BB962C8B-B14F-4D97-AF65-F5344CB8AC3E}">
        <p14:creationId xmlns:p14="http://schemas.microsoft.com/office/powerpoint/2010/main" val="3576047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356B6E-37AC-CD28-6E3E-E1AC26584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>
            <a:extLst>
              <a:ext uri="{FF2B5EF4-FFF2-40B4-BE49-F238E27FC236}">
                <a16:creationId xmlns="" xmlns:a16="http://schemas.microsoft.com/office/drawing/2014/main" id="{09B93F2E-A05F-3092-CFFF-7FE468762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="" xmlns:a16="http://schemas.microsoft.com/office/drawing/2014/main" id="{D9F1257D-8FF0-36AA-2D86-2DDAD25B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608CAFDC-FD5B-873D-5EF4-3648870A25A7}"/>
                  </a:ext>
                </a:extLst>
              </p14:cNvPr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8CAFDC-FD5B-873D-5EF4-3648870A25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="" xmlns:a16="http://schemas.microsoft.com/office/drawing/2014/main" id="{CE0F2CCC-84CA-BB0A-8CF4-14F9B1FDE74E}"/>
              </a:ext>
            </a:extLst>
          </p:cNvPr>
          <p:cNvSpPr txBox="1">
            <a:spLocks/>
          </p:cNvSpPr>
          <p:nvPr/>
        </p:nvSpPr>
        <p:spPr>
          <a:xfrm>
            <a:off x="207433" y="247910"/>
            <a:ext cx="7818967" cy="6001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cs typeface="Consolas" panose="020B0609020204030204" pitchFamily="49" charset="0"/>
              </a:rPr>
              <a:t>Coalesce (internally calls coalesce(shuffle=False)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FFE158C-B511-2E54-9B57-8CAC175AB192}"/>
              </a:ext>
            </a:extLst>
          </p:cNvPr>
          <p:cNvSpPr/>
          <p:nvPr/>
        </p:nvSpPr>
        <p:spPr>
          <a:xfrm>
            <a:off x="1073020" y="1954346"/>
            <a:ext cx="3265715" cy="292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2partitions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 (coalesce)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partitions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6FAC3D8-26B3-429E-7C18-80E98BC1E18B}"/>
              </a:ext>
            </a:extLst>
          </p:cNvPr>
          <p:cNvSpPr/>
          <p:nvPr/>
        </p:nvSpPr>
        <p:spPr>
          <a:xfrm>
            <a:off x="5881396" y="1963154"/>
            <a:ext cx="3265715" cy="3252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2partitions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 (coalesce)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partitions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5230914-3B40-3E49-E1D6-65F50B64BEA1}"/>
              </a:ext>
            </a:extLst>
          </p:cNvPr>
          <p:cNvSpPr/>
          <p:nvPr/>
        </p:nvSpPr>
        <p:spPr>
          <a:xfrm>
            <a:off x="3558073" y="5481381"/>
            <a:ext cx="3265715" cy="52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Linux File (7blocks)</a:t>
            </a:r>
          </a:p>
          <a:p>
            <a:pPr algn="ctr"/>
            <a:r>
              <a:rPr lang="en-US" dirty="0"/>
              <a:t>Customer (1 to 20000)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1F35FD02-35D5-2D31-FC93-3D418C897335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237764" y="3292037"/>
            <a:ext cx="953167" cy="2189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C437D414-5FFB-A390-7EB3-6C600522C78E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190931" y="3289614"/>
            <a:ext cx="690465" cy="219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Heptagon 16">
            <a:extLst>
              <a:ext uri="{FF2B5EF4-FFF2-40B4-BE49-F238E27FC236}">
                <a16:creationId xmlns="" xmlns:a16="http://schemas.microsoft.com/office/drawing/2014/main" id="{E918DBDC-F59E-3E17-9065-DE0F1FD993E6}"/>
              </a:ext>
            </a:extLst>
          </p:cNvPr>
          <p:cNvSpPr/>
          <p:nvPr/>
        </p:nvSpPr>
        <p:spPr>
          <a:xfrm>
            <a:off x="2248677" y="1048754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="" xmlns:a16="http://schemas.microsoft.com/office/drawing/2014/main" id="{4A9079A8-6930-E036-7246-7CF246430014}"/>
              </a:ext>
            </a:extLst>
          </p:cNvPr>
          <p:cNvSpPr/>
          <p:nvPr/>
        </p:nvSpPr>
        <p:spPr>
          <a:xfrm>
            <a:off x="7057053" y="1048754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DF28D1B8-473D-DCDA-1EEF-A2984575CABD}"/>
              </a:ext>
            </a:extLst>
          </p:cNvPr>
          <p:cNvSpPr txBox="1"/>
          <p:nvPr/>
        </p:nvSpPr>
        <p:spPr>
          <a:xfrm>
            <a:off x="4347957" y="2170395"/>
            <a:ext cx="2004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Coalesce</a:t>
            </a:r>
          </a:p>
          <a:p>
            <a:r>
              <a:rPr lang="en-US" dirty="0"/>
              <a:t>Range Partitioning</a:t>
            </a:r>
          </a:p>
          <a:p>
            <a:r>
              <a:rPr lang="en-US" strike="sngStrike" dirty="0"/>
              <a:t>Shuffle</a:t>
            </a:r>
            <a:r>
              <a:rPr lang="en-US" dirty="0"/>
              <a:t> (optionally)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9CAB1BF2-2892-F520-A3C3-FAFB30991A88}"/>
              </a:ext>
            </a:extLst>
          </p:cNvPr>
          <p:cNvCxnSpPr>
            <a:cxnSpLocks/>
          </p:cNvCxnSpPr>
          <p:nvPr/>
        </p:nvCxnSpPr>
        <p:spPr>
          <a:xfrm>
            <a:off x="4338735" y="2170395"/>
            <a:ext cx="1542661" cy="29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293F06FB-DBD1-F670-E0CB-0916183C2638}"/>
              </a:ext>
            </a:extLst>
          </p:cNvPr>
          <p:cNvCxnSpPr>
            <a:cxnSpLocks/>
          </p:cNvCxnSpPr>
          <p:nvPr/>
        </p:nvCxnSpPr>
        <p:spPr>
          <a:xfrm flipH="1" flipV="1">
            <a:off x="4347957" y="3113803"/>
            <a:ext cx="1533439" cy="1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820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8B0271E-D959-93E6-4601-F55A1538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>
            <a:extLst>
              <a:ext uri="{FF2B5EF4-FFF2-40B4-BE49-F238E27FC236}">
                <a16:creationId xmlns="" xmlns:a16="http://schemas.microsoft.com/office/drawing/2014/main" id="{3028BB47-A57C-7EC2-9422-4AEB0B152A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="" xmlns:a16="http://schemas.microsoft.com/office/drawing/2014/main" id="{B8E5A636-35D0-89B7-EFDF-957380FD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FD5C5535-2B6A-DCCA-A4EB-B43A89975965}"/>
                  </a:ext>
                </a:extLst>
              </p14:cNvPr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5C5535-2B6A-DCCA-A4EB-B43A899759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="" xmlns:a16="http://schemas.microsoft.com/office/drawing/2014/main" id="{B0E36F68-BC6C-A005-2E61-EC8B3D0CFC23}"/>
              </a:ext>
            </a:extLst>
          </p:cNvPr>
          <p:cNvSpPr txBox="1">
            <a:spLocks/>
          </p:cNvSpPr>
          <p:nvPr/>
        </p:nvSpPr>
        <p:spPr>
          <a:xfrm>
            <a:off x="207433" y="247910"/>
            <a:ext cx="4607163" cy="60018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cs typeface="Consolas" panose="020B0609020204030204" pitchFamily="49" charset="0"/>
              </a:rPr>
              <a:t>Controlling Number of Partitions</a:t>
            </a:r>
          </a:p>
          <a:p>
            <a:r>
              <a:rPr lang="en-US" sz="2400" b="1" dirty="0">
                <a:cs typeface="Consolas" panose="020B0609020204030204" pitchFamily="49" charset="0"/>
              </a:rPr>
              <a:t>At RDD Creation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1DA64BB-7628-3F3B-D35D-9E9F4773C539}"/>
              </a:ext>
            </a:extLst>
          </p:cNvPr>
          <p:cNvSpPr/>
          <p:nvPr/>
        </p:nvSpPr>
        <p:spPr>
          <a:xfrm>
            <a:off x="772442" y="2101080"/>
            <a:ext cx="2071396" cy="600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linux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270F9D6-402C-1A5A-B088-A43659D4DFF7}"/>
              </a:ext>
            </a:extLst>
          </p:cNvPr>
          <p:cNvSpPr/>
          <p:nvPr/>
        </p:nvSpPr>
        <p:spPr>
          <a:xfrm>
            <a:off x="5134948" y="3566480"/>
            <a:ext cx="2071396" cy="600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hdfs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C696796-BB18-A809-9FD4-6E298902E49F}"/>
              </a:ext>
            </a:extLst>
          </p:cNvPr>
          <p:cNvSpPr txBox="1"/>
          <p:nvPr/>
        </p:nvSpPr>
        <p:spPr>
          <a:xfrm>
            <a:off x="511184" y="762628"/>
            <a:ext cx="7084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- &lt;32mb – default ? 2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- &gt;32mb – default ? Per 32mb 1 partition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- &lt;32mb – customize ? Any number &lt;&gt;2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- &gt;32mb – customize ? Any number &gt; Per 32mb 1 partition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ACDE982-7C46-7DDC-4F21-89D70992CFF4}"/>
              </a:ext>
            </a:extLst>
          </p:cNvPr>
          <p:cNvSpPr txBox="1"/>
          <p:nvPr/>
        </p:nvSpPr>
        <p:spPr>
          <a:xfrm>
            <a:off x="4966995" y="2247125"/>
            <a:ext cx="7084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 - &lt;128mb – default ? 2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 - &gt;128mb – default ? Per 128mb 1 partition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 - &lt;128mb – customize ? Any number &lt;&gt;2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 - &gt;128mb – customize ? Any number &gt; Per 128mb 1 partition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B63660B4-0074-77AD-D672-6BD3D507B195}"/>
              </a:ext>
            </a:extLst>
          </p:cNvPr>
          <p:cNvSpPr/>
          <p:nvPr/>
        </p:nvSpPr>
        <p:spPr>
          <a:xfrm>
            <a:off x="511184" y="5742849"/>
            <a:ext cx="2071396" cy="600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Programatic</a:t>
            </a:r>
            <a:r>
              <a:rPr lang="en-US" dirty="0"/>
              <a:t> </a:t>
            </a:r>
            <a:r>
              <a:rPr lang="en-US" dirty="0" err="1"/>
              <a:t>rdd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FA8A904-2468-091E-E0AF-2A21615CB483}"/>
              </a:ext>
            </a:extLst>
          </p:cNvPr>
          <p:cNvSpPr txBox="1"/>
          <p:nvPr/>
        </p:nvSpPr>
        <p:spPr>
          <a:xfrm>
            <a:off x="361895" y="4291014"/>
            <a:ext cx="79983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sc.parllelize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(range(1,1000))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sc.parallelize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([1,2,3,4,5,10,20])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# of partitions = No. of Cores allocated to this spark application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Customize # of partitions = second parameter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numslices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passed to 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parallize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="" xmlns:a16="http://schemas.microsoft.com/office/drawing/2014/main" id="{5699CA98-68F9-C038-D9D0-709365417D73}"/>
                  </a:ext>
                </a:extLst>
              </p14:cNvPr>
              <p14:cNvContentPartPr/>
              <p14:nvPr/>
            </p14:nvContentPartPr>
            <p14:xfrm>
              <a:off x="4083120" y="310500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99CA98-68F9-C038-D9D0-709365417D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3760" y="30956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0860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471D5C-52FD-1827-CF3E-ADF065E8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>
            <a:extLst>
              <a:ext uri="{FF2B5EF4-FFF2-40B4-BE49-F238E27FC236}">
                <a16:creationId xmlns="" xmlns:a16="http://schemas.microsoft.com/office/drawing/2014/main" id="{6EB19EED-0965-0C52-FDE8-61C94E3550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="" xmlns:a16="http://schemas.microsoft.com/office/drawing/2014/main" id="{5EC5C3AA-877D-B53B-EFC4-5F6C3EA6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C08B3A89-4933-79FE-4BFE-3C24325C10F1}"/>
                  </a:ext>
                </a:extLst>
              </p14:cNvPr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8B3A89-4933-79FE-4BFE-3C24325C1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="" xmlns:a16="http://schemas.microsoft.com/office/drawing/2014/main" id="{38A4854B-3CE2-EF42-A1C8-0BC360B323B0}"/>
              </a:ext>
            </a:extLst>
          </p:cNvPr>
          <p:cNvSpPr txBox="1">
            <a:spLocks/>
          </p:cNvSpPr>
          <p:nvPr/>
        </p:nvSpPr>
        <p:spPr>
          <a:xfrm>
            <a:off x="207433" y="247910"/>
            <a:ext cx="7818967" cy="6001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cs typeface="Consolas" panose="020B0609020204030204" pitchFamily="49" charset="0"/>
              </a:rPr>
              <a:t>Memory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AE760AD-81ED-F230-7629-39B32A654EE8}"/>
              </a:ext>
            </a:extLst>
          </p:cNvPr>
          <p:cNvSpPr/>
          <p:nvPr/>
        </p:nvSpPr>
        <p:spPr>
          <a:xfrm>
            <a:off x="1073020" y="1954346"/>
            <a:ext cx="3265715" cy="2921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A90EA23-1A8C-103F-DEC2-9CC69B7FB45F}"/>
              </a:ext>
            </a:extLst>
          </p:cNvPr>
          <p:cNvSpPr/>
          <p:nvPr/>
        </p:nvSpPr>
        <p:spPr>
          <a:xfrm>
            <a:off x="5881396" y="1939030"/>
            <a:ext cx="3265715" cy="3006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0CE70E4-5BD8-2C00-FBC6-05A43CA92298}"/>
              </a:ext>
            </a:extLst>
          </p:cNvPr>
          <p:cNvSpPr/>
          <p:nvPr/>
        </p:nvSpPr>
        <p:spPr>
          <a:xfrm>
            <a:off x="3558073" y="5481381"/>
            <a:ext cx="3265715" cy="520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Txns_big2 File (202mb)</a:t>
            </a:r>
          </a:p>
          <a:p>
            <a:pPr algn="ctr"/>
            <a:r>
              <a:rPr lang="en-US" dirty="0" err="1"/>
              <a:t>txns</a:t>
            </a:r>
            <a:r>
              <a:rPr lang="en-US" dirty="0"/>
              <a:t> (1 to 100000)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909214A2-3F40-47AE-D6EC-1485FB2BA95A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flipH="1" flipV="1">
            <a:off x="2705878" y="4876222"/>
            <a:ext cx="2485053" cy="605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773789E9-EF5A-B22C-D611-2ACE757EE8F3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5190931" y="4945177"/>
            <a:ext cx="2323323" cy="53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Heptagon 16">
            <a:extLst>
              <a:ext uri="{FF2B5EF4-FFF2-40B4-BE49-F238E27FC236}">
                <a16:creationId xmlns="" xmlns:a16="http://schemas.microsoft.com/office/drawing/2014/main" id="{81494519-0BB7-770B-5CEC-93E3E4535D6B}"/>
              </a:ext>
            </a:extLst>
          </p:cNvPr>
          <p:cNvSpPr/>
          <p:nvPr/>
        </p:nvSpPr>
        <p:spPr>
          <a:xfrm>
            <a:off x="149239" y="1962362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="" xmlns:a16="http://schemas.microsoft.com/office/drawing/2014/main" id="{5B2DC364-AA72-86CC-4723-F8BFCF49D93A}"/>
              </a:ext>
            </a:extLst>
          </p:cNvPr>
          <p:cNvSpPr/>
          <p:nvPr/>
        </p:nvSpPr>
        <p:spPr>
          <a:xfrm>
            <a:off x="9147110" y="1866109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1A4EB01-E6D0-B30A-C58F-AC5A2C22EE68}"/>
              </a:ext>
            </a:extLst>
          </p:cNvPr>
          <p:cNvSpPr/>
          <p:nvPr/>
        </p:nvSpPr>
        <p:spPr>
          <a:xfrm>
            <a:off x="350673" y="751731"/>
            <a:ext cx="1444692" cy="762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8B0B4DA-1F18-14B0-CF93-0EEA65C9CB6C}"/>
              </a:ext>
            </a:extLst>
          </p:cNvPr>
          <p:cNvSpPr txBox="1"/>
          <p:nvPr/>
        </p:nvSpPr>
        <p:spPr>
          <a:xfrm>
            <a:off x="593990" y="4804707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5855EFE-B52F-FBD4-6DDF-0BFF6F8E76D2}"/>
              </a:ext>
            </a:extLst>
          </p:cNvPr>
          <p:cNvSpPr txBox="1"/>
          <p:nvPr/>
        </p:nvSpPr>
        <p:spPr>
          <a:xfrm>
            <a:off x="8204719" y="4907651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FBB355C-223B-5C82-CB7B-018CBA269099}"/>
              </a:ext>
            </a:extLst>
          </p:cNvPr>
          <p:cNvSpPr/>
          <p:nvPr/>
        </p:nvSpPr>
        <p:spPr>
          <a:xfrm>
            <a:off x="1412032" y="2619982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Rdd1-part1 (128mb)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E90F40B-7D83-BEAB-AB33-990D7DBAB585}"/>
              </a:ext>
            </a:extLst>
          </p:cNvPr>
          <p:cNvSpPr/>
          <p:nvPr/>
        </p:nvSpPr>
        <p:spPr>
          <a:xfrm>
            <a:off x="6441232" y="2598738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Rdd1-part2 (74mb)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389157C-573D-97D7-42B1-B2D52BA96B44}"/>
              </a:ext>
            </a:extLst>
          </p:cNvPr>
          <p:cNvSpPr txBox="1"/>
          <p:nvPr/>
        </p:nvSpPr>
        <p:spPr>
          <a:xfrm>
            <a:off x="4256283" y="207871"/>
            <a:ext cx="44146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Rdd1=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sc.textFile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:///user/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hduser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/txns_big2”)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Print(Rdd1.count())</a:t>
            </a:r>
          </a:p>
          <a:p>
            <a:r>
              <a:rPr lang="en-US" sz="1200" strike="sngStrik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(cleaned by GC)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Rdd2=Rdd1.filter(lambda x:’error’ in x)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Print(Rdd2.count())#(cleaned by GC)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Print(Rdd2.collect())#Run the entire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inmem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computation from Rdd1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F231AB92-59ED-DA1B-89E1-B3ABD7B478AE}"/>
              </a:ext>
            </a:extLst>
          </p:cNvPr>
          <p:cNvSpPr txBox="1"/>
          <p:nvPr/>
        </p:nvSpPr>
        <p:spPr>
          <a:xfrm>
            <a:off x="2676719" y="2832103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8D20FC6D-5BA9-6A10-CE55-BFE8420A02FE}"/>
              </a:ext>
            </a:extLst>
          </p:cNvPr>
          <p:cNvSpPr txBox="1"/>
          <p:nvPr/>
        </p:nvSpPr>
        <p:spPr>
          <a:xfrm>
            <a:off x="7614558" y="2816599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CC08C25C-334F-9670-D4CC-E426A8CE8AF1}"/>
              </a:ext>
            </a:extLst>
          </p:cNvPr>
          <p:cNvCxnSpPr>
            <a:cxnSpLocks/>
            <a:stCxn id="4" idx="0"/>
            <a:endCxn id="2" idx="2"/>
          </p:cNvCxnSpPr>
          <p:nvPr/>
        </p:nvCxnSpPr>
        <p:spPr>
          <a:xfrm flipH="1" flipV="1">
            <a:off x="1073019" y="1513731"/>
            <a:ext cx="1412034" cy="1106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7D18233-1EFA-8BC4-FB6E-31499CF94E4C}"/>
              </a:ext>
            </a:extLst>
          </p:cNvPr>
          <p:cNvSpPr txBox="1"/>
          <p:nvPr/>
        </p:nvSpPr>
        <p:spPr>
          <a:xfrm>
            <a:off x="428820" y="1471863"/>
            <a:ext cx="56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0737DB5C-7E0C-0DA8-9E44-BD3ADE0FCDB6}"/>
              </a:ext>
            </a:extLst>
          </p:cNvPr>
          <p:cNvCxnSpPr>
            <a:cxnSpLocks/>
          </p:cNvCxnSpPr>
          <p:nvPr/>
        </p:nvCxnSpPr>
        <p:spPr>
          <a:xfrm flipH="1" flipV="1">
            <a:off x="1764263" y="927535"/>
            <a:ext cx="5485623" cy="208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367548FB-B1FA-0FCF-7125-C60A041E3192}"/>
              </a:ext>
            </a:extLst>
          </p:cNvPr>
          <p:cNvSpPr txBox="1"/>
          <p:nvPr/>
        </p:nvSpPr>
        <p:spPr>
          <a:xfrm>
            <a:off x="3522370" y="1384355"/>
            <a:ext cx="56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8D9C957-8D81-84CE-8DD3-2DFD0B419A46}"/>
              </a:ext>
            </a:extLst>
          </p:cNvPr>
          <p:cNvSpPr txBox="1"/>
          <p:nvPr/>
        </p:nvSpPr>
        <p:spPr>
          <a:xfrm>
            <a:off x="1291512" y="706668"/>
            <a:ext cx="6377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+40k</a:t>
            </a:r>
          </a:p>
          <a:p>
            <a:r>
              <a:rPr lang="en-US" sz="11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=1Lakh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063A8904-B2AB-AEBD-478B-AC7157C54227}"/>
              </a:ext>
            </a:extLst>
          </p:cNvPr>
          <p:cNvSpPr txBox="1"/>
          <p:nvPr/>
        </p:nvSpPr>
        <p:spPr>
          <a:xfrm>
            <a:off x="1745500" y="605162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EE78198E-C4C5-69E7-3833-9547FC3D0CD0}"/>
              </a:ext>
            </a:extLst>
          </p:cNvPr>
          <p:cNvSpPr txBox="1"/>
          <p:nvPr/>
        </p:nvSpPr>
        <p:spPr>
          <a:xfrm>
            <a:off x="3536894" y="2634554"/>
            <a:ext cx="694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GC()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79518A9-A474-3A02-D9F8-AAF541293554}"/>
              </a:ext>
            </a:extLst>
          </p:cNvPr>
          <p:cNvSpPr txBox="1"/>
          <p:nvPr/>
        </p:nvSpPr>
        <p:spPr>
          <a:xfrm>
            <a:off x="8526433" y="2598709"/>
            <a:ext cx="694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GC()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9AC98F81-D71D-A102-83AF-D5F53F11FAF7}"/>
              </a:ext>
            </a:extLst>
          </p:cNvPr>
          <p:cNvSpPr/>
          <p:nvPr/>
        </p:nvSpPr>
        <p:spPr>
          <a:xfrm>
            <a:off x="1412032" y="3415129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Rdd1-part1 (128mb)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262A082D-B247-83C7-9B05-5FEEF912F1A1}"/>
              </a:ext>
            </a:extLst>
          </p:cNvPr>
          <p:cNvSpPr/>
          <p:nvPr/>
        </p:nvSpPr>
        <p:spPr>
          <a:xfrm>
            <a:off x="6441232" y="3393885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Rdd1-part2 (74mb)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55E3E3E6-9E1B-6605-4CF8-C32598C948B1}"/>
              </a:ext>
            </a:extLst>
          </p:cNvPr>
          <p:cNvSpPr/>
          <p:nvPr/>
        </p:nvSpPr>
        <p:spPr>
          <a:xfrm>
            <a:off x="1390852" y="4157193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Rdd2-part1 (10mb)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DA23F941-3B83-3F2E-B736-9B4D826A6893}"/>
              </a:ext>
            </a:extLst>
          </p:cNvPr>
          <p:cNvSpPr/>
          <p:nvPr/>
        </p:nvSpPr>
        <p:spPr>
          <a:xfrm>
            <a:off x="6441232" y="4157193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Rdd2-part2 (7mb)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69C7E75-2737-5F62-BC7E-2FBE3ACA4C7F}"/>
              </a:ext>
            </a:extLst>
          </p:cNvPr>
          <p:cNvSpPr txBox="1"/>
          <p:nvPr/>
        </p:nvSpPr>
        <p:spPr>
          <a:xfrm>
            <a:off x="1628055" y="3900254"/>
            <a:ext cx="1918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filter(lambda x:’error’ in x)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8058CE26-0D5A-92E0-2554-01C17F693B23}"/>
              </a:ext>
            </a:extLst>
          </p:cNvPr>
          <p:cNvSpPr txBox="1"/>
          <p:nvPr/>
        </p:nvSpPr>
        <p:spPr>
          <a:xfrm>
            <a:off x="6608213" y="3905731"/>
            <a:ext cx="1918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filter(lambda x:’error’ in x)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C088C9E0-54E2-9AA3-3A43-DADB45EB7092}"/>
              </a:ext>
            </a:extLst>
          </p:cNvPr>
          <p:cNvSpPr txBox="1"/>
          <p:nvPr/>
        </p:nvSpPr>
        <p:spPr>
          <a:xfrm>
            <a:off x="2601008" y="4328666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D91EE071-FC99-31EC-1390-BDFD0EAA2ADE}"/>
              </a:ext>
            </a:extLst>
          </p:cNvPr>
          <p:cNvSpPr txBox="1"/>
          <p:nvPr/>
        </p:nvSpPr>
        <p:spPr>
          <a:xfrm>
            <a:off x="7651388" y="4364298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48721D9A-7085-7190-778B-39E21E60D3E2}"/>
              </a:ext>
            </a:extLst>
          </p:cNvPr>
          <p:cNvSpPr txBox="1"/>
          <p:nvPr/>
        </p:nvSpPr>
        <p:spPr>
          <a:xfrm>
            <a:off x="1969053" y="1140859"/>
            <a:ext cx="6377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5k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+3k</a:t>
            </a:r>
          </a:p>
          <a:p>
            <a:r>
              <a:rPr lang="en-US" sz="11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=8000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23568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0DBA909-8BD3-FE2E-5A72-9A544A9C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8" descr="https://hadoop.apache.org/docs/current/hadoop-yarn/hadoop-yarn-site/yarn_architecture.gif">
            <a:extLst>
              <a:ext uri="{FF2B5EF4-FFF2-40B4-BE49-F238E27FC236}">
                <a16:creationId xmlns="" xmlns:a16="http://schemas.microsoft.com/office/drawing/2014/main" id="{7429C7E6-F13A-F83C-2650-5ADA439B40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="" xmlns:a16="http://schemas.microsoft.com/office/drawing/2014/main" id="{5B709871-660C-08DA-1B38-1F60E8C2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/>
          <a:p>
            <a:r>
              <a:rPr lang="en-US" dirty="0"/>
              <a:t>INCEPTEZ TECHNOLOGIES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="" xmlns:a16="http://schemas.microsoft.com/office/drawing/2014/main" id="{2331A3CC-7614-D1AF-396D-CF1E4B2EE632}"/>
                  </a:ext>
                </a:extLst>
              </p14:cNvPr>
              <p14:cNvContentPartPr/>
              <p14:nvPr/>
            </p14:nvContentPartPr>
            <p14:xfrm>
              <a:off x="6756480" y="144792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31A3CC-7614-D1AF-396D-CF1E4B2EE6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7120" y="14385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="" xmlns:a16="http://schemas.microsoft.com/office/drawing/2014/main" id="{3D53A8AD-7750-A7BB-0393-26AA51DC0CC3}"/>
              </a:ext>
            </a:extLst>
          </p:cNvPr>
          <p:cNvSpPr txBox="1">
            <a:spLocks/>
          </p:cNvSpPr>
          <p:nvPr/>
        </p:nvSpPr>
        <p:spPr>
          <a:xfrm>
            <a:off x="207433" y="247910"/>
            <a:ext cx="7818967" cy="6001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cs typeface="Consolas" panose="020B0609020204030204" pitchFamily="49" charset="0"/>
              </a:rPr>
              <a:t>Memory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10302B0-EEB2-7919-5078-57CED5072FDD}"/>
              </a:ext>
            </a:extLst>
          </p:cNvPr>
          <p:cNvSpPr/>
          <p:nvPr/>
        </p:nvSpPr>
        <p:spPr>
          <a:xfrm>
            <a:off x="1073020" y="2441140"/>
            <a:ext cx="3265715" cy="2435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214CF46-D6F6-91C0-5C21-37280890574F}"/>
              </a:ext>
            </a:extLst>
          </p:cNvPr>
          <p:cNvSpPr/>
          <p:nvPr/>
        </p:nvSpPr>
        <p:spPr>
          <a:xfrm>
            <a:off x="5881396" y="2448797"/>
            <a:ext cx="3265715" cy="2496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68A27A5-57F0-923C-A1FD-564EEAD1B5CD}"/>
              </a:ext>
            </a:extLst>
          </p:cNvPr>
          <p:cNvSpPr/>
          <p:nvPr/>
        </p:nvSpPr>
        <p:spPr>
          <a:xfrm>
            <a:off x="3558073" y="5481381"/>
            <a:ext cx="3265715" cy="520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Txns_big2 File (202mb)</a:t>
            </a:r>
          </a:p>
          <a:p>
            <a:pPr algn="ctr"/>
            <a:r>
              <a:rPr lang="en-US" dirty="0" err="1"/>
              <a:t>txns</a:t>
            </a:r>
            <a:r>
              <a:rPr lang="en-US" dirty="0"/>
              <a:t> (1 to 100000)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FD7070D1-4F1C-3162-9E6C-4E1A656941DB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flipH="1" flipV="1">
            <a:off x="2705878" y="4876221"/>
            <a:ext cx="2485053" cy="605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71359B18-0759-54CB-3107-F6D6612C9133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5190931" y="4945177"/>
            <a:ext cx="2323323" cy="53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Heptagon 16">
            <a:extLst>
              <a:ext uri="{FF2B5EF4-FFF2-40B4-BE49-F238E27FC236}">
                <a16:creationId xmlns="" xmlns:a16="http://schemas.microsoft.com/office/drawing/2014/main" id="{1AC3BD28-4946-BA2C-8298-598EC3F66E41}"/>
              </a:ext>
            </a:extLst>
          </p:cNvPr>
          <p:cNvSpPr/>
          <p:nvPr/>
        </p:nvSpPr>
        <p:spPr>
          <a:xfrm>
            <a:off x="149239" y="1962362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="" xmlns:a16="http://schemas.microsoft.com/office/drawing/2014/main" id="{2A6061E7-AF72-7297-419B-96E90F24EAEA}"/>
              </a:ext>
            </a:extLst>
          </p:cNvPr>
          <p:cNvSpPr/>
          <p:nvPr/>
        </p:nvSpPr>
        <p:spPr>
          <a:xfrm>
            <a:off x="9147110" y="1866109"/>
            <a:ext cx="914400" cy="9144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2core</a:t>
            </a:r>
          </a:p>
          <a:p>
            <a:pPr algn="ctr"/>
            <a:r>
              <a:rPr lang="en-US" dirty="0"/>
              <a:t>1gb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72FA461-F739-F07D-38A4-EE210E112059}"/>
              </a:ext>
            </a:extLst>
          </p:cNvPr>
          <p:cNvSpPr/>
          <p:nvPr/>
        </p:nvSpPr>
        <p:spPr>
          <a:xfrm>
            <a:off x="350673" y="751731"/>
            <a:ext cx="1444692" cy="762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512mb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DE6D41E-434E-C4B0-F77C-3DF092AEAD28}"/>
              </a:ext>
            </a:extLst>
          </p:cNvPr>
          <p:cNvSpPr txBox="1"/>
          <p:nvPr/>
        </p:nvSpPr>
        <p:spPr>
          <a:xfrm>
            <a:off x="593990" y="4804707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F95C2F4-314E-4A83-9FFB-7EE75294909F}"/>
              </a:ext>
            </a:extLst>
          </p:cNvPr>
          <p:cNvSpPr txBox="1"/>
          <p:nvPr/>
        </p:nvSpPr>
        <p:spPr>
          <a:xfrm>
            <a:off x="8204719" y="4907651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Executor2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DF31B42-0363-3CF9-A47E-08C0F0155AA3}"/>
              </a:ext>
            </a:extLst>
          </p:cNvPr>
          <p:cNvSpPr/>
          <p:nvPr/>
        </p:nvSpPr>
        <p:spPr>
          <a:xfrm>
            <a:off x="1412032" y="2619982"/>
            <a:ext cx="2146042" cy="5207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Rdd1-part1 (128mb)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F928A34-C16A-7EFE-6CD9-BC38BC0AEFD2}"/>
              </a:ext>
            </a:extLst>
          </p:cNvPr>
          <p:cNvSpPr/>
          <p:nvPr/>
        </p:nvSpPr>
        <p:spPr>
          <a:xfrm>
            <a:off x="6441232" y="2598738"/>
            <a:ext cx="2146042" cy="5207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Rdd1-part2 (74mb)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F3921AF-5B12-7D15-62FC-A10D29F6EFF2}"/>
              </a:ext>
            </a:extLst>
          </p:cNvPr>
          <p:cNvSpPr txBox="1"/>
          <p:nvPr/>
        </p:nvSpPr>
        <p:spPr>
          <a:xfrm>
            <a:off x="4256283" y="181895"/>
            <a:ext cx="3717684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Rdd1=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sc.textFile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hdfs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:///user/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hduser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/txns_big2”)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.cache() 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#(GC pls don’t clean)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Print(Rdd1.count()) #RDD1 will be loaded from disk to memory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 (GC pls don’t clean)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Rdd2=Rdd1.filter(lambda x:’error’ in x)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Print(Rdd2.count())#(cleaned by GC)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 will be recomputed again taking data from Rdd1 (cache)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Print(Rdd2.collect())#Run the entire 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inmem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computation from Rdd2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 #(cleaned by GC)</a:t>
            </a:r>
          </a:p>
          <a:p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#Rdd1.unpersist()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#(Asking GC to clean the memory)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#I am not going to use Rdd1 further in my app?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Rdd3=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sc.textFile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someotherdata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#Application completed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BFACB78-B423-1FB4-A1DA-A8894FB96797}"/>
              </a:ext>
            </a:extLst>
          </p:cNvPr>
          <p:cNvSpPr txBox="1"/>
          <p:nvPr/>
        </p:nvSpPr>
        <p:spPr>
          <a:xfrm>
            <a:off x="2676719" y="2832103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2426715C-A74F-159E-1B13-9B2B3B81A1AF}"/>
              </a:ext>
            </a:extLst>
          </p:cNvPr>
          <p:cNvSpPr txBox="1"/>
          <p:nvPr/>
        </p:nvSpPr>
        <p:spPr>
          <a:xfrm>
            <a:off x="7614558" y="2816599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4965F6CA-B4E3-5791-7DF2-06D3D1A8E1A5}"/>
              </a:ext>
            </a:extLst>
          </p:cNvPr>
          <p:cNvCxnSpPr>
            <a:cxnSpLocks/>
            <a:stCxn id="4" idx="0"/>
            <a:endCxn id="2" idx="2"/>
          </p:cNvCxnSpPr>
          <p:nvPr/>
        </p:nvCxnSpPr>
        <p:spPr>
          <a:xfrm flipH="1" flipV="1">
            <a:off x="1073019" y="1513731"/>
            <a:ext cx="1412034" cy="1106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54841C8C-D3B6-B39C-8A09-7438A299C2C1}"/>
              </a:ext>
            </a:extLst>
          </p:cNvPr>
          <p:cNvSpPr txBox="1"/>
          <p:nvPr/>
        </p:nvSpPr>
        <p:spPr>
          <a:xfrm>
            <a:off x="428820" y="1471863"/>
            <a:ext cx="56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FEC1B108-F232-017B-6CDF-97E1490FD558}"/>
              </a:ext>
            </a:extLst>
          </p:cNvPr>
          <p:cNvCxnSpPr>
            <a:cxnSpLocks/>
          </p:cNvCxnSpPr>
          <p:nvPr/>
        </p:nvCxnSpPr>
        <p:spPr>
          <a:xfrm flipH="1" flipV="1">
            <a:off x="1764263" y="927535"/>
            <a:ext cx="5485623" cy="208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5EA509B1-333A-041D-9B42-590B59293A78}"/>
              </a:ext>
            </a:extLst>
          </p:cNvPr>
          <p:cNvSpPr txBox="1"/>
          <p:nvPr/>
        </p:nvSpPr>
        <p:spPr>
          <a:xfrm>
            <a:off x="3522370" y="1384355"/>
            <a:ext cx="56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E6072E78-FF7A-5F89-372B-53CF1C9ECD2F}"/>
              </a:ext>
            </a:extLst>
          </p:cNvPr>
          <p:cNvSpPr txBox="1"/>
          <p:nvPr/>
        </p:nvSpPr>
        <p:spPr>
          <a:xfrm>
            <a:off x="1291512" y="706668"/>
            <a:ext cx="6377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+40k</a:t>
            </a:r>
          </a:p>
          <a:p>
            <a:r>
              <a:rPr lang="en-US" sz="11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=1Lakh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1B8DC634-C61B-E6D2-3017-B2DCDDF16C9A}"/>
              </a:ext>
            </a:extLst>
          </p:cNvPr>
          <p:cNvSpPr txBox="1"/>
          <p:nvPr/>
        </p:nvSpPr>
        <p:spPr>
          <a:xfrm>
            <a:off x="1745500" y="605162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031118B7-F1A5-023C-97A0-0DFDD57853A3}"/>
              </a:ext>
            </a:extLst>
          </p:cNvPr>
          <p:cNvSpPr txBox="1"/>
          <p:nvPr/>
        </p:nvSpPr>
        <p:spPr>
          <a:xfrm>
            <a:off x="3536894" y="2634554"/>
            <a:ext cx="694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GC()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F4AE80EC-8E91-D5C4-189B-2332604174DC}"/>
              </a:ext>
            </a:extLst>
          </p:cNvPr>
          <p:cNvSpPr txBox="1"/>
          <p:nvPr/>
        </p:nvSpPr>
        <p:spPr>
          <a:xfrm>
            <a:off x="8526433" y="2598709"/>
            <a:ext cx="694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GC()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5CE54C8A-A925-55E3-2D36-A75C7F137976}"/>
              </a:ext>
            </a:extLst>
          </p:cNvPr>
          <p:cNvSpPr/>
          <p:nvPr/>
        </p:nvSpPr>
        <p:spPr>
          <a:xfrm>
            <a:off x="1412032" y="3415129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Rdd1-part1 (128mb)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E386848A-7084-9A25-D87C-07C11C8EBE88}"/>
              </a:ext>
            </a:extLst>
          </p:cNvPr>
          <p:cNvSpPr/>
          <p:nvPr/>
        </p:nvSpPr>
        <p:spPr>
          <a:xfrm>
            <a:off x="6441232" y="3393885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Rdd1-part2 (74mb)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A4A73FFB-93B0-5E3B-EB98-B264B2D55107}"/>
              </a:ext>
            </a:extLst>
          </p:cNvPr>
          <p:cNvSpPr/>
          <p:nvPr/>
        </p:nvSpPr>
        <p:spPr>
          <a:xfrm>
            <a:off x="1390852" y="4157193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Rdd2-part1 (10mb)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4657FEAB-6442-E50B-0A94-923B371CBBB3}"/>
              </a:ext>
            </a:extLst>
          </p:cNvPr>
          <p:cNvSpPr/>
          <p:nvPr/>
        </p:nvSpPr>
        <p:spPr>
          <a:xfrm>
            <a:off x="6441232" y="4157193"/>
            <a:ext cx="2146042" cy="52074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Rdd2-part2 (7mb)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61D338A-31D1-2976-D66E-F4D1FA610D82}"/>
              </a:ext>
            </a:extLst>
          </p:cNvPr>
          <p:cNvSpPr txBox="1"/>
          <p:nvPr/>
        </p:nvSpPr>
        <p:spPr>
          <a:xfrm>
            <a:off x="1628055" y="3900254"/>
            <a:ext cx="1918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filter(lambda x:’error’ in x)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D0EB7A92-C220-DB34-FFC7-00614C0FDE38}"/>
              </a:ext>
            </a:extLst>
          </p:cNvPr>
          <p:cNvSpPr txBox="1"/>
          <p:nvPr/>
        </p:nvSpPr>
        <p:spPr>
          <a:xfrm>
            <a:off x="6608213" y="3905731"/>
            <a:ext cx="1918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filter(lambda x:’error’ in x)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6FB6D4C7-8BCF-69DE-190C-CBFB045684FF}"/>
              </a:ext>
            </a:extLst>
          </p:cNvPr>
          <p:cNvSpPr txBox="1"/>
          <p:nvPr/>
        </p:nvSpPr>
        <p:spPr>
          <a:xfrm>
            <a:off x="2601008" y="4328666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72B91868-26B3-D320-C9BC-44F202986782}"/>
              </a:ext>
            </a:extLst>
          </p:cNvPr>
          <p:cNvSpPr txBox="1"/>
          <p:nvPr/>
        </p:nvSpPr>
        <p:spPr>
          <a:xfrm>
            <a:off x="7651388" y="4364298"/>
            <a:ext cx="97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count()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CFAA10A6-E5C0-61E9-77EC-094607935055}"/>
              </a:ext>
            </a:extLst>
          </p:cNvPr>
          <p:cNvSpPr txBox="1"/>
          <p:nvPr/>
        </p:nvSpPr>
        <p:spPr>
          <a:xfrm>
            <a:off x="1969053" y="1140859"/>
            <a:ext cx="6377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5k</a:t>
            </a: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+3k</a:t>
            </a:r>
          </a:p>
          <a:p>
            <a:r>
              <a:rPr lang="en-US" sz="11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=8000</a:t>
            </a:r>
            <a:endParaRPr lang="en-US" sz="11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="" xmlns:a16="http://schemas.microsoft.com/office/drawing/2014/main" id="{DECC5D6C-9255-8C97-87D9-D26664EFA602}"/>
                  </a:ext>
                </a:extLst>
              </p14:cNvPr>
              <p14:cNvContentPartPr/>
              <p14:nvPr/>
            </p14:nvContentPartPr>
            <p14:xfrm>
              <a:off x="3441600" y="317520"/>
              <a:ext cx="6331320" cy="5162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CC5D6C-9255-8C97-87D9-D26664EFA6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2240" y="308160"/>
                <a:ext cx="6350040" cy="51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5266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E75A03D-9880-9862-BB61-4949240C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D48077-3BAB-208D-4B8A-AFB55E86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52" y="269047"/>
            <a:ext cx="4626710" cy="569205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Pyspark</a:t>
            </a:r>
            <a:r>
              <a:rPr lang="en-US" sz="2400" b="1" dirty="0"/>
              <a:t> Different Storage Levels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ACAF9711-B8E8-ADD2-7A91-A65E701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</p:spTree>
    <p:extLst>
      <p:ext uri="{BB962C8B-B14F-4D97-AF65-F5344CB8AC3E}">
        <p14:creationId xmlns:p14="http://schemas.microsoft.com/office/powerpoint/2010/main" val="2750035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E75A03D-9880-9862-BB61-4949240C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D48077-3BAB-208D-4B8A-AFB55E86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52" y="269047"/>
            <a:ext cx="4626710" cy="569205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Pyspark</a:t>
            </a:r>
            <a:r>
              <a:rPr lang="en-US" sz="2400" b="1" dirty="0"/>
              <a:t> Different Storage Levels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ACAF9711-B8E8-ADD2-7A91-A65E701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F5FCB69B-CF5A-CE16-8B9B-99477AA6CEC7}"/>
              </a:ext>
            </a:extLst>
          </p:cNvPr>
          <p:cNvGraphicFramePr>
            <a:graphicFrameLocks noGrp="1"/>
          </p:cNvGraphicFramePr>
          <p:nvPr/>
        </p:nvGraphicFramePr>
        <p:xfrm>
          <a:off x="421151" y="838252"/>
          <a:ext cx="11359026" cy="340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71">
                  <a:extLst>
                    <a:ext uri="{9D8B030D-6E8A-4147-A177-3AD203B41FA5}">
                      <a16:colId xmlns="" xmlns:a16="http://schemas.microsoft.com/office/drawing/2014/main" val="413259252"/>
                    </a:ext>
                  </a:extLst>
                </a:gridCol>
                <a:gridCol w="1082021">
                  <a:extLst>
                    <a:ext uri="{9D8B030D-6E8A-4147-A177-3AD203B41FA5}">
                      <a16:colId xmlns="" xmlns:a16="http://schemas.microsoft.com/office/drawing/2014/main" val="2251929875"/>
                    </a:ext>
                  </a:extLst>
                </a:gridCol>
                <a:gridCol w="662473">
                  <a:extLst>
                    <a:ext uri="{9D8B030D-6E8A-4147-A177-3AD203B41FA5}">
                      <a16:colId xmlns="" xmlns:a16="http://schemas.microsoft.com/office/drawing/2014/main" val="482659506"/>
                    </a:ext>
                  </a:extLst>
                </a:gridCol>
                <a:gridCol w="1222311">
                  <a:extLst>
                    <a:ext uri="{9D8B030D-6E8A-4147-A177-3AD203B41FA5}">
                      <a16:colId xmlns="" xmlns:a16="http://schemas.microsoft.com/office/drawing/2014/main" val="165666072"/>
                    </a:ext>
                  </a:extLst>
                </a:gridCol>
                <a:gridCol w="1446244">
                  <a:extLst>
                    <a:ext uri="{9D8B030D-6E8A-4147-A177-3AD203B41FA5}">
                      <a16:colId xmlns="" xmlns:a16="http://schemas.microsoft.com/office/drawing/2014/main" val="4000813224"/>
                    </a:ext>
                  </a:extLst>
                </a:gridCol>
                <a:gridCol w="5052806">
                  <a:extLst>
                    <a:ext uri="{9D8B030D-6E8A-4147-A177-3AD203B41FA5}">
                      <a16:colId xmlns="" xmlns:a16="http://schemas.microsoft.com/office/drawing/2014/main" val="3954473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Storage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Serialized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Realtime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usecases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9876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MEMORY_ONLY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Fastest (if data fits in memory)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68173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MEMORY_ONLY_2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(2x)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In-memory &amp; replication for fault tolerance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07095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MEMORY_AND_DISK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Falls back to disk if memory overflows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4183168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MEMORY_AND_DISK_2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(2x)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 + disk with replication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364769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MEMORY_AND_DISK_DESER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(2x)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Memory + disk with replication &amp; Deserialized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97456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DISK_ONLY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When memory is used very limitedly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226582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DISK_ONLY_2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(2x)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When memory is used very limitedly &amp; replication for fault tolerance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198882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DISK_ONLY_3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 (3x)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When memory is used very limitedly &amp; replication for fault tolerance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8677707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61C46EC6-1756-2DC5-8BF1-E38EBA420555}"/>
              </a:ext>
            </a:extLst>
          </p:cNvPr>
          <p:cNvGraphicFramePr>
            <a:graphicFrameLocks noGrp="1"/>
          </p:cNvGraphicFramePr>
          <p:nvPr/>
        </p:nvGraphicFramePr>
        <p:xfrm>
          <a:off x="411823" y="4248643"/>
          <a:ext cx="11359026" cy="43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71">
                  <a:extLst>
                    <a:ext uri="{9D8B030D-6E8A-4147-A177-3AD203B41FA5}">
                      <a16:colId xmlns="" xmlns:a16="http://schemas.microsoft.com/office/drawing/2014/main" val="2554914055"/>
                    </a:ext>
                  </a:extLst>
                </a:gridCol>
                <a:gridCol w="1082021">
                  <a:extLst>
                    <a:ext uri="{9D8B030D-6E8A-4147-A177-3AD203B41FA5}">
                      <a16:colId xmlns="" xmlns:a16="http://schemas.microsoft.com/office/drawing/2014/main" val="816536713"/>
                    </a:ext>
                  </a:extLst>
                </a:gridCol>
                <a:gridCol w="662473">
                  <a:extLst>
                    <a:ext uri="{9D8B030D-6E8A-4147-A177-3AD203B41FA5}">
                      <a16:colId xmlns="" xmlns:a16="http://schemas.microsoft.com/office/drawing/2014/main" val="1253731125"/>
                    </a:ext>
                  </a:extLst>
                </a:gridCol>
                <a:gridCol w="1222311">
                  <a:extLst>
                    <a:ext uri="{9D8B030D-6E8A-4147-A177-3AD203B41FA5}">
                      <a16:colId xmlns="" xmlns:a16="http://schemas.microsoft.com/office/drawing/2014/main" val="2470108425"/>
                    </a:ext>
                  </a:extLst>
                </a:gridCol>
                <a:gridCol w="1446244">
                  <a:extLst>
                    <a:ext uri="{9D8B030D-6E8A-4147-A177-3AD203B41FA5}">
                      <a16:colId xmlns="" xmlns:a16="http://schemas.microsoft.com/office/drawing/2014/main" val="636075925"/>
                    </a:ext>
                  </a:extLst>
                </a:gridCol>
                <a:gridCol w="5052806">
                  <a:extLst>
                    <a:ext uri="{9D8B030D-6E8A-4147-A177-3AD203B41FA5}">
                      <a16:colId xmlns="" xmlns:a16="http://schemas.microsoft.com/office/drawing/2014/main" val="4134440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OFF_HEAP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leverage off heap memory space if on heap is not sufficient (Experimental)</a:t>
                      </a:r>
                    </a:p>
                  </a:txBody>
                  <a:tcPr marL="7620" marR="7620" marT="762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46208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18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426738" y="21293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JVM - Heap Memory Concept (High Level)</a:t>
            </a:r>
          </a:p>
        </p:txBody>
      </p:sp>
      <p:sp>
        <p:nvSpPr>
          <p:cNvPr id="2" name="Rectangle 1"/>
          <p:cNvSpPr/>
          <p:nvPr/>
        </p:nvSpPr>
        <p:spPr>
          <a:xfrm>
            <a:off x="1013012" y="1508759"/>
            <a:ext cx="9977717" cy="37893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24800" y="1631576"/>
            <a:ext cx="2904565" cy="35410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192306" y="1631575"/>
            <a:ext cx="6606988" cy="35410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87079" y="1164539"/>
            <a:ext cx="3885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Executor/JVM/Cache/Heap/Container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182704" y="1656687"/>
            <a:ext cx="6652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Eden   -&gt;   Young Generation (Survivor) -&gt; Old Generation Memory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386497" y="4803302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Off-Heap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(30% to 10%)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823618" y="4803303"/>
            <a:ext cx="24449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On-Heap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(70% to 90%)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097775" y="1608576"/>
            <a:ext cx="2451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Permanent Generation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305280" y="2474674"/>
            <a:ext cx="1572675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RDD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(Java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Serializer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)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44671" y="2026109"/>
            <a:ext cx="1957587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Security Credentials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Configs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OS Variables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Code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Local Variables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Broadcast variables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Accumulators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etc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398540" y="2320785"/>
            <a:ext cx="19752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Garbage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Collector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924561" y="4162208"/>
            <a:ext cx="9813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Garbage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Collector</a:t>
            </a:r>
            <a:endParaRPr kumimoji="0" lang="en-IN" sz="1600" b="1" i="0" u="none" strike="sng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76709" y="3792876"/>
            <a:ext cx="1770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Kryo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Serializer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)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3759120" y="2921040"/>
              <a:ext cx="4692960" cy="22608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9760" y="2911680"/>
                <a:ext cx="4711680" cy="227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768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18097AA-1354-1AA9-B6F0-E89CD914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924EEE-197D-73E3-51FF-223A32A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51" y="269047"/>
            <a:ext cx="11455561" cy="569205"/>
          </a:xfrm>
        </p:spPr>
        <p:txBody>
          <a:bodyPr>
            <a:normAutofit/>
          </a:bodyPr>
          <a:lstStyle/>
          <a:p>
            <a:r>
              <a:rPr lang="en-US" sz="2400" b="1" dirty="0"/>
              <a:t>Broadcast 				          Accumulator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2E4E0D06-12D7-3852-F2AD-3E916669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1CADE4"/>
                </a:solidFill>
              </a:rPr>
              <a:t>INCEPTEZ TECHNOLOGIES</a:t>
            </a:r>
          </a:p>
        </p:txBody>
      </p:sp>
      <p:pic>
        <p:nvPicPr>
          <p:cNvPr id="1026" name="Picture 2" descr="Uploaded image">
            <a:extLst>
              <a:ext uri="{FF2B5EF4-FFF2-40B4-BE49-F238E27FC236}">
                <a16:creationId xmlns="" xmlns:a16="http://schemas.microsoft.com/office/drawing/2014/main" id="{9ABC7460-564D-738F-65B8-916558A9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55" y="1347211"/>
            <a:ext cx="5299191" cy="3323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ared Variables in Distributed Computing - Spark - Knoldus Blogs">
            <a:extLst>
              <a:ext uri="{FF2B5EF4-FFF2-40B4-BE49-F238E27FC236}">
                <a16:creationId xmlns="" xmlns:a16="http://schemas.microsoft.com/office/drawing/2014/main" id="{78741A24-3C5B-56AD-DBCE-637C91DB6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771" y="1356542"/>
            <a:ext cx="6153942" cy="3323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48189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503408</TotalTime>
  <Words>1547</Words>
  <Application>Microsoft Office PowerPoint</Application>
  <PresentationFormat>Custom</PresentationFormat>
  <Paragraphs>396</Paragraphs>
  <Slides>24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Basis</vt:lpstr>
      <vt:lpstr>Quick learnings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Apache Spark</vt:lpstr>
      <vt:lpstr>PowerPoint Presentation</vt:lpstr>
      <vt:lpstr>Terminologies</vt:lpstr>
      <vt:lpstr>Terminologies (Contd.)</vt:lpstr>
      <vt:lpstr>PowerPoint Presentation</vt:lpstr>
      <vt:lpstr>Spark on YARN</vt:lpstr>
      <vt:lpstr>PowerPoint Presentation</vt:lpstr>
      <vt:lpstr>Partitioning in Spark</vt:lpstr>
      <vt:lpstr>Databricks – ORC vs Parquet vs Delta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Pyspark Different Storage Levels</vt:lpstr>
      <vt:lpstr>Pyspark Different Storage Levels</vt:lpstr>
      <vt:lpstr>PowerPoint Presentation</vt:lpstr>
      <vt:lpstr>Broadcast               Accumulator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IRFAN</dc:creator>
  <cp:lastModifiedBy>mohamed irfan</cp:lastModifiedBy>
  <cp:revision>982</cp:revision>
  <cp:lastPrinted>2021-01-02T14:49:43Z</cp:lastPrinted>
  <dcterms:created xsi:type="dcterms:W3CDTF">2016-04-20T19:03:09Z</dcterms:created>
  <dcterms:modified xsi:type="dcterms:W3CDTF">2026-04-12T11:19:02Z</dcterms:modified>
</cp:coreProperties>
</file>