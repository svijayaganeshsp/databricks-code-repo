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6.xml" ContentType="application/inkml+xml"/>
  <Override PartName="/ppt/notesSlides/notesSlide3.xml" ContentType="application/vnd.openxmlformats-officedocument.presentationml.notesSlide+xml"/>
  <Override PartName="/ppt/ink/ink7.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8.xml" ContentType="application/inkml+xml"/>
  <Override PartName="/ppt/notesSlides/notesSlide6.xml" ContentType="application/vnd.openxmlformats-officedocument.presentationml.notesSlide+xml"/>
  <Override PartName="/ppt/ink/ink9.xml" ContentType="application/inkml+xml"/>
  <Override PartName="/ppt/notesSlides/notesSlide7.xml" ContentType="application/vnd.openxmlformats-officedocument.presentationml.notesSlide+xml"/>
  <Override PartName="/ppt/ink/ink10.xml" ContentType="application/inkml+xml"/>
  <Override PartName="/ppt/notesSlides/notesSlide8.xml" ContentType="application/vnd.openxmlformats-officedocument.presentationml.notesSlide+xml"/>
  <Override PartName="/ppt/ink/ink11.xml" ContentType="application/inkml+xml"/>
  <Override PartName="/ppt/notesSlides/notesSlide9.xml" ContentType="application/vnd.openxmlformats-officedocument.presentationml.notesSlide+xml"/>
  <Override PartName="/ppt/ink/ink12.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3.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notesSlides/notesSlide19.xml" ContentType="application/vnd.openxmlformats-officedocument.presentationml.notesSlide+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notesSlides/notesSlide20.xml" ContentType="application/vnd.openxmlformats-officedocument.presentationml.notesSlide+xml"/>
  <Override PartName="/ppt/ink/ink23.xml" ContentType="application/inkml+xml"/>
  <Override PartName="/ppt/notesSlides/notesSlide21.xml" ContentType="application/vnd.openxmlformats-officedocument.presentationml.notesSlide+xml"/>
  <Override PartName="/ppt/ink/ink24.xml" ContentType="application/inkml+xml"/>
  <Override PartName="/ppt/ink/ink25.xml" ContentType="application/inkml+xml"/>
  <Override PartName="/ppt/ink/ink26.xml" ContentType="application/inkml+xml"/>
  <Override PartName="/ppt/notesSlides/notesSlide22.xml" ContentType="application/vnd.openxmlformats-officedocument.presentationml.notesSlide+xml"/>
  <Override PartName="/ppt/ink/ink27.xml" ContentType="application/inkml+xml"/>
  <Override PartName="/ppt/ink/ink28.xml" ContentType="application/inkml+xml"/>
  <Override PartName="/ppt/ink/ink29.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ink/ink30.xml" ContentType="application/inkml+xml"/>
  <Override PartName="/ppt/ink/ink31.xml" ContentType="application/inkml+xml"/>
  <Override PartName="/ppt/ink/ink32.xml" ContentType="application/inkml+xml"/>
  <Override PartName="/ppt/notesSlides/notesSlide25.xml" ContentType="application/vnd.openxmlformats-officedocument.presentationml.notesSlide+xml"/>
  <Override PartName="/ppt/ink/ink33.xml" ContentType="application/inkml+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ink/ink34.xml" ContentType="application/inkml+xml"/>
  <Override PartName="/ppt/notesSlides/notesSlide26.xml" ContentType="application/vnd.openxmlformats-officedocument.presentationml.notesSlide+xml"/>
  <Override PartName="/ppt/ink/ink35.xml" ContentType="application/inkml+xml"/>
  <Override PartName="/ppt/notesSlides/notesSlide27.xml" ContentType="application/vnd.openxmlformats-officedocument.presentationml.notesSlide+xml"/>
  <Override PartName="/ppt/ink/ink36.xml" ContentType="application/inkml+xml"/>
  <Override PartName="/ppt/notesSlides/notesSlide28.xml" ContentType="application/vnd.openxmlformats-officedocument.presentationml.notesSlide+xml"/>
  <Override PartName="/ppt/ink/ink3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Lst>
  <p:notesMasterIdLst>
    <p:notesMasterId r:id="rId83"/>
  </p:notesMasterIdLst>
  <p:handoutMasterIdLst>
    <p:handoutMasterId r:id="rId84"/>
  </p:handoutMasterIdLst>
  <p:sldIdLst>
    <p:sldId id="741" r:id="rId5"/>
    <p:sldId id="968" r:id="rId6"/>
    <p:sldId id="283" r:id="rId7"/>
    <p:sldId id="273" r:id="rId8"/>
    <p:sldId id="256" r:id="rId9"/>
    <p:sldId id="269" r:id="rId10"/>
    <p:sldId id="445" r:id="rId11"/>
    <p:sldId id="284" r:id="rId12"/>
    <p:sldId id="446" r:id="rId13"/>
    <p:sldId id="969" r:id="rId14"/>
    <p:sldId id="980" r:id="rId15"/>
    <p:sldId id="970" r:id="rId16"/>
    <p:sldId id="971" r:id="rId17"/>
    <p:sldId id="972" r:id="rId18"/>
    <p:sldId id="981" r:id="rId19"/>
    <p:sldId id="973" r:id="rId20"/>
    <p:sldId id="974" r:id="rId21"/>
    <p:sldId id="975" r:id="rId22"/>
    <p:sldId id="976" r:id="rId23"/>
    <p:sldId id="977" r:id="rId24"/>
    <p:sldId id="978" r:id="rId25"/>
    <p:sldId id="979" r:id="rId26"/>
    <p:sldId id="982" r:id="rId27"/>
    <p:sldId id="1012" r:id="rId28"/>
    <p:sldId id="983" r:id="rId29"/>
    <p:sldId id="984" r:id="rId30"/>
    <p:sldId id="985" r:id="rId31"/>
    <p:sldId id="986" r:id="rId32"/>
    <p:sldId id="987" r:id="rId33"/>
    <p:sldId id="1013" r:id="rId34"/>
    <p:sldId id="1005" r:id="rId35"/>
    <p:sldId id="988" r:id="rId36"/>
    <p:sldId id="989" r:id="rId37"/>
    <p:sldId id="990" r:id="rId38"/>
    <p:sldId id="991" r:id="rId39"/>
    <p:sldId id="1014" r:id="rId40"/>
    <p:sldId id="1008" r:id="rId41"/>
    <p:sldId id="1007" r:id="rId42"/>
    <p:sldId id="994" r:id="rId43"/>
    <p:sldId id="993" r:id="rId44"/>
    <p:sldId id="995" r:id="rId45"/>
    <p:sldId id="996" r:id="rId46"/>
    <p:sldId id="997" r:id="rId47"/>
    <p:sldId id="998" r:id="rId48"/>
    <p:sldId id="999" r:id="rId49"/>
    <p:sldId id="1000" r:id="rId50"/>
    <p:sldId id="1001" r:id="rId51"/>
    <p:sldId id="1011" r:id="rId52"/>
    <p:sldId id="1010" r:id="rId53"/>
    <p:sldId id="1002" r:id="rId54"/>
    <p:sldId id="1003" r:id="rId55"/>
    <p:sldId id="1016" r:id="rId56"/>
    <p:sldId id="1015" r:id="rId57"/>
    <p:sldId id="1004" r:id="rId58"/>
    <p:sldId id="1017" r:id="rId59"/>
    <p:sldId id="1019" r:id="rId60"/>
    <p:sldId id="1021" r:id="rId61"/>
    <p:sldId id="1018" r:id="rId62"/>
    <p:sldId id="1020" r:id="rId63"/>
    <p:sldId id="1035" r:id="rId64"/>
    <p:sldId id="1034" r:id="rId65"/>
    <p:sldId id="1036" r:id="rId66"/>
    <p:sldId id="1023" r:id="rId67"/>
    <p:sldId id="1024" r:id="rId68"/>
    <p:sldId id="1025" r:id="rId69"/>
    <p:sldId id="1026" r:id="rId70"/>
    <p:sldId id="1027" r:id="rId71"/>
    <p:sldId id="1028" r:id="rId72"/>
    <p:sldId id="1029" r:id="rId73"/>
    <p:sldId id="1032" r:id="rId74"/>
    <p:sldId id="1037" r:id="rId75"/>
    <p:sldId id="1039" r:id="rId76"/>
    <p:sldId id="1038" r:id="rId77"/>
    <p:sldId id="1030" r:id="rId78"/>
    <p:sldId id="1040" r:id="rId79"/>
    <p:sldId id="1022" r:id="rId80"/>
    <p:sldId id="1033" r:id="rId81"/>
    <p:sldId id="1031"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8F8F8"/>
    <a:srgbClr val="99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51" autoAdjust="0"/>
    <p:restoredTop sz="94680" autoAdjust="0"/>
  </p:normalViewPr>
  <p:slideViewPr>
    <p:cSldViewPr snapToGrid="0">
      <p:cViewPr varScale="1">
        <p:scale>
          <a:sx n="89" d="100"/>
          <a:sy n="89" d="100"/>
        </p:scale>
        <p:origin x="-686" y="-82"/>
      </p:cViewPr>
      <p:guideLst>
        <p:guide orient="horz" pos="2160"/>
        <p:guide pos="3840"/>
      </p:guideLst>
    </p:cSldViewPr>
  </p:slideViewPr>
  <p:outlineViewPr>
    <p:cViewPr>
      <p:scale>
        <a:sx n="33" d="100"/>
        <a:sy n="33" d="100"/>
      </p:scale>
      <p:origin x="0" y="5808"/>
    </p:cViewPr>
  </p:outlineViewPr>
  <p:notesTextViewPr>
    <p:cViewPr>
      <p:scale>
        <a:sx n="1" d="1"/>
        <a:sy n="1" d="1"/>
      </p:scale>
      <p:origin x="0" y="0"/>
    </p:cViewPr>
  </p:notesTextViewPr>
  <p:sorterViewPr>
    <p:cViewPr>
      <p:scale>
        <a:sx n="100" d="100"/>
        <a:sy n="100" d="100"/>
      </p:scale>
      <p:origin x="0" y="24586"/>
    </p:cViewPr>
  </p:sorterViewPr>
  <p:notesViewPr>
    <p:cSldViewPr snapToGrid="0">
      <p:cViewPr varScale="1">
        <p:scale>
          <a:sx n="67" d="100"/>
          <a:sy n="67" d="100"/>
        </p:scale>
        <p:origin x="-3168"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handoutMaster" Target="handoutMasters/handoutMaster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9EC51A-D321-4D01-82FD-BF10FF1FF867}" type="doc">
      <dgm:prSet loTypeId="urn:microsoft.com/office/officeart/2005/8/layout/hChevron3" loCatId="process" qsTypeId="urn:microsoft.com/office/officeart/2005/8/quickstyle/simple1" qsCatId="simple" csTypeId="urn:microsoft.com/office/officeart/2005/8/colors/accent1_2" csCatId="accent1" phldr="1"/>
      <dgm:spPr/>
    </dgm:pt>
    <dgm:pt modelId="{5AB2BB73-455C-4C1C-B0FE-7700875CCE2B}">
      <dgm:prSet phldrT="[Text]"/>
      <dgm:spPr>
        <a:solidFill>
          <a:schemeClr val="tx2"/>
        </a:solidFill>
      </dgm:spPr>
      <dgm:t>
        <a:bodyPr/>
        <a:lstStyle/>
        <a:p>
          <a:r>
            <a:rPr lang="en-US" b="1" dirty="0" err="1" smtClean="0">
              <a:solidFill>
                <a:srgbClr val="FF0000"/>
              </a:solidFill>
            </a:rPr>
            <a:t>Datalake</a:t>
          </a:r>
          <a:endParaRPr lang="en-US" b="1" dirty="0" smtClean="0">
            <a:solidFill>
              <a:srgbClr val="FF0000"/>
            </a:solidFill>
          </a:endParaRPr>
        </a:p>
        <a:p>
          <a:r>
            <a:rPr lang="en-IN" dirty="0" smtClean="0"/>
            <a:t>ADLS/BLOB</a:t>
          </a:r>
          <a:endParaRPr lang="en-IN" dirty="0"/>
        </a:p>
      </dgm:t>
    </dgm:pt>
    <dgm:pt modelId="{BB0DD30E-AC0B-4E3E-B5D2-FEA24B96FF72}" type="parTrans" cxnId="{4FEC5606-D232-4CDB-925C-8DBE2D62AB38}">
      <dgm:prSet/>
      <dgm:spPr/>
      <dgm:t>
        <a:bodyPr/>
        <a:lstStyle/>
        <a:p>
          <a:endParaRPr lang="en-IN"/>
        </a:p>
      </dgm:t>
    </dgm:pt>
    <dgm:pt modelId="{F15A1044-D3BE-47AB-A1C3-0D317EC65F91}" type="sibTrans" cxnId="{4FEC5606-D232-4CDB-925C-8DBE2D62AB38}">
      <dgm:prSet/>
      <dgm:spPr/>
      <dgm:t>
        <a:bodyPr/>
        <a:lstStyle/>
        <a:p>
          <a:endParaRPr lang="en-IN"/>
        </a:p>
      </dgm:t>
    </dgm:pt>
    <dgm:pt modelId="{938F6D84-86EF-4E45-8708-2EEF09BDF159}">
      <dgm:prSet phldrT="[Text]"/>
      <dgm:spPr>
        <a:solidFill>
          <a:schemeClr val="tx2"/>
        </a:solidFill>
      </dgm:spPr>
      <dgm:t>
        <a:bodyPr/>
        <a:lstStyle/>
        <a:p>
          <a:r>
            <a:rPr lang="en-US" b="1" dirty="0" smtClean="0">
              <a:solidFill>
                <a:srgbClr val="FF0000"/>
              </a:solidFill>
            </a:rPr>
            <a:t>Databricks</a:t>
          </a:r>
          <a:endParaRPr lang="en-IN" dirty="0"/>
        </a:p>
      </dgm:t>
    </dgm:pt>
    <dgm:pt modelId="{234D800C-F220-43D5-9AF2-B55D0C298F54}" type="parTrans" cxnId="{778A4C54-2AC4-4B3F-8084-D4BE230B54D5}">
      <dgm:prSet/>
      <dgm:spPr/>
      <dgm:t>
        <a:bodyPr/>
        <a:lstStyle/>
        <a:p>
          <a:endParaRPr lang="en-IN"/>
        </a:p>
      </dgm:t>
    </dgm:pt>
    <dgm:pt modelId="{26F1733D-D498-4FD7-ACDB-38510417AB99}" type="sibTrans" cxnId="{778A4C54-2AC4-4B3F-8084-D4BE230B54D5}">
      <dgm:prSet/>
      <dgm:spPr/>
      <dgm:t>
        <a:bodyPr/>
        <a:lstStyle/>
        <a:p>
          <a:endParaRPr lang="en-IN"/>
        </a:p>
      </dgm:t>
    </dgm:pt>
    <dgm:pt modelId="{9F0BBBCA-F1DF-4C2F-AF40-B895DA1CC893}">
      <dgm:prSet phldrT="[Text]"/>
      <dgm:spPr>
        <a:solidFill>
          <a:schemeClr val="tx2"/>
        </a:solidFill>
      </dgm:spPr>
      <dgm:t>
        <a:bodyPr/>
        <a:lstStyle/>
        <a:p>
          <a:r>
            <a:rPr lang="en-US" b="1" dirty="0" smtClean="0"/>
            <a:t>Data Factory</a:t>
          </a:r>
          <a:endParaRPr lang="en-US" b="1" dirty="0"/>
        </a:p>
      </dgm:t>
    </dgm:pt>
    <dgm:pt modelId="{39288F10-222C-41B8-ACFA-935BB89BC651}" type="parTrans" cxnId="{7A7D1850-BD34-4E4E-8AF3-E0F99DD178A8}">
      <dgm:prSet/>
      <dgm:spPr/>
      <dgm:t>
        <a:bodyPr/>
        <a:lstStyle/>
        <a:p>
          <a:endParaRPr lang="en-IN"/>
        </a:p>
      </dgm:t>
    </dgm:pt>
    <dgm:pt modelId="{D5A3218F-1E04-41E5-8152-E718823F52C7}" type="sibTrans" cxnId="{7A7D1850-BD34-4E4E-8AF3-E0F99DD178A8}">
      <dgm:prSet/>
      <dgm:spPr/>
      <dgm:t>
        <a:bodyPr/>
        <a:lstStyle/>
        <a:p>
          <a:endParaRPr lang="en-IN"/>
        </a:p>
      </dgm:t>
    </dgm:pt>
    <dgm:pt modelId="{A285FFC1-4BB4-466B-BD51-578F2DBB4EDB}">
      <dgm:prSet phldrT="[Text]"/>
      <dgm:spPr>
        <a:solidFill>
          <a:schemeClr val="tx2"/>
        </a:solidFill>
      </dgm:spPr>
      <dgm:t>
        <a:bodyPr/>
        <a:lstStyle/>
        <a:p>
          <a:r>
            <a:rPr lang="en-US" b="1" dirty="0" smtClean="0"/>
            <a:t>Azure Synapse</a:t>
          </a:r>
          <a:endParaRPr lang="en-US" b="1" dirty="0"/>
        </a:p>
      </dgm:t>
    </dgm:pt>
    <dgm:pt modelId="{55A9BA14-0FA1-49B7-8A7C-C248EE2DF531}" type="parTrans" cxnId="{5FDC387F-CA4E-4203-BE25-44425FDB3500}">
      <dgm:prSet/>
      <dgm:spPr/>
      <dgm:t>
        <a:bodyPr/>
        <a:lstStyle/>
        <a:p>
          <a:endParaRPr lang="en-IN"/>
        </a:p>
      </dgm:t>
    </dgm:pt>
    <dgm:pt modelId="{75AD0DCD-8092-4CF9-BA34-AF74E9D9FA38}" type="sibTrans" cxnId="{5FDC387F-CA4E-4203-BE25-44425FDB3500}">
      <dgm:prSet/>
      <dgm:spPr/>
      <dgm:t>
        <a:bodyPr/>
        <a:lstStyle/>
        <a:p>
          <a:endParaRPr lang="en-IN"/>
        </a:p>
      </dgm:t>
    </dgm:pt>
    <dgm:pt modelId="{40D501FE-2120-425E-A7AC-0A5F1F1B1522}">
      <dgm:prSet phldrT="[Text]"/>
      <dgm:spPr/>
      <dgm:t>
        <a:bodyPr/>
        <a:lstStyle/>
        <a:p>
          <a:r>
            <a:rPr lang="en-US" b="1" dirty="0"/>
            <a:t>Power </a:t>
          </a:r>
          <a:r>
            <a:rPr lang="en-US" b="1" dirty="0" smtClean="0"/>
            <a:t>BI</a:t>
          </a:r>
          <a:endParaRPr lang="en-US" b="1" dirty="0"/>
        </a:p>
      </dgm:t>
    </dgm:pt>
    <dgm:pt modelId="{76AD4105-1D92-4CE8-969C-0D9AEBD6A9A3}" type="parTrans" cxnId="{2369EDC6-6A5F-4F94-95F4-249C34518594}">
      <dgm:prSet/>
      <dgm:spPr/>
      <dgm:t>
        <a:bodyPr/>
        <a:lstStyle/>
        <a:p>
          <a:endParaRPr lang="en-IN"/>
        </a:p>
      </dgm:t>
    </dgm:pt>
    <dgm:pt modelId="{99B2A7AC-923E-4DA7-B9E3-01341F25EC09}" type="sibTrans" cxnId="{2369EDC6-6A5F-4F94-95F4-249C34518594}">
      <dgm:prSet/>
      <dgm:spPr/>
      <dgm:t>
        <a:bodyPr/>
        <a:lstStyle/>
        <a:p>
          <a:endParaRPr lang="en-IN"/>
        </a:p>
      </dgm:t>
    </dgm:pt>
    <dgm:pt modelId="{FB24520F-5CAF-46DD-A3C1-790D352C6358}" type="pres">
      <dgm:prSet presAssocID="{6E9EC51A-D321-4D01-82FD-BF10FF1FF867}" presName="Name0" presStyleCnt="0">
        <dgm:presLayoutVars>
          <dgm:dir/>
          <dgm:resizeHandles val="exact"/>
        </dgm:presLayoutVars>
      </dgm:prSet>
      <dgm:spPr/>
    </dgm:pt>
    <dgm:pt modelId="{9542FDF3-DCB4-4AD3-90C8-1939ECF08559}" type="pres">
      <dgm:prSet presAssocID="{5AB2BB73-455C-4C1C-B0FE-7700875CCE2B}" presName="parTxOnly" presStyleLbl="node1" presStyleIdx="0" presStyleCnt="5" custLinFactNeighborY="1387">
        <dgm:presLayoutVars>
          <dgm:bulletEnabled val="1"/>
        </dgm:presLayoutVars>
      </dgm:prSet>
      <dgm:spPr/>
      <dgm:t>
        <a:bodyPr/>
        <a:lstStyle/>
        <a:p>
          <a:endParaRPr lang="en-IN"/>
        </a:p>
      </dgm:t>
    </dgm:pt>
    <dgm:pt modelId="{731DE787-1263-46F8-B6AA-3121E5FB9630}" type="pres">
      <dgm:prSet presAssocID="{F15A1044-D3BE-47AB-A1C3-0D317EC65F91}" presName="parSpace" presStyleCnt="0"/>
      <dgm:spPr/>
    </dgm:pt>
    <dgm:pt modelId="{4F6565C1-D37B-4578-8706-113D96F977CD}" type="pres">
      <dgm:prSet presAssocID="{938F6D84-86EF-4E45-8708-2EEF09BDF159}" presName="parTxOnly" presStyleLbl="node1" presStyleIdx="1" presStyleCnt="5">
        <dgm:presLayoutVars>
          <dgm:bulletEnabled val="1"/>
        </dgm:presLayoutVars>
      </dgm:prSet>
      <dgm:spPr/>
      <dgm:t>
        <a:bodyPr/>
        <a:lstStyle/>
        <a:p>
          <a:endParaRPr lang="en-IN"/>
        </a:p>
      </dgm:t>
    </dgm:pt>
    <dgm:pt modelId="{2F5E6D4A-65E5-45BC-B41E-2B91B351373B}" type="pres">
      <dgm:prSet presAssocID="{26F1733D-D498-4FD7-ACDB-38510417AB99}" presName="parSpace" presStyleCnt="0"/>
      <dgm:spPr/>
    </dgm:pt>
    <dgm:pt modelId="{AA1AD8AB-7962-40A4-97A1-4C6652BD8081}" type="pres">
      <dgm:prSet presAssocID="{9F0BBBCA-F1DF-4C2F-AF40-B895DA1CC893}" presName="parTxOnly" presStyleLbl="node1" presStyleIdx="2" presStyleCnt="5">
        <dgm:presLayoutVars>
          <dgm:bulletEnabled val="1"/>
        </dgm:presLayoutVars>
      </dgm:prSet>
      <dgm:spPr/>
      <dgm:t>
        <a:bodyPr/>
        <a:lstStyle/>
        <a:p>
          <a:endParaRPr lang="en-IN"/>
        </a:p>
      </dgm:t>
    </dgm:pt>
    <dgm:pt modelId="{FD244DE8-127B-4082-866D-FA0E4C54F91C}" type="pres">
      <dgm:prSet presAssocID="{D5A3218F-1E04-41E5-8152-E718823F52C7}" presName="parSpace" presStyleCnt="0"/>
      <dgm:spPr/>
    </dgm:pt>
    <dgm:pt modelId="{0253A958-95F4-4824-A139-52603D240F83}" type="pres">
      <dgm:prSet presAssocID="{A285FFC1-4BB4-466B-BD51-578F2DBB4EDB}" presName="parTxOnly" presStyleLbl="node1" presStyleIdx="3" presStyleCnt="5">
        <dgm:presLayoutVars>
          <dgm:bulletEnabled val="1"/>
        </dgm:presLayoutVars>
      </dgm:prSet>
      <dgm:spPr/>
      <dgm:t>
        <a:bodyPr/>
        <a:lstStyle/>
        <a:p>
          <a:endParaRPr lang="en-IN"/>
        </a:p>
      </dgm:t>
    </dgm:pt>
    <dgm:pt modelId="{003A22A9-E428-4D91-9B03-AF7E577AA39E}" type="pres">
      <dgm:prSet presAssocID="{75AD0DCD-8092-4CF9-BA34-AF74E9D9FA38}" presName="parSpace" presStyleCnt="0"/>
      <dgm:spPr/>
    </dgm:pt>
    <dgm:pt modelId="{009DA479-0750-4E31-B911-4A762B6F1C55}" type="pres">
      <dgm:prSet presAssocID="{40D501FE-2120-425E-A7AC-0A5F1F1B1522}" presName="parTxOnly" presStyleLbl="node1" presStyleIdx="4" presStyleCnt="5">
        <dgm:presLayoutVars>
          <dgm:bulletEnabled val="1"/>
        </dgm:presLayoutVars>
      </dgm:prSet>
      <dgm:spPr/>
      <dgm:t>
        <a:bodyPr/>
        <a:lstStyle/>
        <a:p>
          <a:endParaRPr lang="en-IN"/>
        </a:p>
      </dgm:t>
    </dgm:pt>
  </dgm:ptLst>
  <dgm:cxnLst>
    <dgm:cxn modelId="{2C559388-CE05-4DD3-ADBF-31667EAA1305}" type="presOf" srcId="{5AB2BB73-455C-4C1C-B0FE-7700875CCE2B}" destId="{9542FDF3-DCB4-4AD3-90C8-1939ECF08559}" srcOrd="0" destOrd="0" presId="urn:microsoft.com/office/officeart/2005/8/layout/hChevron3"/>
    <dgm:cxn modelId="{CC6C1076-BBD0-4F9C-86E2-AD48FFDB5344}" type="presOf" srcId="{9F0BBBCA-F1DF-4C2F-AF40-B895DA1CC893}" destId="{AA1AD8AB-7962-40A4-97A1-4C6652BD8081}" srcOrd="0" destOrd="0" presId="urn:microsoft.com/office/officeart/2005/8/layout/hChevron3"/>
    <dgm:cxn modelId="{778A4C54-2AC4-4B3F-8084-D4BE230B54D5}" srcId="{6E9EC51A-D321-4D01-82FD-BF10FF1FF867}" destId="{938F6D84-86EF-4E45-8708-2EEF09BDF159}" srcOrd="1" destOrd="0" parTransId="{234D800C-F220-43D5-9AF2-B55D0C298F54}" sibTransId="{26F1733D-D498-4FD7-ACDB-38510417AB99}"/>
    <dgm:cxn modelId="{5FDC387F-CA4E-4203-BE25-44425FDB3500}" srcId="{6E9EC51A-D321-4D01-82FD-BF10FF1FF867}" destId="{A285FFC1-4BB4-466B-BD51-578F2DBB4EDB}" srcOrd="3" destOrd="0" parTransId="{55A9BA14-0FA1-49B7-8A7C-C248EE2DF531}" sibTransId="{75AD0DCD-8092-4CF9-BA34-AF74E9D9FA38}"/>
    <dgm:cxn modelId="{9F3EB268-2F6E-4846-84F6-C06B1E0CCF06}" type="presOf" srcId="{40D501FE-2120-425E-A7AC-0A5F1F1B1522}" destId="{009DA479-0750-4E31-B911-4A762B6F1C55}" srcOrd="0" destOrd="0" presId="urn:microsoft.com/office/officeart/2005/8/layout/hChevron3"/>
    <dgm:cxn modelId="{4B03C9BB-DAFE-4523-B1CA-3746C6DF3AD3}" type="presOf" srcId="{6E9EC51A-D321-4D01-82FD-BF10FF1FF867}" destId="{FB24520F-5CAF-46DD-A3C1-790D352C6358}" srcOrd="0" destOrd="0" presId="urn:microsoft.com/office/officeart/2005/8/layout/hChevron3"/>
    <dgm:cxn modelId="{5BA0C268-16F6-4E10-92FD-4945386DD899}" type="presOf" srcId="{938F6D84-86EF-4E45-8708-2EEF09BDF159}" destId="{4F6565C1-D37B-4578-8706-113D96F977CD}" srcOrd="0" destOrd="0" presId="urn:microsoft.com/office/officeart/2005/8/layout/hChevron3"/>
    <dgm:cxn modelId="{4FEC5606-D232-4CDB-925C-8DBE2D62AB38}" srcId="{6E9EC51A-D321-4D01-82FD-BF10FF1FF867}" destId="{5AB2BB73-455C-4C1C-B0FE-7700875CCE2B}" srcOrd="0" destOrd="0" parTransId="{BB0DD30E-AC0B-4E3E-B5D2-FEA24B96FF72}" sibTransId="{F15A1044-D3BE-47AB-A1C3-0D317EC65F91}"/>
    <dgm:cxn modelId="{72EA0964-68AA-4BDF-ACCF-E59AC066473C}" type="presOf" srcId="{A285FFC1-4BB4-466B-BD51-578F2DBB4EDB}" destId="{0253A958-95F4-4824-A139-52603D240F83}" srcOrd="0" destOrd="0" presId="urn:microsoft.com/office/officeart/2005/8/layout/hChevron3"/>
    <dgm:cxn modelId="{7A7D1850-BD34-4E4E-8AF3-E0F99DD178A8}" srcId="{6E9EC51A-D321-4D01-82FD-BF10FF1FF867}" destId="{9F0BBBCA-F1DF-4C2F-AF40-B895DA1CC893}" srcOrd="2" destOrd="0" parTransId="{39288F10-222C-41B8-ACFA-935BB89BC651}" sibTransId="{D5A3218F-1E04-41E5-8152-E718823F52C7}"/>
    <dgm:cxn modelId="{2369EDC6-6A5F-4F94-95F4-249C34518594}" srcId="{6E9EC51A-D321-4D01-82FD-BF10FF1FF867}" destId="{40D501FE-2120-425E-A7AC-0A5F1F1B1522}" srcOrd="4" destOrd="0" parTransId="{76AD4105-1D92-4CE8-969C-0D9AEBD6A9A3}" sibTransId="{99B2A7AC-923E-4DA7-B9E3-01341F25EC09}"/>
    <dgm:cxn modelId="{0AAD01FA-3D9B-4461-8125-512F685A421D}" type="presParOf" srcId="{FB24520F-5CAF-46DD-A3C1-790D352C6358}" destId="{9542FDF3-DCB4-4AD3-90C8-1939ECF08559}" srcOrd="0" destOrd="0" presId="urn:microsoft.com/office/officeart/2005/8/layout/hChevron3"/>
    <dgm:cxn modelId="{7116A396-1399-4651-BC48-8B73F7489D21}" type="presParOf" srcId="{FB24520F-5CAF-46DD-A3C1-790D352C6358}" destId="{731DE787-1263-46F8-B6AA-3121E5FB9630}" srcOrd="1" destOrd="0" presId="urn:microsoft.com/office/officeart/2005/8/layout/hChevron3"/>
    <dgm:cxn modelId="{B19A0063-371C-45B2-B0EA-CF6339C75C34}" type="presParOf" srcId="{FB24520F-5CAF-46DD-A3C1-790D352C6358}" destId="{4F6565C1-D37B-4578-8706-113D96F977CD}" srcOrd="2" destOrd="0" presId="urn:microsoft.com/office/officeart/2005/8/layout/hChevron3"/>
    <dgm:cxn modelId="{84ABD6D1-6A38-424A-BAD9-57BC8ACCE24F}" type="presParOf" srcId="{FB24520F-5CAF-46DD-A3C1-790D352C6358}" destId="{2F5E6D4A-65E5-45BC-B41E-2B91B351373B}" srcOrd="3" destOrd="0" presId="urn:microsoft.com/office/officeart/2005/8/layout/hChevron3"/>
    <dgm:cxn modelId="{D1741626-8547-42E6-85AC-67281ED51FC9}" type="presParOf" srcId="{FB24520F-5CAF-46DD-A3C1-790D352C6358}" destId="{AA1AD8AB-7962-40A4-97A1-4C6652BD8081}" srcOrd="4" destOrd="0" presId="urn:microsoft.com/office/officeart/2005/8/layout/hChevron3"/>
    <dgm:cxn modelId="{0F77629E-8C63-4989-BB15-DD06D974FBC1}" type="presParOf" srcId="{FB24520F-5CAF-46DD-A3C1-790D352C6358}" destId="{FD244DE8-127B-4082-866D-FA0E4C54F91C}" srcOrd="5" destOrd="0" presId="urn:microsoft.com/office/officeart/2005/8/layout/hChevron3"/>
    <dgm:cxn modelId="{722621A0-3A48-4916-9C7E-EA7A0A7B1851}" type="presParOf" srcId="{FB24520F-5CAF-46DD-A3C1-790D352C6358}" destId="{0253A958-95F4-4824-A139-52603D240F83}" srcOrd="6" destOrd="0" presId="urn:microsoft.com/office/officeart/2005/8/layout/hChevron3"/>
    <dgm:cxn modelId="{221742BA-1EC6-4226-8007-4E070EB8CC11}" type="presParOf" srcId="{FB24520F-5CAF-46DD-A3C1-790D352C6358}" destId="{003A22A9-E428-4D91-9B03-AF7E577AA39E}" srcOrd="7" destOrd="0" presId="urn:microsoft.com/office/officeart/2005/8/layout/hChevron3"/>
    <dgm:cxn modelId="{FC5FA505-74CA-4DDA-913A-BA1DB8BB2514}" type="presParOf" srcId="{FB24520F-5CAF-46DD-A3C1-790D352C6358}" destId="{009DA479-0750-4E31-B911-4A762B6F1C55}" srcOrd="8"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9EC51A-D321-4D01-82FD-BF10FF1FF867}" type="doc">
      <dgm:prSet loTypeId="urn:microsoft.com/office/officeart/2005/8/layout/hChevron3" loCatId="process" qsTypeId="urn:microsoft.com/office/officeart/2005/8/quickstyle/simple1" qsCatId="simple" csTypeId="urn:microsoft.com/office/officeart/2005/8/colors/accent1_2" csCatId="accent1" phldr="1"/>
      <dgm:spPr/>
    </dgm:pt>
    <dgm:pt modelId="{5AB2BB73-455C-4C1C-B0FE-7700875CCE2B}">
      <dgm:prSet phldrT="[Text]" custT="1"/>
      <dgm:spPr>
        <a:solidFill>
          <a:schemeClr val="tx2"/>
        </a:solidFill>
      </dgm:spPr>
      <dgm:t>
        <a:bodyPr/>
        <a:lstStyle/>
        <a:p>
          <a:r>
            <a:rPr lang="en-US" sz="1400" b="1" dirty="0" smtClean="0">
              <a:solidFill>
                <a:srgbClr val="00B050"/>
              </a:solidFill>
            </a:rPr>
            <a:t>Access Pattern  &amp; Connectivity</a:t>
          </a:r>
          <a:endParaRPr lang="en-US" sz="1400" b="1" dirty="0">
            <a:solidFill>
              <a:srgbClr val="00B050"/>
            </a:solidFill>
          </a:endParaRPr>
        </a:p>
        <a:p>
          <a:r>
            <a:rPr lang="en-US" sz="1400" b="1" dirty="0" smtClean="0">
              <a:solidFill>
                <a:srgbClr val="00B050"/>
              </a:solidFill>
            </a:rPr>
            <a:t>Hierarchy &amp; CLI/UI</a:t>
          </a:r>
          <a:endParaRPr lang="en-IN" sz="1400" dirty="0">
            <a:solidFill>
              <a:srgbClr val="00B050"/>
            </a:solidFill>
          </a:endParaRPr>
        </a:p>
      </dgm:t>
    </dgm:pt>
    <dgm:pt modelId="{BB0DD30E-AC0B-4E3E-B5D2-FEA24B96FF72}" type="parTrans" cxnId="{4FEC5606-D232-4CDB-925C-8DBE2D62AB38}">
      <dgm:prSet/>
      <dgm:spPr/>
      <dgm:t>
        <a:bodyPr/>
        <a:lstStyle/>
        <a:p>
          <a:endParaRPr lang="en-IN" sz="1400"/>
        </a:p>
      </dgm:t>
    </dgm:pt>
    <dgm:pt modelId="{F15A1044-D3BE-47AB-A1C3-0D317EC65F91}" type="sibTrans" cxnId="{4FEC5606-D232-4CDB-925C-8DBE2D62AB38}">
      <dgm:prSet/>
      <dgm:spPr/>
      <dgm:t>
        <a:bodyPr/>
        <a:lstStyle/>
        <a:p>
          <a:endParaRPr lang="en-IN" sz="1400"/>
        </a:p>
      </dgm:t>
    </dgm:pt>
    <dgm:pt modelId="{938F6D84-86EF-4E45-8708-2EEF09BDF159}">
      <dgm:prSet phldrT="[Text]" custT="1"/>
      <dgm:spPr>
        <a:solidFill>
          <a:schemeClr val="tx2"/>
        </a:solidFill>
      </dgm:spPr>
      <dgm:t>
        <a:bodyPr/>
        <a:lstStyle/>
        <a:p>
          <a:r>
            <a:rPr lang="en-US" sz="1400" b="1" dirty="0" smtClean="0">
              <a:solidFill>
                <a:srgbClr val="00B050"/>
              </a:solidFill>
            </a:rPr>
            <a:t>Security</a:t>
          </a:r>
        </a:p>
        <a:p>
          <a:r>
            <a:rPr lang="en-US" sz="1400" b="1" dirty="0" smtClean="0">
              <a:solidFill>
                <a:srgbClr val="00B050"/>
              </a:solidFill>
            </a:rPr>
            <a:t>IAM &amp; RBAC</a:t>
          </a:r>
          <a:endParaRPr lang="en-US" sz="1400" b="1" dirty="0">
            <a:solidFill>
              <a:srgbClr val="00B050"/>
            </a:solidFill>
          </a:endParaRPr>
        </a:p>
      </dgm:t>
    </dgm:pt>
    <dgm:pt modelId="{234D800C-F220-43D5-9AF2-B55D0C298F54}" type="parTrans" cxnId="{778A4C54-2AC4-4B3F-8084-D4BE230B54D5}">
      <dgm:prSet/>
      <dgm:spPr/>
      <dgm:t>
        <a:bodyPr/>
        <a:lstStyle/>
        <a:p>
          <a:endParaRPr lang="en-IN" sz="1400"/>
        </a:p>
      </dgm:t>
    </dgm:pt>
    <dgm:pt modelId="{26F1733D-D498-4FD7-ACDB-38510417AB99}" type="sibTrans" cxnId="{778A4C54-2AC4-4B3F-8084-D4BE230B54D5}">
      <dgm:prSet/>
      <dgm:spPr/>
      <dgm:t>
        <a:bodyPr/>
        <a:lstStyle/>
        <a:p>
          <a:endParaRPr lang="en-IN" sz="1400"/>
        </a:p>
      </dgm:t>
    </dgm:pt>
    <dgm:pt modelId="{9F0BBBCA-F1DF-4C2F-AF40-B895DA1CC893}">
      <dgm:prSet phldrT="[Text]" custT="1"/>
      <dgm:spPr>
        <a:solidFill>
          <a:schemeClr val="tx2"/>
        </a:solidFill>
      </dgm:spPr>
      <dgm:t>
        <a:bodyPr/>
        <a:lstStyle/>
        <a:p>
          <a:r>
            <a:rPr lang="en-US" sz="1400" b="1" dirty="0" smtClean="0">
              <a:solidFill>
                <a:srgbClr val="00B050"/>
              </a:solidFill>
            </a:rPr>
            <a:t>Storage</a:t>
          </a:r>
          <a:endParaRPr lang="en-US" sz="1400" b="1" dirty="0">
            <a:solidFill>
              <a:srgbClr val="00B050"/>
            </a:solidFill>
          </a:endParaRPr>
        </a:p>
      </dgm:t>
    </dgm:pt>
    <dgm:pt modelId="{39288F10-222C-41B8-ACFA-935BB89BC651}" type="parTrans" cxnId="{7A7D1850-BD34-4E4E-8AF3-E0F99DD178A8}">
      <dgm:prSet/>
      <dgm:spPr/>
      <dgm:t>
        <a:bodyPr/>
        <a:lstStyle/>
        <a:p>
          <a:endParaRPr lang="en-IN" sz="1400"/>
        </a:p>
      </dgm:t>
    </dgm:pt>
    <dgm:pt modelId="{D5A3218F-1E04-41E5-8152-E718823F52C7}" type="sibTrans" cxnId="{7A7D1850-BD34-4E4E-8AF3-E0F99DD178A8}">
      <dgm:prSet/>
      <dgm:spPr/>
      <dgm:t>
        <a:bodyPr/>
        <a:lstStyle/>
        <a:p>
          <a:endParaRPr lang="en-IN" sz="1400"/>
        </a:p>
      </dgm:t>
    </dgm:pt>
    <dgm:pt modelId="{A285FFC1-4BB4-466B-BD51-578F2DBB4EDB}">
      <dgm:prSet phldrT="[Text]" custT="1"/>
      <dgm:spPr>
        <a:solidFill>
          <a:schemeClr val="tx2"/>
        </a:solidFill>
      </dgm:spPr>
      <dgm:t>
        <a:bodyPr/>
        <a:lstStyle/>
        <a:p>
          <a:r>
            <a:rPr lang="en-US" sz="1400" b="1" dirty="0" smtClean="0">
              <a:solidFill>
                <a:srgbClr val="00B050"/>
              </a:solidFill>
            </a:rPr>
            <a:t>Compute</a:t>
          </a:r>
          <a:endParaRPr lang="en-US" sz="1400" b="1" dirty="0">
            <a:solidFill>
              <a:srgbClr val="00B050"/>
            </a:solidFill>
          </a:endParaRPr>
        </a:p>
      </dgm:t>
    </dgm:pt>
    <dgm:pt modelId="{55A9BA14-0FA1-49B7-8A7C-C248EE2DF531}" type="parTrans" cxnId="{5FDC387F-CA4E-4203-BE25-44425FDB3500}">
      <dgm:prSet/>
      <dgm:spPr/>
      <dgm:t>
        <a:bodyPr/>
        <a:lstStyle/>
        <a:p>
          <a:endParaRPr lang="en-IN" sz="1400"/>
        </a:p>
      </dgm:t>
    </dgm:pt>
    <dgm:pt modelId="{75AD0DCD-8092-4CF9-BA34-AF74E9D9FA38}" type="sibTrans" cxnId="{5FDC387F-CA4E-4203-BE25-44425FDB3500}">
      <dgm:prSet/>
      <dgm:spPr/>
      <dgm:t>
        <a:bodyPr/>
        <a:lstStyle/>
        <a:p>
          <a:endParaRPr lang="en-IN" sz="1400"/>
        </a:p>
      </dgm:t>
    </dgm:pt>
    <dgm:pt modelId="{40D501FE-2120-425E-A7AC-0A5F1F1B1522}">
      <dgm:prSet phldrT="[Text]" custT="1"/>
      <dgm:spPr>
        <a:solidFill>
          <a:schemeClr val="tx2"/>
        </a:solidFill>
      </dgm:spPr>
      <dgm:t>
        <a:bodyPr/>
        <a:lstStyle/>
        <a:p>
          <a:r>
            <a:rPr lang="en-US" sz="1400" b="1" dirty="0" smtClean="0">
              <a:solidFill>
                <a:srgbClr val="00B050"/>
              </a:solidFill>
            </a:rPr>
            <a:t>Network</a:t>
          </a:r>
          <a:endParaRPr lang="en-US" sz="1400" b="1" dirty="0">
            <a:solidFill>
              <a:srgbClr val="00B050"/>
            </a:solidFill>
          </a:endParaRPr>
        </a:p>
      </dgm:t>
    </dgm:pt>
    <dgm:pt modelId="{76AD4105-1D92-4CE8-969C-0D9AEBD6A9A3}" type="parTrans" cxnId="{2369EDC6-6A5F-4F94-95F4-249C34518594}">
      <dgm:prSet/>
      <dgm:spPr/>
      <dgm:t>
        <a:bodyPr/>
        <a:lstStyle/>
        <a:p>
          <a:endParaRPr lang="en-IN" sz="1400"/>
        </a:p>
      </dgm:t>
    </dgm:pt>
    <dgm:pt modelId="{99B2A7AC-923E-4DA7-B9E3-01341F25EC09}" type="sibTrans" cxnId="{2369EDC6-6A5F-4F94-95F4-249C34518594}">
      <dgm:prSet/>
      <dgm:spPr/>
      <dgm:t>
        <a:bodyPr/>
        <a:lstStyle/>
        <a:p>
          <a:endParaRPr lang="en-IN" sz="1400"/>
        </a:p>
      </dgm:t>
    </dgm:pt>
    <dgm:pt modelId="{FB24520F-5CAF-46DD-A3C1-790D352C6358}" type="pres">
      <dgm:prSet presAssocID="{6E9EC51A-D321-4D01-82FD-BF10FF1FF867}" presName="Name0" presStyleCnt="0">
        <dgm:presLayoutVars>
          <dgm:dir/>
          <dgm:resizeHandles val="exact"/>
        </dgm:presLayoutVars>
      </dgm:prSet>
      <dgm:spPr/>
    </dgm:pt>
    <dgm:pt modelId="{9542FDF3-DCB4-4AD3-90C8-1939ECF08559}" type="pres">
      <dgm:prSet presAssocID="{5AB2BB73-455C-4C1C-B0FE-7700875CCE2B}" presName="parTxOnly" presStyleLbl="node1" presStyleIdx="0" presStyleCnt="5" custScaleX="117088">
        <dgm:presLayoutVars>
          <dgm:bulletEnabled val="1"/>
        </dgm:presLayoutVars>
      </dgm:prSet>
      <dgm:spPr/>
      <dgm:t>
        <a:bodyPr/>
        <a:lstStyle/>
        <a:p>
          <a:endParaRPr lang="en-IN"/>
        </a:p>
      </dgm:t>
    </dgm:pt>
    <dgm:pt modelId="{731DE787-1263-46F8-B6AA-3121E5FB9630}" type="pres">
      <dgm:prSet presAssocID="{F15A1044-D3BE-47AB-A1C3-0D317EC65F91}" presName="parSpace" presStyleCnt="0"/>
      <dgm:spPr/>
    </dgm:pt>
    <dgm:pt modelId="{4F6565C1-D37B-4578-8706-113D96F977CD}" type="pres">
      <dgm:prSet presAssocID="{938F6D84-86EF-4E45-8708-2EEF09BDF159}" presName="parTxOnly" presStyleLbl="node1" presStyleIdx="1" presStyleCnt="5">
        <dgm:presLayoutVars>
          <dgm:bulletEnabled val="1"/>
        </dgm:presLayoutVars>
      </dgm:prSet>
      <dgm:spPr/>
      <dgm:t>
        <a:bodyPr/>
        <a:lstStyle/>
        <a:p>
          <a:endParaRPr lang="en-IN"/>
        </a:p>
      </dgm:t>
    </dgm:pt>
    <dgm:pt modelId="{2F5E6D4A-65E5-45BC-B41E-2B91B351373B}" type="pres">
      <dgm:prSet presAssocID="{26F1733D-D498-4FD7-ACDB-38510417AB99}" presName="parSpace" presStyleCnt="0"/>
      <dgm:spPr/>
    </dgm:pt>
    <dgm:pt modelId="{AA1AD8AB-7962-40A4-97A1-4C6652BD8081}" type="pres">
      <dgm:prSet presAssocID="{9F0BBBCA-F1DF-4C2F-AF40-B895DA1CC893}" presName="parTxOnly" presStyleLbl="node1" presStyleIdx="2" presStyleCnt="5">
        <dgm:presLayoutVars>
          <dgm:bulletEnabled val="1"/>
        </dgm:presLayoutVars>
      </dgm:prSet>
      <dgm:spPr/>
      <dgm:t>
        <a:bodyPr/>
        <a:lstStyle/>
        <a:p>
          <a:endParaRPr lang="en-IN"/>
        </a:p>
      </dgm:t>
    </dgm:pt>
    <dgm:pt modelId="{FD244DE8-127B-4082-866D-FA0E4C54F91C}" type="pres">
      <dgm:prSet presAssocID="{D5A3218F-1E04-41E5-8152-E718823F52C7}" presName="parSpace" presStyleCnt="0"/>
      <dgm:spPr/>
    </dgm:pt>
    <dgm:pt modelId="{0253A958-95F4-4824-A139-52603D240F83}" type="pres">
      <dgm:prSet presAssocID="{A285FFC1-4BB4-466B-BD51-578F2DBB4EDB}" presName="parTxOnly" presStyleLbl="node1" presStyleIdx="3" presStyleCnt="5">
        <dgm:presLayoutVars>
          <dgm:bulletEnabled val="1"/>
        </dgm:presLayoutVars>
      </dgm:prSet>
      <dgm:spPr/>
      <dgm:t>
        <a:bodyPr/>
        <a:lstStyle/>
        <a:p>
          <a:endParaRPr lang="en-IN"/>
        </a:p>
      </dgm:t>
    </dgm:pt>
    <dgm:pt modelId="{003A22A9-E428-4D91-9B03-AF7E577AA39E}" type="pres">
      <dgm:prSet presAssocID="{75AD0DCD-8092-4CF9-BA34-AF74E9D9FA38}" presName="parSpace" presStyleCnt="0"/>
      <dgm:spPr/>
    </dgm:pt>
    <dgm:pt modelId="{009DA479-0750-4E31-B911-4A762B6F1C55}" type="pres">
      <dgm:prSet presAssocID="{40D501FE-2120-425E-A7AC-0A5F1F1B1522}" presName="parTxOnly" presStyleLbl="node1" presStyleIdx="4" presStyleCnt="5">
        <dgm:presLayoutVars>
          <dgm:bulletEnabled val="1"/>
        </dgm:presLayoutVars>
      </dgm:prSet>
      <dgm:spPr/>
      <dgm:t>
        <a:bodyPr/>
        <a:lstStyle/>
        <a:p>
          <a:endParaRPr lang="en-IN"/>
        </a:p>
      </dgm:t>
    </dgm:pt>
  </dgm:ptLst>
  <dgm:cxnLst>
    <dgm:cxn modelId="{B7335E4B-49D2-4AC0-AE37-5E165B9967CA}" type="presOf" srcId="{5AB2BB73-455C-4C1C-B0FE-7700875CCE2B}" destId="{9542FDF3-DCB4-4AD3-90C8-1939ECF08559}" srcOrd="0" destOrd="0" presId="urn:microsoft.com/office/officeart/2005/8/layout/hChevron3"/>
    <dgm:cxn modelId="{778A4C54-2AC4-4B3F-8084-D4BE230B54D5}" srcId="{6E9EC51A-D321-4D01-82FD-BF10FF1FF867}" destId="{938F6D84-86EF-4E45-8708-2EEF09BDF159}" srcOrd="1" destOrd="0" parTransId="{234D800C-F220-43D5-9AF2-B55D0C298F54}" sibTransId="{26F1733D-D498-4FD7-ACDB-38510417AB99}"/>
    <dgm:cxn modelId="{5FDC387F-CA4E-4203-BE25-44425FDB3500}" srcId="{6E9EC51A-D321-4D01-82FD-BF10FF1FF867}" destId="{A285FFC1-4BB4-466B-BD51-578F2DBB4EDB}" srcOrd="3" destOrd="0" parTransId="{55A9BA14-0FA1-49B7-8A7C-C248EE2DF531}" sibTransId="{75AD0DCD-8092-4CF9-BA34-AF74E9D9FA38}"/>
    <dgm:cxn modelId="{7988CC42-6461-48C1-9F14-14A3DA250B53}" type="presOf" srcId="{A285FFC1-4BB4-466B-BD51-578F2DBB4EDB}" destId="{0253A958-95F4-4824-A139-52603D240F83}" srcOrd="0" destOrd="0" presId="urn:microsoft.com/office/officeart/2005/8/layout/hChevron3"/>
    <dgm:cxn modelId="{4FEC5606-D232-4CDB-925C-8DBE2D62AB38}" srcId="{6E9EC51A-D321-4D01-82FD-BF10FF1FF867}" destId="{5AB2BB73-455C-4C1C-B0FE-7700875CCE2B}" srcOrd="0" destOrd="0" parTransId="{BB0DD30E-AC0B-4E3E-B5D2-FEA24B96FF72}" sibTransId="{F15A1044-D3BE-47AB-A1C3-0D317EC65F91}"/>
    <dgm:cxn modelId="{7A7D1850-BD34-4E4E-8AF3-E0F99DD178A8}" srcId="{6E9EC51A-D321-4D01-82FD-BF10FF1FF867}" destId="{9F0BBBCA-F1DF-4C2F-AF40-B895DA1CC893}" srcOrd="2" destOrd="0" parTransId="{39288F10-222C-41B8-ACFA-935BB89BC651}" sibTransId="{D5A3218F-1E04-41E5-8152-E718823F52C7}"/>
    <dgm:cxn modelId="{FD263F5C-3E2D-4ECA-9FF5-3E416A794A04}" type="presOf" srcId="{6E9EC51A-D321-4D01-82FD-BF10FF1FF867}" destId="{FB24520F-5CAF-46DD-A3C1-790D352C6358}" srcOrd="0" destOrd="0" presId="urn:microsoft.com/office/officeart/2005/8/layout/hChevron3"/>
    <dgm:cxn modelId="{2369EDC6-6A5F-4F94-95F4-249C34518594}" srcId="{6E9EC51A-D321-4D01-82FD-BF10FF1FF867}" destId="{40D501FE-2120-425E-A7AC-0A5F1F1B1522}" srcOrd="4" destOrd="0" parTransId="{76AD4105-1D92-4CE8-969C-0D9AEBD6A9A3}" sibTransId="{99B2A7AC-923E-4DA7-B9E3-01341F25EC09}"/>
    <dgm:cxn modelId="{FAAC91B3-6739-42BA-B6F5-BDAA304F6FCE}" type="presOf" srcId="{9F0BBBCA-F1DF-4C2F-AF40-B895DA1CC893}" destId="{AA1AD8AB-7962-40A4-97A1-4C6652BD8081}" srcOrd="0" destOrd="0" presId="urn:microsoft.com/office/officeart/2005/8/layout/hChevron3"/>
    <dgm:cxn modelId="{4729AFEB-A703-4E09-9D03-44D49714ED71}" type="presOf" srcId="{40D501FE-2120-425E-A7AC-0A5F1F1B1522}" destId="{009DA479-0750-4E31-B911-4A762B6F1C55}" srcOrd="0" destOrd="0" presId="urn:microsoft.com/office/officeart/2005/8/layout/hChevron3"/>
    <dgm:cxn modelId="{5D3104D2-53A1-4064-95D7-7C8A67C2DD80}" type="presOf" srcId="{938F6D84-86EF-4E45-8708-2EEF09BDF159}" destId="{4F6565C1-D37B-4578-8706-113D96F977CD}" srcOrd="0" destOrd="0" presId="urn:microsoft.com/office/officeart/2005/8/layout/hChevron3"/>
    <dgm:cxn modelId="{0CE1D1ED-F651-468E-A4B0-151B48173281}" type="presParOf" srcId="{FB24520F-5CAF-46DD-A3C1-790D352C6358}" destId="{9542FDF3-DCB4-4AD3-90C8-1939ECF08559}" srcOrd="0" destOrd="0" presId="urn:microsoft.com/office/officeart/2005/8/layout/hChevron3"/>
    <dgm:cxn modelId="{CC6748FF-1653-49C8-ACAC-51F512592A5E}" type="presParOf" srcId="{FB24520F-5CAF-46DD-A3C1-790D352C6358}" destId="{731DE787-1263-46F8-B6AA-3121E5FB9630}" srcOrd="1" destOrd="0" presId="urn:microsoft.com/office/officeart/2005/8/layout/hChevron3"/>
    <dgm:cxn modelId="{D9AB69C7-F0F8-477C-B6E8-4902CED0D32D}" type="presParOf" srcId="{FB24520F-5CAF-46DD-A3C1-790D352C6358}" destId="{4F6565C1-D37B-4578-8706-113D96F977CD}" srcOrd="2" destOrd="0" presId="urn:microsoft.com/office/officeart/2005/8/layout/hChevron3"/>
    <dgm:cxn modelId="{1FCCE7D8-764C-47A5-87D2-2F08E426F578}" type="presParOf" srcId="{FB24520F-5CAF-46DD-A3C1-790D352C6358}" destId="{2F5E6D4A-65E5-45BC-B41E-2B91B351373B}" srcOrd="3" destOrd="0" presId="urn:microsoft.com/office/officeart/2005/8/layout/hChevron3"/>
    <dgm:cxn modelId="{3EC163F3-CC8D-4739-9189-C055D120088B}" type="presParOf" srcId="{FB24520F-5CAF-46DD-A3C1-790D352C6358}" destId="{AA1AD8AB-7962-40A4-97A1-4C6652BD8081}" srcOrd="4" destOrd="0" presId="urn:microsoft.com/office/officeart/2005/8/layout/hChevron3"/>
    <dgm:cxn modelId="{B346624A-7D54-40D2-A530-8F793CB6A578}" type="presParOf" srcId="{FB24520F-5CAF-46DD-A3C1-790D352C6358}" destId="{FD244DE8-127B-4082-866D-FA0E4C54F91C}" srcOrd="5" destOrd="0" presId="urn:microsoft.com/office/officeart/2005/8/layout/hChevron3"/>
    <dgm:cxn modelId="{C9D6210F-EE8A-43D3-BE0F-6F2C875EB3DC}" type="presParOf" srcId="{FB24520F-5CAF-46DD-A3C1-790D352C6358}" destId="{0253A958-95F4-4824-A139-52603D240F83}" srcOrd="6" destOrd="0" presId="urn:microsoft.com/office/officeart/2005/8/layout/hChevron3"/>
    <dgm:cxn modelId="{413D3B30-FFCE-446E-B105-F862249C6AD8}" type="presParOf" srcId="{FB24520F-5CAF-46DD-A3C1-790D352C6358}" destId="{003A22A9-E428-4D91-9B03-AF7E577AA39E}" srcOrd="7" destOrd="0" presId="urn:microsoft.com/office/officeart/2005/8/layout/hChevron3"/>
    <dgm:cxn modelId="{10257667-B8A3-4EFA-A27E-2D373CB78299}" type="presParOf" srcId="{FB24520F-5CAF-46DD-A3C1-790D352C6358}" destId="{009DA479-0750-4E31-B911-4A762B6F1C55}" srcOrd="8"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E9EC51A-D321-4D01-82FD-BF10FF1FF867}" type="doc">
      <dgm:prSet loTypeId="urn:microsoft.com/office/officeart/2005/8/layout/hChevron3" loCatId="process" qsTypeId="urn:microsoft.com/office/officeart/2005/8/quickstyle/simple1" qsCatId="simple" csTypeId="urn:microsoft.com/office/officeart/2005/8/colors/accent1_2" csCatId="accent1" phldr="1"/>
      <dgm:spPr/>
    </dgm:pt>
    <dgm:pt modelId="{5AB2BB73-455C-4C1C-B0FE-7700875CCE2B}">
      <dgm:prSet phldrT="[Text]"/>
      <dgm:spPr>
        <a:solidFill>
          <a:schemeClr val="tx2"/>
        </a:solidFill>
      </dgm:spPr>
      <dgm:t>
        <a:bodyPr/>
        <a:lstStyle/>
        <a:p>
          <a:r>
            <a:rPr lang="en-US" b="1" dirty="0" err="1" smtClean="0">
              <a:solidFill>
                <a:srgbClr val="FF0000"/>
              </a:solidFill>
            </a:rPr>
            <a:t>EventHub</a:t>
          </a:r>
          <a:endParaRPr lang="en-IN" dirty="0"/>
        </a:p>
      </dgm:t>
    </dgm:pt>
    <dgm:pt modelId="{BB0DD30E-AC0B-4E3E-B5D2-FEA24B96FF72}" type="parTrans" cxnId="{4FEC5606-D232-4CDB-925C-8DBE2D62AB38}">
      <dgm:prSet/>
      <dgm:spPr/>
      <dgm:t>
        <a:bodyPr/>
        <a:lstStyle/>
        <a:p>
          <a:endParaRPr lang="en-IN"/>
        </a:p>
      </dgm:t>
    </dgm:pt>
    <dgm:pt modelId="{F15A1044-D3BE-47AB-A1C3-0D317EC65F91}" type="sibTrans" cxnId="{4FEC5606-D232-4CDB-925C-8DBE2D62AB38}">
      <dgm:prSet/>
      <dgm:spPr/>
      <dgm:t>
        <a:bodyPr/>
        <a:lstStyle/>
        <a:p>
          <a:endParaRPr lang="en-IN"/>
        </a:p>
      </dgm:t>
    </dgm:pt>
    <dgm:pt modelId="{938F6D84-86EF-4E45-8708-2EEF09BDF159}">
      <dgm:prSet phldrT="[Text]"/>
      <dgm:spPr>
        <a:solidFill>
          <a:schemeClr val="tx2"/>
        </a:solidFill>
      </dgm:spPr>
      <dgm:t>
        <a:bodyPr/>
        <a:lstStyle/>
        <a:p>
          <a:r>
            <a:rPr lang="en-US" b="1" dirty="0" smtClean="0">
              <a:solidFill>
                <a:srgbClr val="FF0000"/>
              </a:solidFill>
            </a:rPr>
            <a:t>Function App</a:t>
          </a:r>
          <a:endParaRPr lang="en-IN" dirty="0"/>
        </a:p>
      </dgm:t>
    </dgm:pt>
    <dgm:pt modelId="{234D800C-F220-43D5-9AF2-B55D0C298F54}" type="parTrans" cxnId="{778A4C54-2AC4-4B3F-8084-D4BE230B54D5}">
      <dgm:prSet/>
      <dgm:spPr/>
      <dgm:t>
        <a:bodyPr/>
        <a:lstStyle/>
        <a:p>
          <a:endParaRPr lang="en-IN"/>
        </a:p>
      </dgm:t>
    </dgm:pt>
    <dgm:pt modelId="{26F1733D-D498-4FD7-ACDB-38510417AB99}" type="sibTrans" cxnId="{778A4C54-2AC4-4B3F-8084-D4BE230B54D5}">
      <dgm:prSet/>
      <dgm:spPr/>
      <dgm:t>
        <a:bodyPr/>
        <a:lstStyle/>
        <a:p>
          <a:endParaRPr lang="en-IN"/>
        </a:p>
      </dgm:t>
    </dgm:pt>
    <dgm:pt modelId="{9F0BBBCA-F1DF-4C2F-AF40-B895DA1CC893}">
      <dgm:prSet phldrT="[Text]"/>
      <dgm:spPr>
        <a:solidFill>
          <a:schemeClr val="tx2"/>
        </a:solidFill>
      </dgm:spPr>
      <dgm:t>
        <a:bodyPr/>
        <a:lstStyle/>
        <a:p>
          <a:r>
            <a:rPr lang="en-US" b="1" dirty="0" smtClean="0"/>
            <a:t>Stream Analytics</a:t>
          </a:r>
          <a:endParaRPr lang="en-US" b="1" dirty="0"/>
        </a:p>
      </dgm:t>
    </dgm:pt>
    <dgm:pt modelId="{39288F10-222C-41B8-ACFA-935BB89BC651}" type="parTrans" cxnId="{7A7D1850-BD34-4E4E-8AF3-E0F99DD178A8}">
      <dgm:prSet/>
      <dgm:spPr/>
      <dgm:t>
        <a:bodyPr/>
        <a:lstStyle/>
        <a:p>
          <a:endParaRPr lang="en-IN"/>
        </a:p>
      </dgm:t>
    </dgm:pt>
    <dgm:pt modelId="{D5A3218F-1E04-41E5-8152-E718823F52C7}" type="sibTrans" cxnId="{7A7D1850-BD34-4E4E-8AF3-E0F99DD178A8}">
      <dgm:prSet/>
      <dgm:spPr/>
      <dgm:t>
        <a:bodyPr/>
        <a:lstStyle/>
        <a:p>
          <a:endParaRPr lang="en-IN"/>
        </a:p>
      </dgm:t>
    </dgm:pt>
    <dgm:pt modelId="{A285FFC1-4BB4-466B-BD51-578F2DBB4EDB}">
      <dgm:prSet phldrT="[Text]"/>
      <dgm:spPr>
        <a:solidFill>
          <a:schemeClr val="tx2"/>
        </a:solidFill>
      </dgm:spPr>
      <dgm:t>
        <a:bodyPr/>
        <a:lstStyle/>
        <a:p>
          <a:r>
            <a:rPr lang="en-US" b="1" dirty="0" smtClean="0"/>
            <a:t>Purview</a:t>
          </a:r>
          <a:endParaRPr lang="en-US" b="1" dirty="0"/>
        </a:p>
      </dgm:t>
    </dgm:pt>
    <dgm:pt modelId="{55A9BA14-0FA1-49B7-8A7C-C248EE2DF531}" type="parTrans" cxnId="{5FDC387F-CA4E-4203-BE25-44425FDB3500}">
      <dgm:prSet/>
      <dgm:spPr/>
      <dgm:t>
        <a:bodyPr/>
        <a:lstStyle/>
        <a:p>
          <a:endParaRPr lang="en-IN"/>
        </a:p>
      </dgm:t>
    </dgm:pt>
    <dgm:pt modelId="{75AD0DCD-8092-4CF9-BA34-AF74E9D9FA38}" type="sibTrans" cxnId="{5FDC387F-CA4E-4203-BE25-44425FDB3500}">
      <dgm:prSet/>
      <dgm:spPr/>
      <dgm:t>
        <a:bodyPr/>
        <a:lstStyle/>
        <a:p>
          <a:endParaRPr lang="en-IN"/>
        </a:p>
      </dgm:t>
    </dgm:pt>
    <dgm:pt modelId="{40D501FE-2120-425E-A7AC-0A5F1F1B1522}">
      <dgm:prSet phldrT="[Text]"/>
      <dgm:spPr/>
      <dgm:t>
        <a:bodyPr/>
        <a:lstStyle/>
        <a:p>
          <a:r>
            <a:rPr lang="en-US" b="1" dirty="0" err="1" smtClean="0"/>
            <a:t>OpenAI</a:t>
          </a:r>
          <a:r>
            <a:rPr lang="en-US" b="1" dirty="0" smtClean="0"/>
            <a:t> &amp; Foundry</a:t>
          </a:r>
          <a:endParaRPr lang="en-US" b="1" dirty="0"/>
        </a:p>
      </dgm:t>
    </dgm:pt>
    <dgm:pt modelId="{76AD4105-1D92-4CE8-969C-0D9AEBD6A9A3}" type="parTrans" cxnId="{2369EDC6-6A5F-4F94-95F4-249C34518594}">
      <dgm:prSet/>
      <dgm:spPr/>
      <dgm:t>
        <a:bodyPr/>
        <a:lstStyle/>
        <a:p>
          <a:endParaRPr lang="en-IN"/>
        </a:p>
      </dgm:t>
    </dgm:pt>
    <dgm:pt modelId="{99B2A7AC-923E-4DA7-B9E3-01341F25EC09}" type="sibTrans" cxnId="{2369EDC6-6A5F-4F94-95F4-249C34518594}">
      <dgm:prSet/>
      <dgm:spPr/>
      <dgm:t>
        <a:bodyPr/>
        <a:lstStyle/>
        <a:p>
          <a:endParaRPr lang="en-IN"/>
        </a:p>
      </dgm:t>
    </dgm:pt>
    <dgm:pt modelId="{FB24520F-5CAF-46DD-A3C1-790D352C6358}" type="pres">
      <dgm:prSet presAssocID="{6E9EC51A-D321-4D01-82FD-BF10FF1FF867}" presName="Name0" presStyleCnt="0">
        <dgm:presLayoutVars>
          <dgm:dir/>
          <dgm:resizeHandles val="exact"/>
        </dgm:presLayoutVars>
      </dgm:prSet>
      <dgm:spPr/>
    </dgm:pt>
    <dgm:pt modelId="{9542FDF3-DCB4-4AD3-90C8-1939ECF08559}" type="pres">
      <dgm:prSet presAssocID="{5AB2BB73-455C-4C1C-B0FE-7700875CCE2B}" presName="parTxOnly" presStyleLbl="node1" presStyleIdx="0" presStyleCnt="5" custLinFactNeighborY="1387">
        <dgm:presLayoutVars>
          <dgm:bulletEnabled val="1"/>
        </dgm:presLayoutVars>
      </dgm:prSet>
      <dgm:spPr/>
      <dgm:t>
        <a:bodyPr/>
        <a:lstStyle/>
        <a:p>
          <a:endParaRPr lang="en-IN"/>
        </a:p>
      </dgm:t>
    </dgm:pt>
    <dgm:pt modelId="{731DE787-1263-46F8-B6AA-3121E5FB9630}" type="pres">
      <dgm:prSet presAssocID="{F15A1044-D3BE-47AB-A1C3-0D317EC65F91}" presName="parSpace" presStyleCnt="0"/>
      <dgm:spPr/>
    </dgm:pt>
    <dgm:pt modelId="{4F6565C1-D37B-4578-8706-113D96F977CD}" type="pres">
      <dgm:prSet presAssocID="{938F6D84-86EF-4E45-8708-2EEF09BDF159}" presName="parTxOnly" presStyleLbl="node1" presStyleIdx="1" presStyleCnt="5">
        <dgm:presLayoutVars>
          <dgm:bulletEnabled val="1"/>
        </dgm:presLayoutVars>
      </dgm:prSet>
      <dgm:spPr/>
      <dgm:t>
        <a:bodyPr/>
        <a:lstStyle/>
        <a:p>
          <a:endParaRPr lang="en-IN"/>
        </a:p>
      </dgm:t>
    </dgm:pt>
    <dgm:pt modelId="{2F5E6D4A-65E5-45BC-B41E-2B91B351373B}" type="pres">
      <dgm:prSet presAssocID="{26F1733D-D498-4FD7-ACDB-38510417AB99}" presName="parSpace" presStyleCnt="0"/>
      <dgm:spPr/>
    </dgm:pt>
    <dgm:pt modelId="{AA1AD8AB-7962-40A4-97A1-4C6652BD8081}" type="pres">
      <dgm:prSet presAssocID="{9F0BBBCA-F1DF-4C2F-AF40-B895DA1CC893}" presName="parTxOnly" presStyleLbl="node1" presStyleIdx="2" presStyleCnt="5">
        <dgm:presLayoutVars>
          <dgm:bulletEnabled val="1"/>
        </dgm:presLayoutVars>
      </dgm:prSet>
      <dgm:spPr/>
      <dgm:t>
        <a:bodyPr/>
        <a:lstStyle/>
        <a:p>
          <a:endParaRPr lang="en-IN"/>
        </a:p>
      </dgm:t>
    </dgm:pt>
    <dgm:pt modelId="{FD244DE8-127B-4082-866D-FA0E4C54F91C}" type="pres">
      <dgm:prSet presAssocID="{D5A3218F-1E04-41E5-8152-E718823F52C7}" presName="parSpace" presStyleCnt="0"/>
      <dgm:spPr/>
    </dgm:pt>
    <dgm:pt modelId="{0253A958-95F4-4824-A139-52603D240F83}" type="pres">
      <dgm:prSet presAssocID="{A285FFC1-4BB4-466B-BD51-578F2DBB4EDB}" presName="parTxOnly" presStyleLbl="node1" presStyleIdx="3" presStyleCnt="5">
        <dgm:presLayoutVars>
          <dgm:bulletEnabled val="1"/>
        </dgm:presLayoutVars>
      </dgm:prSet>
      <dgm:spPr/>
      <dgm:t>
        <a:bodyPr/>
        <a:lstStyle/>
        <a:p>
          <a:endParaRPr lang="en-IN"/>
        </a:p>
      </dgm:t>
    </dgm:pt>
    <dgm:pt modelId="{003A22A9-E428-4D91-9B03-AF7E577AA39E}" type="pres">
      <dgm:prSet presAssocID="{75AD0DCD-8092-4CF9-BA34-AF74E9D9FA38}" presName="parSpace" presStyleCnt="0"/>
      <dgm:spPr/>
    </dgm:pt>
    <dgm:pt modelId="{009DA479-0750-4E31-B911-4A762B6F1C55}" type="pres">
      <dgm:prSet presAssocID="{40D501FE-2120-425E-A7AC-0A5F1F1B1522}" presName="parTxOnly" presStyleLbl="node1" presStyleIdx="4" presStyleCnt="5">
        <dgm:presLayoutVars>
          <dgm:bulletEnabled val="1"/>
        </dgm:presLayoutVars>
      </dgm:prSet>
      <dgm:spPr/>
      <dgm:t>
        <a:bodyPr/>
        <a:lstStyle/>
        <a:p>
          <a:endParaRPr lang="en-IN"/>
        </a:p>
      </dgm:t>
    </dgm:pt>
  </dgm:ptLst>
  <dgm:cxnLst>
    <dgm:cxn modelId="{2BE2E91A-EC6A-4527-9EAA-5BCC13C62F6C}" type="presOf" srcId="{40D501FE-2120-425E-A7AC-0A5F1F1B1522}" destId="{009DA479-0750-4E31-B911-4A762B6F1C55}" srcOrd="0" destOrd="0" presId="urn:microsoft.com/office/officeart/2005/8/layout/hChevron3"/>
    <dgm:cxn modelId="{4FEC5606-D232-4CDB-925C-8DBE2D62AB38}" srcId="{6E9EC51A-D321-4D01-82FD-BF10FF1FF867}" destId="{5AB2BB73-455C-4C1C-B0FE-7700875CCE2B}" srcOrd="0" destOrd="0" parTransId="{BB0DD30E-AC0B-4E3E-B5D2-FEA24B96FF72}" sibTransId="{F15A1044-D3BE-47AB-A1C3-0D317EC65F91}"/>
    <dgm:cxn modelId="{99598439-B12E-4BE1-AFA0-EFFBA5E9A001}" type="presOf" srcId="{A285FFC1-4BB4-466B-BD51-578F2DBB4EDB}" destId="{0253A958-95F4-4824-A139-52603D240F83}" srcOrd="0" destOrd="0" presId="urn:microsoft.com/office/officeart/2005/8/layout/hChevron3"/>
    <dgm:cxn modelId="{7A7D1850-BD34-4E4E-8AF3-E0F99DD178A8}" srcId="{6E9EC51A-D321-4D01-82FD-BF10FF1FF867}" destId="{9F0BBBCA-F1DF-4C2F-AF40-B895DA1CC893}" srcOrd="2" destOrd="0" parTransId="{39288F10-222C-41B8-ACFA-935BB89BC651}" sibTransId="{D5A3218F-1E04-41E5-8152-E718823F52C7}"/>
    <dgm:cxn modelId="{12E8DC92-9D95-4089-90EB-27B403C176D1}" type="presOf" srcId="{938F6D84-86EF-4E45-8708-2EEF09BDF159}" destId="{4F6565C1-D37B-4578-8706-113D96F977CD}" srcOrd="0" destOrd="0" presId="urn:microsoft.com/office/officeart/2005/8/layout/hChevron3"/>
    <dgm:cxn modelId="{3C2B98D5-34A2-434A-B9E5-48ACB6A25569}" type="presOf" srcId="{6E9EC51A-D321-4D01-82FD-BF10FF1FF867}" destId="{FB24520F-5CAF-46DD-A3C1-790D352C6358}" srcOrd="0" destOrd="0" presId="urn:microsoft.com/office/officeart/2005/8/layout/hChevron3"/>
    <dgm:cxn modelId="{2369EDC6-6A5F-4F94-95F4-249C34518594}" srcId="{6E9EC51A-D321-4D01-82FD-BF10FF1FF867}" destId="{40D501FE-2120-425E-A7AC-0A5F1F1B1522}" srcOrd="4" destOrd="0" parTransId="{76AD4105-1D92-4CE8-969C-0D9AEBD6A9A3}" sibTransId="{99B2A7AC-923E-4DA7-B9E3-01341F25EC09}"/>
    <dgm:cxn modelId="{E229713D-6289-4D29-9919-14C9B298C123}" type="presOf" srcId="{5AB2BB73-455C-4C1C-B0FE-7700875CCE2B}" destId="{9542FDF3-DCB4-4AD3-90C8-1939ECF08559}" srcOrd="0" destOrd="0" presId="urn:microsoft.com/office/officeart/2005/8/layout/hChevron3"/>
    <dgm:cxn modelId="{778A4C54-2AC4-4B3F-8084-D4BE230B54D5}" srcId="{6E9EC51A-D321-4D01-82FD-BF10FF1FF867}" destId="{938F6D84-86EF-4E45-8708-2EEF09BDF159}" srcOrd="1" destOrd="0" parTransId="{234D800C-F220-43D5-9AF2-B55D0C298F54}" sibTransId="{26F1733D-D498-4FD7-ACDB-38510417AB99}"/>
    <dgm:cxn modelId="{1D149D4D-50DA-4E44-8A03-BE90CCCF10DE}" type="presOf" srcId="{9F0BBBCA-F1DF-4C2F-AF40-B895DA1CC893}" destId="{AA1AD8AB-7962-40A4-97A1-4C6652BD8081}" srcOrd="0" destOrd="0" presId="urn:microsoft.com/office/officeart/2005/8/layout/hChevron3"/>
    <dgm:cxn modelId="{5FDC387F-CA4E-4203-BE25-44425FDB3500}" srcId="{6E9EC51A-D321-4D01-82FD-BF10FF1FF867}" destId="{A285FFC1-4BB4-466B-BD51-578F2DBB4EDB}" srcOrd="3" destOrd="0" parTransId="{55A9BA14-0FA1-49B7-8A7C-C248EE2DF531}" sibTransId="{75AD0DCD-8092-4CF9-BA34-AF74E9D9FA38}"/>
    <dgm:cxn modelId="{FEF6C547-0A58-4A2C-BCC4-5BCFBEE195E4}" type="presParOf" srcId="{FB24520F-5CAF-46DD-A3C1-790D352C6358}" destId="{9542FDF3-DCB4-4AD3-90C8-1939ECF08559}" srcOrd="0" destOrd="0" presId="urn:microsoft.com/office/officeart/2005/8/layout/hChevron3"/>
    <dgm:cxn modelId="{34C76BC4-8EE2-4245-BB44-4C1D280F8F4C}" type="presParOf" srcId="{FB24520F-5CAF-46DD-A3C1-790D352C6358}" destId="{731DE787-1263-46F8-B6AA-3121E5FB9630}" srcOrd="1" destOrd="0" presId="urn:microsoft.com/office/officeart/2005/8/layout/hChevron3"/>
    <dgm:cxn modelId="{BE42C78D-BE7E-4E63-9F7F-BE344117DF00}" type="presParOf" srcId="{FB24520F-5CAF-46DD-A3C1-790D352C6358}" destId="{4F6565C1-D37B-4578-8706-113D96F977CD}" srcOrd="2" destOrd="0" presId="urn:microsoft.com/office/officeart/2005/8/layout/hChevron3"/>
    <dgm:cxn modelId="{9CB25457-4DEE-4CC1-A72C-B6387CD83709}" type="presParOf" srcId="{FB24520F-5CAF-46DD-A3C1-790D352C6358}" destId="{2F5E6D4A-65E5-45BC-B41E-2B91B351373B}" srcOrd="3" destOrd="0" presId="urn:microsoft.com/office/officeart/2005/8/layout/hChevron3"/>
    <dgm:cxn modelId="{4467AD3B-E7E6-4F04-A8CD-2784D42C745F}" type="presParOf" srcId="{FB24520F-5CAF-46DD-A3C1-790D352C6358}" destId="{AA1AD8AB-7962-40A4-97A1-4C6652BD8081}" srcOrd="4" destOrd="0" presId="urn:microsoft.com/office/officeart/2005/8/layout/hChevron3"/>
    <dgm:cxn modelId="{FB4813CA-1D38-472F-9826-F2059914F4FB}" type="presParOf" srcId="{FB24520F-5CAF-46DD-A3C1-790D352C6358}" destId="{FD244DE8-127B-4082-866D-FA0E4C54F91C}" srcOrd="5" destOrd="0" presId="urn:microsoft.com/office/officeart/2005/8/layout/hChevron3"/>
    <dgm:cxn modelId="{CF518745-F69F-4341-B4FE-8256F1BEBC04}" type="presParOf" srcId="{FB24520F-5CAF-46DD-A3C1-790D352C6358}" destId="{0253A958-95F4-4824-A139-52603D240F83}" srcOrd="6" destOrd="0" presId="urn:microsoft.com/office/officeart/2005/8/layout/hChevron3"/>
    <dgm:cxn modelId="{F477A53D-5057-45BD-8004-C903C87311E9}" type="presParOf" srcId="{FB24520F-5CAF-46DD-A3C1-790D352C6358}" destId="{003A22A9-E428-4D91-9B03-AF7E577AA39E}" srcOrd="7" destOrd="0" presId="urn:microsoft.com/office/officeart/2005/8/layout/hChevron3"/>
    <dgm:cxn modelId="{84FD22E1-C4FE-4839-8EC8-A997A0738716}" type="presParOf" srcId="{FB24520F-5CAF-46DD-A3C1-790D352C6358}" destId="{009DA479-0750-4E31-B911-4A762B6F1C55}" srcOrd="8" destOrd="0" presId="urn:microsoft.com/office/officeart/2005/8/layout/hChevron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A86A454-60D0-4C87-84EE-38FED3315B51}" type="doc">
      <dgm:prSet loTypeId="urn:microsoft.com/office/officeart/2005/8/layout/vList5" loCatId="list" qsTypeId="urn:microsoft.com/office/officeart/2005/8/quickstyle/simple1" qsCatId="simple" csTypeId="urn:microsoft.com/office/officeart/2005/8/colors/colorful3" csCatId="colorful" phldr="1"/>
      <dgm:spPr/>
      <dgm:t>
        <a:bodyPr/>
        <a:lstStyle/>
        <a:p>
          <a:endParaRPr lang="en-IN"/>
        </a:p>
      </dgm:t>
    </dgm:pt>
    <dgm:pt modelId="{6E18B4F0-AE75-41B3-AADF-ABB2F5DC84D7}">
      <dgm:prSet phldrT="[Text]"/>
      <dgm:spPr/>
      <dgm:t>
        <a:bodyPr/>
        <a:lstStyle/>
        <a:p>
          <a:r>
            <a:rPr lang="en-IN" dirty="0"/>
            <a:t>Container</a:t>
          </a:r>
        </a:p>
      </dgm:t>
    </dgm:pt>
    <dgm:pt modelId="{CD1548EB-2C5F-44B2-96EA-9B874BBBB26C}" type="parTrans" cxnId="{77DA44CC-5E46-4AFF-90D9-3D3360C33DD1}">
      <dgm:prSet/>
      <dgm:spPr/>
      <dgm:t>
        <a:bodyPr/>
        <a:lstStyle/>
        <a:p>
          <a:endParaRPr lang="en-IN"/>
        </a:p>
      </dgm:t>
    </dgm:pt>
    <dgm:pt modelId="{1EF62CBE-0408-4F5A-B0C0-C29E88ABF044}" type="sibTrans" cxnId="{77DA44CC-5E46-4AFF-90D9-3D3360C33DD1}">
      <dgm:prSet/>
      <dgm:spPr/>
      <dgm:t>
        <a:bodyPr/>
        <a:lstStyle/>
        <a:p>
          <a:endParaRPr lang="en-IN"/>
        </a:p>
      </dgm:t>
    </dgm:pt>
    <dgm:pt modelId="{3C69B5EA-4FD6-43EA-B8BB-727221DE2DF8}">
      <dgm:prSet phldrT="[Text]"/>
      <dgm:spPr/>
      <dgm:t>
        <a:bodyPr/>
        <a:lstStyle/>
        <a:p>
          <a:r>
            <a:rPr lang="en-IN" dirty="0"/>
            <a:t>What is a Container? </a:t>
          </a:r>
        </a:p>
      </dgm:t>
    </dgm:pt>
    <dgm:pt modelId="{A7939E88-CFC4-4AF5-BEC4-808FB5679796}" type="parTrans" cxnId="{B37F6226-DB83-49B0-BA59-AF9A6E4E0190}">
      <dgm:prSet/>
      <dgm:spPr/>
      <dgm:t>
        <a:bodyPr/>
        <a:lstStyle/>
        <a:p>
          <a:endParaRPr lang="en-IN"/>
        </a:p>
      </dgm:t>
    </dgm:pt>
    <dgm:pt modelId="{EE7B2B99-0AA1-4F56-AFDA-BB2FA72D6BE1}" type="sibTrans" cxnId="{B37F6226-DB83-49B0-BA59-AF9A6E4E0190}">
      <dgm:prSet/>
      <dgm:spPr/>
      <dgm:t>
        <a:bodyPr/>
        <a:lstStyle/>
        <a:p>
          <a:endParaRPr lang="en-IN"/>
        </a:p>
      </dgm:t>
    </dgm:pt>
    <dgm:pt modelId="{432646E1-AFBF-470F-9A75-931327B40B21}">
      <dgm:prSet phldrT="[Text]"/>
      <dgm:spPr/>
      <dgm:t>
        <a:bodyPr/>
        <a:lstStyle/>
        <a:p>
          <a:r>
            <a:rPr lang="en-IN" dirty="0"/>
            <a:t>Objects</a:t>
          </a:r>
        </a:p>
      </dgm:t>
    </dgm:pt>
    <dgm:pt modelId="{6844A7C5-ED32-4DEB-9A2A-06BE7C198975}" type="parTrans" cxnId="{2FF8295B-19E7-4783-928E-3CF926E66EB5}">
      <dgm:prSet/>
      <dgm:spPr/>
      <dgm:t>
        <a:bodyPr/>
        <a:lstStyle/>
        <a:p>
          <a:endParaRPr lang="en-IN"/>
        </a:p>
      </dgm:t>
    </dgm:pt>
    <dgm:pt modelId="{FDEEED78-1023-4B66-872E-DB702BD003D0}" type="sibTrans" cxnId="{2FF8295B-19E7-4783-928E-3CF926E66EB5}">
      <dgm:prSet/>
      <dgm:spPr/>
      <dgm:t>
        <a:bodyPr/>
        <a:lstStyle/>
        <a:p>
          <a:endParaRPr lang="en-IN"/>
        </a:p>
      </dgm:t>
    </dgm:pt>
    <dgm:pt modelId="{85DAFC21-F283-42D1-9EFE-98B8622A2952}">
      <dgm:prSet phldrT="[Text]"/>
      <dgm:spPr/>
      <dgm:t>
        <a:bodyPr/>
        <a:lstStyle/>
        <a:p>
          <a:r>
            <a:rPr lang="en-IN" dirty="0"/>
            <a:t>What is an Object/File? Data transferring or online transferring into the bucket/folder</a:t>
          </a:r>
        </a:p>
      </dgm:t>
    </dgm:pt>
    <dgm:pt modelId="{94F1754C-E7C8-4E07-8136-A4454F8CA2DD}" type="parTrans" cxnId="{3216DD09-D55F-4252-AE6F-16C7A860AF11}">
      <dgm:prSet/>
      <dgm:spPr/>
      <dgm:t>
        <a:bodyPr/>
        <a:lstStyle/>
        <a:p>
          <a:endParaRPr lang="en-IN"/>
        </a:p>
      </dgm:t>
    </dgm:pt>
    <dgm:pt modelId="{0915592B-62EE-475C-8E15-4D67856ABA20}" type="sibTrans" cxnId="{3216DD09-D55F-4252-AE6F-16C7A860AF11}">
      <dgm:prSet/>
      <dgm:spPr/>
      <dgm:t>
        <a:bodyPr/>
        <a:lstStyle/>
        <a:p>
          <a:endParaRPr lang="en-IN"/>
        </a:p>
      </dgm:t>
    </dgm:pt>
    <dgm:pt modelId="{E85F5443-9BB2-4618-8BAF-0E4B6D127E42}">
      <dgm:prSet phldrT="[Text]"/>
      <dgm:spPr/>
      <dgm:t>
        <a:bodyPr/>
        <a:lstStyle/>
        <a:p>
          <a:r>
            <a:rPr lang="en-IN" dirty="0"/>
            <a:t>Storage </a:t>
          </a:r>
          <a:r>
            <a:rPr lang="en-IN" dirty="0" smtClean="0"/>
            <a:t>Tiers </a:t>
          </a:r>
          <a:r>
            <a:rPr lang="en-IN" dirty="0"/>
            <a:t>&amp; Pricing Models</a:t>
          </a:r>
        </a:p>
      </dgm:t>
    </dgm:pt>
    <dgm:pt modelId="{BC283DFB-C5BD-4A1B-8944-61B7A10F1F29}" type="parTrans" cxnId="{1F0423D6-0012-4253-A643-71D454A154C5}">
      <dgm:prSet/>
      <dgm:spPr/>
      <dgm:t>
        <a:bodyPr/>
        <a:lstStyle/>
        <a:p>
          <a:endParaRPr lang="en-IN"/>
        </a:p>
      </dgm:t>
    </dgm:pt>
    <dgm:pt modelId="{110A4F78-6018-4E28-9610-247AB26B396F}" type="sibTrans" cxnId="{1F0423D6-0012-4253-A643-71D454A154C5}">
      <dgm:prSet/>
      <dgm:spPr/>
      <dgm:t>
        <a:bodyPr/>
        <a:lstStyle/>
        <a:p>
          <a:endParaRPr lang="en-IN"/>
        </a:p>
      </dgm:t>
    </dgm:pt>
    <dgm:pt modelId="{EDA5385D-DB8F-4FF9-ABB9-BAF82F276E80}">
      <dgm:prSet phldrT="[Text]"/>
      <dgm:spPr/>
      <dgm:t>
        <a:bodyPr/>
        <a:lstStyle/>
        <a:p>
          <a:r>
            <a:rPr lang="en-IN" dirty="0"/>
            <a:t>Identify and fill here the different storage </a:t>
          </a:r>
          <a:r>
            <a:rPr lang="en-IN" dirty="0" smtClean="0"/>
            <a:t>tiers </a:t>
          </a:r>
          <a:r>
            <a:rPr lang="en-IN" dirty="0"/>
            <a:t>available in </a:t>
          </a:r>
          <a:r>
            <a:rPr lang="en-IN" dirty="0" err="1"/>
            <a:t>az</a:t>
          </a:r>
          <a:r>
            <a:rPr lang="en-IN" dirty="0"/>
            <a:t> container creation?</a:t>
          </a:r>
        </a:p>
      </dgm:t>
    </dgm:pt>
    <dgm:pt modelId="{2C47CE6D-80F9-4636-A7A3-0AF585DAC3C4}" type="parTrans" cxnId="{29056404-94C4-42A4-8156-DCC2B3F6A200}">
      <dgm:prSet/>
      <dgm:spPr/>
      <dgm:t>
        <a:bodyPr/>
        <a:lstStyle/>
        <a:p>
          <a:endParaRPr lang="en-IN"/>
        </a:p>
      </dgm:t>
    </dgm:pt>
    <dgm:pt modelId="{EF8012AB-678D-4501-B60B-3D61CDFC8443}" type="sibTrans" cxnId="{29056404-94C4-42A4-8156-DCC2B3F6A200}">
      <dgm:prSet/>
      <dgm:spPr/>
      <dgm:t>
        <a:bodyPr/>
        <a:lstStyle/>
        <a:p>
          <a:endParaRPr lang="en-IN"/>
        </a:p>
      </dgm:t>
    </dgm:pt>
    <dgm:pt modelId="{B1AF24F8-C621-42CB-B118-3AEC112F3421}">
      <dgm:prSet phldrT="[Text]"/>
      <dgm:spPr/>
      <dgm:t>
        <a:bodyPr/>
        <a:lstStyle/>
        <a:p>
          <a:r>
            <a:rPr lang="en-IN" dirty="0" err="1"/>
            <a:t>Handson</a:t>
          </a:r>
          <a:endParaRPr lang="en-IN" dirty="0"/>
        </a:p>
      </dgm:t>
    </dgm:pt>
    <dgm:pt modelId="{F80B2BB0-589D-4206-A77D-1F0C6CAA9F0B}" type="parTrans" cxnId="{B370C053-246B-40FA-802F-7AE3CC02D368}">
      <dgm:prSet/>
      <dgm:spPr/>
      <dgm:t>
        <a:bodyPr/>
        <a:lstStyle/>
        <a:p>
          <a:endParaRPr lang="en-IN"/>
        </a:p>
      </dgm:t>
    </dgm:pt>
    <dgm:pt modelId="{C81F63A3-8703-4428-BAD3-95AA59F849AE}" type="sibTrans" cxnId="{B370C053-246B-40FA-802F-7AE3CC02D368}">
      <dgm:prSet/>
      <dgm:spPr/>
      <dgm:t>
        <a:bodyPr/>
        <a:lstStyle/>
        <a:p>
          <a:endParaRPr lang="en-IN"/>
        </a:p>
      </dgm:t>
    </dgm:pt>
    <dgm:pt modelId="{2C54CDC9-60B1-4C44-B981-4D928FE6DF02}">
      <dgm:prSet phldrT="[Text]"/>
      <dgm:spPr/>
      <dgm:t>
        <a:bodyPr/>
        <a:lstStyle/>
        <a:p>
          <a:r>
            <a:rPr lang="en-IN" dirty="0"/>
            <a:t> Practice </a:t>
          </a:r>
          <a:r>
            <a:rPr lang="en-IN" dirty="0" err="1"/>
            <a:t>az</a:t>
          </a:r>
          <a:r>
            <a:rPr lang="en-IN" dirty="0"/>
            <a:t> Commands </a:t>
          </a:r>
          <a:r>
            <a:rPr lang="en-IN" dirty="0" smtClean="0"/>
            <a:t>provided (https://inceptezlabs.com/cloudengg)</a:t>
          </a:r>
          <a:endParaRPr lang="en-IN" dirty="0"/>
        </a:p>
      </dgm:t>
    </dgm:pt>
    <dgm:pt modelId="{F3736559-BB71-4F70-BB8A-4B7C55A5E171}" type="parTrans" cxnId="{0CDA6AC4-54C7-409C-89C6-C29594289CB7}">
      <dgm:prSet/>
      <dgm:spPr/>
      <dgm:t>
        <a:bodyPr/>
        <a:lstStyle/>
        <a:p>
          <a:endParaRPr lang="en-IN"/>
        </a:p>
      </dgm:t>
    </dgm:pt>
    <dgm:pt modelId="{88C08704-0B28-4A4A-8774-377F3F1E07CD}" type="sibTrans" cxnId="{0CDA6AC4-54C7-409C-89C6-C29594289CB7}">
      <dgm:prSet/>
      <dgm:spPr/>
      <dgm:t>
        <a:bodyPr/>
        <a:lstStyle/>
        <a:p>
          <a:endParaRPr lang="en-IN"/>
        </a:p>
      </dgm:t>
    </dgm:pt>
    <dgm:pt modelId="{5DEE2445-10B4-4ECA-B69E-78541D790FD2}">
      <dgm:prSet phldrT="[Text]"/>
      <dgm:spPr/>
      <dgm:t>
        <a:bodyPr/>
        <a:lstStyle/>
        <a:p>
          <a:r>
            <a:rPr lang="en-IN" dirty="0" err="1"/>
            <a:t>Az</a:t>
          </a:r>
          <a:r>
            <a:rPr lang="en-IN" dirty="0"/>
            <a:t> commands – create container</a:t>
          </a:r>
          <a:endParaRPr lang="en-IN" b="1" dirty="0"/>
        </a:p>
      </dgm:t>
    </dgm:pt>
    <dgm:pt modelId="{E2550852-3767-4BC6-A18E-F5DEEE1BBF5B}" type="parTrans" cxnId="{809B7B88-DCE3-4924-9923-76CBC6AD87D1}">
      <dgm:prSet/>
      <dgm:spPr/>
      <dgm:t>
        <a:bodyPr/>
        <a:lstStyle/>
        <a:p>
          <a:endParaRPr lang="en-IN"/>
        </a:p>
      </dgm:t>
    </dgm:pt>
    <dgm:pt modelId="{772BB3BA-1795-47DE-8420-5E4AC995BD71}" type="sibTrans" cxnId="{809B7B88-DCE3-4924-9923-76CBC6AD87D1}">
      <dgm:prSet/>
      <dgm:spPr/>
      <dgm:t>
        <a:bodyPr/>
        <a:lstStyle/>
        <a:p>
          <a:endParaRPr lang="en-IN"/>
        </a:p>
      </dgm:t>
    </dgm:pt>
    <dgm:pt modelId="{21FB71F6-887F-4428-9E36-24D4DAD8C320}">
      <dgm:prSet phldrT="[Text]"/>
      <dgm:spPr/>
      <dgm:t>
        <a:bodyPr/>
        <a:lstStyle/>
        <a:p>
          <a:r>
            <a:rPr lang="en-IN" dirty="0"/>
            <a:t>Create a Container with proper naming convention </a:t>
          </a:r>
          <a:r>
            <a:rPr lang="en-IN" dirty="0" err="1"/>
            <a:t>eg</a:t>
          </a:r>
          <a:r>
            <a:rPr lang="en-IN" dirty="0"/>
            <a:t>. </a:t>
          </a:r>
          <a:r>
            <a:rPr lang="en-IN" dirty="0" err="1"/>
            <a:t>inceptez</a:t>
          </a:r>
          <a:r>
            <a:rPr lang="en-IN" dirty="0"/>
            <a:t>-core-learnings - </a:t>
          </a:r>
          <a:r>
            <a:rPr lang="en-IN" b="1" dirty="0"/>
            <a:t>Yes</a:t>
          </a:r>
        </a:p>
      </dgm:t>
    </dgm:pt>
    <dgm:pt modelId="{C9DC82F3-9718-4F74-9555-006526C7E754}" type="parTrans" cxnId="{B9A92620-9E2C-4581-B703-2C31043172AE}">
      <dgm:prSet/>
      <dgm:spPr/>
      <dgm:t>
        <a:bodyPr/>
        <a:lstStyle/>
        <a:p>
          <a:endParaRPr lang="en-IN"/>
        </a:p>
      </dgm:t>
    </dgm:pt>
    <dgm:pt modelId="{1D535083-B437-415F-A57B-447F26E1BF27}" type="sibTrans" cxnId="{B9A92620-9E2C-4581-B703-2C31043172AE}">
      <dgm:prSet/>
      <dgm:spPr/>
      <dgm:t>
        <a:bodyPr/>
        <a:lstStyle/>
        <a:p>
          <a:endParaRPr lang="en-IN"/>
        </a:p>
      </dgm:t>
    </dgm:pt>
    <dgm:pt modelId="{22E16826-9A36-4315-ABF7-F6DD195925B0}">
      <dgm:prSet phldrT="[Text]"/>
      <dgm:spPr/>
      <dgm:t>
        <a:bodyPr/>
        <a:lstStyle/>
        <a:p>
          <a:r>
            <a:rPr lang="en-IN" dirty="0" err="1"/>
            <a:t>Cli</a:t>
          </a:r>
          <a:r>
            <a:rPr lang="en-IN" dirty="0"/>
            <a:t> commands</a:t>
          </a:r>
        </a:p>
      </dgm:t>
    </dgm:pt>
    <dgm:pt modelId="{32D0A16B-6591-484F-827E-01B1BBA6029C}" type="parTrans" cxnId="{011B3DE0-B537-48A7-9C9C-964E09791674}">
      <dgm:prSet/>
      <dgm:spPr/>
      <dgm:t>
        <a:bodyPr/>
        <a:lstStyle/>
        <a:p>
          <a:endParaRPr lang="en-IN"/>
        </a:p>
      </dgm:t>
    </dgm:pt>
    <dgm:pt modelId="{1DA71F01-D151-4F5E-ABAA-F75D7E7BEA09}" type="sibTrans" cxnId="{011B3DE0-B537-48A7-9C9C-964E09791674}">
      <dgm:prSet/>
      <dgm:spPr/>
      <dgm:t>
        <a:bodyPr/>
        <a:lstStyle/>
        <a:p>
          <a:endParaRPr lang="en-IN"/>
        </a:p>
      </dgm:t>
    </dgm:pt>
    <dgm:pt modelId="{17DD8BA0-C1BB-4AE0-8D9E-C70C958369BE}">
      <dgm:prSet/>
      <dgm:spPr/>
      <dgm:t>
        <a:bodyPr/>
        <a:lstStyle/>
        <a:p>
          <a:r>
            <a:rPr lang="en-IN" dirty="0"/>
            <a:t>What are the Two types of </a:t>
          </a:r>
          <a:r>
            <a:rPr lang="en-IN" dirty="0" smtClean="0"/>
            <a:t>core access controls &amp; Additional Storage level access controls?</a:t>
          </a:r>
          <a:endParaRPr lang="en-IN" b="1" i="1" dirty="0"/>
        </a:p>
      </dgm:t>
    </dgm:pt>
    <dgm:pt modelId="{FE8F7A05-CB19-4721-BB1C-460735F295BE}" type="parTrans" cxnId="{A3162783-783E-4922-85A5-C4EFDC044F26}">
      <dgm:prSet/>
      <dgm:spPr/>
      <dgm:t>
        <a:bodyPr/>
        <a:lstStyle/>
        <a:p>
          <a:endParaRPr lang="en-IN"/>
        </a:p>
      </dgm:t>
    </dgm:pt>
    <dgm:pt modelId="{17FD366B-A8CE-43E7-96A6-7EDF8BDA2371}" type="sibTrans" cxnId="{A3162783-783E-4922-85A5-C4EFDC044F26}">
      <dgm:prSet/>
      <dgm:spPr/>
      <dgm:t>
        <a:bodyPr/>
        <a:lstStyle/>
        <a:p>
          <a:endParaRPr lang="en-IN"/>
        </a:p>
      </dgm:t>
    </dgm:pt>
    <dgm:pt modelId="{7D2ABDC0-CD34-46CB-9808-493397C3B55A}">
      <dgm:prSet phldrT="[Text]"/>
      <dgm:spPr/>
      <dgm:t>
        <a:bodyPr/>
        <a:lstStyle/>
        <a:p>
          <a:r>
            <a:rPr lang="en-IN" dirty="0"/>
            <a:t> Practice </a:t>
          </a:r>
          <a:r>
            <a:rPr lang="en-IN" dirty="0" err="1"/>
            <a:t>PySpark</a:t>
          </a:r>
          <a:r>
            <a:rPr lang="en-IN" dirty="0"/>
            <a:t> Programs in </a:t>
          </a:r>
          <a:r>
            <a:rPr lang="en-IN" dirty="0" err="1"/>
            <a:t>databricks</a:t>
          </a:r>
          <a:r>
            <a:rPr lang="en-IN" dirty="0"/>
            <a:t> notebook</a:t>
          </a:r>
        </a:p>
      </dgm:t>
    </dgm:pt>
    <dgm:pt modelId="{53E2A9F5-E02C-4BAB-96AD-FF2D3D6728A4}" type="parTrans" cxnId="{B591B0BA-A73F-467C-88AD-B3304619DE39}">
      <dgm:prSet/>
      <dgm:spPr/>
      <dgm:t>
        <a:bodyPr/>
        <a:lstStyle/>
        <a:p>
          <a:endParaRPr lang="en-IN"/>
        </a:p>
      </dgm:t>
    </dgm:pt>
    <dgm:pt modelId="{28F1F952-F812-4598-992C-A955D8D78877}" type="sibTrans" cxnId="{B591B0BA-A73F-467C-88AD-B3304619DE39}">
      <dgm:prSet/>
      <dgm:spPr/>
      <dgm:t>
        <a:bodyPr/>
        <a:lstStyle/>
        <a:p>
          <a:endParaRPr lang="en-IN"/>
        </a:p>
      </dgm:t>
    </dgm:pt>
    <dgm:pt modelId="{A67400F3-2ACC-42D6-B4BE-9193635C1DCE}" type="pres">
      <dgm:prSet presAssocID="{DA86A454-60D0-4C87-84EE-38FED3315B51}" presName="Name0" presStyleCnt="0">
        <dgm:presLayoutVars>
          <dgm:dir/>
          <dgm:animLvl val="lvl"/>
          <dgm:resizeHandles val="exact"/>
        </dgm:presLayoutVars>
      </dgm:prSet>
      <dgm:spPr/>
      <dgm:t>
        <a:bodyPr/>
        <a:lstStyle/>
        <a:p>
          <a:endParaRPr lang="en-IN"/>
        </a:p>
      </dgm:t>
    </dgm:pt>
    <dgm:pt modelId="{EDE554B8-2527-4CD4-A499-DBFB199A2A93}" type="pres">
      <dgm:prSet presAssocID="{6E18B4F0-AE75-41B3-AADF-ABB2F5DC84D7}" presName="linNode" presStyleCnt="0"/>
      <dgm:spPr/>
    </dgm:pt>
    <dgm:pt modelId="{6F2A2FFB-6963-483B-837F-625D30F95E94}" type="pres">
      <dgm:prSet presAssocID="{6E18B4F0-AE75-41B3-AADF-ABB2F5DC84D7}" presName="parentText" presStyleLbl="node1" presStyleIdx="0" presStyleCnt="4">
        <dgm:presLayoutVars>
          <dgm:chMax val="1"/>
          <dgm:bulletEnabled val="1"/>
        </dgm:presLayoutVars>
      </dgm:prSet>
      <dgm:spPr/>
      <dgm:t>
        <a:bodyPr/>
        <a:lstStyle/>
        <a:p>
          <a:endParaRPr lang="en-IN"/>
        </a:p>
      </dgm:t>
    </dgm:pt>
    <dgm:pt modelId="{02D4DE22-7B4C-4795-BD8D-93023E42AF4B}" type="pres">
      <dgm:prSet presAssocID="{6E18B4F0-AE75-41B3-AADF-ABB2F5DC84D7}" presName="descendantText" presStyleLbl="alignAccFollowNode1" presStyleIdx="0" presStyleCnt="4">
        <dgm:presLayoutVars>
          <dgm:bulletEnabled val="1"/>
        </dgm:presLayoutVars>
      </dgm:prSet>
      <dgm:spPr/>
      <dgm:t>
        <a:bodyPr/>
        <a:lstStyle/>
        <a:p>
          <a:endParaRPr lang="en-IN"/>
        </a:p>
      </dgm:t>
    </dgm:pt>
    <dgm:pt modelId="{F29C1691-7D1E-4E50-8B44-FDD9BECEAF8B}" type="pres">
      <dgm:prSet presAssocID="{1EF62CBE-0408-4F5A-B0C0-C29E88ABF044}" presName="sp" presStyleCnt="0"/>
      <dgm:spPr/>
    </dgm:pt>
    <dgm:pt modelId="{24CAFADA-F7BA-4C03-A2E4-8EC11CAA6703}" type="pres">
      <dgm:prSet presAssocID="{432646E1-AFBF-470F-9A75-931327B40B21}" presName="linNode" presStyleCnt="0"/>
      <dgm:spPr/>
    </dgm:pt>
    <dgm:pt modelId="{CDBB2264-7D3B-4D74-9881-BC4C9C35B944}" type="pres">
      <dgm:prSet presAssocID="{432646E1-AFBF-470F-9A75-931327B40B21}" presName="parentText" presStyleLbl="node1" presStyleIdx="1" presStyleCnt="4">
        <dgm:presLayoutVars>
          <dgm:chMax val="1"/>
          <dgm:bulletEnabled val="1"/>
        </dgm:presLayoutVars>
      </dgm:prSet>
      <dgm:spPr/>
      <dgm:t>
        <a:bodyPr/>
        <a:lstStyle/>
        <a:p>
          <a:endParaRPr lang="en-IN"/>
        </a:p>
      </dgm:t>
    </dgm:pt>
    <dgm:pt modelId="{F64CD779-8E4C-4900-85C9-48DAA4B055B4}" type="pres">
      <dgm:prSet presAssocID="{432646E1-AFBF-470F-9A75-931327B40B21}" presName="descendantText" presStyleLbl="alignAccFollowNode1" presStyleIdx="1" presStyleCnt="4">
        <dgm:presLayoutVars>
          <dgm:bulletEnabled val="1"/>
        </dgm:presLayoutVars>
      </dgm:prSet>
      <dgm:spPr/>
      <dgm:t>
        <a:bodyPr/>
        <a:lstStyle/>
        <a:p>
          <a:endParaRPr lang="en-IN"/>
        </a:p>
      </dgm:t>
    </dgm:pt>
    <dgm:pt modelId="{EB0A058A-AA1E-4ED1-98ED-2F6D0ACBA620}" type="pres">
      <dgm:prSet presAssocID="{FDEEED78-1023-4B66-872E-DB702BD003D0}" presName="sp" presStyleCnt="0"/>
      <dgm:spPr/>
    </dgm:pt>
    <dgm:pt modelId="{FF431CC7-2290-45EC-9A08-2577165E8AE5}" type="pres">
      <dgm:prSet presAssocID="{E85F5443-9BB2-4618-8BAF-0E4B6D127E42}" presName="linNode" presStyleCnt="0"/>
      <dgm:spPr/>
    </dgm:pt>
    <dgm:pt modelId="{F3BB6155-DFA6-4080-B13D-5020EC4C3DD5}" type="pres">
      <dgm:prSet presAssocID="{E85F5443-9BB2-4618-8BAF-0E4B6D127E42}" presName="parentText" presStyleLbl="node1" presStyleIdx="2" presStyleCnt="4">
        <dgm:presLayoutVars>
          <dgm:chMax val="1"/>
          <dgm:bulletEnabled val="1"/>
        </dgm:presLayoutVars>
      </dgm:prSet>
      <dgm:spPr/>
      <dgm:t>
        <a:bodyPr/>
        <a:lstStyle/>
        <a:p>
          <a:endParaRPr lang="en-IN"/>
        </a:p>
      </dgm:t>
    </dgm:pt>
    <dgm:pt modelId="{D3D8ED69-C492-4325-8358-A9830763D4D0}" type="pres">
      <dgm:prSet presAssocID="{E85F5443-9BB2-4618-8BAF-0E4B6D127E42}" presName="descendantText" presStyleLbl="alignAccFollowNode1" presStyleIdx="2" presStyleCnt="4">
        <dgm:presLayoutVars>
          <dgm:bulletEnabled val="1"/>
        </dgm:presLayoutVars>
      </dgm:prSet>
      <dgm:spPr/>
      <dgm:t>
        <a:bodyPr/>
        <a:lstStyle/>
        <a:p>
          <a:endParaRPr lang="en-IN"/>
        </a:p>
      </dgm:t>
    </dgm:pt>
    <dgm:pt modelId="{9C9A18CA-23C0-45F3-9AF2-FEAF26C51C42}" type="pres">
      <dgm:prSet presAssocID="{110A4F78-6018-4E28-9610-247AB26B396F}" presName="sp" presStyleCnt="0"/>
      <dgm:spPr/>
    </dgm:pt>
    <dgm:pt modelId="{330E048B-96F1-4983-9771-9F0BBCA5DB67}" type="pres">
      <dgm:prSet presAssocID="{B1AF24F8-C621-42CB-B118-3AEC112F3421}" presName="linNode" presStyleCnt="0"/>
      <dgm:spPr/>
    </dgm:pt>
    <dgm:pt modelId="{C3BF885C-3BEF-4266-98A5-8E05374921CA}" type="pres">
      <dgm:prSet presAssocID="{B1AF24F8-C621-42CB-B118-3AEC112F3421}" presName="parentText" presStyleLbl="node1" presStyleIdx="3" presStyleCnt="4">
        <dgm:presLayoutVars>
          <dgm:chMax val="1"/>
          <dgm:bulletEnabled val="1"/>
        </dgm:presLayoutVars>
      </dgm:prSet>
      <dgm:spPr/>
      <dgm:t>
        <a:bodyPr/>
        <a:lstStyle/>
        <a:p>
          <a:endParaRPr lang="en-IN"/>
        </a:p>
      </dgm:t>
    </dgm:pt>
    <dgm:pt modelId="{95F294B2-BAED-42E2-A5B3-A38F7777ED2F}" type="pres">
      <dgm:prSet presAssocID="{B1AF24F8-C621-42CB-B118-3AEC112F3421}" presName="descendantText" presStyleLbl="alignAccFollowNode1" presStyleIdx="3" presStyleCnt="4">
        <dgm:presLayoutVars>
          <dgm:bulletEnabled val="1"/>
        </dgm:presLayoutVars>
      </dgm:prSet>
      <dgm:spPr/>
      <dgm:t>
        <a:bodyPr/>
        <a:lstStyle/>
        <a:p>
          <a:endParaRPr lang="en-IN"/>
        </a:p>
      </dgm:t>
    </dgm:pt>
  </dgm:ptLst>
  <dgm:cxnLst>
    <dgm:cxn modelId="{809B7B88-DCE3-4924-9923-76CBC6AD87D1}" srcId="{6E18B4F0-AE75-41B3-AADF-ABB2F5DC84D7}" destId="{5DEE2445-10B4-4ECA-B69E-78541D790FD2}" srcOrd="2" destOrd="0" parTransId="{E2550852-3767-4BC6-A18E-F5DEEE1BBF5B}" sibTransId="{772BB3BA-1795-47DE-8420-5E4AC995BD71}"/>
    <dgm:cxn modelId="{0E990777-D5E8-4700-9717-62AEA896686D}" type="presOf" srcId="{B1AF24F8-C621-42CB-B118-3AEC112F3421}" destId="{C3BF885C-3BEF-4266-98A5-8E05374921CA}" srcOrd="0" destOrd="0" presId="urn:microsoft.com/office/officeart/2005/8/layout/vList5"/>
    <dgm:cxn modelId="{B370C053-246B-40FA-802F-7AE3CC02D368}" srcId="{DA86A454-60D0-4C87-84EE-38FED3315B51}" destId="{B1AF24F8-C621-42CB-B118-3AEC112F3421}" srcOrd="3" destOrd="0" parTransId="{F80B2BB0-589D-4206-A77D-1F0C6CAA9F0B}" sibTransId="{C81F63A3-8703-4428-BAD3-95AA59F849AE}"/>
    <dgm:cxn modelId="{E1FBA364-F6ED-4677-A9FB-6B14FB73AEB0}" type="presOf" srcId="{E85F5443-9BB2-4618-8BAF-0E4B6D127E42}" destId="{F3BB6155-DFA6-4080-B13D-5020EC4C3DD5}" srcOrd="0" destOrd="0" presId="urn:microsoft.com/office/officeart/2005/8/layout/vList5"/>
    <dgm:cxn modelId="{29056404-94C4-42A4-8156-DCC2B3F6A200}" srcId="{E85F5443-9BB2-4618-8BAF-0E4B6D127E42}" destId="{EDA5385D-DB8F-4FF9-ABB9-BAF82F276E80}" srcOrd="0" destOrd="0" parTransId="{2C47CE6D-80F9-4636-A7A3-0AF585DAC3C4}" sibTransId="{EF8012AB-678D-4501-B60B-3D61CDFC8443}"/>
    <dgm:cxn modelId="{B9A92620-9E2C-4581-B703-2C31043172AE}" srcId="{6E18B4F0-AE75-41B3-AADF-ABB2F5DC84D7}" destId="{21FB71F6-887F-4428-9E36-24D4DAD8C320}" srcOrd="1" destOrd="0" parTransId="{C9DC82F3-9718-4F74-9555-006526C7E754}" sibTransId="{1D535083-B437-415F-A57B-447F26E1BF27}"/>
    <dgm:cxn modelId="{9E03B477-C3A7-4D7A-86D9-B5803B2BB8B6}" type="presOf" srcId="{2C54CDC9-60B1-4C44-B981-4D928FE6DF02}" destId="{95F294B2-BAED-42E2-A5B3-A38F7777ED2F}" srcOrd="0" destOrd="0" presId="urn:microsoft.com/office/officeart/2005/8/layout/vList5"/>
    <dgm:cxn modelId="{F3CC4A55-351D-4DA6-94F2-D84D64EEE6AD}" type="presOf" srcId="{17DD8BA0-C1BB-4AE0-8D9E-C70C958369BE}" destId="{D3D8ED69-C492-4325-8358-A9830763D4D0}" srcOrd="0" destOrd="1" presId="urn:microsoft.com/office/officeart/2005/8/layout/vList5"/>
    <dgm:cxn modelId="{A7BE7A94-E30D-41F6-A57E-770C9D78258B}" type="presOf" srcId="{6E18B4F0-AE75-41B3-AADF-ABB2F5DC84D7}" destId="{6F2A2FFB-6963-483B-837F-625D30F95E94}" srcOrd="0" destOrd="0" presId="urn:microsoft.com/office/officeart/2005/8/layout/vList5"/>
    <dgm:cxn modelId="{B0CF0025-3D83-4DB0-B768-8247E8EE2524}" type="presOf" srcId="{3C69B5EA-4FD6-43EA-B8BB-727221DE2DF8}" destId="{02D4DE22-7B4C-4795-BD8D-93023E42AF4B}" srcOrd="0" destOrd="0" presId="urn:microsoft.com/office/officeart/2005/8/layout/vList5"/>
    <dgm:cxn modelId="{67A80CC1-CCAE-4C7E-837D-06AFC67FCD02}" type="presOf" srcId="{EDA5385D-DB8F-4FF9-ABB9-BAF82F276E80}" destId="{D3D8ED69-C492-4325-8358-A9830763D4D0}" srcOrd="0" destOrd="0" presId="urn:microsoft.com/office/officeart/2005/8/layout/vList5"/>
    <dgm:cxn modelId="{C1588004-0D45-4E84-AEB2-E3B748A2DF4A}" type="presOf" srcId="{21FB71F6-887F-4428-9E36-24D4DAD8C320}" destId="{02D4DE22-7B4C-4795-BD8D-93023E42AF4B}" srcOrd="0" destOrd="1" presId="urn:microsoft.com/office/officeart/2005/8/layout/vList5"/>
    <dgm:cxn modelId="{046CBC27-635E-45BB-8D36-9DC0F758351C}" type="presOf" srcId="{5DEE2445-10B4-4ECA-B69E-78541D790FD2}" destId="{02D4DE22-7B4C-4795-BD8D-93023E42AF4B}" srcOrd="0" destOrd="2" presId="urn:microsoft.com/office/officeart/2005/8/layout/vList5"/>
    <dgm:cxn modelId="{2FF8295B-19E7-4783-928E-3CF926E66EB5}" srcId="{DA86A454-60D0-4C87-84EE-38FED3315B51}" destId="{432646E1-AFBF-470F-9A75-931327B40B21}" srcOrd="1" destOrd="0" parTransId="{6844A7C5-ED32-4DEB-9A2A-06BE7C198975}" sibTransId="{FDEEED78-1023-4B66-872E-DB702BD003D0}"/>
    <dgm:cxn modelId="{40A552AD-E3A4-4541-82F2-C9170BFB43B9}" type="presOf" srcId="{22E16826-9A36-4315-ABF7-F6DD195925B0}" destId="{F64CD779-8E4C-4900-85C9-48DAA4B055B4}" srcOrd="0" destOrd="1" presId="urn:microsoft.com/office/officeart/2005/8/layout/vList5"/>
    <dgm:cxn modelId="{E0571081-791F-49DA-8FBD-134DB76B4F2A}" type="presOf" srcId="{85DAFC21-F283-42D1-9EFE-98B8622A2952}" destId="{F64CD779-8E4C-4900-85C9-48DAA4B055B4}" srcOrd="0" destOrd="0" presId="urn:microsoft.com/office/officeart/2005/8/layout/vList5"/>
    <dgm:cxn modelId="{0CDA6AC4-54C7-409C-89C6-C29594289CB7}" srcId="{B1AF24F8-C621-42CB-B118-3AEC112F3421}" destId="{2C54CDC9-60B1-4C44-B981-4D928FE6DF02}" srcOrd="0" destOrd="0" parTransId="{F3736559-BB71-4F70-BB8A-4B7C55A5E171}" sibTransId="{88C08704-0B28-4A4A-8774-377F3F1E07CD}"/>
    <dgm:cxn modelId="{3216DD09-D55F-4252-AE6F-16C7A860AF11}" srcId="{432646E1-AFBF-470F-9A75-931327B40B21}" destId="{85DAFC21-F283-42D1-9EFE-98B8622A2952}" srcOrd="0" destOrd="0" parTransId="{94F1754C-E7C8-4E07-8136-A4454F8CA2DD}" sibTransId="{0915592B-62EE-475C-8E15-4D67856ABA20}"/>
    <dgm:cxn modelId="{011B3DE0-B537-48A7-9C9C-964E09791674}" srcId="{432646E1-AFBF-470F-9A75-931327B40B21}" destId="{22E16826-9A36-4315-ABF7-F6DD195925B0}" srcOrd="1" destOrd="0" parTransId="{32D0A16B-6591-484F-827E-01B1BBA6029C}" sibTransId="{1DA71F01-D151-4F5E-ABAA-F75D7E7BEA09}"/>
    <dgm:cxn modelId="{DD1A7EB7-0E08-4AD2-BE3E-4FDAEFF271D6}" type="presOf" srcId="{432646E1-AFBF-470F-9A75-931327B40B21}" destId="{CDBB2264-7D3B-4D74-9881-BC4C9C35B944}" srcOrd="0" destOrd="0" presId="urn:microsoft.com/office/officeart/2005/8/layout/vList5"/>
    <dgm:cxn modelId="{77DA44CC-5E46-4AFF-90D9-3D3360C33DD1}" srcId="{DA86A454-60D0-4C87-84EE-38FED3315B51}" destId="{6E18B4F0-AE75-41B3-AADF-ABB2F5DC84D7}" srcOrd="0" destOrd="0" parTransId="{CD1548EB-2C5F-44B2-96EA-9B874BBBB26C}" sibTransId="{1EF62CBE-0408-4F5A-B0C0-C29E88ABF044}"/>
    <dgm:cxn modelId="{C2E856E1-9F8B-46AF-957D-95124606014C}" type="presOf" srcId="{DA86A454-60D0-4C87-84EE-38FED3315B51}" destId="{A67400F3-2ACC-42D6-B4BE-9193635C1DCE}" srcOrd="0" destOrd="0" presId="urn:microsoft.com/office/officeart/2005/8/layout/vList5"/>
    <dgm:cxn modelId="{B37F6226-DB83-49B0-BA59-AF9A6E4E0190}" srcId="{6E18B4F0-AE75-41B3-AADF-ABB2F5DC84D7}" destId="{3C69B5EA-4FD6-43EA-B8BB-727221DE2DF8}" srcOrd="0" destOrd="0" parTransId="{A7939E88-CFC4-4AF5-BEC4-808FB5679796}" sibTransId="{EE7B2B99-0AA1-4F56-AFDA-BB2FA72D6BE1}"/>
    <dgm:cxn modelId="{03135FDC-EDFD-4E70-97DA-1F2537865B77}" type="presOf" srcId="{7D2ABDC0-CD34-46CB-9808-493397C3B55A}" destId="{95F294B2-BAED-42E2-A5B3-A38F7777ED2F}" srcOrd="0" destOrd="1" presId="urn:microsoft.com/office/officeart/2005/8/layout/vList5"/>
    <dgm:cxn modelId="{1F0423D6-0012-4253-A643-71D454A154C5}" srcId="{DA86A454-60D0-4C87-84EE-38FED3315B51}" destId="{E85F5443-9BB2-4618-8BAF-0E4B6D127E42}" srcOrd="2" destOrd="0" parTransId="{BC283DFB-C5BD-4A1B-8944-61B7A10F1F29}" sibTransId="{110A4F78-6018-4E28-9610-247AB26B396F}"/>
    <dgm:cxn modelId="{B591B0BA-A73F-467C-88AD-B3304619DE39}" srcId="{B1AF24F8-C621-42CB-B118-3AEC112F3421}" destId="{7D2ABDC0-CD34-46CB-9808-493397C3B55A}" srcOrd="1" destOrd="0" parTransId="{53E2A9F5-E02C-4BAB-96AD-FF2D3D6728A4}" sibTransId="{28F1F952-F812-4598-992C-A955D8D78877}"/>
    <dgm:cxn modelId="{A3162783-783E-4922-85A5-C4EFDC044F26}" srcId="{E85F5443-9BB2-4618-8BAF-0E4B6D127E42}" destId="{17DD8BA0-C1BB-4AE0-8D9E-C70C958369BE}" srcOrd="1" destOrd="0" parTransId="{FE8F7A05-CB19-4721-BB1C-460735F295BE}" sibTransId="{17FD366B-A8CE-43E7-96A6-7EDF8BDA2371}"/>
    <dgm:cxn modelId="{1B900E6D-7B01-4A07-BDC4-F93B5E968ECF}" type="presParOf" srcId="{A67400F3-2ACC-42D6-B4BE-9193635C1DCE}" destId="{EDE554B8-2527-4CD4-A499-DBFB199A2A93}" srcOrd="0" destOrd="0" presId="urn:microsoft.com/office/officeart/2005/8/layout/vList5"/>
    <dgm:cxn modelId="{81993E73-F47E-4CCA-8429-8FCE427FF39B}" type="presParOf" srcId="{EDE554B8-2527-4CD4-A499-DBFB199A2A93}" destId="{6F2A2FFB-6963-483B-837F-625D30F95E94}" srcOrd="0" destOrd="0" presId="urn:microsoft.com/office/officeart/2005/8/layout/vList5"/>
    <dgm:cxn modelId="{3317D94D-1F75-4BF8-BC4A-71AA5D28B40C}" type="presParOf" srcId="{EDE554B8-2527-4CD4-A499-DBFB199A2A93}" destId="{02D4DE22-7B4C-4795-BD8D-93023E42AF4B}" srcOrd="1" destOrd="0" presId="urn:microsoft.com/office/officeart/2005/8/layout/vList5"/>
    <dgm:cxn modelId="{D00A9CD7-5254-4B2D-8179-7509B582E73A}" type="presParOf" srcId="{A67400F3-2ACC-42D6-B4BE-9193635C1DCE}" destId="{F29C1691-7D1E-4E50-8B44-FDD9BECEAF8B}" srcOrd="1" destOrd="0" presId="urn:microsoft.com/office/officeart/2005/8/layout/vList5"/>
    <dgm:cxn modelId="{7D87B323-492D-4F5E-B03A-E6AFC302D8B5}" type="presParOf" srcId="{A67400F3-2ACC-42D6-B4BE-9193635C1DCE}" destId="{24CAFADA-F7BA-4C03-A2E4-8EC11CAA6703}" srcOrd="2" destOrd="0" presId="urn:microsoft.com/office/officeart/2005/8/layout/vList5"/>
    <dgm:cxn modelId="{302DC4F2-A057-4EAF-B9E6-B8F9F0A67412}" type="presParOf" srcId="{24CAFADA-F7BA-4C03-A2E4-8EC11CAA6703}" destId="{CDBB2264-7D3B-4D74-9881-BC4C9C35B944}" srcOrd="0" destOrd="0" presId="urn:microsoft.com/office/officeart/2005/8/layout/vList5"/>
    <dgm:cxn modelId="{84A8C027-A836-4D15-A9B3-40D30437454D}" type="presParOf" srcId="{24CAFADA-F7BA-4C03-A2E4-8EC11CAA6703}" destId="{F64CD779-8E4C-4900-85C9-48DAA4B055B4}" srcOrd="1" destOrd="0" presId="urn:microsoft.com/office/officeart/2005/8/layout/vList5"/>
    <dgm:cxn modelId="{0945EDAB-9721-46CB-BB57-2FC891BEC927}" type="presParOf" srcId="{A67400F3-2ACC-42D6-B4BE-9193635C1DCE}" destId="{EB0A058A-AA1E-4ED1-98ED-2F6D0ACBA620}" srcOrd="3" destOrd="0" presId="urn:microsoft.com/office/officeart/2005/8/layout/vList5"/>
    <dgm:cxn modelId="{D6B96FF5-DC35-4CB7-8B5F-B41C71D99A9C}" type="presParOf" srcId="{A67400F3-2ACC-42D6-B4BE-9193635C1DCE}" destId="{FF431CC7-2290-45EC-9A08-2577165E8AE5}" srcOrd="4" destOrd="0" presId="urn:microsoft.com/office/officeart/2005/8/layout/vList5"/>
    <dgm:cxn modelId="{F1545A26-66C9-4183-9536-FBD459443143}" type="presParOf" srcId="{FF431CC7-2290-45EC-9A08-2577165E8AE5}" destId="{F3BB6155-DFA6-4080-B13D-5020EC4C3DD5}" srcOrd="0" destOrd="0" presId="urn:microsoft.com/office/officeart/2005/8/layout/vList5"/>
    <dgm:cxn modelId="{A764A83F-2A46-4153-AA13-B3AE712B3A50}" type="presParOf" srcId="{FF431CC7-2290-45EC-9A08-2577165E8AE5}" destId="{D3D8ED69-C492-4325-8358-A9830763D4D0}" srcOrd="1" destOrd="0" presId="urn:microsoft.com/office/officeart/2005/8/layout/vList5"/>
    <dgm:cxn modelId="{2CD0838D-8DE3-4AE2-9CD5-1189283C5F7D}" type="presParOf" srcId="{A67400F3-2ACC-42D6-B4BE-9193635C1DCE}" destId="{9C9A18CA-23C0-45F3-9AF2-FEAF26C51C42}" srcOrd="5" destOrd="0" presId="urn:microsoft.com/office/officeart/2005/8/layout/vList5"/>
    <dgm:cxn modelId="{2AC502BD-F7E1-4034-AF55-AC4ACF6C4573}" type="presParOf" srcId="{A67400F3-2ACC-42D6-B4BE-9193635C1DCE}" destId="{330E048B-96F1-4983-9771-9F0BBCA5DB67}" srcOrd="6" destOrd="0" presId="urn:microsoft.com/office/officeart/2005/8/layout/vList5"/>
    <dgm:cxn modelId="{AF51ED13-52BD-43C4-8179-AE0858F64F14}" type="presParOf" srcId="{330E048B-96F1-4983-9771-9F0BBCA5DB67}" destId="{C3BF885C-3BEF-4266-98A5-8E05374921CA}" srcOrd="0" destOrd="0" presId="urn:microsoft.com/office/officeart/2005/8/layout/vList5"/>
    <dgm:cxn modelId="{98661663-1CE3-4790-A726-AC2941B239F3}" type="presParOf" srcId="{330E048B-96F1-4983-9771-9F0BBCA5DB67}" destId="{95F294B2-BAED-42E2-A5B3-A38F7777ED2F}"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E6F2A92-0005-42EF-9E37-3170488ACDEC}" type="doc">
      <dgm:prSet loTypeId="urn:microsoft.com/office/officeart/2005/8/layout/chevron1" loCatId="process" qsTypeId="urn:microsoft.com/office/officeart/2005/8/quickstyle/simple1" qsCatId="simple" csTypeId="urn:microsoft.com/office/officeart/2005/8/colors/accent2_1" csCatId="accent2" phldr="1"/>
      <dgm:spPr/>
    </dgm:pt>
    <dgm:pt modelId="{7672DA85-8F55-43DF-8A0D-527C6DC9B271}">
      <dgm:prSet phldrT="[Text]"/>
      <dgm:spPr/>
      <dgm:t>
        <a:bodyPr/>
        <a:lstStyle/>
        <a:p>
          <a:r>
            <a:rPr lang="en-IN" dirty="0"/>
            <a:t>Create a </a:t>
          </a:r>
          <a:r>
            <a:rPr lang="en-IN" dirty="0" smtClean="0"/>
            <a:t>VN</a:t>
          </a:r>
          <a:endParaRPr lang="en-IN" dirty="0"/>
        </a:p>
      </dgm:t>
    </dgm:pt>
    <dgm:pt modelId="{E4598D0F-8F28-4D43-8E26-003777AC16C9}" type="parTrans" cxnId="{0262669E-379A-44F0-AD7D-0DA1F47BBA99}">
      <dgm:prSet/>
      <dgm:spPr/>
      <dgm:t>
        <a:bodyPr/>
        <a:lstStyle/>
        <a:p>
          <a:endParaRPr lang="en-IN"/>
        </a:p>
      </dgm:t>
    </dgm:pt>
    <dgm:pt modelId="{CEC6AF75-E753-4FCF-8D58-DF3ADA5B5326}" type="sibTrans" cxnId="{0262669E-379A-44F0-AD7D-0DA1F47BBA99}">
      <dgm:prSet/>
      <dgm:spPr/>
      <dgm:t>
        <a:bodyPr/>
        <a:lstStyle/>
        <a:p>
          <a:endParaRPr lang="en-IN"/>
        </a:p>
      </dgm:t>
    </dgm:pt>
    <dgm:pt modelId="{A2F7B460-E1BC-4023-8430-FB38FC0B9D47}">
      <dgm:prSet phldrT="[Text]"/>
      <dgm:spPr/>
      <dgm:t>
        <a:bodyPr/>
        <a:lstStyle/>
        <a:p>
          <a:r>
            <a:rPr lang="en-IN" dirty="0"/>
            <a:t>Create Subnet &amp; assign inside a Region</a:t>
          </a:r>
        </a:p>
      </dgm:t>
    </dgm:pt>
    <dgm:pt modelId="{834F8825-69C9-4ED0-AD07-C9294BC571E4}" type="parTrans" cxnId="{F78E2F2B-2378-42F8-8244-0993F808BD42}">
      <dgm:prSet/>
      <dgm:spPr/>
      <dgm:t>
        <a:bodyPr/>
        <a:lstStyle/>
        <a:p>
          <a:endParaRPr lang="en-IN"/>
        </a:p>
      </dgm:t>
    </dgm:pt>
    <dgm:pt modelId="{A3A3B215-9BE5-481E-AB22-1CE34DB206B2}" type="sibTrans" cxnId="{F78E2F2B-2378-42F8-8244-0993F808BD42}">
      <dgm:prSet/>
      <dgm:spPr/>
      <dgm:t>
        <a:bodyPr/>
        <a:lstStyle/>
        <a:p>
          <a:endParaRPr lang="en-IN"/>
        </a:p>
      </dgm:t>
    </dgm:pt>
    <dgm:pt modelId="{643FDFEA-0ED2-4A7B-9612-D537E12971E4}">
      <dgm:prSet phldrT="[Text]"/>
      <dgm:spPr/>
      <dgm:t>
        <a:bodyPr/>
        <a:lstStyle/>
        <a:p>
          <a:r>
            <a:rPr lang="en-IN" dirty="0"/>
            <a:t>Create </a:t>
          </a:r>
          <a:r>
            <a:rPr lang="en-IN" dirty="0" smtClean="0"/>
            <a:t>NSG/Firewall </a:t>
          </a:r>
          <a:r>
            <a:rPr lang="en-IN" dirty="0"/>
            <a:t>Rules</a:t>
          </a:r>
        </a:p>
      </dgm:t>
    </dgm:pt>
    <dgm:pt modelId="{C98DE83F-D79E-4669-8781-366B7E8E1407}" type="parTrans" cxnId="{B26CDA24-CBBA-41AD-B2E2-5B5F53E9D6D1}">
      <dgm:prSet/>
      <dgm:spPr/>
      <dgm:t>
        <a:bodyPr/>
        <a:lstStyle/>
        <a:p>
          <a:endParaRPr lang="en-IN"/>
        </a:p>
      </dgm:t>
    </dgm:pt>
    <dgm:pt modelId="{1A99513D-5175-4FB1-941C-C28BB081FA9B}" type="sibTrans" cxnId="{B26CDA24-CBBA-41AD-B2E2-5B5F53E9D6D1}">
      <dgm:prSet/>
      <dgm:spPr/>
      <dgm:t>
        <a:bodyPr/>
        <a:lstStyle/>
        <a:p>
          <a:endParaRPr lang="en-IN"/>
        </a:p>
      </dgm:t>
    </dgm:pt>
    <dgm:pt modelId="{2EE39CAD-9A4B-45EC-B02A-7C306EAB271F}">
      <dgm:prSet phldrT="[Text]"/>
      <dgm:spPr/>
      <dgm:t>
        <a:bodyPr/>
        <a:lstStyle/>
        <a:p>
          <a:r>
            <a:rPr lang="en-IN" dirty="0"/>
            <a:t>Define CIDR </a:t>
          </a:r>
        </a:p>
        <a:p>
          <a:r>
            <a:rPr lang="en-IN" dirty="0"/>
            <a:t>IP addresses</a:t>
          </a:r>
        </a:p>
      </dgm:t>
    </dgm:pt>
    <dgm:pt modelId="{822D346A-7539-4524-A308-577F2FB3E245}" type="parTrans" cxnId="{2942C536-B62C-4292-8D19-D4C779A05DFD}">
      <dgm:prSet/>
      <dgm:spPr/>
      <dgm:t>
        <a:bodyPr/>
        <a:lstStyle/>
        <a:p>
          <a:endParaRPr lang="en-IN"/>
        </a:p>
      </dgm:t>
    </dgm:pt>
    <dgm:pt modelId="{F2088D9C-0B19-427E-883B-C2E7557852F4}" type="sibTrans" cxnId="{2942C536-B62C-4292-8D19-D4C779A05DFD}">
      <dgm:prSet/>
      <dgm:spPr/>
      <dgm:t>
        <a:bodyPr/>
        <a:lstStyle/>
        <a:p>
          <a:endParaRPr lang="en-IN"/>
        </a:p>
      </dgm:t>
    </dgm:pt>
    <dgm:pt modelId="{F4FDCC9D-17D5-42D2-B71D-FC4481E81F61}" type="pres">
      <dgm:prSet presAssocID="{DE6F2A92-0005-42EF-9E37-3170488ACDEC}" presName="Name0" presStyleCnt="0">
        <dgm:presLayoutVars>
          <dgm:dir/>
          <dgm:animLvl val="lvl"/>
          <dgm:resizeHandles val="exact"/>
        </dgm:presLayoutVars>
      </dgm:prSet>
      <dgm:spPr/>
    </dgm:pt>
    <dgm:pt modelId="{D5DBEFE5-E5F3-4482-82F6-62A9A539C7B6}" type="pres">
      <dgm:prSet presAssocID="{7672DA85-8F55-43DF-8A0D-527C6DC9B271}" presName="parTxOnly" presStyleLbl="node1" presStyleIdx="0" presStyleCnt="4">
        <dgm:presLayoutVars>
          <dgm:chMax val="0"/>
          <dgm:chPref val="0"/>
          <dgm:bulletEnabled val="1"/>
        </dgm:presLayoutVars>
      </dgm:prSet>
      <dgm:spPr/>
      <dgm:t>
        <a:bodyPr/>
        <a:lstStyle/>
        <a:p>
          <a:endParaRPr lang="en-IN"/>
        </a:p>
      </dgm:t>
    </dgm:pt>
    <dgm:pt modelId="{82294943-534D-4345-9441-3F07DF64E8CB}" type="pres">
      <dgm:prSet presAssocID="{CEC6AF75-E753-4FCF-8D58-DF3ADA5B5326}" presName="parTxOnlySpace" presStyleCnt="0"/>
      <dgm:spPr/>
    </dgm:pt>
    <dgm:pt modelId="{E3F1891C-6DD4-41BF-8270-3F86D15F53BF}" type="pres">
      <dgm:prSet presAssocID="{A2F7B460-E1BC-4023-8430-FB38FC0B9D47}" presName="parTxOnly" presStyleLbl="node1" presStyleIdx="1" presStyleCnt="4">
        <dgm:presLayoutVars>
          <dgm:chMax val="0"/>
          <dgm:chPref val="0"/>
          <dgm:bulletEnabled val="1"/>
        </dgm:presLayoutVars>
      </dgm:prSet>
      <dgm:spPr/>
      <dgm:t>
        <a:bodyPr/>
        <a:lstStyle/>
        <a:p>
          <a:endParaRPr lang="en-IN"/>
        </a:p>
      </dgm:t>
    </dgm:pt>
    <dgm:pt modelId="{D10D25BF-B9A2-4941-960A-6E6894525AC3}" type="pres">
      <dgm:prSet presAssocID="{A3A3B215-9BE5-481E-AB22-1CE34DB206B2}" presName="parTxOnlySpace" presStyleCnt="0"/>
      <dgm:spPr/>
    </dgm:pt>
    <dgm:pt modelId="{333502E0-2D91-4E01-8D0E-F6DEAF6974CE}" type="pres">
      <dgm:prSet presAssocID="{2EE39CAD-9A4B-45EC-B02A-7C306EAB271F}" presName="parTxOnly" presStyleLbl="node1" presStyleIdx="2" presStyleCnt="4">
        <dgm:presLayoutVars>
          <dgm:chMax val="0"/>
          <dgm:chPref val="0"/>
          <dgm:bulletEnabled val="1"/>
        </dgm:presLayoutVars>
      </dgm:prSet>
      <dgm:spPr/>
      <dgm:t>
        <a:bodyPr/>
        <a:lstStyle/>
        <a:p>
          <a:endParaRPr lang="en-IN"/>
        </a:p>
      </dgm:t>
    </dgm:pt>
    <dgm:pt modelId="{7714E593-6ED4-4E8A-8E14-BF6D61B80329}" type="pres">
      <dgm:prSet presAssocID="{F2088D9C-0B19-427E-883B-C2E7557852F4}" presName="parTxOnlySpace" presStyleCnt="0"/>
      <dgm:spPr/>
    </dgm:pt>
    <dgm:pt modelId="{7E7339F8-CCAA-4207-BBFC-C9B346C76513}" type="pres">
      <dgm:prSet presAssocID="{643FDFEA-0ED2-4A7B-9612-D537E12971E4}" presName="parTxOnly" presStyleLbl="node1" presStyleIdx="3" presStyleCnt="4">
        <dgm:presLayoutVars>
          <dgm:chMax val="0"/>
          <dgm:chPref val="0"/>
          <dgm:bulletEnabled val="1"/>
        </dgm:presLayoutVars>
      </dgm:prSet>
      <dgm:spPr/>
      <dgm:t>
        <a:bodyPr/>
        <a:lstStyle/>
        <a:p>
          <a:endParaRPr lang="en-IN"/>
        </a:p>
      </dgm:t>
    </dgm:pt>
  </dgm:ptLst>
  <dgm:cxnLst>
    <dgm:cxn modelId="{6A257B7B-9823-424D-AFA5-62C50829CFD9}" type="presOf" srcId="{2EE39CAD-9A4B-45EC-B02A-7C306EAB271F}" destId="{333502E0-2D91-4E01-8D0E-F6DEAF6974CE}" srcOrd="0" destOrd="0" presId="urn:microsoft.com/office/officeart/2005/8/layout/chevron1"/>
    <dgm:cxn modelId="{2942C536-B62C-4292-8D19-D4C779A05DFD}" srcId="{DE6F2A92-0005-42EF-9E37-3170488ACDEC}" destId="{2EE39CAD-9A4B-45EC-B02A-7C306EAB271F}" srcOrd="2" destOrd="0" parTransId="{822D346A-7539-4524-A308-577F2FB3E245}" sibTransId="{F2088D9C-0B19-427E-883B-C2E7557852F4}"/>
    <dgm:cxn modelId="{EBABEFE3-3468-47BA-BF4C-7E86D9A6B9B4}" type="presOf" srcId="{643FDFEA-0ED2-4A7B-9612-D537E12971E4}" destId="{7E7339F8-CCAA-4207-BBFC-C9B346C76513}" srcOrd="0" destOrd="0" presId="urn:microsoft.com/office/officeart/2005/8/layout/chevron1"/>
    <dgm:cxn modelId="{F78E2F2B-2378-42F8-8244-0993F808BD42}" srcId="{DE6F2A92-0005-42EF-9E37-3170488ACDEC}" destId="{A2F7B460-E1BC-4023-8430-FB38FC0B9D47}" srcOrd="1" destOrd="0" parTransId="{834F8825-69C9-4ED0-AD07-C9294BC571E4}" sibTransId="{A3A3B215-9BE5-481E-AB22-1CE34DB206B2}"/>
    <dgm:cxn modelId="{B26CDA24-CBBA-41AD-B2E2-5B5F53E9D6D1}" srcId="{DE6F2A92-0005-42EF-9E37-3170488ACDEC}" destId="{643FDFEA-0ED2-4A7B-9612-D537E12971E4}" srcOrd="3" destOrd="0" parTransId="{C98DE83F-D79E-4669-8781-366B7E8E1407}" sibTransId="{1A99513D-5175-4FB1-941C-C28BB081FA9B}"/>
    <dgm:cxn modelId="{B165227E-EA81-40F4-881B-25F845980C8C}" type="presOf" srcId="{DE6F2A92-0005-42EF-9E37-3170488ACDEC}" destId="{F4FDCC9D-17D5-42D2-B71D-FC4481E81F61}" srcOrd="0" destOrd="0" presId="urn:microsoft.com/office/officeart/2005/8/layout/chevron1"/>
    <dgm:cxn modelId="{0262669E-379A-44F0-AD7D-0DA1F47BBA99}" srcId="{DE6F2A92-0005-42EF-9E37-3170488ACDEC}" destId="{7672DA85-8F55-43DF-8A0D-527C6DC9B271}" srcOrd="0" destOrd="0" parTransId="{E4598D0F-8F28-4D43-8E26-003777AC16C9}" sibTransId="{CEC6AF75-E753-4FCF-8D58-DF3ADA5B5326}"/>
    <dgm:cxn modelId="{6EC82B8E-44A3-49D7-92A5-A819D726D8A9}" type="presOf" srcId="{7672DA85-8F55-43DF-8A0D-527C6DC9B271}" destId="{D5DBEFE5-E5F3-4482-82F6-62A9A539C7B6}" srcOrd="0" destOrd="0" presId="urn:microsoft.com/office/officeart/2005/8/layout/chevron1"/>
    <dgm:cxn modelId="{4FB063DF-EF2C-4F43-BE2E-AE889916B99E}" type="presOf" srcId="{A2F7B460-E1BC-4023-8430-FB38FC0B9D47}" destId="{E3F1891C-6DD4-41BF-8270-3F86D15F53BF}" srcOrd="0" destOrd="0" presId="urn:microsoft.com/office/officeart/2005/8/layout/chevron1"/>
    <dgm:cxn modelId="{EB0DD8BD-9018-4118-8D86-7CCF58A284FC}" type="presParOf" srcId="{F4FDCC9D-17D5-42D2-B71D-FC4481E81F61}" destId="{D5DBEFE5-E5F3-4482-82F6-62A9A539C7B6}" srcOrd="0" destOrd="0" presId="urn:microsoft.com/office/officeart/2005/8/layout/chevron1"/>
    <dgm:cxn modelId="{B49BBA38-1781-455A-8C38-BCFCC3EBE916}" type="presParOf" srcId="{F4FDCC9D-17D5-42D2-B71D-FC4481E81F61}" destId="{82294943-534D-4345-9441-3F07DF64E8CB}" srcOrd="1" destOrd="0" presId="urn:microsoft.com/office/officeart/2005/8/layout/chevron1"/>
    <dgm:cxn modelId="{A4D3C9AE-66F9-44A5-B3D7-7CE31C2B6666}" type="presParOf" srcId="{F4FDCC9D-17D5-42D2-B71D-FC4481E81F61}" destId="{E3F1891C-6DD4-41BF-8270-3F86D15F53BF}" srcOrd="2" destOrd="0" presId="urn:microsoft.com/office/officeart/2005/8/layout/chevron1"/>
    <dgm:cxn modelId="{8704C21B-CD4C-4B58-B69B-90C04D052EAF}" type="presParOf" srcId="{F4FDCC9D-17D5-42D2-B71D-FC4481E81F61}" destId="{D10D25BF-B9A2-4941-960A-6E6894525AC3}" srcOrd="3" destOrd="0" presId="urn:microsoft.com/office/officeart/2005/8/layout/chevron1"/>
    <dgm:cxn modelId="{FBEB953F-8190-4E1A-923D-1835D3965DED}" type="presParOf" srcId="{F4FDCC9D-17D5-42D2-B71D-FC4481E81F61}" destId="{333502E0-2D91-4E01-8D0E-F6DEAF6974CE}" srcOrd="4" destOrd="0" presId="urn:microsoft.com/office/officeart/2005/8/layout/chevron1"/>
    <dgm:cxn modelId="{1B8AF7D7-0394-47C1-BCBC-46E20FAC7EC2}" type="presParOf" srcId="{F4FDCC9D-17D5-42D2-B71D-FC4481E81F61}" destId="{7714E593-6ED4-4E8A-8E14-BF6D61B80329}" srcOrd="5" destOrd="0" presId="urn:microsoft.com/office/officeart/2005/8/layout/chevron1"/>
    <dgm:cxn modelId="{C7BD46F0-DDDA-4209-8DA5-B9B3B1FD2D35}" type="presParOf" srcId="{F4FDCC9D-17D5-42D2-B71D-FC4481E81F61}" destId="{7E7339F8-CCAA-4207-BBFC-C9B346C76513}" srcOrd="6"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E6F2A92-0005-42EF-9E37-3170488ACDEC}" type="doc">
      <dgm:prSet loTypeId="urn:microsoft.com/office/officeart/2005/8/layout/chevron1" loCatId="process" qsTypeId="urn:microsoft.com/office/officeart/2005/8/quickstyle/simple1" qsCatId="simple" csTypeId="urn:microsoft.com/office/officeart/2005/8/colors/accent1_1" csCatId="accent1" phldr="1"/>
      <dgm:spPr/>
    </dgm:pt>
    <dgm:pt modelId="{7672DA85-8F55-43DF-8A0D-527C6DC9B271}">
      <dgm:prSet phldrT="[Text]"/>
      <dgm:spPr/>
      <dgm:t>
        <a:bodyPr/>
        <a:lstStyle/>
        <a:p>
          <a:r>
            <a:rPr lang="en-IN" dirty="0"/>
            <a:t>Create a </a:t>
          </a:r>
          <a:r>
            <a:rPr lang="en-IN" dirty="0" smtClean="0"/>
            <a:t>VM </a:t>
          </a:r>
          <a:r>
            <a:rPr lang="en-IN" dirty="0"/>
            <a:t>Instance</a:t>
          </a:r>
        </a:p>
      </dgm:t>
    </dgm:pt>
    <dgm:pt modelId="{E4598D0F-8F28-4D43-8E26-003777AC16C9}" type="parTrans" cxnId="{0262669E-379A-44F0-AD7D-0DA1F47BBA99}">
      <dgm:prSet/>
      <dgm:spPr/>
      <dgm:t>
        <a:bodyPr/>
        <a:lstStyle/>
        <a:p>
          <a:endParaRPr lang="en-IN"/>
        </a:p>
      </dgm:t>
    </dgm:pt>
    <dgm:pt modelId="{CEC6AF75-E753-4FCF-8D58-DF3ADA5B5326}" type="sibTrans" cxnId="{0262669E-379A-44F0-AD7D-0DA1F47BBA99}">
      <dgm:prSet/>
      <dgm:spPr/>
      <dgm:t>
        <a:bodyPr/>
        <a:lstStyle/>
        <a:p>
          <a:endParaRPr lang="en-IN"/>
        </a:p>
      </dgm:t>
    </dgm:pt>
    <dgm:pt modelId="{A2F7B460-E1BC-4023-8430-FB38FC0B9D47}">
      <dgm:prSet phldrT="[Text]"/>
      <dgm:spPr/>
      <dgm:t>
        <a:bodyPr/>
        <a:lstStyle/>
        <a:p>
          <a:r>
            <a:rPr lang="en-IN" dirty="0"/>
            <a:t>Define the Region &amp; Zone</a:t>
          </a:r>
        </a:p>
      </dgm:t>
    </dgm:pt>
    <dgm:pt modelId="{834F8825-69C9-4ED0-AD07-C9294BC571E4}" type="parTrans" cxnId="{F78E2F2B-2378-42F8-8244-0993F808BD42}">
      <dgm:prSet/>
      <dgm:spPr/>
      <dgm:t>
        <a:bodyPr/>
        <a:lstStyle/>
        <a:p>
          <a:endParaRPr lang="en-IN"/>
        </a:p>
      </dgm:t>
    </dgm:pt>
    <dgm:pt modelId="{A3A3B215-9BE5-481E-AB22-1CE34DB206B2}" type="sibTrans" cxnId="{F78E2F2B-2378-42F8-8244-0993F808BD42}">
      <dgm:prSet/>
      <dgm:spPr/>
      <dgm:t>
        <a:bodyPr/>
        <a:lstStyle/>
        <a:p>
          <a:endParaRPr lang="en-IN"/>
        </a:p>
      </dgm:t>
    </dgm:pt>
    <dgm:pt modelId="{643FDFEA-0ED2-4A7B-9612-D537E12971E4}">
      <dgm:prSet phldrT="[Text]"/>
      <dgm:spPr/>
      <dgm:t>
        <a:bodyPr/>
        <a:lstStyle/>
        <a:p>
          <a:r>
            <a:rPr lang="en-IN" dirty="0"/>
            <a:t>Identify the Machine type</a:t>
          </a:r>
        </a:p>
      </dgm:t>
    </dgm:pt>
    <dgm:pt modelId="{C98DE83F-D79E-4669-8781-366B7E8E1407}" type="parTrans" cxnId="{B26CDA24-CBBA-41AD-B2E2-5B5F53E9D6D1}">
      <dgm:prSet/>
      <dgm:spPr/>
      <dgm:t>
        <a:bodyPr/>
        <a:lstStyle/>
        <a:p>
          <a:endParaRPr lang="en-IN"/>
        </a:p>
      </dgm:t>
    </dgm:pt>
    <dgm:pt modelId="{1A99513D-5175-4FB1-941C-C28BB081FA9B}" type="sibTrans" cxnId="{B26CDA24-CBBA-41AD-B2E2-5B5F53E9D6D1}">
      <dgm:prSet/>
      <dgm:spPr/>
      <dgm:t>
        <a:bodyPr/>
        <a:lstStyle/>
        <a:p>
          <a:endParaRPr lang="en-IN"/>
        </a:p>
      </dgm:t>
    </dgm:pt>
    <dgm:pt modelId="{953368C2-DB71-4AF6-B35F-DDBB33E31F6C}">
      <dgm:prSet phldrT="[Text]"/>
      <dgm:spPr/>
      <dgm:t>
        <a:bodyPr/>
        <a:lstStyle/>
        <a:p>
          <a:r>
            <a:rPr lang="en-IN" dirty="0"/>
            <a:t>Identify the VM Provisioning Model</a:t>
          </a:r>
        </a:p>
      </dgm:t>
    </dgm:pt>
    <dgm:pt modelId="{EF8F75F5-9EF6-4437-A4EE-A2E87181C3C3}" type="parTrans" cxnId="{83AD3A40-4CE1-4389-AF6D-7ADCF0A3A81F}">
      <dgm:prSet/>
      <dgm:spPr/>
      <dgm:t>
        <a:bodyPr/>
        <a:lstStyle/>
        <a:p>
          <a:endParaRPr lang="en-IN"/>
        </a:p>
      </dgm:t>
    </dgm:pt>
    <dgm:pt modelId="{377DE1BA-BADF-46DA-94EC-73C2D5831816}" type="sibTrans" cxnId="{83AD3A40-4CE1-4389-AF6D-7ADCF0A3A81F}">
      <dgm:prSet/>
      <dgm:spPr/>
      <dgm:t>
        <a:bodyPr/>
        <a:lstStyle/>
        <a:p>
          <a:endParaRPr lang="en-IN"/>
        </a:p>
      </dgm:t>
    </dgm:pt>
    <dgm:pt modelId="{36B78C68-F392-4F57-A7D8-774997A19DF9}">
      <dgm:prSet phldrT="[Text]"/>
      <dgm:spPr/>
      <dgm:t>
        <a:bodyPr/>
        <a:lstStyle/>
        <a:p>
          <a:r>
            <a:rPr lang="en-IN" dirty="0"/>
            <a:t>Define Advanced Options</a:t>
          </a:r>
        </a:p>
      </dgm:t>
    </dgm:pt>
    <dgm:pt modelId="{0D4CF9E5-8CFD-42B4-8771-BF159DE16DCE}" type="parTrans" cxnId="{8049F37C-74D1-453B-961D-E4FDFA98777F}">
      <dgm:prSet/>
      <dgm:spPr/>
      <dgm:t>
        <a:bodyPr/>
        <a:lstStyle/>
        <a:p>
          <a:endParaRPr lang="en-IN"/>
        </a:p>
      </dgm:t>
    </dgm:pt>
    <dgm:pt modelId="{A96EC942-D306-4FCF-9493-0F4ADBAFF60E}" type="sibTrans" cxnId="{8049F37C-74D1-453B-961D-E4FDFA98777F}">
      <dgm:prSet/>
      <dgm:spPr/>
      <dgm:t>
        <a:bodyPr/>
        <a:lstStyle/>
        <a:p>
          <a:endParaRPr lang="en-IN"/>
        </a:p>
      </dgm:t>
    </dgm:pt>
    <dgm:pt modelId="{353C3B7E-48ED-412E-9015-8CF4D667FF85}">
      <dgm:prSet phldrT="[Text]"/>
      <dgm:spPr/>
      <dgm:t>
        <a:bodyPr/>
        <a:lstStyle/>
        <a:p>
          <a:r>
            <a:rPr lang="en-IN" dirty="0"/>
            <a:t>Networking – Network Interface</a:t>
          </a:r>
        </a:p>
      </dgm:t>
    </dgm:pt>
    <dgm:pt modelId="{5EDB8AD8-396E-44E7-A1CB-CAA053D06436}" type="parTrans" cxnId="{8797F4D3-C6DC-4B2B-8494-8A30A44B9698}">
      <dgm:prSet/>
      <dgm:spPr/>
      <dgm:t>
        <a:bodyPr/>
        <a:lstStyle/>
        <a:p>
          <a:endParaRPr lang="en-IN"/>
        </a:p>
      </dgm:t>
    </dgm:pt>
    <dgm:pt modelId="{074F4460-948F-4488-A845-8EC1C13DCD52}" type="sibTrans" cxnId="{8797F4D3-C6DC-4B2B-8494-8A30A44B9698}">
      <dgm:prSet/>
      <dgm:spPr/>
      <dgm:t>
        <a:bodyPr/>
        <a:lstStyle/>
        <a:p>
          <a:endParaRPr lang="en-IN"/>
        </a:p>
      </dgm:t>
    </dgm:pt>
    <dgm:pt modelId="{DACD6FED-01AC-4D33-A3E6-65A6C171CC1C}">
      <dgm:prSet phldrT="[Text]"/>
      <dgm:spPr/>
      <dgm:t>
        <a:bodyPr/>
        <a:lstStyle/>
        <a:p>
          <a:r>
            <a:rPr lang="en-IN" dirty="0"/>
            <a:t>Security– Manage Access</a:t>
          </a:r>
        </a:p>
      </dgm:t>
    </dgm:pt>
    <dgm:pt modelId="{25B66C3A-96A0-493B-B408-C2D44672F0BF}" type="parTrans" cxnId="{AD5C5857-BFBA-4ABC-9632-FCD59E8BB769}">
      <dgm:prSet/>
      <dgm:spPr/>
      <dgm:t>
        <a:bodyPr/>
        <a:lstStyle/>
        <a:p>
          <a:endParaRPr lang="en-IN"/>
        </a:p>
      </dgm:t>
    </dgm:pt>
    <dgm:pt modelId="{A83DFE65-D9F7-4DCE-A3BF-5FD2C33A8211}" type="sibTrans" cxnId="{AD5C5857-BFBA-4ABC-9632-FCD59E8BB769}">
      <dgm:prSet/>
      <dgm:spPr/>
      <dgm:t>
        <a:bodyPr/>
        <a:lstStyle/>
        <a:p>
          <a:endParaRPr lang="en-IN"/>
        </a:p>
      </dgm:t>
    </dgm:pt>
    <dgm:pt modelId="{F4FDCC9D-17D5-42D2-B71D-FC4481E81F61}" type="pres">
      <dgm:prSet presAssocID="{DE6F2A92-0005-42EF-9E37-3170488ACDEC}" presName="Name0" presStyleCnt="0">
        <dgm:presLayoutVars>
          <dgm:dir/>
          <dgm:animLvl val="lvl"/>
          <dgm:resizeHandles val="exact"/>
        </dgm:presLayoutVars>
      </dgm:prSet>
      <dgm:spPr/>
    </dgm:pt>
    <dgm:pt modelId="{D5DBEFE5-E5F3-4482-82F6-62A9A539C7B6}" type="pres">
      <dgm:prSet presAssocID="{7672DA85-8F55-43DF-8A0D-527C6DC9B271}" presName="parTxOnly" presStyleLbl="node1" presStyleIdx="0" presStyleCnt="7">
        <dgm:presLayoutVars>
          <dgm:chMax val="0"/>
          <dgm:chPref val="0"/>
          <dgm:bulletEnabled val="1"/>
        </dgm:presLayoutVars>
      </dgm:prSet>
      <dgm:spPr/>
      <dgm:t>
        <a:bodyPr/>
        <a:lstStyle/>
        <a:p>
          <a:endParaRPr lang="en-IN"/>
        </a:p>
      </dgm:t>
    </dgm:pt>
    <dgm:pt modelId="{82294943-534D-4345-9441-3F07DF64E8CB}" type="pres">
      <dgm:prSet presAssocID="{CEC6AF75-E753-4FCF-8D58-DF3ADA5B5326}" presName="parTxOnlySpace" presStyleCnt="0"/>
      <dgm:spPr/>
    </dgm:pt>
    <dgm:pt modelId="{E3F1891C-6DD4-41BF-8270-3F86D15F53BF}" type="pres">
      <dgm:prSet presAssocID="{A2F7B460-E1BC-4023-8430-FB38FC0B9D47}" presName="parTxOnly" presStyleLbl="node1" presStyleIdx="1" presStyleCnt="7">
        <dgm:presLayoutVars>
          <dgm:chMax val="0"/>
          <dgm:chPref val="0"/>
          <dgm:bulletEnabled val="1"/>
        </dgm:presLayoutVars>
      </dgm:prSet>
      <dgm:spPr/>
      <dgm:t>
        <a:bodyPr/>
        <a:lstStyle/>
        <a:p>
          <a:endParaRPr lang="en-IN"/>
        </a:p>
      </dgm:t>
    </dgm:pt>
    <dgm:pt modelId="{D10D25BF-B9A2-4941-960A-6E6894525AC3}" type="pres">
      <dgm:prSet presAssocID="{A3A3B215-9BE5-481E-AB22-1CE34DB206B2}" presName="parTxOnlySpace" presStyleCnt="0"/>
      <dgm:spPr/>
    </dgm:pt>
    <dgm:pt modelId="{7E7339F8-CCAA-4207-BBFC-C9B346C76513}" type="pres">
      <dgm:prSet presAssocID="{643FDFEA-0ED2-4A7B-9612-D537E12971E4}" presName="parTxOnly" presStyleLbl="node1" presStyleIdx="2" presStyleCnt="7">
        <dgm:presLayoutVars>
          <dgm:chMax val="0"/>
          <dgm:chPref val="0"/>
          <dgm:bulletEnabled val="1"/>
        </dgm:presLayoutVars>
      </dgm:prSet>
      <dgm:spPr/>
      <dgm:t>
        <a:bodyPr/>
        <a:lstStyle/>
        <a:p>
          <a:endParaRPr lang="en-IN"/>
        </a:p>
      </dgm:t>
    </dgm:pt>
    <dgm:pt modelId="{1382B827-DB01-46E2-8EEA-05496535D156}" type="pres">
      <dgm:prSet presAssocID="{1A99513D-5175-4FB1-941C-C28BB081FA9B}" presName="parTxOnlySpace" presStyleCnt="0"/>
      <dgm:spPr/>
    </dgm:pt>
    <dgm:pt modelId="{0BE72C96-E2A1-473F-8F15-1033E991DCDF}" type="pres">
      <dgm:prSet presAssocID="{953368C2-DB71-4AF6-B35F-DDBB33E31F6C}" presName="parTxOnly" presStyleLbl="node1" presStyleIdx="3" presStyleCnt="7">
        <dgm:presLayoutVars>
          <dgm:chMax val="0"/>
          <dgm:chPref val="0"/>
          <dgm:bulletEnabled val="1"/>
        </dgm:presLayoutVars>
      </dgm:prSet>
      <dgm:spPr/>
      <dgm:t>
        <a:bodyPr/>
        <a:lstStyle/>
        <a:p>
          <a:endParaRPr lang="en-IN"/>
        </a:p>
      </dgm:t>
    </dgm:pt>
    <dgm:pt modelId="{6FCCF5EC-8A5A-4700-B63B-297719161EAD}" type="pres">
      <dgm:prSet presAssocID="{377DE1BA-BADF-46DA-94EC-73C2D5831816}" presName="parTxOnlySpace" presStyleCnt="0"/>
      <dgm:spPr/>
    </dgm:pt>
    <dgm:pt modelId="{19F658D5-F272-4564-BB67-610EFC0407B3}" type="pres">
      <dgm:prSet presAssocID="{36B78C68-F392-4F57-A7D8-774997A19DF9}" presName="parTxOnly" presStyleLbl="node1" presStyleIdx="4" presStyleCnt="7">
        <dgm:presLayoutVars>
          <dgm:chMax val="0"/>
          <dgm:chPref val="0"/>
          <dgm:bulletEnabled val="1"/>
        </dgm:presLayoutVars>
      </dgm:prSet>
      <dgm:spPr/>
      <dgm:t>
        <a:bodyPr/>
        <a:lstStyle/>
        <a:p>
          <a:endParaRPr lang="en-IN"/>
        </a:p>
      </dgm:t>
    </dgm:pt>
    <dgm:pt modelId="{B6B08DAA-8316-4E4D-A01C-F06CA4276449}" type="pres">
      <dgm:prSet presAssocID="{A96EC942-D306-4FCF-9493-0F4ADBAFF60E}" presName="parTxOnlySpace" presStyleCnt="0"/>
      <dgm:spPr/>
    </dgm:pt>
    <dgm:pt modelId="{55A0F2E7-0813-4B56-8043-DFE2BE2D4F33}" type="pres">
      <dgm:prSet presAssocID="{353C3B7E-48ED-412E-9015-8CF4D667FF85}" presName="parTxOnly" presStyleLbl="node1" presStyleIdx="5" presStyleCnt="7">
        <dgm:presLayoutVars>
          <dgm:chMax val="0"/>
          <dgm:chPref val="0"/>
          <dgm:bulletEnabled val="1"/>
        </dgm:presLayoutVars>
      </dgm:prSet>
      <dgm:spPr/>
      <dgm:t>
        <a:bodyPr/>
        <a:lstStyle/>
        <a:p>
          <a:endParaRPr lang="en-IN"/>
        </a:p>
      </dgm:t>
    </dgm:pt>
    <dgm:pt modelId="{FBE8265E-6EF9-47A1-AC69-2BA6012F7577}" type="pres">
      <dgm:prSet presAssocID="{074F4460-948F-4488-A845-8EC1C13DCD52}" presName="parTxOnlySpace" presStyleCnt="0"/>
      <dgm:spPr/>
    </dgm:pt>
    <dgm:pt modelId="{D9C5D705-F085-4CF7-9AD5-1AFC8B6E20AC}" type="pres">
      <dgm:prSet presAssocID="{DACD6FED-01AC-4D33-A3E6-65A6C171CC1C}" presName="parTxOnly" presStyleLbl="node1" presStyleIdx="6" presStyleCnt="7">
        <dgm:presLayoutVars>
          <dgm:chMax val="0"/>
          <dgm:chPref val="0"/>
          <dgm:bulletEnabled val="1"/>
        </dgm:presLayoutVars>
      </dgm:prSet>
      <dgm:spPr/>
      <dgm:t>
        <a:bodyPr/>
        <a:lstStyle/>
        <a:p>
          <a:endParaRPr lang="en-IN"/>
        </a:p>
      </dgm:t>
    </dgm:pt>
  </dgm:ptLst>
  <dgm:cxnLst>
    <dgm:cxn modelId="{F78E2F2B-2378-42F8-8244-0993F808BD42}" srcId="{DE6F2A92-0005-42EF-9E37-3170488ACDEC}" destId="{A2F7B460-E1BC-4023-8430-FB38FC0B9D47}" srcOrd="1" destOrd="0" parTransId="{834F8825-69C9-4ED0-AD07-C9294BC571E4}" sibTransId="{A3A3B215-9BE5-481E-AB22-1CE34DB206B2}"/>
    <dgm:cxn modelId="{D2D77B5A-9F8A-4C62-BCA9-4CB2F9C8F90E}" type="presOf" srcId="{353C3B7E-48ED-412E-9015-8CF4D667FF85}" destId="{55A0F2E7-0813-4B56-8043-DFE2BE2D4F33}" srcOrd="0" destOrd="0" presId="urn:microsoft.com/office/officeart/2005/8/layout/chevron1"/>
    <dgm:cxn modelId="{AD5C5857-BFBA-4ABC-9632-FCD59E8BB769}" srcId="{DE6F2A92-0005-42EF-9E37-3170488ACDEC}" destId="{DACD6FED-01AC-4D33-A3E6-65A6C171CC1C}" srcOrd="6" destOrd="0" parTransId="{25B66C3A-96A0-493B-B408-C2D44672F0BF}" sibTransId="{A83DFE65-D9F7-4DCE-A3BF-5FD2C33A8211}"/>
    <dgm:cxn modelId="{8797F4D3-C6DC-4B2B-8494-8A30A44B9698}" srcId="{DE6F2A92-0005-42EF-9E37-3170488ACDEC}" destId="{353C3B7E-48ED-412E-9015-8CF4D667FF85}" srcOrd="5" destOrd="0" parTransId="{5EDB8AD8-396E-44E7-A1CB-CAA053D06436}" sibTransId="{074F4460-948F-4488-A845-8EC1C13DCD52}"/>
    <dgm:cxn modelId="{5E5346EE-7BC2-43CD-A93A-52386640EDCE}" type="presOf" srcId="{953368C2-DB71-4AF6-B35F-DDBB33E31F6C}" destId="{0BE72C96-E2A1-473F-8F15-1033E991DCDF}" srcOrd="0" destOrd="0" presId="urn:microsoft.com/office/officeart/2005/8/layout/chevron1"/>
    <dgm:cxn modelId="{83AD3A40-4CE1-4389-AF6D-7ADCF0A3A81F}" srcId="{DE6F2A92-0005-42EF-9E37-3170488ACDEC}" destId="{953368C2-DB71-4AF6-B35F-DDBB33E31F6C}" srcOrd="3" destOrd="0" parTransId="{EF8F75F5-9EF6-4437-A4EE-A2E87181C3C3}" sibTransId="{377DE1BA-BADF-46DA-94EC-73C2D5831816}"/>
    <dgm:cxn modelId="{8049F37C-74D1-453B-961D-E4FDFA98777F}" srcId="{DE6F2A92-0005-42EF-9E37-3170488ACDEC}" destId="{36B78C68-F392-4F57-A7D8-774997A19DF9}" srcOrd="4" destOrd="0" parTransId="{0D4CF9E5-8CFD-42B4-8771-BF159DE16DCE}" sibTransId="{A96EC942-D306-4FCF-9493-0F4ADBAFF60E}"/>
    <dgm:cxn modelId="{29764594-5354-4021-AB85-CABE97BE3871}" type="presOf" srcId="{7672DA85-8F55-43DF-8A0D-527C6DC9B271}" destId="{D5DBEFE5-E5F3-4482-82F6-62A9A539C7B6}" srcOrd="0" destOrd="0" presId="urn:microsoft.com/office/officeart/2005/8/layout/chevron1"/>
    <dgm:cxn modelId="{B26CDA24-CBBA-41AD-B2E2-5B5F53E9D6D1}" srcId="{DE6F2A92-0005-42EF-9E37-3170488ACDEC}" destId="{643FDFEA-0ED2-4A7B-9612-D537E12971E4}" srcOrd="2" destOrd="0" parTransId="{C98DE83F-D79E-4669-8781-366B7E8E1407}" sibTransId="{1A99513D-5175-4FB1-941C-C28BB081FA9B}"/>
    <dgm:cxn modelId="{B8792668-77EC-47AA-8A13-FF9EB53E96E8}" type="presOf" srcId="{643FDFEA-0ED2-4A7B-9612-D537E12971E4}" destId="{7E7339F8-CCAA-4207-BBFC-C9B346C76513}" srcOrd="0" destOrd="0" presId="urn:microsoft.com/office/officeart/2005/8/layout/chevron1"/>
    <dgm:cxn modelId="{0262669E-379A-44F0-AD7D-0DA1F47BBA99}" srcId="{DE6F2A92-0005-42EF-9E37-3170488ACDEC}" destId="{7672DA85-8F55-43DF-8A0D-527C6DC9B271}" srcOrd="0" destOrd="0" parTransId="{E4598D0F-8F28-4D43-8E26-003777AC16C9}" sibTransId="{CEC6AF75-E753-4FCF-8D58-DF3ADA5B5326}"/>
    <dgm:cxn modelId="{A378CB14-97B9-4E5E-8AE3-2184C830618D}" type="presOf" srcId="{36B78C68-F392-4F57-A7D8-774997A19DF9}" destId="{19F658D5-F272-4564-BB67-610EFC0407B3}" srcOrd="0" destOrd="0" presId="urn:microsoft.com/office/officeart/2005/8/layout/chevron1"/>
    <dgm:cxn modelId="{C576D20D-85B0-4D85-961E-68941D31010F}" type="presOf" srcId="{DE6F2A92-0005-42EF-9E37-3170488ACDEC}" destId="{F4FDCC9D-17D5-42D2-B71D-FC4481E81F61}" srcOrd="0" destOrd="0" presId="urn:microsoft.com/office/officeart/2005/8/layout/chevron1"/>
    <dgm:cxn modelId="{A632F290-BBF5-4AA9-929C-CF01003CF8C7}" type="presOf" srcId="{DACD6FED-01AC-4D33-A3E6-65A6C171CC1C}" destId="{D9C5D705-F085-4CF7-9AD5-1AFC8B6E20AC}" srcOrd="0" destOrd="0" presId="urn:microsoft.com/office/officeart/2005/8/layout/chevron1"/>
    <dgm:cxn modelId="{05466C0D-71A3-4F9E-8683-7EC4B199085F}" type="presOf" srcId="{A2F7B460-E1BC-4023-8430-FB38FC0B9D47}" destId="{E3F1891C-6DD4-41BF-8270-3F86D15F53BF}" srcOrd="0" destOrd="0" presId="urn:microsoft.com/office/officeart/2005/8/layout/chevron1"/>
    <dgm:cxn modelId="{E021335E-7F92-4BF9-B69C-F722B65386DE}" type="presParOf" srcId="{F4FDCC9D-17D5-42D2-B71D-FC4481E81F61}" destId="{D5DBEFE5-E5F3-4482-82F6-62A9A539C7B6}" srcOrd="0" destOrd="0" presId="urn:microsoft.com/office/officeart/2005/8/layout/chevron1"/>
    <dgm:cxn modelId="{B03E7AD8-7CCB-49FC-89FA-0548E5BACB66}" type="presParOf" srcId="{F4FDCC9D-17D5-42D2-B71D-FC4481E81F61}" destId="{82294943-534D-4345-9441-3F07DF64E8CB}" srcOrd="1" destOrd="0" presId="urn:microsoft.com/office/officeart/2005/8/layout/chevron1"/>
    <dgm:cxn modelId="{19495D7B-7C1E-455C-9136-67451FCBA04E}" type="presParOf" srcId="{F4FDCC9D-17D5-42D2-B71D-FC4481E81F61}" destId="{E3F1891C-6DD4-41BF-8270-3F86D15F53BF}" srcOrd="2" destOrd="0" presId="urn:microsoft.com/office/officeart/2005/8/layout/chevron1"/>
    <dgm:cxn modelId="{F34BDCDE-88B9-4D78-8FCB-7BDF81A74B63}" type="presParOf" srcId="{F4FDCC9D-17D5-42D2-B71D-FC4481E81F61}" destId="{D10D25BF-B9A2-4941-960A-6E6894525AC3}" srcOrd="3" destOrd="0" presId="urn:microsoft.com/office/officeart/2005/8/layout/chevron1"/>
    <dgm:cxn modelId="{9291194D-D47B-4650-9343-E977F76B3887}" type="presParOf" srcId="{F4FDCC9D-17D5-42D2-B71D-FC4481E81F61}" destId="{7E7339F8-CCAA-4207-BBFC-C9B346C76513}" srcOrd="4" destOrd="0" presId="urn:microsoft.com/office/officeart/2005/8/layout/chevron1"/>
    <dgm:cxn modelId="{005C1BD6-FC50-4CA9-8A3C-F2349657BF84}" type="presParOf" srcId="{F4FDCC9D-17D5-42D2-B71D-FC4481E81F61}" destId="{1382B827-DB01-46E2-8EEA-05496535D156}" srcOrd="5" destOrd="0" presId="urn:microsoft.com/office/officeart/2005/8/layout/chevron1"/>
    <dgm:cxn modelId="{1E49B175-A004-4D01-8685-C8DE43E6B2AA}" type="presParOf" srcId="{F4FDCC9D-17D5-42D2-B71D-FC4481E81F61}" destId="{0BE72C96-E2A1-473F-8F15-1033E991DCDF}" srcOrd="6" destOrd="0" presId="urn:microsoft.com/office/officeart/2005/8/layout/chevron1"/>
    <dgm:cxn modelId="{2DDE4FE3-1B17-4C6B-AD90-894803403465}" type="presParOf" srcId="{F4FDCC9D-17D5-42D2-B71D-FC4481E81F61}" destId="{6FCCF5EC-8A5A-4700-B63B-297719161EAD}" srcOrd="7" destOrd="0" presId="urn:microsoft.com/office/officeart/2005/8/layout/chevron1"/>
    <dgm:cxn modelId="{9434F628-092A-45C7-8A1B-46E9EA4EF326}" type="presParOf" srcId="{F4FDCC9D-17D5-42D2-B71D-FC4481E81F61}" destId="{19F658D5-F272-4564-BB67-610EFC0407B3}" srcOrd="8" destOrd="0" presId="urn:microsoft.com/office/officeart/2005/8/layout/chevron1"/>
    <dgm:cxn modelId="{6071EB99-7F10-4EF7-81ED-00BA962886B5}" type="presParOf" srcId="{F4FDCC9D-17D5-42D2-B71D-FC4481E81F61}" destId="{B6B08DAA-8316-4E4D-A01C-F06CA4276449}" srcOrd="9" destOrd="0" presId="urn:microsoft.com/office/officeart/2005/8/layout/chevron1"/>
    <dgm:cxn modelId="{9FF3B565-D95D-4DF8-825F-2D22288EC94C}" type="presParOf" srcId="{F4FDCC9D-17D5-42D2-B71D-FC4481E81F61}" destId="{55A0F2E7-0813-4B56-8043-DFE2BE2D4F33}" srcOrd="10" destOrd="0" presId="urn:microsoft.com/office/officeart/2005/8/layout/chevron1"/>
    <dgm:cxn modelId="{17857850-077F-47DE-B766-321D62324415}" type="presParOf" srcId="{F4FDCC9D-17D5-42D2-B71D-FC4481E81F61}" destId="{FBE8265E-6EF9-47A1-AC69-2BA6012F7577}" srcOrd="11" destOrd="0" presId="urn:microsoft.com/office/officeart/2005/8/layout/chevron1"/>
    <dgm:cxn modelId="{B7E6BA59-BF71-4278-9F05-219CC81341BD}" type="presParOf" srcId="{F4FDCC9D-17D5-42D2-B71D-FC4481E81F61}" destId="{D9C5D705-F085-4CF7-9AD5-1AFC8B6E20AC}" srcOrd="12" destOrd="0" presId="urn:microsoft.com/office/officeart/2005/8/layout/chevron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2FDF3-DCB4-4AD3-90C8-1939ECF08559}">
      <dsp:nvSpPr>
        <dsp:cNvPr id="0" name=""/>
        <dsp:cNvSpPr/>
      </dsp:nvSpPr>
      <dsp:spPr>
        <a:xfrm>
          <a:off x="1406" y="0"/>
          <a:ext cx="2742814" cy="634003"/>
        </a:xfrm>
        <a:prstGeom prst="homePlate">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lvl="0" algn="ctr" defTabSz="711200">
            <a:lnSpc>
              <a:spcPct val="90000"/>
            </a:lnSpc>
            <a:spcBef>
              <a:spcPct val="0"/>
            </a:spcBef>
            <a:spcAft>
              <a:spcPct val="35000"/>
            </a:spcAft>
          </a:pPr>
          <a:r>
            <a:rPr lang="en-US" sz="1600" b="1" kern="1200" dirty="0" err="1" smtClean="0">
              <a:solidFill>
                <a:srgbClr val="FF0000"/>
              </a:solidFill>
            </a:rPr>
            <a:t>Datalake</a:t>
          </a:r>
          <a:endParaRPr lang="en-US" sz="1600" b="1" kern="1200" dirty="0" smtClean="0">
            <a:solidFill>
              <a:srgbClr val="FF0000"/>
            </a:solidFill>
          </a:endParaRPr>
        </a:p>
        <a:p>
          <a:pPr lvl="0" algn="ctr" defTabSz="711200">
            <a:lnSpc>
              <a:spcPct val="90000"/>
            </a:lnSpc>
            <a:spcBef>
              <a:spcPct val="0"/>
            </a:spcBef>
            <a:spcAft>
              <a:spcPct val="35000"/>
            </a:spcAft>
          </a:pPr>
          <a:r>
            <a:rPr lang="en-IN" sz="1600" kern="1200" dirty="0" smtClean="0"/>
            <a:t>ADLS/BLOB</a:t>
          </a:r>
          <a:endParaRPr lang="en-IN" sz="1600" kern="1200" dirty="0"/>
        </a:p>
      </dsp:txBody>
      <dsp:txXfrm>
        <a:off x="1406" y="0"/>
        <a:ext cx="2584313" cy="634003"/>
      </dsp:txXfrm>
    </dsp:sp>
    <dsp:sp modelId="{4F6565C1-D37B-4578-8706-113D96F977CD}">
      <dsp:nvSpPr>
        <dsp:cNvPr id="0" name=""/>
        <dsp:cNvSpPr/>
      </dsp:nvSpPr>
      <dsp:spPr>
        <a:xfrm>
          <a:off x="2195658" y="0"/>
          <a:ext cx="2742814" cy="634003"/>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b="1" kern="1200" dirty="0" smtClean="0">
              <a:solidFill>
                <a:srgbClr val="FF0000"/>
              </a:solidFill>
            </a:rPr>
            <a:t>Databricks</a:t>
          </a:r>
          <a:endParaRPr lang="en-IN" sz="1600" kern="1200" dirty="0"/>
        </a:p>
      </dsp:txBody>
      <dsp:txXfrm>
        <a:off x="2512660" y="0"/>
        <a:ext cx="2108811" cy="634003"/>
      </dsp:txXfrm>
    </dsp:sp>
    <dsp:sp modelId="{AA1AD8AB-7962-40A4-97A1-4C6652BD8081}">
      <dsp:nvSpPr>
        <dsp:cNvPr id="0" name=""/>
        <dsp:cNvSpPr/>
      </dsp:nvSpPr>
      <dsp:spPr>
        <a:xfrm>
          <a:off x="4389910" y="0"/>
          <a:ext cx="2742814" cy="634003"/>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b="1" kern="1200" dirty="0" smtClean="0"/>
            <a:t>Data Factory</a:t>
          </a:r>
          <a:endParaRPr lang="en-US" sz="1600" b="1" kern="1200" dirty="0"/>
        </a:p>
      </dsp:txBody>
      <dsp:txXfrm>
        <a:off x="4706912" y="0"/>
        <a:ext cx="2108811" cy="634003"/>
      </dsp:txXfrm>
    </dsp:sp>
    <dsp:sp modelId="{0253A958-95F4-4824-A139-52603D240F83}">
      <dsp:nvSpPr>
        <dsp:cNvPr id="0" name=""/>
        <dsp:cNvSpPr/>
      </dsp:nvSpPr>
      <dsp:spPr>
        <a:xfrm>
          <a:off x="6584161" y="0"/>
          <a:ext cx="2742814" cy="634003"/>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b="1" kern="1200" dirty="0" smtClean="0"/>
            <a:t>Azure Synapse</a:t>
          </a:r>
          <a:endParaRPr lang="en-US" sz="1600" b="1" kern="1200" dirty="0"/>
        </a:p>
      </dsp:txBody>
      <dsp:txXfrm>
        <a:off x="6901163" y="0"/>
        <a:ext cx="2108811" cy="634003"/>
      </dsp:txXfrm>
    </dsp:sp>
    <dsp:sp modelId="{009DA479-0750-4E31-B911-4A762B6F1C55}">
      <dsp:nvSpPr>
        <dsp:cNvPr id="0" name=""/>
        <dsp:cNvSpPr/>
      </dsp:nvSpPr>
      <dsp:spPr>
        <a:xfrm>
          <a:off x="8778413" y="0"/>
          <a:ext cx="2742814" cy="634003"/>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b="1" kern="1200" dirty="0"/>
            <a:t>Power </a:t>
          </a:r>
          <a:r>
            <a:rPr lang="en-US" sz="1600" b="1" kern="1200" dirty="0" smtClean="0"/>
            <a:t>BI</a:t>
          </a:r>
          <a:endParaRPr lang="en-US" sz="1600" b="1" kern="1200" dirty="0"/>
        </a:p>
      </dsp:txBody>
      <dsp:txXfrm>
        <a:off x="9095415" y="0"/>
        <a:ext cx="2108811" cy="6340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2FDF3-DCB4-4AD3-90C8-1939ECF08559}">
      <dsp:nvSpPr>
        <dsp:cNvPr id="0" name=""/>
        <dsp:cNvSpPr/>
      </dsp:nvSpPr>
      <dsp:spPr>
        <a:xfrm>
          <a:off x="700" y="0"/>
          <a:ext cx="3165773" cy="599986"/>
        </a:xfrm>
        <a:prstGeom prst="homePlate">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676" tIns="37338" rIns="18669" bIns="37338" numCol="1" spcCol="1270" anchor="ctr" anchorCtr="0">
          <a:noAutofit/>
        </a:bodyPr>
        <a:lstStyle/>
        <a:p>
          <a:pPr lvl="0" algn="ctr" defTabSz="622300">
            <a:lnSpc>
              <a:spcPct val="90000"/>
            </a:lnSpc>
            <a:spcBef>
              <a:spcPct val="0"/>
            </a:spcBef>
            <a:spcAft>
              <a:spcPct val="35000"/>
            </a:spcAft>
          </a:pPr>
          <a:r>
            <a:rPr lang="en-US" sz="1400" b="1" kern="1200" dirty="0" smtClean="0">
              <a:solidFill>
                <a:srgbClr val="00B050"/>
              </a:solidFill>
            </a:rPr>
            <a:t>Access Pattern  &amp; Connectivity</a:t>
          </a:r>
          <a:endParaRPr lang="en-US" sz="1400" b="1" kern="1200" dirty="0">
            <a:solidFill>
              <a:srgbClr val="00B050"/>
            </a:solidFill>
          </a:endParaRPr>
        </a:p>
        <a:p>
          <a:pPr lvl="0" algn="ctr" defTabSz="622300">
            <a:lnSpc>
              <a:spcPct val="90000"/>
            </a:lnSpc>
            <a:spcBef>
              <a:spcPct val="0"/>
            </a:spcBef>
            <a:spcAft>
              <a:spcPct val="35000"/>
            </a:spcAft>
          </a:pPr>
          <a:r>
            <a:rPr lang="en-US" sz="1400" b="1" kern="1200" dirty="0" smtClean="0">
              <a:solidFill>
                <a:srgbClr val="00B050"/>
              </a:solidFill>
            </a:rPr>
            <a:t>Hierarchy &amp; CLI/UI</a:t>
          </a:r>
          <a:endParaRPr lang="en-IN" sz="1400" kern="1200" dirty="0">
            <a:solidFill>
              <a:srgbClr val="00B050"/>
            </a:solidFill>
          </a:endParaRPr>
        </a:p>
      </dsp:txBody>
      <dsp:txXfrm>
        <a:off x="700" y="0"/>
        <a:ext cx="3015777" cy="599986"/>
      </dsp:txXfrm>
    </dsp:sp>
    <dsp:sp modelId="{4F6565C1-D37B-4578-8706-113D96F977CD}">
      <dsp:nvSpPr>
        <dsp:cNvPr id="0" name=""/>
        <dsp:cNvSpPr/>
      </dsp:nvSpPr>
      <dsp:spPr>
        <a:xfrm>
          <a:off x="2625722" y="0"/>
          <a:ext cx="2703755" cy="599986"/>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lvl="0" algn="ctr" defTabSz="622300">
            <a:lnSpc>
              <a:spcPct val="90000"/>
            </a:lnSpc>
            <a:spcBef>
              <a:spcPct val="0"/>
            </a:spcBef>
            <a:spcAft>
              <a:spcPct val="35000"/>
            </a:spcAft>
          </a:pPr>
          <a:r>
            <a:rPr lang="en-US" sz="1400" b="1" kern="1200" dirty="0" smtClean="0">
              <a:solidFill>
                <a:srgbClr val="00B050"/>
              </a:solidFill>
            </a:rPr>
            <a:t>Security</a:t>
          </a:r>
        </a:p>
        <a:p>
          <a:pPr lvl="0" algn="ctr" defTabSz="622300">
            <a:lnSpc>
              <a:spcPct val="90000"/>
            </a:lnSpc>
            <a:spcBef>
              <a:spcPct val="0"/>
            </a:spcBef>
            <a:spcAft>
              <a:spcPct val="35000"/>
            </a:spcAft>
          </a:pPr>
          <a:r>
            <a:rPr lang="en-US" sz="1400" b="1" kern="1200" dirty="0" smtClean="0">
              <a:solidFill>
                <a:srgbClr val="00B050"/>
              </a:solidFill>
            </a:rPr>
            <a:t>IAM &amp; RBAC</a:t>
          </a:r>
          <a:endParaRPr lang="en-US" sz="1400" b="1" kern="1200" dirty="0">
            <a:solidFill>
              <a:srgbClr val="00B050"/>
            </a:solidFill>
          </a:endParaRPr>
        </a:p>
      </dsp:txBody>
      <dsp:txXfrm>
        <a:off x="2925715" y="0"/>
        <a:ext cx="2103769" cy="599986"/>
      </dsp:txXfrm>
    </dsp:sp>
    <dsp:sp modelId="{AA1AD8AB-7962-40A4-97A1-4C6652BD8081}">
      <dsp:nvSpPr>
        <dsp:cNvPr id="0" name=""/>
        <dsp:cNvSpPr/>
      </dsp:nvSpPr>
      <dsp:spPr>
        <a:xfrm>
          <a:off x="4788726" y="0"/>
          <a:ext cx="2703755" cy="599986"/>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lvl="0" algn="ctr" defTabSz="622300">
            <a:lnSpc>
              <a:spcPct val="90000"/>
            </a:lnSpc>
            <a:spcBef>
              <a:spcPct val="0"/>
            </a:spcBef>
            <a:spcAft>
              <a:spcPct val="35000"/>
            </a:spcAft>
          </a:pPr>
          <a:r>
            <a:rPr lang="en-US" sz="1400" b="1" kern="1200" dirty="0" smtClean="0">
              <a:solidFill>
                <a:srgbClr val="00B050"/>
              </a:solidFill>
            </a:rPr>
            <a:t>Storage</a:t>
          </a:r>
          <a:endParaRPr lang="en-US" sz="1400" b="1" kern="1200" dirty="0">
            <a:solidFill>
              <a:srgbClr val="00B050"/>
            </a:solidFill>
          </a:endParaRPr>
        </a:p>
      </dsp:txBody>
      <dsp:txXfrm>
        <a:off x="5088719" y="0"/>
        <a:ext cx="2103769" cy="599986"/>
      </dsp:txXfrm>
    </dsp:sp>
    <dsp:sp modelId="{0253A958-95F4-4824-A139-52603D240F83}">
      <dsp:nvSpPr>
        <dsp:cNvPr id="0" name=""/>
        <dsp:cNvSpPr/>
      </dsp:nvSpPr>
      <dsp:spPr>
        <a:xfrm>
          <a:off x="6951730" y="0"/>
          <a:ext cx="2703755" cy="599986"/>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lvl="0" algn="ctr" defTabSz="622300">
            <a:lnSpc>
              <a:spcPct val="90000"/>
            </a:lnSpc>
            <a:spcBef>
              <a:spcPct val="0"/>
            </a:spcBef>
            <a:spcAft>
              <a:spcPct val="35000"/>
            </a:spcAft>
          </a:pPr>
          <a:r>
            <a:rPr lang="en-US" sz="1400" b="1" kern="1200" dirty="0" smtClean="0">
              <a:solidFill>
                <a:srgbClr val="00B050"/>
              </a:solidFill>
            </a:rPr>
            <a:t>Compute</a:t>
          </a:r>
          <a:endParaRPr lang="en-US" sz="1400" b="1" kern="1200" dirty="0">
            <a:solidFill>
              <a:srgbClr val="00B050"/>
            </a:solidFill>
          </a:endParaRPr>
        </a:p>
      </dsp:txBody>
      <dsp:txXfrm>
        <a:off x="7251723" y="0"/>
        <a:ext cx="2103769" cy="599986"/>
      </dsp:txXfrm>
    </dsp:sp>
    <dsp:sp modelId="{009DA479-0750-4E31-B911-4A762B6F1C55}">
      <dsp:nvSpPr>
        <dsp:cNvPr id="0" name=""/>
        <dsp:cNvSpPr/>
      </dsp:nvSpPr>
      <dsp:spPr>
        <a:xfrm>
          <a:off x="9114735" y="0"/>
          <a:ext cx="2703755" cy="599986"/>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lvl="0" algn="ctr" defTabSz="622300">
            <a:lnSpc>
              <a:spcPct val="90000"/>
            </a:lnSpc>
            <a:spcBef>
              <a:spcPct val="0"/>
            </a:spcBef>
            <a:spcAft>
              <a:spcPct val="35000"/>
            </a:spcAft>
          </a:pPr>
          <a:r>
            <a:rPr lang="en-US" sz="1400" b="1" kern="1200" dirty="0" smtClean="0">
              <a:solidFill>
                <a:srgbClr val="00B050"/>
              </a:solidFill>
            </a:rPr>
            <a:t>Network</a:t>
          </a:r>
          <a:endParaRPr lang="en-US" sz="1400" b="1" kern="1200" dirty="0">
            <a:solidFill>
              <a:srgbClr val="00B050"/>
            </a:solidFill>
          </a:endParaRPr>
        </a:p>
      </dsp:txBody>
      <dsp:txXfrm>
        <a:off x="9414728" y="0"/>
        <a:ext cx="2103769" cy="5999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2FDF3-DCB4-4AD3-90C8-1939ECF08559}">
      <dsp:nvSpPr>
        <dsp:cNvPr id="0" name=""/>
        <dsp:cNvSpPr/>
      </dsp:nvSpPr>
      <dsp:spPr>
        <a:xfrm>
          <a:off x="1406" y="0"/>
          <a:ext cx="2742814" cy="634003"/>
        </a:xfrm>
        <a:prstGeom prst="homePlate">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lvl="0" algn="ctr" defTabSz="889000">
            <a:lnSpc>
              <a:spcPct val="90000"/>
            </a:lnSpc>
            <a:spcBef>
              <a:spcPct val="0"/>
            </a:spcBef>
            <a:spcAft>
              <a:spcPct val="35000"/>
            </a:spcAft>
          </a:pPr>
          <a:r>
            <a:rPr lang="en-US" sz="2000" b="1" kern="1200" dirty="0" err="1" smtClean="0">
              <a:solidFill>
                <a:srgbClr val="FF0000"/>
              </a:solidFill>
            </a:rPr>
            <a:t>EventHub</a:t>
          </a:r>
          <a:endParaRPr lang="en-IN" sz="2000" kern="1200" dirty="0"/>
        </a:p>
      </dsp:txBody>
      <dsp:txXfrm>
        <a:off x="1406" y="0"/>
        <a:ext cx="2584313" cy="634003"/>
      </dsp:txXfrm>
    </dsp:sp>
    <dsp:sp modelId="{4F6565C1-D37B-4578-8706-113D96F977CD}">
      <dsp:nvSpPr>
        <dsp:cNvPr id="0" name=""/>
        <dsp:cNvSpPr/>
      </dsp:nvSpPr>
      <dsp:spPr>
        <a:xfrm>
          <a:off x="2195658" y="0"/>
          <a:ext cx="2742814" cy="634003"/>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lvl="0" algn="ctr" defTabSz="889000">
            <a:lnSpc>
              <a:spcPct val="90000"/>
            </a:lnSpc>
            <a:spcBef>
              <a:spcPct val="0"/>
            </a:spcBef>
            <a:spcAft>
              <a:spcPct val="35000"/>
            </a:spcAft>
          </a:pPr>
          <a:r>
            <a:rPr lang="en-US" sz="2000" b="1" kern="1200" dirty="0" smtClean="0">
              <a:solidFill>
                <a:srgbClr val="FF0000"/>
              </a:solidFill>
            </a:rPr>
            <a:t>Function App</a:t>
          </a:r>
          <a:endParaRPr lang="en-IN" sz="2000" kern="1200" dirty="0"/>
        </a:p>
      </dsp:txBody>
      <dsp:txXfrm>
        <a:off x="2512660" y="0"/>
        <a:ext cx="2108811" cy="634003"/>
      </dsp:txXfrm>
    </dsp:sp>
    <dsp:sp modelId="{AA1AD8AB-7962-40A4-97A1-4C6652BD8081}">
      <dsp:nvSpPr>
        <dsp:cNvPr id="0" name=""/>
        <dsp:cNvSpPr/>
      </dsp:nvSpPr>
      <dsp:spPr>
        <a:xfrm>
          <a:off x="4389910" y="0"/>
          <a:ext cx="2742814" cy="634003"/>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lvl="0" algn="ctr" defTabSz="889000">
            <a:lnSpc>
              <a:spcPct val="90000"/>
            </a:lnSpc>
            <a:spcBef>
              <a:spcPct val="0"/>
            </a:spcBef>
            <a:spcAft>
              <a:spcPct val="35000"/>
            </a:spcAft>
          </a:pPr>
          <a:r>
            <a:rPr lang="en-US" sz="2000" b="1" kern="1200" dirty="0" smtClean="0"/>
            <a:t>Stream Analytics</a:t>
          </a:r>
          <a:endParaRPr lang="en-US" sz="2000" b="1" kern="1200" dirty="0"/>
        </a:p>
      </dsp:txBody>
      <dsp:txXfrm>
        <a:off x="4706912" y="0"/>
        <a:ext cx="2108811" cy="634003"/>
      </dsp:txXfrm>
    </dsp:sp>
    <dsp:sp modelId="{0253A958-95F4-4824-A139-52603D240F83}">
      <dsp:nvSpPr>
        <dsp:cNvPr id="0" name=""/>
        <dsp:cNvSpPr/>
      </dsp:nvSpPr>
      <dsp:spPr>
        <a:xfrm>
          <a:off x="6584161" y="0"/>
          <a:ext cx="2742814" cy="634003"/>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lvl="0" algn="ctr" defTabSz="889000">
            <a:lnSpc>
              <a:spcPct val="90000"/>
            </a:lnSpc>
            <a:spcBef>
              <a:spcPct val="0"/>
            </a:spcBef>
            <a:spcAft>
              <a:spcPct val="35000"/>
            </a:spcAft>
          </a:pPr>
          <a:r>
            <a:rPr lang="en-US" sz="2000" b="1" kern="1200" dirty="0" smtClean="0"/>
            <a:t>Purview</a:t>
          </a:r>
          <a:endParaRPr lang="en-US" sz="2000" b="1" kern="1200" dirty="0"/>
        </a:p>
      </dsp:txBody>
      <dsp:txXfrm>
        <a:off x="6901163" y="0"/>
        <a:ext cx="2108811" cy="634003"/>
      </dsp:txXfrm>
    </dsp:sp>
    <dsp:sp modelId="{009DA479-0750-4E31-B911-4A762B6F1C55}">
      <dsp:nvSpPr>
        <dsp:cNvPr id="0" name=""/>
        <dsp:cNvSpPr/>
      </dsp:nvSpPr>
      <dsp:spPr>
        <a:xfrm>
          <a:off x="8778413" y="0"/>
          <a:ext cx="2742814" cy="634003"/>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lvl="0" algn="ctr" defTabSz="889000">
            <a:lnSpc>
              <a:spcPct val="90000"/>
            </a:lnSpc>
            <a:spcBef>
              <a:spcPct val="0"/>
            </a:spcBef>
            <a:spcAft>
              <a:spcPct val="35000"/>
            </a:spcAft>
          </a:pPr>
          <a:r>
            <a:rPr lang="en-US" sz="2000" b="1" kern="1200" dirty="0" err="1" smtClean="0"/>
            <a:t>OpenAI</a:t>
          </a:r>
          <a:r>
            <a:rPr lang="en-US" sz="2000" b="1" kern="1200" dirty="0" smtClean="0"/>
            <a:t> &amp; Foundry</a:t>
          </a:r>
          <a:endParaRPr lang="en-US" sz="2000" b="1" kern="1200" dirty="0"/>
        </a:p>
      </dsp:txBody>
      <dsp:txXfrm>
        <a:off x="9095415" y="0"/>
        <a:ext cx="2108811" cy="6340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D4DE22-7B4C-4795-BD8D-93023E42AF4B}">
      <dsp:nvSpPr>
        <dsp:cNvPr id="0" name=""/>
        <dsp:cNvSpPr/>
      </dsp:nvSpPr>
      <dsp:spPr>
        <a:xfrm rot="5400000">
          <a:off x="6853384" y="-2815745"/>
          <a:ext cx="1043516" cy="6941311"/>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IN" sz="1500" kern="1200" dirty="0"/>
            <a:t>What is a Container? </a:t>
          </a:r>
        </a:p>
        <a:p>
          <a:pPr marL="114300" lvl="1" indent="-114300" algn="l" defTabSz="666750">
            <a:lnSpc>
              <a:spcPct val="90000"/>
            </a:lnSpc>
            <a:spcBef>
              <a:spcPct val="0"/>
            </a:spcBef>
            <a:spcAft>
              <a:spcPct val="15000"/>
            </a:spcAft>
            <a:buChar char="••"/>
          </a:pPr>
          <a:r>
            <a:rPr lang="en-IN" sz="1500" kern="1200" dirty="0"/>
            <a:t>Create a Container with proper naming convention </a:t>
          </a:r>
          <a:r>
            <a:rPr lang="en-IN" sz="1500" kern="1200" dirty="0" err="1"/>
            <a:t>eg</a:t>
          </a:r>
          <a:r>
            <a:rPr lang="en-IN" sz="1500" kern="1200" dirty="0"/>
            <a:t>. </a:t>
          </a:r>
          <a:r>
            <a:rPr lang="en-IN" sz="1500" kern="1200" dirty="0" err="1"/>
            <a:t>inceptez</a:t>
          </a:r>
          <a:r>
            <a:rPr lang="en-IN" sz="1500" kern="1200" dirty="0"/>
            <a:t>-core-learnings - </a:t>
          </a:r>
          <a:r>
            <a:rPr lang="en-IN" sz="1500" b="1" kern="1200" dirty="0"/>
            <a:t>Yes</a:t>
          </a:r>
        </a:p>
        <a:p>
          <a:pPr marL="114300" lvl="1" indent="-114300" algn="l" defTabSz="666750">
            <a:lnSpc>
              <a:spcPct val="90000"/>
            </a:lnSpc>
            <a:spcBef>
              <a:spcPct val="0"/>
            </a:spcBef>
            <a:spcAft>
              <a:spcPct val="15000"/>
            </a:spcAft>
            <a:buChar char="••"/>
          </a:pPr>
          <a:r>
            <a:rPr lang="en-IN" sz="1500" kern="1200" dirty="0" err="1"/>
            <a:t>Az</a:t>
          </a:r>
          <a:r>
            <a:rPr lang="en-IN" sz="1500" kern="1200" dirty="0"/>
            <a:t> commands – create container</a:t>
          </a:r>
          <a:endParaRPr lang="en-IN" sz="1500" b="1" kern="1200" dirty="0"/>
        </a:p>
      </dsp:txBody>
      <dsp:txXfrm rot="-5400000">
        <a:off x="3904487" y="184092"/>
        <a:ext cx="6890371" cy="941636"/>
      </dsp:txXfrm>
    </dsp:sp>
    <dsp:sp modelId="{6F2A2FFB-6963-483B-837F-625D30F95E94}">
      <dsp:nvSpPr>
        <dsp:cNvPr id="0" name=""/>
        <dsp:cNvSpPr/>
      </dsp:nvSpPr>
      <dsp:spPr>
        <a:xfrm>
          <a:off x="0" y="2711"/>
          <a:ext cx="3904487" cy="130439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lvl="0" algn="ctr" defTabSz="1644650">
            <a:lnSpc>
              <a:spcPct val="90000"/>
            </a:lnSpc>
            <a:spcBef>
              <a:spcPct val="0"/>
            </a:spcBef>
            <a:spcAft>
              <a:spcPct val="35000"/>
            </a:spcAft>
          </a:pPr>
          <a:r>
            <a:rPr lang="en-IN" sz="3700" kern="1200" dirty="0"/>
            <a:t>Container</a:t>
          </a:r>
        </a:p>
      </dsp:txBody>
      <dsp:txXfrm>
        <a:off x="63675" y="66386"/>
        <a:ext cx="3777137" cy="1177045"/>
      </dsp:txXfrm>
    </dsp:sp>
    <dsp:sp modelId="{F64CD779-8E4C-4900-85C9-48DAA4B055B4}">
      <dsp:nvSpPr>
        <dsp:cNvPr id="0" name=""/>
        <dsp:cNvSpPr/>
      </dsp:nvSpPr>
      <dsp:spPr>
        <a:xfrm rot="5400000">
          <a:off x="6853384" y="-1446130"/>
          <a:ext cx="1043516" cy="6941311"/>
        </a:xfrm>
        <a:prstGeom prst="round2SameRect">
          <a:avLst/>
        </a:prstGeom>
        <a:solidFill>
          <a:schemeClr val="accent3">
            <a:tint val="40000"/>
            <a:alpha val="90000"/>
            <a:hueOff val="676380"/>
            <a:satOff val="33333"/>
            <a:lumOff val="593"/>
            <a:alphaOff val="0"/>
          </a:schemeClr>
        </a:solidFill>
        <a:ln w="12700" cap="flat" cmpd="sng" algn="ctr">
          <a:solidFill>
            <a:schemeClr val="accent3">
              <a:tint val="40000"/>
              <a:alpha val="90000"/>
              <a:hueOff val="676380"/>
              <a:satOff val="33333"/>
              <a:lumOff val="59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IN" sz="1500" kern="1200" dirty="0"/>
            <a:t>What is an Object/File? Data transferring or online transferring into the bucket/folder</a:t>
          </a:r>
        </a:p>
        <a:p>
          <a:pPr marL="114300" lvl="1" indent="-114300" algn="l" defTabSz="666750">
            <a:lnSpc>
              <a:spcPct val="90000"/>
            </a:lnSpc>
            <a:spcBef>
              <a:spcPct val="0"/>
            </a:spcBef>
            <a:spcAft>
              <a:spcPct val="15000"/>
            </a:spcAft>
            <a:buChar char="••"/>
          </a:pPr>
          <a:r>
            <a:rPr lang="en-IN" sz="1500" kern="1200" dirty="0" err="1"/>
            <a:t>Cli</a:t>
          </a:r>
          <a:r>
            <a:rPr lang="en-IN" sz="1500" kern="1200" dirty="0"/>
            <a:t> commands</a:t>
          </a:r>
        </a:p>
      </dsp:txBody>
      <dsp:txXfrm rot="-5400000">
        <a:off x="3904487" y="1553707"/>
        <a:ext cx="6890371" cy="941636"/>
      </dsp:txXfrm>
    </dsp:sp>
    <dsp:sp modelId="{CDBB2264-7D3B-4D74-9881-BC4C9C35B944}">
      <dsp:nvSpPr>
        <dsp:cNvPr id="0" name=""/>
        <dsp:cNvSpPr/>
      </dsp:nvSpPr>
      <dsp:spPr>
        <a:xfrm>
          <a:off x="0" y="1372327"/>
          <a:ext cx="3904487" cy="1304395"/>
        </a:xfrm>
        <a:prstGeom prst="roundRect">
          <a:avLst/>
        </a:prstGeom>
        <a:solidFill>
          <a:schemeClr val="accent3">
            <a:hueOff val="903533"/>
            <a:satOff val="33333"/>
            <a:lumOff val="-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lvl="0" algn="ctr" defTabSz="1644650">
            <a:lnSpc>
              <a:spcPct val="90000"/>
            </a:lnSpc>
            <a:spcBef>
              <a:spcPct val="0"/>
            </a:spcBef>
            <a:spcAft>
              <a:spcPct val="35000"/>
            </a:spcAft>
          </a:pPr>
          <a:r>
            <a:rPr lang="en-IN" sz="3700" kern="1200" dirty="0"/>
            <a:t>Objects</a:t>
          </a:r>
        </a:p>
      </dsp:txBody>
      <dsp:txXfrm>
        <a:off x="63675" y="1436002"/>
        <a:ext cx="3777137" cy="1177045"/>
      </dsp:txXfrm>
    </dsp:sp>
    <dsp:sp modelId="{D3D8ED69-C492-4325-8358-A9830763D4D0}">
      <dsp:nvSpPr>
        <dsp:cNvPr id="0" name=""/>
        <dsp:cNvSpPr/>
      </dsp:nvSpPr>
      <dsp:spPr>
        <a:xfrm rot="5400000">
          <a:off x="6853384" y="-76514"/>
          <a:ext cx="1043516" cy="6941311"/>
        </a:xfrm>
        <a:prstGeom prst="round2SameRect">
          <a:avLst/>
        </a:prstGeom>
        <a:solidFill>
          <a:schemeClr val="accent3">
            <a:tint val="40000"/>
            <a:alpha val="90000"/>
            <a:hueOff val="1352761"/>
            <a:satOff val="66667"/>
            <a:lumOff val="1186"/>
            <a:alphaOff val="0"/>
          </a:schemeClr>
        </a:solidFill>
        <a:ln w="12700" cap="flat" cmpd="sng" algn="ctr">
          <a:solidFill>
            <a:schemeClr val="accent3">
              <a:tint val="40000"/>
              <a:alpha val="90000"/>
              <a:hueOff val="1352761"/>
              <a:satOff val="66667"/>
              <a:lumOff val="11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IN" sz="1500" kern="1200" dirty="0"/>
            <a:t>Identify and fill here the different storage </a:t>
          </a:r>
          <a:r>
            <a:rPr lang="en-IN" sz="1500" kern="1200" dirty="0" smtClean="0"/>
            <a:t>tiers </a:t>
          </a:r>
          <a:r>
            <a:rPr lang="en-IN" sz="1500" kern="1200" dirty="0"/>
            <a:t>available in </a:t>
          </a:r>
          <a:r>
            <a:rPr lang="en-IN" sz="1500" kern="1200" dirty="0" err="1"/>
            <a:t>az</a:t>
          </a:r>
          <a:r>
            <a:rPr lang="en-IN" sz="1500" kern="1200" dirty="0"/>
            <a:t> container creation?</a:t>
          </a:r>
        </a:p>
        <a:p>
          <a:pPr marL="114300" lvl="1" indent="-114300" algn="l" defTabSz="666750">
            <a:lnSpc>
              <a:spcPct val="90000"/>
            </a:lnSpc>
            <a:spcBef>
              <a:spcPct val="0"/>
            </a:spcBef>
            <a:spcAft>
              <a:spcPct val="15000"/>
            </a:spcAft>
            <a:buChar char="••"/>
          </a:pPr>
          <a:r>
            <a:rPr lang="en-IN" sz="1500" kern="1200" dirty="0"/>
            <a:t>What are the Two types of </a:t>
          </a:r>
          <a:r>
            <a:rPr lang="en-IN" sz="1500" kern="1200" dirty="0" smtClean="0"/>
            <a:t>core access controls &amp; Additional Storage level access controls?</a:t>
          </a:r>
          <a:endParaRPr lang="en-IN" sz="1500" b="1" i="1" kern="1200" dirty="0"/>
        </a:p>
      </dsp:txBody>
      <dsp:txXfrm rot="-5400000">
        <a:off x="3904487" y="2923323"/>
        <a:ext cx="6890371" cy="941636"/>
      </dsp:txXfrm>
    </dsp:sp>
    <dsp:sp modelId="{F3BB6155-DFA6-4080-B13D-5020EC4C3DD5}">
      <dsp:nvSpPr>
        <dsp:cNvPr id="0" name=""/>
        <dsp:cNvSpPr/>
      </dsp:nvSpPr>
      <dsp:spPr>
        <a:xfrm>
          <a:off x="0" y="2741943"/>
          <a:ext cx="3904487" cy="1304395"/>
        </a:xfrm>
        <a:prstGeom prst="roundRect">
          <a:avLst/>
        </a:prstGeom>
        <a:solidFill>
          <a:schemeClr val="accent3">
            <a:hueOff val="1807066"/>
            <a:satOff val="66667"/>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lvl="0" algn="ctr" defTabSz="1644650">
            <a:lnSpc>
              <a:spcPct val="90000"/>
            </a:lnSpc>
            <a:spcBef>
              <a:spcPct val="0"/>
            </a:spcBef>
            <a:spcAft>
              <a:spcPct val="35000"/>
            </a:spcAft>
          </a:pPr>
          <a:r>
            <a:rPr lang="en-IN" sz="3700" kern="1200" dirty="0"/>
            <a:t>Storage </a:t>
          </a:r>
          <a:r>
            <a:rPr lang="en-IN" sz="3700" kern="1200" dirty="0" smtClean="0"/>
            <a:t>Tiers </a:t>
          </a:r>
          <a:r>
            <a:rPr lang="en-IN" sz="3700" kern="1200" dirty="0"/>
            <a:t>&amp; Pricing Models</a:t>
          </a:r>
        </a:p>
      </dsp:txBody>
      <dsp:txXfrm>
        <a:off x="63675" y="2805618"/>
        <a:ext cx="3777137" cy="1177045"/>
      </dsp:txXfrm>
    </dsp:sp>
    <dsp:sp modelId="{95F294B2-BAED-42E2-A5B3-A38F7777ED2F}">
      <dsp:nvSpPr>
        <dsp:cNvPr id="0" name=""/>
        <dsp:cNvSpPr/>
      </dsp:nvSpPr>
      <dsp:spPr>
        <a:xfrm rot="5400000">
          <a:off x="6853384" y="1293101"/>
          <a:ext cx="1043516" cy="6941311"/>
        </a:xfrm>
        <a:prstGeom prst="round2SameRect">
          <a:avLst/>
        </a:prstGeom>
        <a:solidFill>
          <a:schemeClr val="accent3">
            <a:tint val="40000"/>
            <a:alpha val="90000"/>
            <a:hueOff val="2029141"/>
            <a:satOff val="100000"/>
            <a:lumOff val="1779"/>
            <a:alphaOff val="0"/>
          </a:schemeClr>
        </a:solidFill>
        <a:ln w="12700" cap="flat" cmpd="sng" algn="ctr">
          <a:solidFill>
            <a:schemeClr val="accent3">
              <a:tint val="40000"/>
              <a:alpha val="90000"/>
              <a:hueOff val="2029141"/>
              <a:satOff val="100000"/>
              <a:lumOff val="17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IN" sz="1500" kern="1200" dirty="0"/>
            <a:t> Practice </a:t>
          </a:r>
          <a:r>
            <a:rPr lang="en-IN" sz="1500" kern="1200" dirty="0" err="1"/>
            <a:t>az</a:t>
          </a:r>
          <a:r>
            <a:rPr lang="en-IN" sz="1500" kern="1200" dirty="0"/>
            <a:t> Commands </a:t>
          </a:r>
          <a:r>
            <a:rPr lang="en-IN" sz="1500" kern="1200" dirty="0" smtClean="0"/>
            <a:t>provided (https://inceptezlabs.com/cloudengg)</a:t>
          </a:r>
          <a:endParaRPr lang="en-IN" sz="1500" kern="1200" dirty="0"/>
        </a:p>
        <a:p>
          <a:pPr marL="114300" lvl="1" indent="-114300" algn="l" defTabSz="666750">
            <a:lnSpc>
              <a:spcPct val="90000"/>
            </a:lnSpc>
            <a:spcBef>
              <a:spcPct val="0"/>
            </a:spcBef>
            <a:spcAft>
              <a:spcPct val="15000"/>
            </a:spcAft>
            <a:buChar char="••"/>
          </a:pPr>
          <a:r>
            <a:rPr lang="en-IN" sz="1500" kern="1200" dirty="0"/>
            <a:t> Practice </a:t>
          </a:r>
          <a:r>
            <a:rPr lang="en-IN" sz="1500" kern="1200" dirty="0" err="1"/>
            <a:t>PySpark</a:t>
          </a:r>
          <a:r>
            <a:rPr lang="en-IN" sz="1500" kern="1200" dirty="0"/>
            <a:t> Programs in </a:t>
          </a:r>
          <a:r>
            <a:rPr lang="en-IN" sz="1500" kern="1200" dirty="0" err="1"/>
            <a:t>databricks</a:t>
          </a:r>
          <a:r>
            <a:rPr lang="en-IN" sz="1500" kern="1200" dirty="0"/>
            <a:t> notebook</a:t>
          </a:r>
        </a:p>
      </dsp:txBody>
      <dsp:txXfrm rot="-5400000">
        <a:off x="3904487" y="4292938"/>
        <a:ext cx="6890371" cy="941636"/>
      </dsp:txXfrm>
    </dsp:sp>
    <dsp:sp modelId="{C3BF885C-3BEF-4266-98A5-8E05374921CA}">
      <dsp:nvSpPr>
        <dsp:cNvPr id="0" name=""/>
        <dsp:cNvSpPr/>
      </dsp:nvSpPr>
      <dsp:spPr>
        <a:xfrm>
          <a:off x="0" y="4111559"/>
          <a:ext cx="3904487" cy="1304395"/>
        </a:xfrm>
        <a:prstGeom prst="round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lvl="0" algn="ctr" defTabSz="1644650">
            <a:lnSpc>
              <a:spcPct val="90000"/>
            </a:lnSpc>
            <a:spcBef>
              <a:spcPct val="0"/>
            </a:spcBef>
            <a:spcAft>
              <a:spcPct val="35000"/>
            </a:spcAft>
          </a:pPr>
          <a:r>
            <a:rPr lang="en-IN" sz="3700" kern="1200" dirty="0" err="1"/>
            <a:t>Handson</a:t>
          </a:r>
          <a:endParaRPr lang="en-IN" sz="3700" kern="1200" dirty="0"/>
        </a:p>
      </dsp:txBody>
      <dsp:txXfrm>
        <a:off x="63675" y="4175234"/>
        <a:ext cx="3777137" cy="11770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DBEFE5-E5F3-4482-82F6-62A9A539C7B6}">
      <dsp:nvSpPr>
        <dsp:cNvPr id="0" name=""/>
        <dsp:cNvSpPr/>
      </dsp:nvSpPr>
      <dsp:spPr>
        <a:xfrm>
          <a:off x="5211" y="0"/>
          <a:ext cx="3033784" cy="883458"/>
        </a:xfrm>
        <a:prstGeom prst="chevron">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lvl="0" algn="ctr" defTabSz="844550">
            <a:lnSpc>
              <a:spcPct val="90000"/>
            </a:lnSpc>
            <a:spcBef>
              <a:spcPct val="0"/>
            </a:spcBef>
            <a:spcAft>
              <a:spcPct val="35000"/>
            </a:spcAft>
          </a:pPr>
          <a:r>
            <a:rPr lang="en-IN" sz="1900" kern="1200" dirty="0"/>
            <a:t>Create a </a:t>
          </a:r>
          <a:r>
            <a:rPr lang="en-IN" sz="1900" kern="1200" dirty="0" smtClean="0"/>
            <a:t>VN</a:t>
          </a:r>
          <a:endParaRPr lang="en-IN" sz="1900" kern="1200" dirty="0"/>
        </a:p>
      </dsp:txBody>
      <dsp:txXfrm>
        <a:off x="446940" y="0"/>
        <a:ext cx="2150326" cy="883458"/>
      </dsp:txXfrm>
    </dsp:sp>
    <dsp:sp modelId="{E3F1891C-6DD4-41BF-8270-3F86D15F53BF}">
      <dsp:nvSpPr>
        <dsp:cNvPr id="0" name=""/>
        <dsp:cNvSpPr/>
      </dsp:nvSpPr>
      <dsp:spPr>
        <a:xfrm>
          <a:off x="2735617" y="0"/>
          <a:ext cx="3033784" cy="883458"/>
        </a:xfrm>
        <a:prstGeom prst="chevron">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lvl="0" algn="ctr" defTabSz="844550">
            <a:lnSpc>
              <a:spcPct val="90000"/>
            </a:lnSpc>
            <a:spcBef>
              <a:spcPct val="0"/>
            </a:spcBef>
            <a:spcAft>
              <a:spcPct val="35000"/>
            </a:spcAft>
          </a:pPr>
          <a:r>
            <a:rPr lang="en-IN" sz="1900" kern="1200" dirty="0"/>
            <a:t>Create Subnet &amp; assign inside a Region</a:t>
          </a:r>
        </a:p>
      </dsp:txBody>
      <dsp:txXfrm>
        <a:off x="3177346" y="0"/>
        <a:ext cx="2150326" cy="883458"/>
      </dsp:txXfrm>
    </dsp:sp>
    <dsp:sp modelId="{333502E0-2D91-4E01-8D0E-F6DEAF6974CE}">
      <dsp:nvSpPr>
        <dsp:cNvPr id="0" name=""/>
        <dsp:cNvSpPr/>
      </dsp:nvSpPr>
      <dsp:spPr>
        <a:xfrm>
          <a:off x="5466023" y="0"/>
          <a:ext cx="3033784" cy="883458"/>
        </a:xfrm>
        <a:prstGeom prst="chevron">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lvl="0" algn="ctr" defTabSz="844550">
            <a:lnSpc>
              <a:spcPct val="90000"/>
            </a:lnSpc>
            <a:spcBef>
              <a:spcPct val="0"/>
            </a:spcBef>
            <a:spcAft>
              <a:spcPct val="35000"/>
            </a:spcAft>
          </a:pPr>
          <a:r>
            <a:rPr lang="en-IN" sz="1900" kern="1200" dirty="0"/>
            <a:t>Define CIDR </a:t>
          </a:r>
        </a:p>
        <a:p>
          <a:pPr lvl="0" algn="ctr" defTabSz="844550">
            <a:lnSpc>
              <a:spcPct val="90000"/>
            </a:lnSpc>
            <a:spcBef>
              <a:spcPct val="0"/>
            </a:spcBef>
            <a:spcAft>
              <a:spcPct val="35000"/>
            </a:spcAft>
          </a:pPr>
          <a:r>
            <a:rPr lang="en-IN" sz="1900" kern="1200" dirty="0"/>
            <a:t>IP addresses</a:t>
          </a:r>
        </a:p>
      </dsp:txBody>
      <dsp:txXfrm>
        <a:off x="5907752" y="0"/>
        <a:ext cx="2150326" cy="883458"/>
      </dsp:txXfrm>
    </dsp:sp>
    <dsp:sp modelId="{7E7339F8-CCAA-4207-BBFC-C9B346C76513}">
      <dsp:nvSpPr>
        <dsp:cNvPr id="0" name=""/>
        <dsp:cNvSpPr/>
      </dsp:nvSpPr>
      <dsp:spPr>
        <a:xfrm>
          <a:off x="8196429" y="0"/>
          <a:ext cx="3033784" cy="883458"/>
        </a:xfrm>
        <a:prstGeom prst="chevron">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lvl="0" algn="ctr" defTabSz="844550">
            <a:lnSpc>
              <a:spcPct val="90000"/>
            </a:lnSpc>
            <a:spcBef>
              <a:spcPct val="0"/>
            </a:spcBef>
            <a:spcAft>
              <a:spcPct val="35000"/>
            </a:spcAft>
          </a:pPr>
          <a:r>
            <a:rPr lang="en-IN" sz="1900" kern="1200" dirty="0"/>
            <a:t>Create </a:t>
          </a:r>
          <a:r>
            <a:rPr lang="en-IN" sz="1900" kern="1200" dirty="0" smtClean="0"/>
            <a:t>NSG/Firewall </a:t>
          </a:r>
          <a:r>
            <a:rPr lang="en-IN" sz="1900" kern="1200" dirty="0"/>
            <a:t>Rules</a:t>
          </a:r>
        </a:p>
      </dsp:txBody>
      <dsp:txXfrm>
        <a:off x="8638158" y="0"/>
        <a:ext cx="2150326" cy="88345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DBEFE5-E5F3-4482-82F6-62A9A539C7B6}">
      <dsp:nvSpPr>
        <dsp:cNvPr id="0" name=""/>
        <dsp:cNvSpPr/>
      </dsp:nvSpPr>
      <dsp:spPr>
        <a:xfrm>
          <a:off x="0" y="90621"/>
          <a:ext cx="1755535" cy="702214"/>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IN" sz="1200" kern="1200" dirty="0"/>
            <a:t>Create a </a:t>
          </a:r>
          <a:r>
            <a:rPr lang="en-IN" sz="1200" kern="1200" dirty="0" smtClean="0"/>
            <a:t>VM </a:t>
          </a:r>
          <a:r>
            <a:rPr lang="en-IN" sz="1200" kern="1200" dirty="0"/>
            <a:t>Instance</a:t>
          </a:r>
        </a:p>
      </dsp:txBody>
      <dsp:txXfrm>
        <a:off x="351107" y="90621"/>
        <a:ext cx="1053321" cy="702214"/>
      </dsp:txXfrm>
    </dsp:sp>
    <dsp:sp modelId="{E3F1891C-6DD4-41BF-8270-3F86D15F53BF}">
      <dsp:nvSpPr>
        <dsp:cNvPr id="0" name=""/>
        <dsp:cNvSpPr/>
      </dsp:nvSpPr>
      <dsp:spPr>
        <a:xfrm>
          <a:off x="1579981" y="90621"/>
          <a:ext cx="1755535" cy="702214"/>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IN" sz="1200" kern="1200" dirty="0"/>
            <a:t>Define the Region &amp; Zone</a:t>
          </a:r>
        </a:p>
      </dsp:txBody>
      <dsp:txXfrm>
        <a:off x="1931088" y="90621"/>
        <a:ext cx="1053321" cy="702214"/>
      </dsp:txXfrm>
    </dsp:sp>
    <dsp:sp modelId="{7E7339F8-CCAA-4207-BBFC-C9B346C76513}">
      <dsp:nvSpPr>
        <dsp:cNvPr id="0" name=""/>
        <dsp:cNvSpPr/>
      </dsp:nvSpPr>
      <dsp:spPr>
        <a:xfrm>
          <a:off x="3159963" y="90621"/>
          <a:ext cx="1755535" cy="702214"/>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IN" sz="1200" kern="1200" dirty="0"/>
            <a:t>Identify the Machine type</a:t>
          </a:r>
        </a:p>
      </dsp:txBody>
      <dsp:txXfrm>
        <a:off x="3511070" y="90621"/>
        <a:ext cx="1053321" cy="702214"/>
      </dsp:txXfrm>
    </dsp:sp>
    <dsp:sp modelId="{0BE72C96-E2A1-473F-8F15-1033E991DCDF}">
      <dsp:nvSpPr>
        <dsp:cNvPr id="0" name=""/>
        <dsp:cNvSpPr/>
      </dsp:nvSpPr>
      <dsp:spPr>
        <a:xfrm>
          <a:off x="4739945" y="90621"/>
          <a:ext cx="1755535" cy="702214"/>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IN" sz="1200" kern="1200" dirty="0"/>
            <a:t>Identify the VM Provisioning Model</a:t>
          </a:r>
        </a:p>
      </dsp:txBody>
      <dsp:txXfrm>
        <a:off x="5091052" y="90621"/>
        <a:ext cx="1053321" cy="702214"/>
      </dsp:txXfrm>
    </dsp:sp>
    <dsp:sp modelId="{19F658D5-F272-4564-BB67-610EFC0407B3}">
      <dsp:nvSpPr>
        <dsp:cNvPr id="0" name=""/>
        <dsp:cNvSpPr/>
      </dsp:nvSpPr>
      <dsp:spPr>
        <a:xfrm>
          <a:off x="6319927" y="90621"/>
          <a:ext cx="1755535" cy="702214"/>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IN" sz="1200" kern="1200" dirty="0"/>
            <a:t>Define Advanced Options</a:t>
          </a:r>
        </a:p>
      </dsp:txBody>
      <dsp:txXfrm>
        <a:off x="6671034" y="90621"/>
        <a:ext cx="1053321" cy="702214"/>
      </dsp:txXfrm>
    </dsp:sp>
    <dsp:sp modelId="{55A0F2E7-0813-4B56-8043-DFE2BE2D4F33}">
      <dsp:nvSpPr>
        <dsp:cNvPr id="0" name=""/>
        <dsp:cNvSpPr/>
      </dsp:nvSpPr>
      <dsp:spPr>
        <a:xfrm>
          <a:off x="7899908" y="90621"/>
          <a:ext cx="1755535" cy="702214"/>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IN" sz="1200" kern="1200" dirty="0"/>
            <a:t>Networking – Network Interface</a:t>
          </a:r>
        </a:p>
      </dsp:txBody>
      <dsp:txXfrm>
        <a:off x="8251015" y="90621"/>
        <a:ext cx="1053321" cy="702214"/>
      </dsp:txXfrm>
    </dsp:sp>
    <dsp:sp modelId="{D9C5D705-F085-4CF7-9AD5-1AFC8B6E20AC}">
      <dsp:nvSpPr>
        <dsp:cNvPr id="0" name=""/>
        <dsp:cNvSpPr/>
      </dsp:nvSpPr>
      <dsp:spPr>
        <a:xfrm>
          <a:off x="9479890" y="90621"/>
          <a:ext cx="1755535" cy="702214"/>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IN" sz="1200" kern="1200" dirty="0"/>
            <a:t>Security– Manage Access</a:t>
          </a:r>
        </a:p>
      </dsp:txBody>
      <dsp:txXfrm>
        <a:off x="9830997" y="90621"/>
        <a:ext cx="1053321" cy="702214"/>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864278F-E333-49CF-8426-E407E75795DA}" type="datetimeFigureOut">
              <a:rPr lang="en-IN" smtClean="0"/>
              <a:pPr/>
              <a:t>08-04-2026</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E9C689E-04E4-40A4-8EF2-A902E1F0E31A}" type="slidenum">
              <a:rPr lang="en-IN" smtClean="0"/>
              <a:pPr/>
              <a:t>‹#›</a:t>
            </a:fld>
            <a:endParaRPr lang="en-IN"/>
          </a:p>
        </p:txBody>
      </p:sp>
    </p:spTree>
    <p:extLst>
      <p:ext uri="{BB962C8B-B14F-4D97-AF65-F5344CB8AC3E}">
        <p14:creationId xmlns:p14="http://schemas.microsoft.com/office/powerpoint/2010/main" val="228619872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2-09-30T03:53:44.987"/>
    </inkml:context>
    <inkml:brush xml:id="br0">
      <inkml:brushProperty name="width" value="0.05292" units="cm"/>
      <inkml:brushProperty name="height" value="0.05292" units="cm"/>
      <inkml:brushProperty name="color" value="#FF0000"/>
    </inkml:brush>
  </inkml:definitions>
  <inkml:trace contextRef="#ctx0" brushRef="#br0">21608 10619</inkml:trace>
  <inkml:trace contextRef="#ctx0" brushRef="#br0" timeOffset="59396.16">14676 9666</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6-27T02:48:35.665"/>
    </inkml:context>
    <inkml:brush xml:id="br0">
      <inkml:brushProperty name="width" value="0.05292" units="cm"/>
      <inkml:brushProperty name="height" value="0.05292" units="cm"/>
      <inkml:brushProperty name="color" value="#FF0000"/>
    </inkml:brush>
  </inkml:definitions>
  <inkml:trace contextRef="#ctx0" brushRef="#br0">20796 4727</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01:10.493"/>
    </inkml:context>
    <inkml:brush xml:id="br0">
      <inkml:brushProperty name="width" value="0.05292" units="cm"/>
      <inkml:brushProperty name="height" value="0.05292" units="cm"/>
      <inkml:brushProperty name="color" value="#FF0000"/>
    </inkml:brush>
  </inkml:definitions>
  <inkml:trace contextRef="#ctx0" brushRef="#br0">20161 9507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5T03:21:24.328"/>
    </inkml:context>
    <inkml:brush xml:id="br0">
      <inkml:brushProperty name="width" value="0.1" units="cm"/>
      <inkml:brushProperty name="height" value="0.1" units="cm"/>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12T02:51:15.813"/>
    </inkml:context>
    <inkml:brush xml:id="br0">
      <inkml:brushProperty name="width" value="0.05292" units="cm"/>
      <inkml:brushProperty name="height" value="0.05292" units="cm"/>
      <inkml:brushProperty name="color" value="#FF0000"/>
    </inkml:brush>
  </inkml:definitions>
  <inkml:trace contextRef="#ctx0" brushRef="#br0">23954 6544</inkml:trace>
  <inkml:trace contextRef="#ctx0" brushRef="#br0" timeOffset="5631.82">5397 6632</inkml:trace>
  <inkml:trace contextRef="#ctx0" brushRef="#br0" timeOffset="118751.79">18909 6297</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10-21T03:19:13.738"/>
    </inkml:context>
    <inkml:brush xml:id="br0">
      <inkml:brushProperty name="width" value="0.05292" units="cm"/>
      <inkml:brushProperty name="height" value="0.05292" units="cm"/>
      <inkml:brushProperty name="color" value="#FF0000"/>
    </inkml:brush>
  </inkml:definitions>
  <inkml:trace contextRef="#ctx0" brushRef="#br0">21361 10389</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10-21T03:19:13.738"/>
    </inkml:context>
    <inkml:brush xml:id="br0">
      <inkml:brushProperty name="width" value="0.05292" units="cm"/>
      <inkml:brushProperty name="height" value="0.05292" units="cm"/>
      <inkml:brushProperty name="color" value="#FF0000"/>
    </inkml:brush>
  </inkml:definitions>
  <inkml:trace contextRef="#ctx0" brushRef="#br0">21361 10389</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46:04.482"/>
    </inkml:context>
    <inkml:brush xml:id="br0">
      <inkml:brushProperty name="width" value="0.05292" units="cm"/>
      <inkml:brushProperty name="height" value="0.05292" units="cm"/>
      <inkml:brushProperty name="color" value="#FF0000"/>
    </inkml:brush>
  </inkml:definitions>
  <inkml:trace contextRef="#ctx0" brushRef="#br0">13635 7497</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46:04.482"/>
    </inkml:context>
    <inkml:brush xml:id="br0">
      <inkml:brushProperty name="width" value="0.05292" units="cm"/>
      <inkml:brushProperty name="height" value="0.05292" units="cm"/>
      <inkml:brushProperty name="color" value="#FF0000"/>
    </inkml:brush>
  </inkml:definitions>
  <inkml:trace contextRef="#ctx0" brushRef="#br0">13635 7497</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46:04.482"/>
    </inkml:context>
    <inkml:brush xml:id="br0">
      <inkml:brushProperty name="width" value="0.05292" units="cm"/>
      <inkml:brushProperty name="height" value="0.05292" units="cm"/>
      <inkml:brushProperty name="color" value="#FF0000"/>
    </inkml:brush>
  </inkml:definitions>
  <inkml:trace contextRef="#ctx0" brushRef="#br0">13635 7497</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46:04.482"/>
    </inkml:context>
    <inkml:brush xml:id="br0">
      <inkml:brushProperty name="width" value="0.05292" units="cm"/>
      <inkml:brushProperty name="height" value="0.05292" units="cm"/>
      <inkml:brushProperty name="color" value="#FF0000"/>
    </inkml:brush>
  </inkml:definitions>
  <inkml:trace contextRef="#ctx0" brushRef="#br0">13635 7497</inkml:trace>
</inkml:ink>
</file>

<file path=ppt/ink/ink1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46:04.482"/>
    </inkml:context>
    <inkml:brush xml:id="br0">
      <inkml:brushProperty name="width" value="0.05292" units="cm"/>
      <inkml:brushProperty name="height" value="0.05292" units="cm"/>
      <inkml:brushProperty name="color" value="#FF0000"/>
    </inkml:brush>
  </inkml:definitions>
  <inkml:trace contextRef="#ctx0" brushRef="#br0">13635 7497</inkml:trace>
</inkml:ink>
</file>

<file path=ppt/ink/ink1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03T01:35:03.310"/>
    </inkml:context>
    <inkml:brush xml:id="br0">
      <inkml:brushProperty name="width" value="0.05292" units="cm"/>
      <inkml:brushProperty name="height" value="0.05292" units="cm"/>
      <inkml:brushProperty name="color" value="#FF0000"/>
    </inkml:brush>
  </inkml:definitions>
  <inkml:trace contextRef="#ctx0" brushRef="#br0">1852 13106</inkml:trace>
  <inkml:trace contextRef="#ctx0" brushRef="#br0" timeOffset="5855.7">1746 14199</inkml:trace>
  <inkml:trace contextRef="#ctx0" brushRef="#br0" timeOffset="55967.44">10583 14252</inkml:trace>
  <inkml:trace contextRef="#ctx0" brushRef="#br0" timeOffset="129663.33">10530 9842</inkml:trace>
</inkml:ink>
</file>

<file path=ppt/ink/ink1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10T03:31:19.194"/>
    </inkml:context>
    <inkml:brush xml:id="br0">
      <inkml:brushProperty name="width" value="0.05292" units="cm"/>
      <inkml:brushProperty name="height" value="0.05292" units="cm"/>
      <inkml:brushProperty name="color" value="#FF0000"/>
    </inkml:brush>
  </inkml:definitions>
  <inkml:trace contextRef="#ctx0" brushRef="#br0">17851 5592</inkml:trace>
</inkml:ink>
</file>

<file path=ppt/ink/ink1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19T06:04:52.323"/>
    </inkml:context>
    <inkml:brush xml:id="br0">
      <inkml:brushProperty name="width" value="0.05292" units="cm"/>
      <inkml:brushProperty name="height" value="0.05292" units="cm"/>
      <inkml:brushProperty name="color" value="#FF0000"/>
    </inkml:brush>
  </inkml:definitions>
  <inkml:trace contextRef="#ctx0" brushRef="#br0">22031 8061</inkml:trace>
</inkml:ink>
</file>

<file path=ppt/ink/ink1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12T07:09:53.398"/>
    </inkml:context>
    <inkml:brush xml:id="br0">
      <inkml:brushProperty name="width" value="0.05292" units="cm"/>
      <inkml:brushProperty name="height" value="0.05292" units="cm"/>
      <inkml:brushProperty name="color" value="#FF0000"/>
    </inkml:brush>
  </inkml:definitions>
  <inkml:trace contextRef="#ctx0" brushRef="#br0">1746 2064</inkml:trace>
  <inkml:trace contextRef="#ctx0" brushRef="#br0" timeOffset="4241.26">9172 8608</inkml:trace>
  <inkml:trace contextRef="#ctx0" brushRef="#br0" timeOffset="5208.2">14446 8572,'-35'0</inkml:trace>
  <inkml:trace contextRef="#ctx0" brushRef="#br0" timeOffset="16762.29">9172 8661,'18'-18</inkml:trace>
</inkml:ink>
</file>

<file path=ppt/ink/ink1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03T03:36:00.425"/>
    </inkml:context>
    <inkml:brush xml:id="br0">
      <inkml:brushProperty name="width" value="0.05292" units="cm"/>
      <inkml:brushProperty name="height" value="0.05292" units="cm"/>
      <inkml:brushProperty name="color" value="#FF0000"/>
    </inkml:brush>
  </inkml:definitions>
  <inkml:trace contextRef="#ctx0" brushRef="#br0">15646 3828</inkml:trace>
</inkml:ink>
</file>

<file path=ppt/ink/ink1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4T01:46:27.060"/>
    </inkml:context>
    <inkml:brush xml:id="br0">
      <inkml:brushProperty name="width" value="0.05292" units="cm"/>
      <inkml:brushProperty name="height" value="0.05292" units="cm"/>
      <inkml:brushProperty name="color" value="#FF0000"/>
    </inkml:brush>
  </inkml:definitions>
  <inkml:trace contextRef="#ctx0" brushRef="#br0">20849 2452</inkml:trace>
  <inkml:trace contextRef="#ctx0" brushRef="#br0" timeOffset="4487.59">23954 3951</inkml:trace>
  <inkml:trace contextRef="#ctx0" brushRef="#br0" timeOffset="66456.28">21008 7849</inkml:trace>
</inkml:ink>
</file>

<file path=ppt/ink/ink1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03T03:37:06.109"/>
    </inkml:context>
    <inkml:brush xml:id="br0">
      <inkml:brushProperty name="width" value="0.05292" units="cm"/>
      <inkml:brushProperty name="height" value="0.05292" units="cm"/>
      <inkml:brushProperty name="color" value="#FF0000"/>
    </inkml:brush>
  </inkml:definitions>
  <inkml:trace contextRef="#ctx0" brushRef="#br0">794 6685,'0'-18</inkml:trace>
  <inkml:trace contextRef="#ctx0" brushRef="#br0" timeOffset="4492.41">723 11765</inkml:trace>
</inkml:ink>
</file>

<file path=ppt/ink/ink2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13T08:28:29.604"/>
    </inkml:context>
    <inkml:brush xml:id="br0">
      <inkml:brushProperty name="width" value="0.05292" units="cm"/>
      <inkml:brushProperty name="height" value="0.05292" units="cm"/>
      <inkml:brushProperty name="color" value="#FF0000"/>
    </inkml:brush>
  </inkml:definitions>
  <inkml:trace contextRef="#ctx0" brushRef="#br0">21555 13441</inkml:trace>
</inkml:ink>
</file>

<file path=ppt/ink/ink2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8-20T03:33:53.560"/>
    </inkml:context>
    <inkml:brush xml:id="br0">
      <inkml:brushProperty name="width" value="0.05292" units="cm"/>
      <inkml:brushProperty name="height" value="0.05292" units="cm"/>
      <inkml:brushProperty name="color" value="#FF0000"/>
    </inkml:brush>
  </inkml:definitions>
  <inkml:trace contextRef="#ctx0" brushRef="#br0">11483 10089,'18'0</inkml:trace>
  <inkml:trace contextRef="#ctx0" brushRef="#br0" timeOffset="1432.6199">15275 9437</inkml:trace>
</inkml:ink>
</file>

<file path=ppt/ink/ink2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8-25T06:32:44.755"/>
    </inkml:context>
    <inkml:brush xml:id="br0">
      <inkml:brushProperty name="width" value="0.05292" units="cm"/>
      <inkml:brushProperty name="height" value="0.05292" units="cm"/>
      <inkml:brushProperty name="color" value="#FF0000"/>
    </inkml:brush>
  </inkml:definitions>
  <inkml:trace contextRef="#ctx0" brushRef="#br0">20549 13811</inkml:trace>
</inkml:ink>
</file>

<file path=ppt/ink/ink2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8-25T03:48:52.044"/>
    </inkml:context>
    <inkml:brush xml:id="br0">
      <inkml:brushProperty name="width" value="0.05292" units="cm"/>
      <inkml:brushProperty name="height" value="0.05292" units="cm"/>
      <inkml:brushProperty name="color" value="#FF0000"/>
    </inkml:brush>
  </inkml:definitions>
  <inkml:trace contextRef="#ctx0" brushRef="#br0">11112 5062,'-17'0,"-1"0,1 18,-1-18,-17 0,17 0,0 0,-17 0,0 0,17 0,1 0,-19 0,19 0,-19 0,19 0,-19 0,1 0,0 0,0 0,-1 0,19 0,-36 0,35 0,-35 0,36 0,-1 0,0 0,1 0,-19 0,19 0,-19 0,19 0,-18 0,-1 0,1 0,17 0,-17 0,17 0,-17 0,0 0,0-18,-1 18,19 0,-36 0,0-17,35 17,-17 0,17 0,1 0,-19 0,1 0,17 0,1 0,-18 0,-1 0,-17 0,0 0,36 0,-1 0,-17 0,17 0,1 0,-19 0,19 0,-1 0,0 0,1 0,-1 0,-17 0,17 0,1 0,-1 0,0 0,1 0,-1 0,0 0,1 0,-1 0,-17 0,17 0,1 0,-1 0,0 0,1 0,-1 0,0 0,1 0,-1 0,-17 0</inkml:trace>
</inkml:ink>
</file>

<file path=ppt/ink/ink2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4T01:46:27.060"/>
    </inkml:context>
    <inkml:brush xml:id="br0">
      <inkml:brushProperty name="width" value="0.05292" units="cm"/>
      <inkml:brushProperty name="height" value="0.05292" units="cm"/>
      <inkml:brushProperty name="color" value="#FF0000"/>
    </inkml:brush>
  </inkml:definitions>
  <inkml:trace contextRef="#ctx0" brushRef="#br0">20849 2452</inkml:trace>
  <inkml:trace contextRef="#ctx0" brushRef="#br0" timeOffset="4487.59">23954 3951</inkml:trace>
  <inkml:trace contextRef="#ctx0" brushRef="#br0" timeOffset="66456.28">21008 7849</inkml:trace>
</inkml:ink>
</file>

<file path=ppt/ink/ink2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03T03:37:06.109"/>
    </inkml:context>
    <inkml:brush xml:id="br0">
      <inkml:brushProperty name="width" value="0.05292" units="cm"/>
      <inkml:brushProperty name="height" value="0.05292" units="cm"/>
      <inkml:brushProperty name="color" value="#FF0000"/>
    </inkml:brush>
  </inkml:definitions>
  <inkml:trace contextRef="#ctx0" brushRef="#br0">794 6685,'0'-18</inkml:trace>
  <inkml:trace contextRef="#ctx0" brushRef="#br0" timeOffset="4492.41">723 11765</inkml:trace>
</inkml:ink>
</file>

<file path=ppt/ink/ink2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13T08:28:29.604"/>
    </inkml:context>
    <inkml:brush xml:id="br0">
      <inkml:brushProperty name="width" value="0.05292" units="cm"/>
      <inkml:brushProperty name="height" value="0.05292" units="cm"/>
      <inkml:brushProperty name="color" value="#FF0000"/>
    </inkml:brush>
  </inkml:definitions>
  <inkml:trace contextRef="#ctx0" brushRef="#br0">21555 13441</inkml:trace>
</inkml:ink>
</file>

<file path=ppt/ink/ink2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4T01:46:27.060"/>
    </inkml:context>
    <inkml:brush xml:id="br0">
      <inkml:brushProperty name="width" value="0.05292" units="cm"/>
      <inkml:brushProperty name="height" value="0.05292" units="cm"/>
      <inkml:brushProperty name="color" value="#FF0000"/>
    </inkml:brush>
  </inkml:definitions>
  <inkml:trace contextRef="#ctx0" brushRef="#br0">20849 2452</inkml:trace>
  <inkml:trace contextRef="#ctx0" brushRef="#br0" timeOffset="4487.59">23954 3951</inkml:trace>
  <inkml:trace contextRef="#ctx0" brushRef="#br0" timeOffset="66456.28">21008 7849</inkml:trace>
</inkml:ink>
</file>

<file path=ppt/ink/ink2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03T03:37:06.109"/>
    </inkml:context>
    <inkml:brush xml:id="br0">
      <inkml:brushProperty name="width" value="0.05292" units="cm"/>
      <inkml:brushProperty name="height" value="0.05292" units="cm"/>
      <inkml:brushProperty name="color" value="#FF0000"/>
    </inkml:brush>
  </inkml:definitions>
  <inkml:trace contextRef="#ctx0" brushRef="#br0">794 6685,'0'-18</inkml:trace>
  <inkml:trace contextRef="#ctx0" brushRef="#br0" timeOffset="4492.41">723 11765</inkml:trace>
</inkml:ink>
</file>

<file path=ppt/ink/ink2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13T08:28:29.604"/>
    </inkml:context>
    <inkml:brush xml:id="br0">
      <inkml:brushProperty name="width" value="0.05292" units="cm"/>
      <inkml:brushProperty name="height" value="0.05292" units="cm"/>
      <inkml:brushProperty name="color" value="#FF0000"/>
    </inkml:brush>
  </inkml:definitions>
  <inkml:trace contextRef="#ctx0" brushRef="#br0">21555 13441</inkml:trace>
</inkml:ink>
</file>

<file path=ppt/ink/ink3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4T01:46:27.060"/>
    </inkml:context>
    <inkml:brush xml:id="br0">
      <inkml:brushProperty name="width" value="0.05292" units="cm"/>
      <inkml:brushProperty name="height" value="0.05292" units="cm"/>
      <inkml:brushProperty name="color" value="#FF0000"/>
    </inkml:brush>
  </inkml:definitions>
  <inkml:trace contextRef="#ctx0" brushRef="#br0">20849 2452</inkml:trace>
  <inkml:trace contextRef="#ctx0" brushRef="#br0" timeOffset="4487.59">23954 3951</inkml:trace>
  <inkml:trace contextRef="#ctx0" brushRef="#br0" timeOffset="66456.28">21008 7849</inkml:trace>
</inkml:ink>
</file>

<file path=ppt/ink/ink3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20T03:57:39.066"/>
    </inkml:context>
    <inkml:brush xml:id="br0">
      <inkml:brushProperty name="width" value="0.05292" units="cm"/>
      <inkml:brushProperty name="height" value="0.05292" units="cm"/>
      <inkml:brushProperty name="color" value="#FF0000"/>
    </inkml:brush>
  </inkml:definitions>
  <inkml:trace contextRef="#ctx0" brushRef="#br0">9331 4392</inkml:trace>
  <inkml:trace contextRef="#ctx0" brushRef="#br0" timeOffset="1135.27">9260 8220</inkml:trace>
  <inkml:trace contextRef="#ctx0" brushRef="#br0" timeOffset="2511.52">11060 12912</inkml:trace>
  <inkml:trace contextRef="#ctx0" brushRef="#br0" timeOffset="3423.22">9437 15752</inkml:trace>
</inkml:ink>
</file>

<file path=ppt/ink/ink3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12T01:52:03.858"/>
    </inkml:context>
    <inkml:brush xml:id="br0">
      <inkml:brushProperty name="width" value="0.05292" units="cm"/>
      <inkml:brushProperty name="height" value="0.05292" units="cm"/>
      <inkml:brushProperty name="color" value="#FF0000"/>
    </inkml:brush>
  </inkml:definitions>
  <inkml:trace contextRef="#ctx0" brushRef="#br0">23354 10213</inkml:trace>
</inkml:ink>
</file>

<file path=ppt/ink/ink3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4T01:46:27.060"/>
    </inkml:context>
    <inkml:brush xml:id="br0">
      <inkml:brushProperty name="width" value="0.05292" units="cm"/>
      <inkml:brushProperty name="height" value="0.05292" units="cm"/>
      <inkml:brushProperty name="color" value="#FF0000"/>
    </inkml:brush>
  </inkml:definitions>
  <inkml:trace contextRef="#ctx0" brushRef="#br0">20849 2452</inkml:trace>
  <inkml:trace contextRef="#ctx0" brushRef="#br0" timeOffset="4487.59">23954 3951</inkml:trace>
  <inkml:trace contextRef="#ctx0" brushRef="#br0" timeOffset="66456.28">21008 7849</inkml:trace>
</inkml:ink>
</file>

<file path=ppt/ink/ink3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23T03:43:12.351"/>
    </inkml:context>
    <inkml:brush xml:id="br0">
      <inkml:brushProperty name="width" value="0.05292" units="cm"/>
      <inkml:brushProperty name="height" value="0.05292" units="cm"/>
      <inkml:brushProperty name="color" value="#FF0000"/>
    </inkml:brush>
  </inkml:definitions>
  <inkml:trace contextRef="#ctx0" brushRef="#br0">27023 2417</inkml:trace>
</inkml:ink>
</file>

<file path=ppt/ink/ink3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46:04.482"/>
    </inkml:context>
    <inkml:brush xml:id="br0">
      <inkml:brushProperty name="width" value="0.05292" units="cm"/>
      <inkml:brushProperty name="height" value="0.05292" units="cm"/>
      <inkml:brushProperty name="color" value="#FF0000"/>
    </inkml:brush>
  </inkml:definitions>
  <inkml:trace contextRef="#ctx0" brushRef="#br0">13635 7497</inkml:trace>
</inkml:ink>
</file>

<file path=ppt/ink/ink3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46:04.482"/>
    </inkml:context>
    <inkml:brush xml:id="br0">
      <inkml:brushProperty name="width" value="0.05292" units="cm"/>
      <inkml:brushProperty name="height" value="0.05292" units="cm"/>
      <inkml:brushProperty name="color" value="#FF0000"/>
    </inkml:brush>
  </inkml:definitions>
  <inkml:trace contextRef="#ctx0" brushRef="#br0">13635 7497</inkml:trace>
</inkml:ink>
</file>

<file path=ppt/ink/ink3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46:04.482"/>
    </inkml:context>
    <inkml:brush xml:id="br0">
      <inkml:brushProperty name="width" value="0.05292" units="cm"/>
      <inkml:brushProperty name="height" value="0.05292" units="cm"/>
      <inkml:brushProperty name="color" value="#FF0000"/>
    </inkml:brush>
  </inkml:definitions>
  <inkml:trace contextRef="#ctx0" brushRef="#br0">13635 7497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9A1633-654D-44A2-8DBE-E3C5FA6DCB60}" type="datetimeFigureOut">
              <a:rPr lang="en-IN" smtClean="0"/>
              <a:pPr/>
              <a:t>08-04-2026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2361CE-761E-4EF0-95D6-5F283C069F9E}" type="slidenum">
              <a:rPr lang="en-IN" smtClean="0"/>
              <a:pPr/>
              <a:t>‹#›</a:t>
            </a:fld>
            <a:endParaRPr lang="en-IN"/>
          </a:p>
        </p:txBody>
      </p:sp>
    </p:spTree>
    <p:extLst>
      <p:ext uri="{BB962C8B-B14F-4D97-AF65-F5344CB8AC3E}">
        <p14:creationId xmlns:p14="http://schemas.microsoft.com/office/powerpoint/2010/main" val="139436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3E07F03-986E-75A0-3F81-460019F27B9E}"/>
            </a:ext>
          </a:extLst>
        </p:cNvPr>
        <p:cNvGrpSpPr/>
        <p:nvPr/>
      </p:nvGrpSpPr>
      <p:grpSpPr>
        <a:xfrm>
          <a:off x="0" y="0"/>
          <a:ext cx="0" cy="0"/>
          <a:chOff x="0" y="0"/>
          <a:chExt cx="0" cy="0"/>
        </a:xfrm>
      </p:grpSpPr>
      <p:sp>
        <p:nvSpPr>
          <p:cNvPr id="2" name="Zástupný symbol pro obrázek snímku 1">
            <a:extLst>
              <a:ext uri="{FF2B5EF4-FFF2-40B4-BE49-F238E27FC236}">
                <a16:creationId xmlns="" xmlns:a16="http://schemas.microsoft.com/office/drawing/2014/main" id="{785EC346-A6CD-D333-C851-72F2A03F2A83}"/>
              </a:ext>
            </a:extLst>
          </p:cNvPr>
          <p:cNvSpPr>
            <a:spLocks noGrp="1" noRot="1" noChangeAspect="1"/>
          </p:cNvSpPr>
          <p:nvPr>
            <p:ph type="sldImg"/>
          </p:nvPr>
        </p:nvSpPr>
        <p:spPr>
          <a:xfrm>
            <a:off x="393700" y="692150"/>
            <a:ext cx="6070600" cy="3416300"/>
          </a:xfrm>
        </p:spPr>
      </p:sp>
      <p:sp>
        <p:nvSpPr>
          <p:cNvPr id="3" name="Zástupný symbol pro poznámky 2">
            <a:extLst>
              <a:ext uri="{FF2B5EF4-FFF2-40B4-BE49-F238E27FC236}">
                <a16:creationId xmlns="" xmlns:a16="http://schemas.microsoft.com/office/drawing/2014/main" id="{34515E75-87C5-8B8C-5A8A-18A7D0A79A31}"/>
              </a:ext>
            </a:extLst>
          </p:cNvPr>
          <p:cNvSpPr>
            <a:spLocks noGrp="1"/>
          </p:cNvSpPr>
          <p:nvPr>
            <p:ph type="body" idx="1"/>
          </p:nvPr>
        </p:nvSpPr>
        <p:spPr/>
        <p:txBody>
          <a:bodyPr>
            <a:normAutofit/>
          </a:bodyPr>
          <a:lstStyle/>
          <a:p>
            <a:r>
              <a:rPr lang="en-US" dirty="0"/>
              <a:t>TODO</a:t>
            </a:r>
            <a:r>
              <a:rPr lang="en-US" baseline="0" dirty="0"/>
              <a:t> – List(1, 2) co se </a:t>
            </a:r>
            <a:r>
              <a:rPr lang="en-US" baseline="0" dirty="0" err="1"/>
              <a:t>presne</a:t>
            </a:r>
            <a:r>
              <a:rPr lang="en-US" baseline="0" dirty="0"/>
              <a:t> </a:t>
            </a:r>
            <a:r>
              <a:rPr lang="en-US" baseline="0" dirty="0" err="1"/>
              <a:t>vola</a:t>
            </a:r>
            <a:r>
              <a:rPr lang="en-US" baseline="0" dirty="0"/>
              <a:t>? </a:t>
            </a:r>
            <a:r>
              <a:rPr lang="en-US" baseline="0" dirty="0" err="1"/>
              <a:t>Scala.List</a:t>
            </a:r>
            <a:endParaRPr lang="cs-CZ" dirty="0"/>
          </a:p>
        </p:txBody>
      </p:sp>
    </p:spTree>
    <p:extLst>
      <p:ext uri="{BB962C8B-B14F-4D97-AF65-F5344CB8AC3E}">
        <p14:creationId xmlns:p14="http://schemas.microsoft.com/office/powerpoint/2010/main" val="460444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dirty="0"/>
              <a:t>TODO</a:t>
            </a:r>
            <a:r>
              <a:rPr lang="en-US" baseline="0" dirty="0"/>
              <a:t> – List(1, 2) co se </a:t>
            </a:r>
            <a:r>
              <a:rPr lang="en-US" baseline="0" dirty="0" err="1"/>
              <a:t>presne</a:t>
            </a:r>
            <a:r>
              <a:rPr lang="en-US" baseline="0" dirty="0"/>
              <a:t> </a:t>
            </a:r>
            <a:r>
              <a:rPr lang="en-US" baseline="0" dirty="0" err="1"/>
              <a:t>vola</a:t>
            </a:r>
            <a:r>
              <a:rPr lang="en-US" baseline="0" dirty="0"/>
              <a:t>? </a:t>
            </a:r>
            <a:r>
              <a:rPr lang="en-US" baseline="0" dirty="0" err="1"/>
              <a:t>Scala.List</a:t>
            </a:r>
            <a:endParaRPr lang="cs-CZ"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EDBA9E4-7191-4DCF-9A3A-9F1C88F66FC4}"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2949631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2263485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DBA9E4-7191-4DCF-9A3A-9F1C88F66FC4}"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1241678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EDBA9E4-7191-4DCF-9A3A-9F1C88F66FC4}"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1210363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EDBA9E4-7191-4DCF-9A3A-9F1C88F66FC4}" type="datetimeFigureOut">
              <a:rPr lang="en-US" smtClean="0"/>
              <a:pPr/>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2718897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EDBA9E4-7191-4DCF-9A3A-9F1C88F66FC4}" type="datetimeFigureOut">
              <a:rPr lang="en-US" smtClean="0"/>
              <a:pPr/>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2026076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DBA9E4-7191-4DCF-9A3A-9F1C88F66FC4}" type="datetimeFigureOut">
              <a:rPr lang="en-US" smtClean="0"/>
              <a:pPr/>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2127467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DBA9E4-7191-4DCF-9A3A-9F1C88F66FC4}"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1425913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DBA9E4-7191-4DCF-9A3A-9F1C88F66FC4}"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720850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3186415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27010112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121266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56625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747418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244323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58211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097208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742067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992207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102834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4667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556986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244289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316214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563795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982602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515260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0235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665742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928551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893141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501796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220711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104349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538776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46378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363529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63810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304841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8261788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898474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557595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944972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12613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DBA9E4-7191-4DCF-9A3A-9F1C88F66FC4}" type="datetimeFigureOut">
              <a:rPr lang="en-US" smtClean="0"/>
              <a:pPr/>
              <a:t>4/8/2026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B0FB96-DBE3-4E5C-BD41-2DAB20BC7E24}" type="slidenum">
              <a:rPr lang="en-US" smtClean="0"/>
              <a:pPr/>
              <a:t>‹#›</a:t>
            </a:fld>
            <a:endParaRPr lang="en-US"/>
          </a:p>
        </p:txBody>
      </p:sp>
    </p:spTree>
    <p:extLst>
      <p:ext uri="{BB962C8B-B14F-4D97-AF65-F5344CB8AC3E}">
        <p14:creationId xmlns:p14="http://schemas.microsoft.com/office/powerpoint/2010/main" val="3712182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179130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3221407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DBA9E4-7191-4DCF-9A3A-9F1C88F66FC4}" type="datetimeFigureOut">
              <a:rPr lang="en-US" smtClean="0">
                <a:solidFill>
                  <a:prstClr val="black">
                    <a:tint val="75000"/>
                  </a:prstClr>
                </a:solidFill>
              </a:rPr>
              <a:pPr/>
              <a:t>4/8/2026</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1536722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customXml" Target="../ink/ink1.xml"/><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jpeg"/><Relationship Id="rId11" Type="http://schemas.microsoft.com/office/2007/relationships/hdphoto" Target="../media/hdphoto3.wdp"/><Relationship Id="rId5" Type="http://schemas.openxmlformats.org/officeDocument/2006/relationships/image" Target="../media/image3.png"/><Relationship Id="rId10" Type="http://schemas.openxmlformats.org/officeDocument/2006/relationships/image" Target="../media/image6.jpeg"/><Relationship Id="rId4" Type="http://schemas.openxmlformats.org/officeDocument/2006/relationships/image" Target="../media/image69.emf"/><Relationship Id="rId9" Type="http://schemas.microsoft.com/office/2007/relationships/hdphoto" Target="../media/hdphoto2.wdp"/></Relationships>
</file>

<file path=ppt/slides/_rels/slide4.xml.rels><?xml version="1.0" encoding="UTF-8" standalone="yes"?>
<Relationships xmlns="http://schemas.openxmlformats.org/package/2006/relationships"><Relationship Id="rId2" Type="http://schemas.openxmlformats.org/officeDocument/2006/relationships/customXml" Target="../ink/ink2.xml"/><Relationship Id="rId1" Type="http://schemas.openxmlformats.org/officeDocument/2006/relationships/slideLayout" Target="../slideLayouts/slideLayout1.xml"/><Relationship Id="rId5" Type="http://schemas.openxmlformats.org/officeDocument/2006/relationships/image" Target="../media/image76.emf"/></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hyperlink" Target="https://en.wikipedia.org/wiki/Software_deployment" TargetMode="External"/><Relationship Id="rId13" Type="http://schemas.openxmlformats.org/officeDocument/2006/relationships/hyperlink" Target="https://googleappengine.blogspot.com/2008/04/introducing-google-app-engine-our-new.html" TargetMode="External"/><Relationship Id="rId18" Type="http://schemas.openxmlformats.org/officeDocument/2006/relationships/customXml" Target="../ink/ink3.xml"/><Relationship Id="rId3" Type="http://schemas.openxmlformats.org/officeDocument/2006/relationships/hyperlink" Target="https://en.wikipedia.org/wiki/Storage_virtualization" TargetMode="External"/><Relationship Id="rId7" Type="http://schemas.openxmlformats.org/officeDocument/2006/relationships/hyperlink" Target="https://en.wikipedia.org/wiki/Application_service_provider" TargetMode="External"/><Relationship Id="rId12" Type="http://schemas.openxmlformats.org/officeDocument/2006/relationships/hyperlink" Target="https://en.wikipedia.org/wiki/Internet_of_Things" TargetMode="External"/><Relationship Id="rId17" Type="http://schemas.openxmlformats.org/officeDocument/2006/relationships/hyperlink" Target="https://en.wikipedia.org/wiki/Programming_language" TargetMode="External"/><Relationship Id="rId2" Type="http://schemas.openxmlformats.org/officeDocument/2006/relationships/hyperlink" Target="https://en.wikipedia.org/wiki/Computation" TargetMode="External"/><Relationship Id="rId16" Type="http://schemas.openxmlformats.org/officeDocument/2006/relationships/hyperlink" Target="https://en.wikipedia.org/wiki/Infrastructure_as_a_service" TargetMode="External"/><Relationship Id="rId20" Type="http://schemas.openxmlformats.org/officeDocument/2006/relationships/image" Target="../media/image82.emf"/><Relationship Id="rId1" Type="http://schemas.openxmlformats.org/officeDocument/2006/relationships/slideLayout" Target="../slideLayouts/slideLayout1.xml"/><Relationship Id="rId6" Type="http://schemas.openxmlformats.org/officeDocument/2006/relationships/hyperlink" Target="https://en.wikipedia.org/wiki/Analytics" TargetMode="External"/><Relationship Id="rId11" Type="http://schemas.openxmlformats.org/officeDocument/2006/relationships/hyperlink" Target="https://en.wikipedia.org/wiki/Programming_tool" TargetMode="External"/><Relationship Id="rId5" Type="http://schemas.openxmlformats.org/officeDocument/2006/relationships/hyperlink" Target="https://en.wikipedia.org/wiki/Database" TargetMode="External"/><Relationship Id="rId15" Type="http://schemas.openxmlformats.org/officeDocument/2006/relationships/hyperlink" Target="https://en.wikipedia.org/wiki/Platform_as_a_service" TargetMode="External"/><Relationship Id="rId10" Type="http://schemas.openxmlformats.org/officeDocument/2006/relationships/hyperlink" Target="https://en.wikipedia.org/wiki/Mobile_application_development" TargetMode="External"/><Relationship Id="rId4" Type="http://schemas.openxmlformats.org/officeDocument/2006/relationships/hyperlink" Target="https://en.wikipedia.org/wiki/Computer_network" TargetMode="External"/><Relationship Id="rId9" Type="http://schemas.openxmlformats.org/officeDocument/2006/relationships/hyperlink" Target="https://en.wikipedia.org/wiki/Systems_management" TargetMode="External"/><Relationship Id="rId14" Type="http://schemas.openxmlformats.org/officeDocument/2006/relationships/hyperlink" Target="https://en.wikipedia.org/wiki/Software_as_a_service" TargetMode="External"/></Relationships>
</file>

<file path=ppt/slides/_rels/slide7.xml.rels><?xml version="1.0" encoding="UTF-8" standalone="yes"?>
<Relationships xmlns="http://schemas.openxmlformats.org/package/2006/relationships"><Relationship Id="rId26" Type="http://schemas.openxmlformats.org/officeDocument/2006/relationships/image" Target="../media/image11.png"/><Relationship Id="rId25" Type="http://schemas.openxmlformats.org/officeDocument/2006/relationships/image" Target="../media/image416.png"/><Relationship Id="rId2" Type="http://schemas.openxmlformats.org/officeDocument/2006/relationships/customXml" Target="../ink/ink4.xml"/><Relationship Id="rId1" Type="http://schemas.openxmlformats.org/officeDocument/2006/relationships/slideLayout" Target="../slideLayouts/slideLayout1.xml"/><Relationship Id="rId27"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96.emf"/></Relationships>
</file>

<file path=ppt/slides/_rels/slide10.xml.rels><?xml version="1.0" encoding="UTF-8" standalone="yes"?>
<Relationships xmlns="http://schemas.openxmlformats.org/package/2006/relationships"><Relationship Id="rId8" Type="http://schemas.openxmlformats.org/officeDocument/2006/relationships/hyperlink" Target="https://cloud.google.com/bigquery" TargetMode="External"/><Relationship Id="rId13" Type="http://schemas.openxmlformats.org/officeDocument/2006/relationships/hyperlink" Target="https://cloud.google.com/monitoring" TargetMode="External"/><Relationship Id="rId3" Type="http://schemas.openxmlformats.org/officeDocument/2006/relationships/hyperlink" Target="https://cloud.google.com/persistent-disk" TargetMode="External"/><Relationship Id="rId7" Type="http://schemas.openxmlformats.org/officeDocument/2006/relationships/hyperlink" Target="https://cloud.google.com/looker" TargetMode="External"/><Relationship Id="rId12" Type="http://schemas.openxmlformats.org/officeDocument/2006/relationships/hyperlink" Target="https://cloud.google.com/vpc" TargetMode="External"/><Relationship Id="rId2" Type="http://schemas.openxmlformats.org/officeDocument/2006/relationships/hyperlink" Target="https://cloud.google.com/storage" TargetMode="External"/><Relationship Id="rId1" Type="http://schemas.openxmlformats.org/officeDocument/2006/relationships/slideLayout" Target="../slideLayouts/slideLayout1.xml"/><Relationship Id="rId6" Type="http://schemas.openxmlformats.org/officeDocument/2006/relationships/hyperlink" Target="https://cloud.google.com/sql" TargetMode="External"/><Relationship Id="rId11" Type="http://schemas.openxmlformats.org/officeDocument/2006/relationships/hyperlink" Target="https://cloud.google.com/composer" TargetMode="External"/><Relationship Id="rId5" Type="http://schemas.openxmlformats.org/officeDocument/2006/relationships/hyperlink" Target="https://cloud.google.com/spanner" TargetMode="External"/><Relationship Id="rId10" Type="http://schemas.openxmlformats.org/officeDocument/2006/relationships/hyperlink" Target="https://cloud.google.com/dataproc" TargetMode="External"/><Relationship Id="rId4" Type="http://schemas.openxmlformats.org/officeDocument/2006/relationships/hyperlink" Target="https://cloud.google.com/compute" TargetMode="External"/><Relationship Id="rId9" Type="http://schemas.openxmlformats.org/officeDocument/2006/relationships/hyperlink" Target="https://cloud.google.com/pubsub" TargetMode="External"/><Relationship Id="rId14" Type="http://schemas.openxmlformats.org/officeDocument/2006/relationships/hyperlink" Target="https://cloud.google.com/iam"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610.png"/><Relationship Id="rId4" Type="http://schemas.openxmlformats.org/officeDocument/2006/relationships/customXml" Target="../ink/ink6.xml"/><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customXml" Target="../ink/ink7.xml"/><Relationship Id="rId7"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83.emf"/><Relationship Id="rId10" Type="http://schemas.openxmlformats.org/officeDocument/2006/relationships/image" Target="../media/image24.png"/><Relationship Id="rId9"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hyperlink" Target="https://datacenters.microsoft.com/globe/explore/" TargetMode="External"/><Relationship Id="rId2" Type="http://schemas.openxmlformats.org/officeDocument/2006/relationships/image" Target="../media/image29.png"/><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diagramData" Target="../diagrams/data3.xml"/><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13.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49.emf"/><Relationship Id="rId5" Type="http://schemas.openxmlformats.org/officeDocument/2006/relationships/customXml" Target="../ink/ink8.xml"/><Relationship Id="rId4" Type="http://schemas.microsoft.com/office/2007/relationships/hdphoto" Target="../media/hdphoto4.wdp"/></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49.emf"/><Relationship Id="rId4" Type="http://schemas.openxmlformats.org/officeDocument/2006/relationships/customXml" Target="../ink/ink9.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49.emf"/><Relationship Id="rId4" Type="http://schemas.openxmlformats.org/officeDocument/2006/relationships/customXml" Target="../ink/ink10.xml"/></Relationships>
</file>

<file path=ppt/slides/_rels/slide20.xml.rels><?xml version="1.0" encoding="UTF-8" standalone="yes"?>
<Relationships xmlns="http://schemas.openxmlformats.org/package/2006/relationships"><Relationship Id="rId3" Type="http://schemas.openxmlformats.org/officeDocument/2006/relationships/customXml" Target="../ink/ink11.xml"/><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49.emf"/></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customXml" Target="../ink/ink12.xml"/><Relationship Id="rId7"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20.emf"/></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customXml" Target="../ink/ink13.xml"/><Relationship Id="rId3" Type="http://schemas.openxmlformats.org/officeDocument/2006/relationships/image" Target="../media/image40.png"/><Relationship Id="rId7" Type="http://schemas.openxmlformats.org/officeDocument/2006/relationships/image" Target="../media/image43.jpe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42.jpeg"/><Relationship Id="rId5" Type="http://schemas.openxmlformats.org/officeDocument/2006/relationships/image" Target="../media/image41.jpeg"/><Relationship Id="rId4" Type="http://schemas.microsoft.com/office/2007/relationships/hdphoto" Target="../media/hdphoto5.wdp"/><Relationship Id="rId9" Type="http://schemas.openxmlformats.org/officeDocument/2006/relationships/image" Target="../media/image125.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24.png"/><Relationship Id="rId7" Type="http://schemas.openxmlformats.org/officeDocument/2006/relationships/image" Target="../media/image45.png"/><Relationship Id="rId2" Type="http://schemas.openxmlformats.org/officeDocument/2006/relationships/hyperlink" Target="https://aka.ms/installazurecliwindowsx64" TargetMode="External"/><Relationship Id="rId1" Type="http://schemas.openxmlformats.org/officeDocument/2006/relationships/slideLayout" Target="../slideLayouts/slideLayout13.xml"/><Relationship Id="rId6" Type="http://schemas.openxmlformats.org/officeDocument/2006/relationships/image" Target="../media/image44.png"/><Relationship Id="rId5" Type="http://schemas.microsoft.com/office/2007/relationships/hdphoto" Target="../media/hdphoto5.wdp"/><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4.png"/><Relationship Id="rId1" Type="http://schemas.openxmlformats.org/officeDocument/2006/relationships/slideLayout" Target="../slideLayouts/slideLayout13.xml"/><Relationship Id="rId4" Type="http://schemas.microsoft.com/office/2007/relationships/hdphoto" Target="../media/hdphoto5.wdp"/></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47.png"/><Relationship Id="rId4" Type="http://schemas.microsoft.com/office/2007/relationships/hdphoto" Target="../media/hdphoto4.wdp"/></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4.png"/><Relationship Id="rId1" Type="http://schemas.openxmlformats.org/officeDocument/2006/relationships/slideLayout" Target="../slideLayouts/slideLayout13.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56.png"/><Relationship Id="rId4" Type="http://schemas.openxmlformats.org/officeDocument/2006/relationships/image" Target="../media/image5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8" Type="http://schemas.openxmlformats.org/officeDocument/2006/relationships/customXml" Target="../ink/ink15.xml"/><Relationship Id="rId13" Type="http://schemas.openxmlformats.org/officeDocument/2006/relationships/image" Target="../media/image60.png"/><Relationship Id="rId18" Type="http://schemas.openxmlformats.org/officeDocument/2006/relationships/image" Target="../media/image65.png"/><Relationship Id="rId7" Type="http://schemas.openxmlformats.org/officeDocument/2006/relationships/image" Target="../media/image201.emf"/><Relationship Id="rId12" Type="http://schemas.openxmlformats.org/officeDocument/2006/relationships/image" Target="../media/image59.png"/><Relationship Id="rId17" Type="http://schemas.openxmlformats.org/officeDocument/2006/relationships/image" Target="../media/image64.png"/><Relationship Id="rId2" Type="http://schemas.openxmlformats.org/officeDocument/2006/relationships/customXml" Target="../ink/ink14.xml"/><Relationship Id="rId16" Type="http://schemas.openxmlformats.org/officeDocument/2006/relationships/image" Target="../media/image63.png"/><Relationship Id="rId1" Type="http://schemas.openxmlformats.org/officeDocument/2006/relationships/slideLayout" Target="../slideLayouts/slideLayout12.xml"/><Relationship Id="rId11" Type="http://schemas.openxmlformats.org/officeDocument/2006/relationships/image" Target="../media/image58.png"/><Relationship Id="rId15" Type="http://schemas.openxmlformats.org/officeDocument/2006/relationships/image" Target="../media/image62.png"/><Relationship Id="rId10" Type="http://schemas.openxmlformats.org/officeDocument/2006/relationships/image" Target="../media/image57.png"/><Relationship Id="rId9" Type="http://schemas.openxmlformats.org/officeDocument/2006/relationships/image" Target="../media/image202.emf"/><Relationship Id="rId14" Type="http://schemas.openxmlformats.org/officeDocument/2006/relationships/image" Target="../media/image6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8" Type="http://schemas.openxmlformats.org/officeDocument/2006/relationships/image" Target="../media/image144.emf"/><Relationship Id="rId13" Type="http://schemas.openxmlformats.org/officeDocument/2006/relationships/image" Target="../media/image72.png"/><Relationship Id="rId7" Type="http://schemas.openxmlformats.org/officeDocument/2006/relationships/customXml" Target="../ink/ink17.xml"/><Relationship Id="rId12" Type="http://schemas.openxmlformats.org/officeDocument/2006/relationships/image" Target="../media/image71.png"/><Relationship Id="rId2" Type="http://schemas.openxmlformats.org/officeDocument/2006/relationships/customXml" Target="../ink/ink16.xml"/><Relationship Id="rId1" Type="http://schemas.openxmlformats.org/officeDocument/2006/relationships/slideLayout" Target="../slideLayouts/slideLayout13.xml"/><Relationship Id="rId6" Type="http://schemas.openxmlformats.org/officeDocument/2006/relationships/image" Target="../media/image851.emf"/><Relationship Id="rId11" Type="http://schemas.openxmlformats.org/officeDocument/2006/relationships/image" Target="../media/image70.png"/><Relationship Id="rId10" Type="http://schemas.openxmlformats.org/officeDocument/2006/relationships/image" Target="../media/image69.png"/><Relationship Id="rId9" Type="http://schemas.openxmlformats.org/officeDocument/2006/relationships/image" Target="../media/image68.png"/><Relationship Id="rId14" Type="http://schemas.openxmlformats.org/officeDocument/2006/relationships/image" Target="../media/image73.png"/></Relationships>
</file>

<file path=ppt/slides/_rels/slide41.xml.rels><?xml version="1.0" encoding="UTF-8" standalone="yes"?>
<Relationships xmlns="http://schemas.openxmlformats.org/package/2006/relationships"><Relationship Id="rId18" Type="http://schemas.openxmlformats.org/officeDocument/2006/relationships/image" Target="../media/image74.png"/><Relationship Id="rId3" Type="http://schemas.openxmlformats.org/officeDocument/2006/relationships/customXml" Target="../ink/ink18.xml"/><Relationship Id="rId21" Type="http://schemas.openxmlformats.org/officeDocument/2006/relationships/customXml" Target="../ink/ink22.xml"/><Relationship Id="rId17" Type="http://schemas.openxmlformats.org/officeDocument/2006/relationships/image" Target="../media/image195.emf"/><Relationship Id="rId2" Type="http://schemas.openxmlformats.org/officeDocument/2006/relationships/notesSlide" Target="../notesSlides/notesSlide19.xml"/><Relationship Id="rId16" Type="http://schemas.openxmlformats.org/officeDocument/2006/relationships/customXml" Target="../ink/ink20.xml"/><Relationship Id="rId20" Type="http://schemas.openxmlformats.org/officeDocument/2006/relationships/image" Target="../media/image70.emf"/><Relationship Id="rId1" Type="http://schemas.openxmlformats.org/officeDocument/2006/relationships/slideLayout" Target="../slideLayouts/slideLayout12.xml"/><Relationship Id="rId11" Type="http://schemas.openxmlformats.org/officeDocument/2006/relationships/customXml" Target="../ink/ink19.xml"/><Relationship Id="rId15" Type="http://schemas.openxmlformats.org/officeDocument/2006/relationships/image" Target="../media/image157.emf"/><Relationship Id="rId10" Type="http://schemas.openxmlformats.org/officeDocument/2006/relationships/image" Target="../media/image24.png"/><Relationship Id="rId19" Type="http://schemas.openxmlformats.org/officeDocument/2006/relationships/customXml" Target="../ink/ink21.xml"/><Relationship Id="rId9" Type="http://schemas.openxmlformats.org/officeDocument/2006/relationships/image" Target="../media/image380.emf"/><Relationship Id="rId22" Type="http://schemas.openxmlformats.org/officeDocument/2006/relationships/image" Target="../media/image71.emf"/></Relationships>
</file>

<file path=ppt/slides/_rels/slide42.xml.rels><?xml version="1.0" encoding="UTF-8" standalone="yes"?>
<Relationships xmlns="http://schemas.openxmlformats.org/package/2006/relationships"><Relationship Id="rId3" Type="http://schemas.openxmlformats.org/officeDocument/2006/relationships/hyperlink" Target="https://portal.azure.com/#@inztechpvtltdgmail.onmicrosoft.com/resource/subscriptions/b9f2b1ae-1c93-4be7-a4bc-7c233e4cc3c4/resourceGroups/iz-resource-grp1/providers/Microsoft.Storage/storageAccounts/izadlsgen21" TargetMode="External"/><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72.emf"/><Relationship Id="rId4" Type="http://schemas.openxmlformats.org/officeDocument/2006/relationships/customXml" Target="../ink/ink23.xml"/></Relationships>
</file>

<file path=ppt/slides/_rels/slide43.xml.rels><?xml version="1.0" encoding="UTF-8" standalone="yes"?>
<Relationships xmlns="http://schemas.openxmlformats.org/package/2006/relationships"><Relationship Id="rId3" Type="http://schemas.openxmlformats.org/officeDocument/2006/relationships/customXml" Target="../ink/ink24.xml"/><Relationship Id="rId12" Type="http://schemas.openxmlformats.org/officeDocument/2006/relationships/customXml" Target="../ink/ink25.xml"/><Relationship Id="rId17" Type="http://schemas.openxmlformats.org/officeDocument/2006/relationships/image" Target="../media/image195.emf"/><Relationship Id="rId2" Type="http://schemas.openxmlformats.org/officeDocument/2006/relationships/notesSlide" Target="../notesSlides/notesSlide21.xml"/><Relationship Id="rId16" Type="http://schemas.openxmlformats.org/officeDocument/2006/relationships/customXml" Target="../ink/ink26.xml"/><Relationship Id="rId1" Type="http://schemas.openxmlformats.org/officeDocument/2006/relationships/slideLayout" Target="../slideLayouts/slideLayout12.xml"/><Relationship Id="rId11" Type="http://schemas.openxmlformats.org/officeDocument/2006/relationships/image" Target="../media/image24.png"/><Relationship Id="rId15" Type="http://schemas.openxmlformats.org/officeDocument/2006/relationships/image" Target="../media/image157.emf"/><Relationship Id="rId10" Type="http://schemas.openxmlformats.org/officeDocument/2006/relationships/hyperlink" Target="https://portal.azure.com/#@inztechpvtltdgmail.onmicrosoft.com/resource/subscriptions/b9f2b1ae-1c93-4be7-a4bc-7c233e4cc3c4/resourceGroups/iz-resource-grp1/providers/Microsoft.Storage/storageAccounts/izadlsgen21" TargetMode="External"/><Relationship Id="rId9" Type="http://schemas.openxmlformats.org/officeDocument/2006/relationships/image" Target="../media/image380.emf"/></Relationships>
</file>

<file path=ppt/slides/_rels/slide44.xml.rels><?xml version="1.0" encoding="UTF-8" standalone="yes"?>
<Relationships xmlns="http://schemas.openxmlformats.org/package/2006/relationships"><Relationship Id="rId3" Type="http://schemas.openxmlformats.org/officeDocument/2006/relationships/customXml" Target="../ink/ink27.xml"/><Relationship Id="rId17" Type="http://schemas.openxmlformats.org/officeDocument/2006/relationships/image" Target="../media/image195.emf"/><Relationship Id="rId2" Type="http://schemas.openxmlformats.org/officeDocument/2006/relationships/notesSlide" Target="../notesSlides/notesSlide22.xml"/><Relationship Id="rId16" Type="http://schemas.openxmlformats.org/officeDocument/2006/relationships/customXml" Target="../ink/ink29.xml"/><Relationship Id="rId1" Type="http://schemas.openxmlformats.org/officeDocument/2006/relationships/slideLayout" Target="../slideLayouts/slideLayout12.xml"/><Relationship Id="rId11" Type="http://schemas.openxmlformats.org/officeDocument/2006/relationships/customXml" Target="../ink/ink28.xml"/><Relationship Id="rId15" Type="http://schemas.openxmlformats.org/officeDocument/2006/relationships/image" Target="../media/image157.emf"/><Relationship Id="rId10" Type="http://schemas.openxmlformats.org/officeDocument/2006/relationships/image" Target="../media/image24.png"/><Relationship Id="rId9" Type="http://schemas.openxmlformats.org/officeDocument/2006/relationships/image" Target="../media/image380.emf"/></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microsoft.com/office/2007/relationships/hdphoto" Target="../media/hdphoto5.wdp"/><Relationship Id="rId5" Type="http://schemas.openxmlformats.org/officeDocument/2006/relationships/image" Target="../media/image40.png"/><Relationship Id="rId4" Type="http://schemas.openxmlformats.org/officeDocument/2006/relationships/hyperlink" Target="mailto:mailid@gmail.com" TargetMode="External"/></Relationships>
</file>

<file path=ppt/slides/_rels/slide46.xml.rels><?xml version="1.0" encoding="UTF-8" standalone="yes"?>
<Relationships xmlns="http://schemas.openxmlformats.org/package/2006/relationships"><Relationship Id="rId8" Type="http://schemas.openxmlformats.org/officeDocument/2006/relationships/customXml" Target="../ink/ink30.xml"/><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diagramColors" Target="../diagrams/colors4.xml"/><Relationship Id="rId11" Type="http://schemas.openxmlformats.org/officeDocument/2006/relationships/image" Target="../media/image165.emf"/><Relationship Id="rId5" Type="http://schemas.openxmlformats.org/officeDocument/2006/relationships/diagramQuickStyle" Target="../diagrams/quickStyle4.xml"/><Relationship Id="rId10" Type="http://schemas.openxmlformats.org/officeDocument/2006/relationships/customXml" Target="../ink/ink31.xml"/><Relationship Id="rId4" Type="http://schemas.openxmlformats.org/officeDocument/2006/relationships/diagramLayout" Target="../diagrams/layout4.xml"/><Relationship Id="rId9" Type="http://schemas.openxmlformats.org/officeDocument/2006/relationships/image" Target="../media/image380.emf"/></Relationships>
</file>

<file path=ppt/slides/_rels/slide4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8" Type="http://schemas.openxmlformats.org/officeDocument/2006/relationships/image" Target="../media/image80.png"/><Relationship Id="rId26" Type="http://schemas.openxmlformats.org/officeDocument/2006/relationships/image" Target="../media/image86.png"/><Relationship Id="rId3" Type="http://schemas.openxmlformats.org/officeDocument/2006/relationships/image" Target="../media/image75.png"/><Relationship Id="rId7" Type="http://schemas.openxmlformats.org/officeDocument/2006/relationships/image" Target="../media/image79.png"/><Relationship Id="rId12" Type="http://schemas.openxmlformats.org/officeDocument/2006/relationships/customXml" Target="../ink/ink32.xml"/><Relationship Id="rId25" Type="http://schemas.microsoft.com/office/2007/relationships/hdphoto" Target="../media/hdphoto6.wdp"/><Relationship Id="rId2" Type="http://schemas.openxmlformats.org/officeDocument/2006/relationships/image" Target="../media/image3.png"/><Relationship Id="rId1" Type="http://schemas.openxmlformats.org/officeDocument/2006/relationships/slideLayout" Target="../slideLayouts/slideLayout24.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85.jpeg"/><Relationship Id="rId5" Type="http://schemas.openxmlformats.org/officeDocument/2006/relationships/image" Target="../media/image77.png"/><Relationship Id="rId23" Type="http://schemas.openxmlformats.org/officeDocument/2006/relationships/image" Target="../media/image84.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 Id="rId22" Type="http://schemas.openxmlformats.org/officeDocument/2006/relationships/image" Target="../media/image202.emf"/></Relationships>
</file>

<file path=ppt/slides/_rels/slide4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3.xml"/><Relationship Id="rId5" Type="http://schemas.openxmlformats.org/officeDocument/2006/relationships/image" Target="../media/image91.png"/><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8" Type="http://schemas.openxmlformats.org/officeDocument/2006/relationships/diagramColors" Target="../diagrams/colors5.xml"/><Relationship Id="rId13" Type="http://schemas.openxmlformats.org/officeDocument/2006/relationships/diagramColors" Target="../diagrams/colors6.xml"/><Relationship Id="rId3" Type="http://schemas.openxmlformats.org/officeDocument/2006/relationships/customXml" Target="../ink/ink33.xml"/><Relationship Id="rId7" Type="http://schemas.openxmlformats.org/officeDocument/2006/relationships/diagramQuickStyle" Target="../diagrams/quickStyle5.xml"/><Relationship Id="rId12" Type="http://schemas.openxmlformats.org/officeDocument/2006/relationships/diagramQuickStyle" Target="../diagrams/quickStyle6.xml"/><Relationship Id="rId2" Type="http://schemas.openxmlformats.org/officeDocument/2006/relationships/notesSlide" Target="../notesSlides/notesSlide25.xml"/><Relationship Id="rId1" Type="http://schemas.openxmlformats.org/officeDocument/2006/relationships/slideLayout" Target="../slideLayouts/slideLayout34.xml"/><Relationship Id="rId6" Type="http://schemas.openxmlformats.org/officeDocument/2006/relationships/diagramLayout" Target="../diagrams/layout5.xml"/><Relationship Id="rId11" Type="http://schemas.openxmlformats.org/officeDocument/2006/relationships/diagramLayout" Target="../diagrams/layout6.xml"/><Relationship Id="rId5" Type="http://schemas.openxmlformats.org/officeDocument/2006/relationships/diagramData" Target="../diagrams/data5.xml"/><Relationship Id="rId10" Type="http://schemas.openxmlformats.org/officeDocument/2006/relationships/diagramData" Target="../diagrams/data6.xml"/><Relationship Id="rId4" Type="http://schemas.openxmlformats.org/officeDocument/2006/relationships/image" Target="../media/image1590.emf"/><Relationship Id="rId9" Type="http://schemas.microsoft.com/office/2007/relationships/diagramDrawing" Target="../diagrams/drawing5.xml"/><Relationship Id="rId14" Type="http://schemas.microsoft.com/office/2007/relationships/diagramDrawing" Target="../diagrams/drawing6.xml"/></Relationships>
</file>

<file path=ppt/slides/_rels/slide53.xml.rels><?xml version="1.0" encoding="UTF-8" standalone="yes"?>
<Relationships xmlns="http://schemas.openxmlformats.org/package/2006/relationships"><Relationship Id="rId3" Type="http://schemas.openxmlformats.org/officeDocument/2006/relationships/image" Target="../media/image93.png"/><Relationship Id="rId7" Type="http://schemas.microsoft.com/office/2007/relationships/hdphoto" Target="../media/hdphoto7.wdp"/><Relationship Id="rId2" Type="http://schemas.openxmlformats.org/officeDocument/2006/relationships/image" Target="../media/image92.png"/><Relationship Id="rId1" Type="http://schemas.openxmlformats.org/officeDocument/2006/relationships/slideLayout" Target="../slideLayouts/slideLayout35.xml"/><Relationship Id="rId6" Type="http://schemas.openxmlformats.org/officeDocument/2006/relationships/image" Target="../media/image94.png"/><Relationship Id="rId5" Type="http://schemas.openxmlformats.org/officeDocument/2006/relationships/image" Target="../media/image1510.emf"/><Relationship Id="rId4" Type="http://schemas.openxmlformats.org/officeDocument/2006/relationships/customXml" Target="../ink/ink3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01.png"/><Relationship Id="rId1" Type="http://schemas.openxmlformats.org/officeDocument/2006/relationships/slideLayout" Target="../slideLayouts/slideLayout13.xml"/><Relationship Id="rId4" Type="http://schemas.microsoft.com/office/2007/relationships/hdphoto" Target="../media/hdphoto7.wdp"/></Relationships>
</file>

<file path=ppt/slides/_rels/slide60.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02.png"/><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104.png"/><Relationship Id="rId4" Type="http://schemas.openxmlformats.org/officeDocument/2006/relationships/image" Target="../media/image10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customXml" Target="../ink/ink35.xml"/><Relationship Id="rId7" Type="http://schemas.openxmlformats.org/officeDocument/2006/relationships/image" Target="../media/image107.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106.png"/><Relationship Id="rId5" Type="http://schemas.openxmlformats.org/officeDocument/2006/relationships/image" Target="../media/image49.emf"/></Relationships>
</file>

<file path=ppt/slides/_rels/slide65.xml.rels><?xml version="1.0" encoding="UTF-8" standalone="yes"?>
<Relationships xmlns="http://schemas.openxmlformats.org/package/2006/relationships"><Relationship Id="rId3" Type="http://schemas.openxmlformats.org/officeDocument/2006/relationships/customXml" Target="../ink/ink36.xml"/><Relationship Id="rId7" Type="http://schemas.openxmlformats.org/officeDocument/2006/relationships/image" Target="../media/image109.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108.png"/><Relationship Id="rId5" Type="http://schemas.openxmlformats.org/officeDocument/2006/relationships/image" Target="../media/image49.emf"/></Relationships>
</file>

<file path=ppt/slides/_rels/slide6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customXml" Target="../ink/ink37.xml"/><Relationship Id="rId7" Type="http://schemas.openxmlformats.org/officeDocument/2006/relationships/image" Target="../media/image115.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114.png"/><Relationship Id="rId5" Type="http://schemas.openxmlformats.org/officeDocument/2006/relationships/image" Target="../media/image49.emf"/></Relationships>
</file>

<file path=ppt/slides/_rels/slide70.xml.rels><?xml version="1.0" encoding="UTF-8" standalone="yes"?>
<Relationships xmlns="http://schemas.openxmlformats.org/package/2006/relationships"><Relationship Id="rId3" Type="http://schemas.openxmlformats.org/officeDocument/2006/relationships/image" Target="../media/image118.png"/><Relationship Id="rId7" Type="http://schemas.openxmlformats.org/officeDocument/2006/relationships/hyperlink" Target="https://azure.microsoft.com/en-us/pricing/calculator/" TargetMode="External"/><Relationship Id="rId2" Type="http://schemas.openxmlformats.org/officeDocument/2006/relationships/image" Target="../media/image117.png"/><Relationship Id="rId1" Type="http://schemas.openxmlformats.org/officeDocument/2006/relationships/slideLayout" Target="../slideLayouts/slideLayout13.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hyperlink" Target="https://drive.google.com/file/d/1X-uAU9Pyyssge8M_UtsSzcYZEb_5LSva/view?usp=drive_link" TargetMode="External"/><Relationship Id="rId1" Type="http://schemas.openxmlformats.org/officeDocument/2006/relationships/slideLayout" Target="../slideLayouts/slideLayout13.xml"/><Relationship Id="rId5" Type="http://schemas.openxmlformats.org/officeDocument/2006/relationships/image" Target="../media/image124.png"/><Relationship Id="rId4" Type="http://schemas.openxmlformats.org/officeDocument/2006/relationships/image" Target="../media/image123.png"/></Relationships>
</file>

<file path=ppt/slides/_rels/slide75.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8" Type="http://schemas.openxmlformats.org/officeDocument/2006/relationships/image" Target="../media/image124.png"/><Relationship Id="rId3" Type="http://schemas.openxmlformats.org/officeDocument/2006/relationships/image" Target="../media/image122.png"/><Relationship Id="rId7" Type="http://schemas.openxmlformats.org/officeDocument/2006/relationships/image" Target="../media/image129.png"/><Relationship Id="rId2" Type="http://schemas.openxmlformats.org/officeDocument/2006/relationships/image" Target="../media/image126.png"/><Relationship Id="rId1" Type="http://schemas.openxmlformats.org/officeDocument/2006/relationships/slideLayout" Target="../slideLayouts/slideLayout13.xml"/><Relationship Id="rId6" Type="http://schemas.openxmlformats.org/officeDocument/2006/relationships/image" Target="../media/image123.png"/><Relationship Id="rId5" Type="http://schemas.openxmlformats.org/officeDocument/2006/relationships/image" Target="../media/image128.png"/><Relationship Id="rId4" Type="http://schemas.openxmlformats.org/officeDocument/2006/relationships/image" Target="../media/image1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a:spLocks noGrp="1"/>
          </p:cNvSpPr>
          <p:nvPr>
            <p:ph type="title"/>
          </p:nvPr>
        </p:nvSpPr>
        <p:spPr>
          <a:xfrm>
            <a:off x="2886452" y="2139808"/>
            <a:ext cx="5800165" cy="1143000"/>
          </a:xfrm>
        </p:spPr>
        <p:txBody>
          <a:bodyPr vert="horz" lIns="91440" tIns="45720" rIns="91440" bIns="45720" rtlCol="0" anchor="ctr">
            <a:normAutofit/>
          </a:bodyPr>
          <a:lstStyle/>
          <a:p>
            <a:r>
              <a:rPr lang="en-US" sz="6000" b="1" dirty="0">
                <a:solidFill>
                  <a:srgbClr val="FF0000"/>
                </a:solidFill>
              </a:rPr>
              <a:t>Cloud Computing</a:t>
            </a:r>
            <a:endParaRPr lang="en-US" b="1" dirty="0">
              <a:solidFill>
                <a:srgbClr val="FF0000"/>
              </a:solidFill>
            </a:endParaRPr>
          </a:p>
        </p:txBody>
      </p:sp>
      <p:sp>
        <p:nvSpPr>
          <p:cNvPr id="2" name="Oval 1"/>
          <p:cNvSpPr/>
          <p:nvPr/>
        </p:nvSpPr>
        <p:spPr>
          <a:xfrm>
            <a:off x="478565" y="529839"/>
            <a:ext cx="1324598" cy="1239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u="sng" dirty="0" smtClean="0"/>
              <a:t>Stage1</a:t>
            </a:r>
          </a:p>
          <a:p>
            <a:pPr algn="ctr"/>
            <a:r>
              <a:rPr lang="en-IN" dirty="0" err="1" smtClean="0"/>
              <a:t>Py,</a:t>
            </a:r>
            <a:r>
              <a:rPr lang="en-IN" b="1" dirty="0" err="1" smtClean="0"/>
              <a:t>SQL,DWH</a:t>
            </a:r>
            <a:endParaRPr lang="en-IN" b="1" dirty="0"/>
          </a:p>
        </p:txBody>
      </p:sp>
      <p:sp>
        <p:nvSpPr>
          <p:cNvPr id="4" name="Oval 3"/>
          <p:cNvSpPr/>
          <p:nvPr/>
        </p:nvSpPr>
        <p:spPr>
          <a:xfrm>
            <a:off x="1588094" y="478562"/>
            <a:ext cx="1548212" cy="1375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u="sng" dirty="0" smtClean="0"/>
              <a:t>Stage2</a:t>
            </a:r>
          </a:p>
          <a:p>
            <a:pPr algn="ctr"/>
            <a:r>
              <a:rPr lang="en-IN" b="1" dirty="0" err="1" smtClean="0">
                <a:solidFill>
                  <a:srgbClr val="C00000"/>
                </a:solidFill>
              </a:rPr>
              <a:t>PySpark</a:t>
            </a:r>
            <a:endParaRPr lang="en-IN" b="1" dirty="0" smtClean="0">
              <a:solidFill>
                <a:srgbClr val="C00000"/>
              </a:solidFill>
            </a:endParaRPr>
          </a:p>
          <a:p>
            <a:pPr algn="ctr"/>
            <a:r>
              <a:rPr lang="en-IN" sz="1600" b="1" dirty="0" err="1" smtClean="0"/>
              <a:t>Databricks</a:t>
            </a:r>
            <a:endParaRPr lang="en-IN" sz="1600" b="1" dirty="0" smtClean="0"/>
          </a:p>
          <a:p>
            <a:pPr algn="ctr"/>
            <a:r>
              <a:rPr lang="en-IN" sz="1600" b="1" dirty="0" smtClean="0"/>
              <a:t>DE/AI/BI</a:t>
            </a:r>
            <a:endParaRPr lang="en-IN" b="1" dirty="0"/>
          </a:p>
        </p:txBody>
      </p:sp>
      <p:sp>
        <p:nvSpPr>
          <p:cNvPr id="5" name="Oval 4"/>
          <p:cNvSpPr/>
          <p:nvPr/>
        </p:nvSpPr>
        <p:spPr>
          <a:xfrm>
            <a:off x="2894175" y="401654"/>
            <a:ext cx="1729099" cy="15382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u="sng" dirty="0" smtClean="0"/>
              <a:t>Stage3</a:t>
            </a:r>
          </a:p>
          <a:p>
            <a:pPr algn="ctr"/>
            <a:r>
              <a:rPr lang="en-IN" sz="1600" dirty="0" smtClean="0"/>
              <a:t>Multi-Cloud +</a:t>
            </a:r>
          </a:p>
          <a:p>
            <a:pPr algn="ctr"/>
            <a:r>
              <a:rPr lang="en-IN" sz="1600" dirty="0" smtClean="0"/>
              <a:t>DE + AIE + BIE</a:t>
            </a:r>
          </a:p>
          <a:p>
            <a:pPr algn="ctr"/>
            <a:endParaRPr lang="en-IN" sz="1600" b="1" dirty="0"/>
          </a:p>
        </p:txBody>
      </p:sp>
      <p:sp>
        <p:nvSpPr>
          <p:cNvPr id="3" name="TextBox 2"/>
          <p:cNvSpPr txBox="1"/>
          <p:nvPr/>
        </p:nvSpPr>
        <p:spPr>
          <a:xfrm>
            <a:off x="316192" y="3443955"/>
            <a:ext cx="9075635" cy="923330"/>
          </a:xfrm>
          <a:prstGeom prst="rect">
            <a:avLst/>
          </a:prstGeom>
          <a:noFill/>
        </p:spPr>
        <p:txBody>
          <a:bodyPr wrap="square" rtlCol="0">
            <a:spAutoFit/>
          </a:bodyPr>
          <a:lstStyle/>
          <a:p>
            <a:r>
              <a:rPr lang="en-IN" dirty="0" smtClean="0"/>
              <a:t>First </a:t>
            </a:r>
            <a:r>
              <a:rPr lang="en-IN" b="1" dirty="0" smtClean="0"/>
              <a:t>Azure</a:t>
            </a:r>
            <a:r>
              <a:rPr lang="en-IN" dirty="0" smtClean="0"/>
              <a:t>       -&gt; +</a:t>
            </a:r>
            <a:r>
              <a:rPr lang="en-IN" dirty="0" err="1" smtClean="0"/>
              <a:t>Databricks</a:t>
            </a:r>
            <a:r>
              <a:rPr lang="en-IN" dirty="0" smtClean="0"/>
              <a:t>, +ADF, </a:t>
            </a:r>
            <a:r>
              <a:rPr lang="en-IN" b="1" dirty="0" smtClean="0"/>
              <a:t>Learning</a:t>
            </a:r>
            <a:r>
              <a:rPr lang="en-IN" dirty="0" smtClean="0"/>
              <a:t> (-1 month trial, -Cloud </a:t>
            </a:r>
            <a:r>
              <a:rPr lang="en-IN" dirty="0" err="1" smtClean="0"/>
              <a:t>Hierachy</a:t>
            </a:r>
            <a:r>
              <a:rPr lang="en-IN" dirty="0" smtClean="0"/>
              <a:t> Complex)</a:t>
            </a:r>
          </a:p>
          <a:p>
            <a:r>
              <a:rPr lang="en-IN" dirty="0" smtClean="0"/>
              <a:t>Second GCP    -&gt; +</a:t>
            </a:r>
            <a:r>
              <a:rPr lang="en-IN" dirty="0" err="1" smtClean="0"/>
              <a:t>Databricks</a:t>
            </a:r>
            <a:r>
              <a:rPr lang="en-IN" dirty="0" smtClean="0"/>
              <a:t>/+</a:t>
            </a:r>
            <a:r>
              <a:rPr lang="en-IN" dirty="0" err="1" smtClean="0"/>
              <a:t>Dataproc</a:t>
            </a:r>
            <a:r>
              <a:rPr lang="en-IN" dirty="0" smtClean="0"/>
              <a:t>, +</a:t>
            </a:r>
            <a:r>
              <a:rPr lang="en-IN" dirty="0" err="1" smtClean="0"/>
              <a:t>Bigquery</a:t>
            </a:r>
            <a:r>
              <a:rPr lang="en-IN" dirty="0" smtClean="0"/>
              <a:t> (SQL/PLSQL), Learning (+3 months trial, +Cloud </a:t>
            </a:r>
            <a:r>
              <a:rPr lang="en-IN" dirty="0" err="1" smtClean="0"/>
              <a:t>Hierachy</a:t>
            </a:r>
            <a:r>
              <a:rPr lang="en-IN" dirty="0" smtClean="0"/>
              <a:t> Simple)</a:t>
            </a:r>
            <a:endParaRPr lang="en-IN" dirty="0"/>
          </a:p>
        </p:txBody>
      </p:sp>
    </p:spTree>
    <p:extLst>
      <p:ext uri="{BB962C8B-B14F-4D97-AF65-F5344CB8AC3E}">
        <p14:creationId xmlns:p14="http://schemas.microsoft.com/office/powerpoint/2010/main" val="546760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928765"/>
            <a:ext cx="6260863" cy="3693319"/>
          </a:xfrm>
          <a:prstGeom prst="rect">
            <a:avLst/>
          </a:prstGeom>
          <a:noFill/>
        </p:spPr>
        <p:txBody>
          <a:bodyPr wrap="square" rtlCol="0">
            <a:spAutoFit/>
          </a:bodyPr>
          <a:lstStyle/>
          <a:p>
            <a:pPr marL="285750" indent="-285750">
              <a:buFont typeface="Wingdings" panose="05000000000000000000" pitchFamily="2" charset="2"/>
              <a:buChar char="ü"/>
            </a:pPr>
            <a:r>
              <a:rPr lang="en-US" dirty="0"/>
              <a:t>What is Cloud Computing? </a:t>
            </a:r>
            <a:endParaRPr lang="en-US" dirty="0" smtClean="0"/>
          </a:p>
          <a:p>
            <a:pPr marL="742950" lvl="1" indent="-285750">
              <a:buFont typeface="Wingdings" panose="05000000000000000000" pitchFamily="2" charset="2"/>
              <a:buChar char="ü"/>
            </a:pPr>
            <a:r>
              <a:rPr lang="en-US" dirty="0" smtClean="0"/>
              <a:t>Computers I am going to rent from some companies</a:t>
            </a:r>
            <a:endParaRPr lang="en-US" dirty="0"/>
          </a:p>
          <a:p>
            <a:pPr marL="742950" lvl="1" indent="-285750">
              <a:buFont typeface="Wingdings" panose="05000000000000000000" pitchFamily="2" charset="2"/>
              <a:buChar char="ü"/>
            </a:pPr>
            <a:r>
              <a:rPr lang="en-US" dirty="0" smtClean="0"/>
              <a:t>IT Resources in a form of Service (APIs &amp; Web Service)</a:t>
            </a:r>
          </a:p>
          <a:p>
            <a:pPr marL="742950" lvl="1" indent="-285750">
              <a:buFont typeface="Wingdings" panose="05000000000000000000" pitchFamily="2" charset="2"/>
              <a:buChar char="ü"/>
            </a:pPr>
            <a:r>
              <a:rPr lang="en-US" dirty="0" smtClean="0"/>
              <a:t>IP</a:t>
            </a:r>
            <a:r>
              <a:rPr lang="en-US" b="1" dirty="0" smtClean="0"/>
              <a:t>S</a:t>
            </a:r>
            <a:r>
              <a:rPr lang="en-US" dirty="0" smtClean="0"/>
              <a:t> (Infra/Platform/</a:t>
            </a:r>
            <a:r>
              <a:rPr lang="en-US" b="1" dirty="0" err="1" smtClean="0"/>
              <a:t>Softwares</a:t>
            </a:r>
            <a:r>
              <a:rPr lang="en-US" dirty="0" smtClean="0"/>
              <a:t>) – </a:t>
            </a:r>
            <a:r>
              <a:rPr lang="en-US" b="1" dirty="0" smtClean="0"/>
              <a:t>cloud engineer</a:t>
            </a:r>
          </a:p>
          <a:p>
            <a:pPr marL="285750" indent="-285750">
              <a:buFont typeface="Wingdings" panose="05000000000000000000" pitchFamily="2" charset="2"/>
              <a:buChar char="ü"/>
            </a:pPr>
            <a:r>
              <a:rPr lang="en-US" dirty="0" smtClean="0"/>
              <a:t>Cloud </a:t>
            </a:r>
            <a:r>
              <a:rPr lang="en-US" dirty="0"/>
              <a:t>Name</a:t>
            </a:r>
            <a:r>
              <a:rPr lang="en-US" dirty="0" smtClean="0"/>
              <a:t>?</a:t>
            </a:r>
            <a:endParaRPr lang="en-US" dirty="0"/>
          </a:p>
          <a:p>
            <a:pPr marL="742950" lvl="1" indent="-285750">
              <a:buFont typeface="Wingdings" panose="05000000000000000000" pitchFamily="2" charset="2"/>
              <a:buChar char="ü"/>
            </a:pPr>
            <a:r>
              <a:rPr lang="en-US" dirty="0" smtClean="0"/>
              <a:t>To access anytime by anyone from anywhere.</a:t>
            </a:r>
          </a:p>
          <a:p>
            <a:pPr marL="285750" indent="-285750">
              <a:buFont typeface="Wingdings" panose="05000000000000000000" pitchFamily="2" charset="2"/>
              <a:buChar char="ü"/>
            </a:pPr>
            <a:r>
              <a:rPr lang="en-US" dirty="0" smtClean="0"/>
              <a:t>Types </a:t>
            </a:r>
            <a:r>
              <a:rPr lang="en-US" dirty="0"/>
              <a:t>of Cloud </a:t>
            </a:r>
            <a:r>
              <a:rPr lang="en-US" dirty="0" smtClean="0"/>
              <a:t>?</a:t>
            </a:r>
          </a:p>
          <a:p>
            <a:pPr marL="742950" lvl="1" indent="-285750">
              <a:buFont typeface="Wingdings" panose="05000000000000000000" pitchFamily="2" charset="2"/>
              <a:buChar char="ü"/>
            </a:pPr>
            <a:r>
              <a:rPr lang="en-US" dirty="0" smtClean="0"/>
              <a:t>Private (</a:t>
            </a:r>
            <a:r>
              <a:rPr lang="en-US" dirty="0" err="1" smtClean="0"/>
              <a:t>Indegeneous</a:t>
            </a:r>
            <a:r>
              <a:rPr lang="en-US" dirty="0" smtClean="0"/>
              <a:t>/</a:t>
            </a:r>
            <a:r>
              <a:rPr lang="en-US" dirty="0" err="1" smtClean="0"/>
              <a:t>Soverign</a:t>
            </a:r>
            <a:r>
              <a:rPr lang="en-US" dirty="0" smtClean="0"/>
              <a:t> Cloud) </a:t>
            </a:r>
          </a:p>
          <a:p>
            <a:pPr marL="1200150" lvl="2" indent="-285750">
              <a:buFont typeface="Wingdings" panose="05000000000000000000" pitchFamily="2" charset="2"/>
              <a:buChar char="ü"/>
            </a:pPr>
            <a:r>
              <a:rPr lang="en-US" dirty="0" smtClean="0"/>
              <a:t>Security, Cost effectiveness, </a:t>
            </a:r>
          </a:p>
          <a:p>
            <a:pPr lvl="2"/>
            <a:r>
              <a:rPr lang="en-US" dirty="0" smtClean="0"/>
              <a:t>Intensive AI Workloads/DE workloads</a:t>
            </a:r>
          </a:p>
          <a:p>
            <a:pPr marL="742950" lvl="1" indent="-285750">
              <a:buFont typeface="Wingdings" panose="05000000000000000000" pitchFamily="2" charset="2"/>
              <a:buChar char="ü"/>
            </a:pPr>
            <a:r>
              <a:rPr lang="en-US" dirty="0" smtClean="0"/>
              <a:t>Public – Azure, AWS, GCP, Alibaba, Oracle, IBM…</a:t>
            </a:r>
          </a:p>
          <a:p>
            <a:pPr marL="742950" lvl="1" indent="-285750">
              <a:buFont typeface="Wingdings" panose="05000000000000000000" pitchFamily="2" charset="2"/>
              <a:buChar char="ü"/>
            </a:pPr>
            <a:r>
              <a:rPr lang="en-US" b="1" dirty="0" smtClean="0"/>
              <a:t>Hybrid</a:t>
            </a:r>
            <a:r>
              <a:rPr lang="en-US" dirty="0" smtClean="0"/>
              <a:t> – Private &amp;  Public </a:t>
            </a:r>
          </a:p>
          <a:p>
            <a:pPr marL="1200150" lvl="2" indent="-285750">
              <a:buFont typeface="Wingdings" panose="05000000000000000000" pitchFamily="2" charset="2"/>
              <a:buChar char="ü"/>
            </a:pPr>
            <a:r>
              <a:rPr lang="en-US" dirty="0" smtClean="0"/>
              <a:t>(Private on Public or Public on Private)</a:t>
            </a:r>
            <a:endParaRPr lang="en-IN" dirty="0"/>
          </a:p>
        </p:txBody>
      </p:sp>
      <p:sp>
        <p:nvSpPr>
          <p:cNvPr id="5" name="Title 1">
            <a:extLst>
              <a:ext uri="{FF2B5EF4-FFF2-40B4-BE49-F238E27FC236}">
                <a16:creationId xmlns="" xmlns:a16="http://schemas.microsoft.com/office/drawing/2014/main" id="{585FA2E0-4EF3-3894-164B-0C65F3F83201}"/>
              </a:ext>
            </a:extLst>
          </p:cNvPr>
          <p:cNvSpPr>
            <a:spLocks noGrp="1"/>
          </p:cNvSpPr>
          <p:nvPr>
            <p:ph type="title"/>
          </p:nvPr>
        </p:nvSpPr>
        <p:spPr>
          <a:xfrm>
            <a:off x="0" y="0"/>
            <a:ext cx="7936125" cy="721088"/>
          </a:xfrm>
        </p:spPr>
        <p:txBody>
          <a:bodyPr vert="horz" lIns="91440" tIns="45720" rIns="91440" bIns="45720" rtlCol="0" anchor="ctr">
            <a:noAutofit/>
          </a:bodyPr>
          <a:lstStyle/>
          <a:p>
            <a:r>
              <a:rPr lang="en-US" sz="4000" b="1" dirty="0" smtClean="0">
                <a:solidFill>
                  <a:srgbClr val="FF0000"/>
                </a:solidFill>
              </a:rPr>
              <a:t>All about Cloud Computing</a:t>
            </a:r>
            <a:endParaRPr lang="en-US" sz="2800" b="1" dirty="0">
              <a:solidFill>
                <a:srgbClr val="FF0000"/>
              </a:solidFill>
            </a:endParaRPr>
          </a:p>
        </p:txBody>
      </p:sp>
      <p:pic>
        <p:nvPicPr>
          <p:cNvPr id="7" name="Picture 6">
            <a:extLst>
              <a:ext uri="{FF2B5EF4-FFF2-40B4-BE49-F238E27FC236}">
                <a16:creationId xmlns="" xmlns:a16="http://schemas.microsoft.com/office/drawing/2014/main" id="{9D6217F0-AC26-1E5D-7673-90E3506F764A}"/>
              </a:ext>
            </a:extLst>
          </p:cNvPr>
          <p:cNvPicPr>
            <a:picLocks noChangeAspect="1"/>
          </p:cNvPicPr>
          <p:nvPr/>
        </p:nvPicPr>
        <p:blipFill>
          <a:blip r:embed="rId2"/>
          <a:stretch>
            <a:fillRect/>
          </a:stretch>
        </p:blipFill>
        <p:spPr>
          <a:xfrm>
            <a:off x="5836659" y="931813"/>
            <a:ext cx="6254571" cy="4943666"/>
          </a:xfrm>
          <a:prstGeom prst="rect">
            <a:avLst/>
          </a:prstGeom>
        </p:spPr>
      </p:pic>
    </p:spTree>
    <p:extLst>
      <p:ext uri="{BB962C8B-B14F-4D97-AF65-F5344CB8AC3E}">
        <p14:creationId xmlns:p14="http://schemas.microsoft.com/office/powerpoint/2010/main" val="2033247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307975" y="210702"/>
            <a:ext cx="1618841" cy="369332"/>
          </a:xfrm>
          <a:prstGeom prst="rect">
            <a:avLst/>
          </a:prstGeom>
        </p:spPr>
        <p:txBody>
          <a:bodyPr wrap="none">
            <a:spAutoFit/>
          </a:bodyPr>
          <a:lstStyle/>
          <a:p>
            <a:r>
              <a:rPr lang="en-US" b="1" u="sng" dirty="0">
                <a:solidFill>
                  <a:srgbClr val="FF0000"/>
                </a:solidFill>
              </a:rPr>
              <a:t>What is Cloud?</a:t>
            </a:r>
            <a:endParaRPr lang="en-US" b="1" u="sng" dirty="0"/>
          </a:p>
        </p:txBody>
      </p:sp>
      <p:pic>
        <p:nvPicPr>
          <p:cNvPr id="1026" name="Picture 2" descr="What is the difference between Public, Private and Hybrid Cloud? | by Karan  Singh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1300" y="2891591"/>
            <a:ext cx="4919373" cy="247977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9" name="Rectangle 8"/>
          <p:cNvSpPr/>
          <p:nvPr/>
        </p:nvSpPr>
        <p:spPr>
          <a:xfrm>
            <a:off x="6754783" y="2270206"/>
            <a:ext cx="1581651" cy="369332"/>
          </a:xfrm>
          <a:prstGeom prst="rect">
            <a:avLst/>
          </a:prstGeom>
        </p:spPr>
        <p:txBody>
          <a:bodyPr wrap="none">
            <a:spAutoFit/>
          </a:bodyPr>
          <a:lstStyle/>
          <a:p>
            <a:r>
              <a:rPr lang="en-US" b="1" u="sng" dirty="0">
                <a:solidFill>
                  <a:srgbClr val="FF0000"/>
                </a:solidFill>
              </a:rPr>
              <a:t>Types of Cloud</a:t>
            </a:r>
            <a:endParaRPr lang="en-US" b="1" u="sng" dirty="0"/>
          </a:p>
        </p:txBody>
      </p:sp>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5283360" y="3479760"/>
              <a:ext cx="2495880" cy="343440"/>
            </p14:xfrm>
          </p:contentPart>
        </mc:Choice>
        <mc:Fallback xmlns="">
          <p:pic>
            <p:nvPicPr>
              <p:cNvPr id="6" name="Ink 5"/>
              <p:cNvPicPr/>
              <p:nvPr/>
            </p:nvPicPr>
            <p:blipFill>
              <a:blip r:embed="rId4"/>
              <a:stretch>
                <a:fillRect/>
              </a:stretch>
            </p:blipFill>
            <p:spPr>
              <a:xfrm>
                <a:off x="5274000" y="3470400"/>
                <a:ext cx="2514600" cy="362160"/>
              </a:xfrm>
              <a:prstGeom prst="rect">
                <a:avLst/>
              </a:prstGeom>
            </p:spPr>
          </p:pic>
        </mc:Fallback>
      </mc:AlternateContent>
      <p:sp>
        <p:nvSpPr>
          <p:cNvPr id="3" name="Rectangle 2"/>
          <p:cNvSpPr/>
          <p:nvPr/>
        </p:nvSpPr>
        <p:spPr>
          <a:xfrm>
            <a:off x="130583" y="580034"/>
            <a:ext cx="6481232" cy="1569660"/>
          </a:xfrm>
          <a:prstGeom prst="rect">
            <a:avLst/>
          </a:prstGeom>
        </p:spPr>
        <p:txBody>
          <a:bodyPr wrap="square">
            <a:spAutoFit/>
          </a:bodyPr>
          <a:lstStyle/>
          <a:p>
            <a:pPr algn="just"/>
            <a:r>
              <a:rPr lang="en-US" sz="1600" dirty="0"/>
              <a:t>Cloud Computing is an </a:t>
            </a:r>
            <a:r>
              <a:rPr lang="en-US" sz="1600" b="1" dirty="0"/>
              <a:t>on-demand</a:t>
            </a:r>
            <a:r>
              <a:rPr lang="en-US" sz="1600" dirty="0"/>
              <a:t> availability of Computer system </a:t>
            </a:r>
            <a:r>
              <a:rPr lang="en-US" sz="1600" b="1" dirty="0"/>
              <a:t>resources</a:t>
            </a:r>
            <a:r>
              <a:rPr lang="en-US" sz="1600" dirty="0"/>
              <a:t> such as </a:t>
            </a:r>
            <a:r>
              <a:rPr lang="en-US" sz="1600" b="1" i="1" dirty="0"/>
              <a:t>Infrastructure ,Platform, Software</a:t>
            </a:r>
            <a:r>
              <a:rPr lang="en-US" sz="1600" i="1" dirty="0"/>
              <a:t>, OS, Database, Computation, Storage, anything etc., over the </a:t>
            </a:r>
            <a:r>
              <a:rPr lang="en-US" sz="1600" b="1" i="1" dirty="0" smtClean="0"/>
              <a:t>Internet/Intranet</a:t>
            </a:r>
            <a:r>
              <a:rPr lang="en-US" sz="1600" i="1" dirty="0" smtClean="0"/>
              <a:t>.</a:t>
            </a:r>
            <a:endParaRPr lang="en-US" sz="1600" dirty="0"/>
          </a:p>
          <a:p>
            <a:pPr algn="just"/>
            <a:r>
              <a:rPr lang="en-US" sz="1600" dirty="0"/>
              <a:t>	It is maturing at the level of providing </a:t>
            </a:r>
            <a:r>
              <a:rPr lang="en-US" sz="1600" b="1" dirty="0" smtClean="0"/>
              <a:t>any services</a:t>
            </a:r>
            <a:r>
              <a:rPr lang="en-US" sz="1600" dirty="0" smtClean="0"/>
              <a:t> </a:t>
            </a:r>
            <a:r>
              <a:rPr lang="en-US" sz="1600" dirty="0"/>
              <a:t>at </a:t>
            </a:r>
            <a:r>
              <a:rPr lang="en-US" sz="1600" b="1" dirty="0"/>
              <a:t>anytime</a:t>
            </a:r>
            <a:r>
              <a:rPr lang="en-US" sz="1600" dirty="0"/>
              <a:t>, from </a:t>
            </a:r>
            <a:r>
              <a:rPr lang="en-US" sz="1600" b="1" dirty="0"/>
              <a:t>anywhere</a:t>
            </a:r>
            <a:r>
              <a:rPr lang="en-US" sz="1600" dirty="0"/>
              <a:t> by </a:t>
            </a:r>
            <a:r>
              <a:rPr lang="en-US" sz="1600" b="1" dirty="0"/>
              <a:t>anyone</a:t>
            </a:r>
            <a:r>
              <a:rPr lang="en-US" sz="1600" dirty="0"/>
              <a:t> for </a:t>
            </a:r>
            <a:r>
              <a:rPr lang="en-US" sz="1600" b="1" dirty="0" smtClean="0"/>
              <a:t>any need</a:t>
            </a:r>
            <a:r>
              <a:rPr lang="en-US" sz="1600" dirty="0" smtClean="0"/>
              <a:t> </a:t>
            </a:r>
            <a:r>
              <a:rPr lang="en-US" sz="1600" dirty="0"/>
              <a:t>with high availability, high security, better features and cost effectiveness.</a:t>
            </a:r>
          </a:p>
        </p:txBody>
      </p:sp>
      <p:pic>
        <p:nvPicPr>
          <p:cNvPr id="22"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3360" y="2483506"/>
            <a:ext cx="757028" cy="8161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AutoShape 2" descr="blob:https://web.whatsapp.com/ea53f553-1300-4fd0-9ec2-ce4847c798d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8" name="Picture 4" descr="C:\Users\moham\Downloads\datacenter11.jpeg"/>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25000"/>
                    </a14:imgEffect>
                    <a14:imgEffect>
                      <a14:brightnessContrast bright="8000" contrast="16000"/>
                    </a14:imgEffect>
                  </a14:imgLayer>
                </a14:imgProps>
              </a:ext>
              <a:ext uri="{28A0092B-C50C-407E-A947-70E740481C1C}">
                <a14:useLocalDpi xmlns:a14="http://schemas.microsoft.com/office/drawing/2010/main" val="0"/>
              </a:ext>
            </a:extLst>
          </a:blip>
          <a:srcRect/>
          <a:stretch>
            <a:fillRect/>
          </a:stretch>
        </p:blipFill>
        <p:spPr bwMode="auto">
          <a:xfrm>
            <a:off x="241992" y="2660469"/>
            <a:ext cx="2574259" cy="407023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808631" y="2291137"/>
            <a:ext cx="1457130" cy="369332"/>
          </a:xfrm>
          <a:prstGeom prst="rect">
            <a:avLst/>
          </a:prstGeom>
        </p:spPr>
        <p:txBody>
          <a:bodyPr wrap="none">
            <a:spAutoFit/>
          </a:bodyPr>
          <a:lstStyle/>
          <a:p>
            <a:r>
              <a:rPr lang="en-US" b="1" u="sng" dirty="0" smtClean="0">
                <a:solidFill>
                  <a:srgbClr val="FF0000"/>
                </a:solidFill>
              </a:rPr>
              <a:t>Private Cloud</a:t>
            </a:r>
            <a:endParaRPr lang="en-US" b="1" u="sng" dirty="0"/>
          </a:p>
        </p:txBody>
      </p:sp>
      <p:grpSp>
        <p:nvGrpSpPr>
          <p:cNvPr id="10" name="Group 9"/>
          <p:cNvGrpSpPr/>
          <p:nvPr/>
        </p:nvGrpSpPr>
        <p:grpSpPr>
          <a:xfrm>
            <a:off x="3695507" y="3417454"/>
            <a:ext cx="1435694" cy="1270898"/>
            <a:chOff x="3973794" y="4286929"/>
            <a:chExt cx="1435694" cy="1270898"/>
          </a:xfrm>
        </p:grpSpPr>
        <p:sp>
          <p:nvSpPr>
            <p:cNvPr id="7" name="Rectangle 6"/>
            <p:cNvSpPr/>
            <p:nvPr/>
          </p:nvSpPr>
          <p:spPr>
            <a:xfrm>
              <a:off x="3973794" y="4286929"/>
              <a:ext cx="1435694" cy="12708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smtClean="0"/>
                <a:t>Company/Home</a:t>
              </a:r>
            </a:p>
            <a:p>
              <a:pPr algn="ctr"/>
              <a:endParaRPr lang="en-IN" sz="1200" b="1" dirty="0"/>
            </a:p>
            <a:p>
              <a:pPr algn="ctr"/>
              <a:endParaRPr lang="en-IN" sz="1200" b="1" dirty="0" smtClean="0"/>
            </a:p>
            <a:p>
              <a:pPr algn="ctr"/>
              <a:endParaRPr lang="en-IN" sz="1200" b="1" dirty="0"/>
            </a:p>
            <a:p>
              <a:pPr algn="ctr"/>
              <a:endParaRPr lang="en-IN" sz="1200" b="1" dirty="0" smtClean="0"/>
            </a:p>
            <a:p>
              <a:pPr algn="ctr"/>
              <a:endParaRPr lang="en-IN" sz="1200" b="1" dirty="0"/>
            </a:p>
          </p:txBody>
        </p:sp>
        <p:pic>
          <p:nvPicPr>
            <p:cNvPr id="19" name="Picture 4" descr="Icon of man using computer. Person sit and working on laptop icon. Vector illustration"/>
            <p:cNvPicPr>
              <a:picLocks noChangeAspect="1" noChangeArrowheads="1"/>
            </p:cNvPicPr>
            <p:nvPr/>
          </p:nvPicPr>
          <p:blipFill>
            <a:blip r:embed="rId8" cstate="print">
              <a:extLst>
                <a:ext uri="{BEBA8EAE-BF5A-486C-A8C5-ECC9F3942E4B}">
                  <a14:imgProps xmlns:a14="http://schemas.microsoft.com/office/drawing/2010/main">
                    <a14:imgLayer r:embed="rId9">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4252081" y="4585585"/>
              <a:ext cx="879120" cy="87912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2" name="Straight Arrow Connector 11"/>
          <p:cNvCxnSpPr>
            <a:stCxn id="7" idx="0"/>
            <a:endCxn id="22" idx="1"/>
          </p:cNvCxnSpPr>
          <p:nvPr/>
        </p:nvCxnSpPr>
        <p:spPr>
          <a:xfrm flipV="1">
            <a:off x="4413354" y="2891591"/>
            <a:ext cx="870006" cy="525863"/>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22" idx="3"/>
          </p:cNvCxnSpPr>
          <p:nvPr/>
        </p:nvCxnSpPr>
        <p:spPr>
          <a:xfrm>
            <a:off x="6040388" y="2891591"/>
            <a:ext cx="932980" cy="1381306"/>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7" idx="1"/>
          </p:cNvCxnSpPr>
          <p:nvPr/>
        </p:nvCxnSpPr>
        <p:spPr>
          <a:xfrm>
            <a:off x="2816251" y="4052903"/>
            <a:ext cx="879256"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pic>
        <p:nvPicPr>
          <p:cNvPr id="27" name="Picture 4" descr="Icon of man using computer. Person sit and working on laptop icon. Vector illustration"/>
          <p:cNvPicPr>
            <a:picLocks noChangeAspect="1" noChangeArrowheads="1"/>
          </p:cNvPicPr>
          <p:nvPr/>
        </p:nvPicPr>
        <p:blipFill>
          <a:blip r:embed="rId10" cstate="print">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2816251" y="4999024"/>
            <a:ext cx="600450" cy="60045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descr="Icon of man using computer. Person sit and working on laptop icon. Vector illustration"/>
          <p:cNvPicPr>
            <a:picLocks noChangeAspect="1" noChangeArrowheads="1"/>
          </p:cNvPicPr>
          <p:nvPr/>
        </p:nvPicPr>
        <p:blipFill>
          <a:blip r:embed="rId10" cstate="print">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2816251" y="5817990"/>
            <a:ext cx="600450" cy="600450"/>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22"/>
          <p:cNvSpPr/>
          <p:nvPr/>
        </p:nvSpPr>
        <p:spPr>
          <a:xfrm>
            <a:off x="3338043" y="5114583"/>
            <a:ext cx="1791131" cy="369332"/>
          </a:xfrm>
          <a:prstGeom prst="rect">
            <a:avLst/>
          </a:prstGeom>
        </p:spPr>
        <p:txBody>
          <a:bodyPr wrap="none">
            <a:spAutoFit/>
          </a:bodyPr>
          <a:lstStyle/>
          <a:p>
            <a:r>
              <a:rPr lang="en-US" dirty="0" smtClean="0"/>
              <a:t>Datacenter Staffs</a:t>
            </a:r>
            <a:endParaRPr lang="en-IN" dirty="0"/>
          </a:p>
        </p:txBody>
      </p:sp>
      <p:sp>
        <p:nvSpPr>
          <p:cNvPr id="30" name="Rectangle 29"/>
          <p:cNvSpPr/>
          <p:nvPr/>
        </p:nvSpPr>
        <p:spPr>
          <a:xfrm>
            <a:off x="3371199" y="5933549"/>
            <a:ext cx="2795894" cy="369332"/>
          </a:xfrm>
          <a:prstGeom prst="rect">
            <a:avLst/>
          </a:prstGeom>
        </p:spPr>
        <p:txBody>
          <a:bodyPr wrap="none">
            <a:spAutoFit/>
          </a:bodyPr>
          <a:lstStyle/>
          <a:p>
            <a:r>
              <a:rPr lang="en-US" dirty="0" smtClean="0"/>
              <a:t>Infra/Platform maintenance</a:t>
            </a:r>
            <a:endParaRPr lang="en-IN" dirty="0"/>
          </a:p>
        </p:txBody>
      </p:sp>
      <p:sp>
        <p:nvSpPr>
          <p:cNvPr id="25" name="Rectangle 24"/>
          <p:cNvSpPr/>
          <p:nvPr/>
        </p:nvSpPr>
        <p:spPr>
          <a:xfrm>
            <a:off x="6611815" y="3110428"/>
            <a:ext cx="558166" cy="369332"/>
          </a:xfrm>
          <a:prstGeom prst="rect">
            <a:avLst/>
          </a:prstGeom>
        </p:spPr>
        <p:txBody>
          <a:bodyPr wrap="none">
            <a:spAutoFit/>
          </a:bodyPr>
          <a:lstStyle/>
          <a:p>
            <a:r>
              <a:rPr lang="en-IN" dirty="0" smtClean="0"/>
              <a:t>VPC</a:t>
            </a:r>
            <a:endParaRPr lang="en-IN" dirty="0"/>
          </a:p>
        </p:txBody>
      </p:sp>
      <p:sp>
        <p:nvSpPr>
          <p:cNvPr id="32" name="Rectangle 31"/>
          <p:cNvSpPr/>
          <p:nvPr/>
        </p:nvSpPr>
        <p:spPr>
          <a:xfrm>
            <a:off x="2963972" y="3658360"/>
            <a:ext cx="583814" cy="369332"/>
          </a:xfrm>
          <a:prstGeom prst="rect">
            <a:avLst/>
          </a:prstGeom>
        </p:spPr>
        <p:txBody>
          <a:bodyPr wrap="none">
            <a:spAutoFit/>
          </a:bodyPr>
          <a:lstStyle/>
          <a:p>
            <a:r>
              <a:rPr lang="en-IN" dirty="0" smtClean="0"/>
              <a:t>VPN</a:t>
            </a:r>
            <a:endParaRPr lang="en-IN" dirty="0"/>
          </a:p>
        </p:txBody>
      </p:sp>
      <p:sp>
        <p:nvSpPr>
          <p:cNvPr id="26" name="Rectangle 25"/>
          <p:cNvSpPr/>
          <p:nvPr/>
        </p:nvSpPr>
        <p:spPr>
          <a:xfrm>
            <a:off x="5283360" y="3361535"/>
            <a:ext cx="829714" cy="461665"/>
          </a:xfrm>
          <a:prstGeom prst="rect">
            <a:avLst/>
          </a:prstGeom>
        </p:spPr>
        <p:txBody>
          <a:bodyPr wrap="none">
            <a:spAutoFit/>
          </a:bodyPr>
          <a:lstStyle/>
          <a:p>
            <a:r>
              <a:rPr lang="en-US" sz="1200" b="1" dirty="0" smtClean="0"/>
              <a:t>Dedicated</a:t>
            </a:r>
          </a:p>
          <a:p>
            <a:r>
              <a:rPr lang="en-US" sz="1200" b="1" dirty="0" smtClean="0"/>
              <a:t>Network</a:t>
            </a:r>
            <a:endParaRPr lang="en-IN" sz="1200" b="1" dirty="0"/>
          </a:p>
        </p:txBody>
      </p:sp>
      <p:sp>
        <p:nvSpPr>
          <p:cNvPr id="34" name="Rectangle 33"/>
          <p:cNvSpPr/>
          <p:nvPr/>
        </p:nvSpPr>
        <p:spPr>
          <a:xfrm>
            <a:off x="2841022" y="3096449"/>
            <a:ext cx="829714" cy="461665"/>
          </a:xfrm>
          <a:prstGeom prst="rect">
            <a:avLst/>
          </a:prstGeom>
        </p:spPr>
        <p:txBody>
          <a:bodyPr wrap="none">
            <a:spAutoFit/>
          </a:bodyPr>
          <a:lstStyle/>
          <a:p>
            <a:r>
              <a:rPr lang="en-US" sz="1200" b="1" dirty="0" smtClean="0"/>
              <a:t>Dedicated</a:t>
            </a:r>
          </a:p>
          <a:p>
            <a:r>
              <a:rPr lang="en-US" sz="1200" b="1" dirty="0" smtClean="0"/>
              <a:t>Network</a:t>
            </a:r>
            <a:endParaRPr lang="en-IN" sz="1200" b="1" dirty="0"/>
          </a:p>
        </p:txBody>
      </p:sp>
      <p:pic>
        <p:nvPicPr>
          <p:cNvPr id="35"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5271" y="4078717"/>
            <a:ext cx="568766" cy="6132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8092927" y="658027"/>
            <a:ext cx="717787" cy="5469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smtClean="0"/>
              <a:t>gcs</a:t>
            </a:r>
            <a:endParaRPr lang="en-IN" dirty="0"/>
          </a:p>
        </p:txBody>
      </p:sp>
      <p:sp>
        <p:nvSpPr>
          <p:cNvPr id="29" name="Rectangle 28"/>
          <p:cNvSpPr/>
          <p:nvPr/>
        </p:nvSpPr>
        <p:spPr>
          <a:xfrm>
            <a:off x="6754784" y="1364864"/>
            <a:ext cx="853902" cy="5469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Source</a:t>
            </a:r>
            <a:endParaRPr lang="en-IN" dirty="0"/>
          </a:p>
        </p:txBody>
      </p:sp>
      <p:cxnSp>
        <p:nvCxnSpPr>
          <p:cNvPr id="31" name="Straight Arrow Connector 30"/>
          <p:cNvCxnSpPr/>
          <p:nvPr/>
        </p:nvCxnSpPr>
        <p:spPr>
          <a:xfrm flipV="1">
            <a:off x="7249791" y="1101933"/>
            <a:ext cx="843136" cy="46076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9533976" y="746110"/>
            <a:ext cx="717787" cy="5469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PC</a:t>
            </a:r>
          </a:p>
          <a:p>
            <a:pPr algn="ctr"/>
            <a:r>
              <a:rPr lang="en-IN" dirty="0" err="1" smtClean="0"/>
              <a:t>Sto</a:t>
            </a:r>
            <a:endParaRPr lang="en-IN" dirty="0"/>
          </a:p>
        </p:txBody>
      </p:sp>
      <p:cxnSp>
        <p:nvCxnSpPr>
          <p:cNvPr id="36" name="Straight Arrow Connector 35"/>
          <p:cNvCxnSpPr>
            <a:endCxn id="33" idx="1"/>
          </p:cNvCxnSpPr>
          <p:nvPr/>
        </p:nvCxnSpPr>
        <p:spPr>
          <a:xfrm flipV="1">
            <a:off x="8622707" y="1019575"/>
            <a:ext cx="911269" cy="1"/>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9193909" y="2105812"/>
            <a:ext cx="1086682" cy="5469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PC</a:t>
            </a:r>
          </a:p>
          <a:p>
            <a:pPr algn="ctr"/>
            <a:r>
              <a:rPr lang="en-IN" dirty="0" smtClean="0"/>
              <a:t>Compute</a:t>
            </a:r>
            <a:endParaRPr lang="en-IN" dirty="0"/>
          </a:p>
        </p:txBody>
      </p:sp>
      <p:cxnSp>
        <p:nvCxnSpPr>
          <p:cNvPr id="38" name="Straight Arrow Connector 37"/>
          <p:cNvCxnSpPr>
            <a:stCxn id="33" idx="3"/>
            <a:endCxn id="37" idx="0"/>
          </p:cNvCxnSpPr>
          <p:nvPr/>
        </p:nvCxnSpPr>
        <p:spPr>
          <a:xfrm flipH="1">
            <a:off x="9737250" y="1019575"/>
            <a:ext cx="514513" cy="1086237"/>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endCxn id="2" idx="2"/>
          </p:cNvCxnSpPr>
          <p:nvPr/>
        </p:nvCxnSpPr>
        <p:spPr>
          <a:xfrm flipH="1" flipV="1">
            <a:off x="8451821" y="1204957"/>
            <a:ext cx="888732" cy="1249916"/>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7831881" y="160337"/>
            <a:ext cx="2264018" cy="369332"/>
          </a:xfrm>
          <a:prstGeom prst="rect">
            <a:avLst/>
          </a:prstGeom>
        </p:spPr>
        <p:txBody>
          <a:bodyPr wrap="none">
            <a:spAutoFit/>
          </a:bodyPr>
          <a:lstStyle/>
          <a:p>
            <a:r>
              <a:rPr lang="en-US" b="1" u="sng" dirty="0" smtClean="0">
                <a:solidFill>
                  <a:srgbClr val="FF0000"/>
                </a:solidFill>
              </a:rPr>
              <a:t>Hybrid Cloud (Pothys)</a:t>
            </a:r>
            <a:endParaRPr lang="en-US" b="1" u="sng" dirty="0"/>
          </a:p>
        </p:txBody>
      </p:sp>
      <p:sp>
        <p:nvSpPr>
          <p:cNvPr id="11" name="Rectangle 10"/>
          <p:cNvSpPr/>
          <p:nvPr/>
        </p:nvSpPr>
        <p:spPr>
          <a:xfrm>
            <a:off x="506648" y="2602761"/>
            <a:ext cx="1197764" cy="253916"/>
          </a:xfrm>
          <a:prstGeom prst="rect">
            <a:avLst/>
          </a:prstGeom>
          <a:solidFill>
            <a:srgbClr val="FFFF00"/>
          </a:solidFill>
        </p:spPr>
        <p:txBody>
          <a:bodyPr wrap="none">
            <a:spAutoFit/>
          </a:bodyPr>
          <a:lstStyle/>
          <a:p>
            <a:r>
              <a:rPr lang="en-US" sz="1050" b="1" dirty="0" smtClean="0"/>
              <a:t>Zone1 (Velachery)</a:t>
            </a:r>
            <a:endParaRPr lang="en-IN" sz="1050" dirty="0"/>
          </a:p>
        </p:txBody>
      </p:sp>
      <p:sp>
        <p:nvSpPr>
          <p:cNvPr id="39" name="Rectangle 38"/>
          <p:cNvSpPr/>
          <p:nvPr/>
        </p:nvSpPr>
        <p:spPr>
          <a:xfrm>
            <a:off x="2120387" y="2602761"/>
            <a:ext cx="1391728" cy="253916"/>
          </a:xfrm>
          <a:prstGeom prst="rect">
            <a:avLst/>
          </a:prstGeom>
          <a:solidFill>
            <a:srgbClr val="FFFF00"/>
          </a:solidFill>
        </p:spPr>
        <p:txBody>
          <a:bodyPr wrap="none">
            <a:spAutoFit/>
          </a:bodyPr>
          <a:lstStyle/>
          <a:p>
            <a:r>
              <a:rPr lang="en-US" sz="1050" b="1" dirty="0" smtClean="0"/>
              <a:t>Zone2 (Chengalpattu)</a:t>
            </a:r>
            <a:endParaRPr lang="en-IN" sz="1050" dirty="0"/>
          </a:p>
        </p:txBody>
      </p:sp>
      <p:sp>
        <p:nvSpPr>
          <p:cNvPr id="40" name="Rectangle 39"/>
          <p:cNvSpPr/>
          <p:nvPr/>
        </p:nvSpPr>
        <p:spPr>
          <a:xfrm>
            <a:off x="2057957" y="2096114"/>
            <a:ext cx="1136850" cy="253916"/>
          </a:xfrm>
          <a:prstGeom prst="rect">
            <a:avLst/>
          </a:prstGeom>
          <a:solidFill>
            <a:srgbClr val="FFFF00"/>
          </a:solidFill>
        </p:spPr>
        <p:txBody>
          <a:bodyPr wrap="none">
            <a:spAutoFit/>
          </a:bodyPr>
          <a:lstStyle/>
          <a:p>
            <a:r>
              <a:rPr lang="en-US" sz="1050" b="1" dirty="0" smtClean="0"/>
              <a:t>Chennai (Region)</a:t>
            </a:r>
            <a:endParaRPr lang="en-IN" sz="1050" dirty="0"/>
          </a:p>
        </p:txBody>
      </p:sp>
    </p:spTree>
    <p:extLst>
      <p:ext uri="{BB962C8B-B14F-4D97-AF65-F5344CB8AC3E}">
        <p14:creationId xmlns:p14="http://schemas.microsoft.com/office/powerpoint/2010/main" val="2442836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307975" y="210702"/>
            <a:ext cx="2341282" cy="369332"/>
          </a:xfrm>
          <a:prstGeom prst="rect">
            <a:avLst/>
          </a:prstGeom>
        </p:spPr>
        <p:txBody>
          <a:bodyPr wrap="none">
            <a:spAutoFit/>
          </a:bodyPr>
          <a:lstStyle/>
          <a:p>
            <a:r>
              <a:rPr lang="en-US" b="1" u="sng" dirty="0">
                <a:solidFill>
                  <a:srgbClr val="FF0000"/>
                </a:solidFill>
              </a:rPr>
              <a:t>Public vs Private Cloud</a:t>
            </a:r>
            <a:endParaRPr lang="en-US" b="1" u="sng" dirty="0"/>
          </a:p>
        </p:txBody>
      </p:sp>
      <p:graphicFrame>
        <p:nvGraphicFramePr>
          <p:cNvPr id="6" name="Table 5"/>
          <p:cNvGraphicFramePr>
            <a:graphicFrameLocks noGrp="1"/>
          </p:cNvGraphicFramePr>
          <p:nvPr>
            <p:extLst>
              <p:ext uri="{D42A27DB-BD31-4B8C-83A1-F6EECF244321}">
                <p14:modId xmlns:p14="http://schemas.microsoft.com/office/powerpoint/2010/main" val="2001990959"/>
              </p:ext>
            </p:extLst>
          </p:nvPr>
        </p:nvGraphicFramePr>
        <p:xfrm>
          <a:off x="153988" y="752124"/>
          <a:ext cx="11884024" cy="3806398"/>
        </p:xfrm>
        <a:graphic>
          <a:graphicData uri="http://schemas.openxmlformats.org/drawingml/2006/table">
            <a:tbl>
              <a:tblPr/>
              <a:tblGrid>
                <a:gridCol w="1000125">
                  <a:extLst>
                    <a:ext uri="{9D8B030D-6E8A-4147-A177-3AD203B41FA5}">
                      <a16:colId xmlns="" xmlns:a16="http://schemas.microsoft.com/office/drawing/2014/main" val="20000"/>
                    </a:ext>
                  </a:extLst>
                </a:gridCol>
                <a:gridCol w="5751151">
                  <a:extLst>
                    <a:ext uri="{9D8B030D-6E8A-4147-A177-3AD203B41FA5}">
                      <a16:colId xmlns="" xmlns:a16="http://schemas.microsoft.com/office/drawing/2014/main" val="20001"/>
                    </a:ext>
                  </a:extLst>
                </a:gridCol>
                <a:gridCol w="5132748">
                  <a:extLst>
                    <a:ext uri="{9D8B030D-6E8A-4147-A177-3AD203B41FA5}">
                      <a16:colId xmlns="" xmlns:a16="http://schemas.microsoft.com/office/drawing/2014/main" val="20002"/>
                    </a:ext>
                  </a:extLst>
                </a:gridCol>
              </a:tblGrid>
              <a:tr h="628268">
                <a:tc>
                  <a:txBody>
                    <a:bodyPr/>
                    <a:lstStyle/>
                    <a:p>
                      <a:pPr algn="ctr"/>
                      <a:endParaRPr lang="en-US" sz="1600" b="1" cap="all"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cap="all" dirty="0">
                          <a:solidFill>
                            <a:schemeClr val="tx1"/>
                          </a:solidFill>
                          <a:effectLst/>
                          <a:latin typeface="+mn-lt"/>
                        </a:rPr>
                        <a:t/>
                      </a:r>
                      <a:br>
                        <a:rPr lang="en-US" sz="1600" b="1" cap="all" dirty="0">
                          <a:solidFill>
                            <a:schemeClr val="tx1"/>
                          </a:solidFill>
                          <a:effectLst/>
                          <a:latin typeface="+mn-lt"/>
                        </a:rPr>
                      </a:br>
                      <a:r>
                        <a:rPr lang="en-US" sz="1600" b="1" cap="all" dirty="0">
                          <a:solidFill>
                            <a:schemeClr val="tx1"/>
                          </a:solidFill>
                          <a:effectLst/>
                          <a:latin typeface="+mn-lt"/>
                        </a:rPr>
                        <a:t>PRIVATE CLOUD (Internal –on </a:t>
                      </a:r>
                      <a:r>
                        <a:rPr lang="en-US" sz="1600" b="1" cap="all" dirty="0" err="1">
                          <a:solidFill>
                            <a:schemeClr val="tx1"/>
                          </a:solidFill>
                          <a:effectLst/>
                          <a:latin typeface="+mn-lt"/>
                        </a:rPr>
                        <a:t>prem</a:t>
                      </a:r>
                      <a:r>
                        <a:rPr lang="en-US" sz="1600" b="1" cap="all" dirty="0">
                          <a:solidFill>
                            <a:schemeClr val="tx1"/>
                          </a:solidFill>
                          <a:effectLst/>
                          <a:latin typeface="+mn-lt"/>
                        </a:rPr>
                        <a:t> / </a:t>
                      </a:r>
                      <a:r>
                        <a:rPr lang="en-US" sz="1600" b="1" u="sng" cap="all" dirty="0">
                          <a:solidFill>
                            <a:schemeClr val="tx1"/>
                          </a:solidFill>
                          <a:effectLst/>
                          <a:latin typeface="+mn-lt"/>
                        </a:rPr>
                        <a:t>hosted private cloud</a:t>
                      </a:r>
                      <a:r>
                        <a:rPr lang="en-US" sz="1600" b="1" cap="all" dirty="0">
                          <a:solidFill>
                            <a:schemeClr val="tx1"/>
                          </a:solidFill>
                          <a:effectLst/>
                          <a:latin typeface="+mn-lt"/>
                        </a:rPr>
                        <a:t>)</a:t>
                      </a:r>
                    </a:p>
                    <a:p>
                      <a:pPr algn="ctr"/>
                      <a:endParaRPr lang="en-US" sz="1600" b="1" cap="all"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b="1" cap="all" dirty="0">
                        <a:solidFill>
                          <a:schemeClr val="tx1"/>
                        </a:solidFill>
                        <a:effectLst/>
                        <a:latin typeface="+mn-lt"/>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1600" b="1" cap="all" dirty="0">
                          <a:solidFill>
                            <a:schemeClr val="tx1"/>
                          </a:solidFill>
                          <a:effectLst/>
                          <a:latin typeface="+mn-lt"/>
                        </a:rPr>
                        <a:t>PUBLIC CLOUD</a:t>
                      </a: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 xmlns:a16="http://schemas.microsoft.com/office/drawing/2014/main" val="10000"/>
                  </a:ext>
                </a:extLst>
              </a:tr>
              <a:tr h="354481">
                <a:tc>
                  <a:txBody>
                    <a:bodyPr/>
                    <a:lstStyle/>
                    <a:p>
                      <a:pPr algn="l"/>
                      <a:r>
                        <a:rPr lang="en-US" sz="1200" b="1" dirty="0">
                          <a:solidFill>
                            <a:schemeClr val="tx1"/>
                          </a:solidFill>
                          <a:effectLst/>
                          <a:latin typeface="+mn-lt"/>
                        </a:rPr>
                        <a:t>Infrastructure</a:t>
                      </a:r>
                      <a:endParaRPr lang="en-US" sz="12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u="sng" dirty="0">
                          <a:solidFill>
                            <a:schemeClr val="tx1"/>
                          </a:solidFill>
                          <a:effectLst/>
                          <a:latin typeface="+mn-lt"/>
                        </a:rPr>
                        <a:t>Dedicated</a:t>
                      </a:r>
                      <a:r>
                        <a:rPr lang="en-US" sz="1400" b="1" dirty="0">
                          <a:solidFill>
                            <a:schemeClr val="tx1"/>
                          </a:solidFill>
                          <a:effectLst/>
                          <a:latin typeface="+mn-lt"/>
                        </a:rPr>
                        <a:t> hardware and network </a:t>
                      </a:r>
                      <a:r>
                        <a:rPr lang="en-US" sz="1400" dirty="0">
                          <a:solidFill>
                            <a:schemeClr val="tx1"/>
                          </a:solidFill>
                          <a:effectLst/>
                          <a:latin typeface="+mn-lt"/>
                        </a:rPr>
                        <a:t>for your business managed by an in-house technical team.</a:t>
                      </a: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u="sng" dirty="0">
                          <a:solidFill>
                            <a:schemeClr val="tx1"/>
                          </a:solidFill>
                          <a:effectLst/>
                          <a:latin typeface="+mn-lt"/>
                        </a:rPr>
                        <a:t>Multi-Tenant</a:t>
                      </a:r>
                      <a:r>
                        <a:rPr lang="en-US" sz="1400" dirty="0">
                          <a:solidFill>
                            <a:schemeClr val="tx1"/>
                          </a:solidFill>
                          <a:effectLst/>
                          <a:latin typeface="+mn-lt"/>
                        </a:rPr>
                        <a:t>: </a:t>
                      </a:r>
                      <a:r>
                        <a:rPr lang="en-US" sz="1400" b="1" u="sng" dirty="0">
                          <a:solidFill>
                            <a:schemeClr val="tx1"/>
                          </a:solidFill>
                          <a:effectLst/>
                          <a:latin typeface="+mn-lt"/>
                        </a:rPr>
                        <a:t>Shared</a:t>
                      </a:r>
                      <a:r>
                        <a:rPr lang="en-US" sz="1400" b="1" dirty="0">
                          <a:solidFill>
                            <a:schemeClr val="tx1"/>
                          </a:solidFill>
                          <a:effectLst/>
                          <a:latin typeface="+mn-lt"/>
                        </a:rPr>
                        <a:t> network hosted off </a:t>
                      </a:r>
                      <a:r>
                        <a:rPr lang="en-US" sz="1400" b="1" dirty="0" smtClean="0">
                          <a:solidFill>
                            <a:schemeClr val="tx1"/>
                          </a:solidFill>
                          <a:effectLst/>
                          <a:latin typeface="+mn-lt"/>
                        </a:rPr>
                        <a:t>site resources, </a:t>
                      </a:r>
                      <a:r>
                        <a:rPr lang="en-US" sz="1400" dirty="0" smtClean="0">
                          <a:solidFill>
                            <a:schemeClr val="tx1"/>
                          </a:solidFill>
                          <a:effectLst/>
                          <a:latin typeface="+mn-lt"/>
                        </a:rPr>
                        <a:t>managed </a:t>
                      </a:r>
                      <a:r>
                        <a:rPr lang="en-US" sz="1400" dirty="0">
                          <a:solidFill>
                            <a:schemeClr val="tx1"/>
                          </a:solidFill>
                          <a:effectLst/>
                          <a:latin typeface="+mn-lt"/>
                        </a:rPr>
                        <a:t>by your </a:t>
                      </a:r>
                      <a:r>
                        <a:rPr lang="en-US" sz="1400" b="1" dirty="0">
                          <a:solidFill>
                            <a:schemeClr val="tx1"/>
                          </a:solidFill>
                          <a:effectLst/>
                          <a:latin typeface="+mn-lt"/>
                        </a:rPr>
                        <a:t>service </a:t>
                      </a:r>
                      <a:r>
                        <a:rPr lang="en-US" sz="1400" b="1" dirty="0" smtClean="0">
                          <a:solidFill>
                            <a:schemeClr val="tx1"/>
                          </a:solidFill>
                          <a:effectLst/>
                          <a:latin typeface="+mn-lt"/>
                        </a:rPr>
                        <a:t>provider AWS/</a:t>
                      </a:r>
                      <a:r>
                        <a:rPr lang="en-US" sz="1400" b="1" dirty="0" err="1" smtClean="0">
                          <a:solidFill>
                            <a:schemeClr val="tx1"/>
                          </a:solidFill>
                          <a:effectLst/>
                          <a:latin typeface="+mn-lt"/>
                        </a:rPr>
                        <a:t>Az</a:t>
                      </a:r>
                      <a:r>
                        <a:rPr lang="en-US" sz="1400" b="1" dirty="0" smtClean="0">
                          <a:solidFill>
                            <a:schemeClr val="tx1"/>
                          </a:solidFill>
                          <a:effectLst/>
                          <a:latin typeface="+mn-lt"/>
                        </a:rPr>
                        <a:t>/GCP</a:t>
                      </a:r>
                      <a:r>
                        <a:rPr lang="en-US" sz="1400" dirty="0" smtClean="0">
                          <a:solidFill>
                            <a:schemeClr val="tx1"/>
                          </a:solidFill>
                          <a:effectLst/>
                          <a:latin typeface="+mn-lt"/>
                        </a:rPr>
                        <a:t>.</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 xmlns:a16="http://schemas.microsoft.com/office/drawing/2014/main" val="10001"/>
                  </a:ext>
                </a:extLst>
              </a:tr>
              <a:tr h="307325">
                <a:tc>
                  <a:txBody>
                    <a:bodyPr/>
                    <a:lstStyle/>
                    <a:p>
                      <a:pPr algn="l"/>
                      <a:r>
                        <a:rPr lang="en-US" sz="1200" b="1" dirty="0">
                          <a:solidFill>
                            <a:schemeClr val="tx1"/>
                          </a:solidFill>
                          <a:effectLst/>
                          <a:latin typeface="+mn-lt"/>
                        </a:rPr>
                        <a:t>Business requirement</a:t>
                      </a:r>
                      <a:endParaRPr lang="en-US" sz="12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u="sng" dirty="0">
                          <a:solidFill>
                            <a:schemeClr val="tx1"/>
                          </a:solidFill>
                          <a:effectLst/>
                          <a:latin typeface="+mn-lt"/>
                        </a:rPr>
                        <a:t>High</a:t>
                      </a:r>
                      <a:r>
                        <a:rPr lang="en-US" sz="1400" b="1" dirty="0">
                          <a:solidFill>
                            <a:schemeClr val="tx1"/>
                          </a:solidFill>
                          <a:effectLst/>
                          <a:latin typeface="+mn-lt"/>
                        </a:rPr>
                        <a:t> performance </a:t>
                      </a:r>
                      <a:r>
                        <a:rPr lang="en-US" sz="1400" dirty="0">
                          <a:solidFill>
                            <a:schemeClr val="tx1"/>
                          </a:solidFill>
                          <a:effectLst/>
                          <a:latin typeface="+mn-lt"/>
                        </a:rPr>
                        <a:t>and </a:t>
                      </a:r>
                      <a:r>
                        <a:rPr lang="en-US" sz="1400" b="1" dirty="0" smtClean="0">
                          <a:solidFill>
                            <a:schemeClr val="tx1"/>
                          </a:solidFill>
                          <a:effectLst/>
                          <a:latin typeface="+mn-lt"/>
                        </a:rPr>
                        <a:t>customization</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u="sng" dirty="0">
                          <a:solidFill>
                            <a:schemeClr val="tx1"/>
                          </a:solidFill>
                          <a:effectLst/>
                          <a:latin typeface="+mn-lt"/>
                        </a:rPr>
                        <a:t>Affordable</a:t>
                      </a:r>
                      <a:r>
                        <a:rPr lang="en-US" sz="1400" b="1" dirty="0">
                          <a:solidFill>
                            <a:schemeClr val="tx1"/>
                          </a:solidFill>
                          <a:effectLst/>
                          <a:latin typeface="+mn-lt"/>
                        </a:rPr>
                        <a:t> solutions</a:t>
                      </a:r>
                      <a:r>
                        <a:rPr lang="en-US" sz="1400" dirty="0">
                          <a:solidFill>
                            <a:schemeClr val="tx1"/>
                          </a:solidFill>
                          <a:effectLst/>
                          <a:latin typeface="+mn-lt"/>
                        </a:rPr>
                        <a:t> that provide room for </a:t>
                      </a:r>
                      <a:r>
                        <a:rPr lang="en-US" sz="1400" dirty="0" smtClean="0">
                          <a:solidFill>
                            <a:schemeClr val="tx1"/>
                          </a:solidFill>
                          <a:effectLst/>
                          <a:latin typeface="+mn-lt"/>
                        </a:rPr>
                        <a:t>growth</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 xmlns:a16="http://schemas.microsoft.com/office/drawing/2014/main" val="10002"/>
                  </a:ext>
                </a:extLst>
              </a:tr>
              <a:tr h="354481">
                <a:tc>
                  <a:txBody>
                    <a:bodyPr/>
                    <a:lstStyle/>
                    <a:p>
                      <a:pPr algn="l"/>
                      <a:r>
                        <a:rPr lang="en-US" sz="1200" b="1" dirty="0">
                          <a:solidFill>
                            <a:schemeClr val="tx1"/>
                          </a:solidFill>
                          <a:effectLst/>
                          <a:latin typeface="+mn-lt"/>
                        </a:rPr>
                        <a:t>Scalability</a:t>
                      </a:r>
                      <a:endParaRPr lang="en-US" sz="12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a:solidFill>
                            <a:schemeClr val="tx1"/>
                          </a:solidFill>
                          <a:effectLst/>
                          <a:latin typeface="+mn-lt"/>
                        </a:rPr>
                        <a:t>Limited</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a:solidFill>
                            <a:schemeClr val="tx1"/>
                          </a:solidFill>
                          <a:effectLst/>
                          <a:latin typeface="+mn-lt"/>
                        </a:rPr>
                        <a:t>Linear</a:t>
                      </a:r>
                      <a:r>
                        <a:rPr lang="en-US" sz="1400" b="1" baseline="0" dirty="0">
                          <a:solidFill>
                            <a:schemeClr val="tx1"/>
                          </a:solidFill>
                          <a:effectLst/>
                          <a:latin typeface="+mn-lt"/>
                        </a:rPr>
                        <a:t> Scalable</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 xmlns:a16="http://schemas.microsoft.com/office/drawing/2014/main" val="10003"/>
                  </a:ext>
                </a:extLst>
              </a:tr>
              <a:tr h="307325">
                <a:tc>
                  <a:txBody>
                    <a:bodyPr/>
                    <a:lstStyle/>
                    <a:p>
                      <a:pPr algn="l"/>
                      <a:r>
                        <a:rPr lang="en-US" sz="1200" b="1" dirty="0">
                          <a:solidFill>
                            <a:schemeClr val="tx1"/>
                          </a:solidFill>
                          <a:effectLst/>
                          <a:latin typeface="+mn-lt"/>
                        </a:rPr>
                        <a:t>Support and maintenance</a:t>
                      </a:r>
                      <a:endParaRPr lang="en-US" sz="12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a:solidFill>
                            <a:schemeClr val="tx1"/>
                          </a:solidFill>
                          <a:effectLst/>
                          <a:latin typeface="+mn-lt"/>
                        </a:rPr>
                        <a:t>Org</a:t>
                      </a:r>
                      <a:r>
                        <a:rPr lang="en-US" sz="1400" baseline="0" dirty="0">
                          <a:solidFill>
                            <a:schemeClr val="tx1"/>
                          </a:solidFill>
                          <a:effectLst/>
                          <a:latin typeface="+mn-lt"/>
                        </a:rPr>
                        <a:t> </a:t>
                      </a:r>
                      <a:r>
                        <a:rPr lang="en-US" sz="1400" b="1" dirty="0">
                          <a:solidFill>
                            <a:schemeClr val="tx1"/>
                          </a:solidFill>
                          <a:effectLst/>
                          <a:latin typeface="+mn-lt"/>
                        </a:rPr>
                        <a:t>administrators.</a:t>
                      </a: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a:solidFill>
                            <a:schemeClr val="tx1"/>
                          </a:solidFill>
                          <a:effectLst/>
                          <a:latin typeface="+mn-lt"/>
                        </a:rPr>
                        <a:t>Service Provider</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 xmlns:a16="http://schemas.microsoft.com/office/drawing/2014/main" val="10004"/>
                  </a:ext>
                </a:extLst>
              </a:tr>
              <a:tr h="519525">
                <a:tc>
                  <a:txBody>
                    <a:bodyPr/>
                    <a:lstStyle/>
                    <a:p>
                      <a:pPr algn="l"/>
                      <a:r>
                        <a:rPr lang="en-US" sz="1200" b="1" dirty="0">
                          <a:solidFill>
                            <a:schemeClr val="tx1"/>
                          </a:solidFill>
                          <a:effectLst/>
                          <a:latin typeface="+mn-lt"/>
                        </a:rPr>
                        <a:t>Cost</a:t>
                      </a:r>
                      <a:endParaRPr lang="en-US" sz="12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smtClean="0">
                          <a:solidFill>
                            <a:schemeClr val="tx1"/>
                          </a:solidFill>
                          <a:effectLst/>
                          <a:latin typeface="+mn-lt"/>
                        </a:rPr>
                        <a:t>High -&gt; Capital Expenditure</a:t>
                      </a:r>
                      <a:r>
                        <a:rPr lang="en-US" sz="1400" b="1" baseline="0" dirty="0" smtClean="0">
                          <a:solidFill>
                            <a:schemeClr val="tx1"/>
                          </a:solidFill>
                          <a:effectLst/>
                          <a:latin typeface="+mn-lt"/>
                        </a:rPr>
                        <a:t> (</a:t>
                      </a:r>
                      <a:r>
                        <a:rPr lang="en-US" sz="1400" b="1" dirty="0" err="1" smtClean="0">
                          <a:solidFill>
                            <a:schemeClr val="tx1"/>
                          </a:solidFill>
                          <a:effectLst/>
                          <a:latin typeface="+mn-lt"/>
                        </a:rPr>
                        <a:t>CapEx</a:t>
                      </a:r>
                      <a:r>
                        <a:rPr lang="en-US" sz="1400" b="1" dirty="0" smtClean="0">
                          <a:solidFill>
                            <a:schemeClr val="tx1"/>
                          </a:solidFill>
                          <a:effectLst/>
                          <a:latin typeface="+mn-lt"/>
                        </a:rPr>
                        <a:t>) </a:t>
                      </a:r>
                      <a:r>
                        <a:rPr lang="en-US" sz="1400" b="1" dirty="0">
                          <a:solidFill>
                            <a:schemeClr val="tx1"/>
                          </a:solidFill>
                          <a:effectLst/>
                          <a:latin typeface="+mn-lt"/>
                        </a:rPr>
                        <a:t>+ </a:t>
                      </a:r>
                      <a:r>
                        <a:rPr lang="en-US" sz="1400" b="1" dirty="0" smtClean="0">
                          <a:solidFill>
                            <a:schemeClr val="tx1"/>
                          </a:solidFill>
                          <a:effectLst/>
                          <a:latin typeface="+mn-lt"/>
                        </a:rPr>
                        <a:t>High -&gt; Operational Expenditure (</a:t>
                      </a:r>
                      <a:r>
                        <a:rPr lang="en-US" sz="1400" b="1" dirty="0" err="1" smtClean="0">
                          <a:solidFill>
                            <a:schemeClr val="tx1"/>
                          </a:solidFill>
                          <a:effectLst/>
                          <a:latin typeface="+mn-lt"/>
                        </a:rPr>
                        <a:t>OpEx</a:t>
                      </a:r>
                      <a:r>
                        <a:rPr lang="en-US" sz="1400" b="1" dirty="0" smtClean="0">
                          <a:solidFill>
                            <a:schemeClr val="tx1"/>
                          </a:solidFill>
                          <a:effectLst/>
                          <a:latin typeface="+mn-lt"/>
                        </a:rPr>
                        <a:t>)</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smtClean="0">
                          <a:solidFill>
                            <a:schemeClr val="tx1"/>
                          </a:solidFill>
                          <a:effectLst/>
                          <a:latin typeface="+mn-lt"/>
                        </a:rPr>
                        <a:t>Low/No </a:t>
                      </a:r>
                      <a:r>
                        <a:rPr lang="en-US" sz="1400" b="1" dirty="0" err="1" smtClean="0">
                          <a:solidFill>
                            <a:schemeClr val="tx1"/>
                          </a:solidFill>
                          <a:effectLst/>
                          <a:latin typeface="+mn-lt"/>
                        </a:rPr>
                        <a:t>CapEx</a:t>
                      </a:r>
                      <a:r>
                        <a:rPr lang="en-US" sz="1400" b="1" dirty="0" smtClean="0">
                          <a:solidFill>
                            <a:schemeClr val="tx1"/>
                          </a:solidFill>
                          <a:effectLst/>
                          <a:latin typeface="+mn-lt"/>
                        </a:rPr>
                        <a:t> </a:t>
                      </a:r>
                      <a:r>
                        <a:rPr lang="en-US" sz="1400" b="1" dirty="0">
                          <a:solidFill>
                            <a:schemeClr val="tx1"/>
                          </a:solidFill>
                          <a:effectLst/>
                          <a:latin typeface="+mn-lt"/>
                        </a:rPr>
                        <a:t>+ </a:t>
                      </a:r>
                      <a:r>
                        <a:rPr lang="en-US" sz="1400" b="1" dirty="0" smtClean="0">
                          <a:solidFill>
                            <a:schemeClr val="tx1"/>
                          </a:solidFill>
                          <a:effectLst/>
                          <a:latin typeface="+mn-lt"/>
                        </a:rPr>
                        <a:t>Low to High </a:t>
                      </a:r>
                      <a:r>
                        <a:rPr lang="en-US" sz="1400" b="1" dirty="0" err="1" smtClean="0">
                          <a:solidFill>
                            <a:schemeClr val="tx1"/>
                          </a:solidFill>
                          <a:effectLst/>
                          <a:latin typeface="+mn-lt"/>
                        </a:rPr>
                        <a:t>OpEx</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 xmlns:a16="http://schemas.microsoft.com/office/drawing/2014/main" val="10005"/>
                  </a:ext>
                </a:extLst>
              </a:tr>
              <a:tr h="354481">
                <a:tc>
                  <a:txBody>
                    <a:bodyPr/>
                    <a:lstStyle/>
                    <a:p>
                      <a:pPr algn="l"/>
                      <a:r>
                        <a:rPr lang="en-US" sz="1200" b="1" dirty="0">
                          <a:solidFill>
                            <a:schemeClr val="tx1"/>
                          </a:solidFill>
                          <a:effectLst/>
                          <a:latin typeface="+mn-lt"/>
                        </a:rPr>
                        <a:t>Security</a:t>
                      </a:r>
                      <a:endParaRPr lang="en-US" sz="12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a:solidFill>
                            <a:schemeClr val="tx1"/>
                          </a:solidFill>
                          <a:effectLst/>
                          <a:latin typeface="+mn-lt"/>
                        </a:rPr>
                        <a:t>Isolated</a:t>
                      </a:r>
                      <a:r>
                        <a:rPr lang="en-US" sz="1400" dirty="0">
                          <a:solidFill>
                            <a:schemeClr val="tx1"/>
                          </a:solidFill>
                          <a:effectLst/>
                          <a:latin typeface="+mn-lt"/>
                        </a:rPr>
                        <a:t> network environment. </a:t>
                      </a:r>
                    </a:p>
                    <a:p>
                      <a:pPr algn="l"/>
                      <a:r>
                        <a:rPr lang="en-US" sz="1400" b="1" dirty="0">
                          <a:solidFill>
                            <a:schemeClr val="tx1"/>
                          </a:solidFill>
                          <a:effectLst/>
                          <a:latin typeface="+mn-lt"/>
                        </a:rPr>
                        <a:t>Enhanced security</a:t>
                      </a:r>
                      <a:r>
                        <a:rPr lang="en-US" sz="1400" dirty="0">
                          <a:solidFill>
                            <a:schemeClr val="tx1"/>
                          </a:solidFill>
                          <a:effectLst/>
                          <a:latin typeface="+mn-lt"/>
                        </a:rPr>
                        <a:t> to meet data protection legislation.</a:t>
                      </a: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a:solidFill>
                            <a:schemeClr val="tx1"/>
                          </a:solidFill>
                          <a:effectLst/>
                          <a:latin typeface="+mn-lt"/>
                        </a:rPr>
                        <a:t>Security compliant</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 xmlns:a16="http://schemas.microsoft.com/office/drawing/2014/main" val="10006"/>
                  </a:ext>
                </a:extLst>
              </a:tr>
              <a:tr h="203072">
                <a:tc>
                  <a:txBody>
                    <a:bodyPr/>
                    <a:lstStyle/>
                    <a:p>
                      <a:pPr algn="l"/>
                      <a:r>
                        <a:rPr lang="en-US" sz="1200" b="1" dirty="0">
                          <a:solidFill>
                            <a:schemeClr val="tx1"/>
                          </a:solidFill>
                          <a:effectLst/>
                          <a:latin typeface="+mn-lt"/>
                        </a:rPr>
                        <a:t>Performance</a:t>
                      </a:r>
                      <a:endParaRPr lang="en-US" sz="12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a:solidFill>
                            <a:schemeClr val="tx1"/>
                          </a:solidFill>
                          <a:effectLst/>
                          <a:latin typeface="+mn-lt"/>
                        </a:rPr>
                        <a:t>High performance </a:t>
                      </a:r>
                      <a:r>
                        <a:rPr lang="en-US" sz="1400" dirty="0">
                          <a:solidFill>
                            <a:schemeClr val="tx1"/>
                          </a:solidFill>
                          <a:effectLst/>
                          <a:latin typeface="+mn-lt"/>
                        </a:rPr>
                        <a:t>from dedicated server.</a:t>
                      </a: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dirty="0">
                          <a:solidFill>
                            <a:schemeClr val="tx1"/>
                          </a:solidFill>
                          <a:effectLst/>
                          <a:latin typeface="+mn-lt"/>
                        </a:rPr>
                        <a:t>Competing users can </a:t>
                      </a:r>
                      <a:r>
                        <a:rPr lang="en-US" sz="1400" b="1" dirty="0">
                          <a:solidFill>
                            <a:schemeClr val="tx1"/>
                          </a:solidFill>
                          <a:effectLst/>
                          <a:latin typeface="+mn-lt"/>
                        </a:rPr>
                        <a:t>reduce performance</a:t>
                      </a:r>
                      <a:r>
                        <a:rPr lang="en-US" sz="1400" dirty="0">
                          <a:solidFill>
                            <a:schemeClr val="tx1"/>
                          </a:solidFill>
                          <a:effectLst/>
                          <a:latin typeface="+mn-lt"/>
                        </a:rPr>
                        <a:t> levels from shared resources.</a:t>
                      </a: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 xmlns:a16="http://schemas.microsoft.com/office/drawing/2014/main" val="10007"/>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7486560" y="1701720"/>
              <a:ext cx="360" cy="360"/>
            </p14:xfrm>
          </p:contentPart>
        </mc:Choice>
        <mc:Fallback xmlns="">
          <p:pic>
            <p:nvPicPr>
              <p:cNvPr id="3" name="Ink 2"/>
              <p:cNvPicPr/>
              <p:nvPr/>
            </p:nvPicPr>
            <p:blipFill>
              <a:blip r:embed="rId5"/>
              <a:stretch>
                <a:fillRect/>
              </a:stretch>
            </p:blipFill>
            <p:spPr>
              <a:xfrm>
                <a:off x="7477200" y="1692360"/>
                <a:ext cx="19080" cy="19080"/>
              </a:xfrm>
              <a:prstGeom prst="rect">
                <a:avLst/>
              </a:prstGeom>
            </p:spPr>
          </p:pic>
        </mc:Fallback>
      </mc:AlternateContent>
    </p:spTree>
    <p:extLst>
      <p:ext uri="{BB962C8B-B14F-4D97-AF65-F5344CB8AC3E}">
        <p14:creationId xmlns:p14="http://schemas.microsoft.com/office/powerpoint/2010/main" val="1150437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Related image">
            <a:extLst>
              <a:ext uri="{FF2B5EF4-FFF2-40B4-BE49-F238E27FC236}">
                <a16:creationId xmlns="" xmlns:a16="http://schemas.microsoft.com/office/drawing/2014/main" id="{0970D891-36D0-B9B3-D588-5173D29B739A}"/>
              </a:ext>
            </a:extLst>
          </p:cNvPr>
          <p:cNvPicPr>
            <a:picLocks noChangeAspect="1" noChangeArrowheads="1"/>
          </p:cNvPicPr>
          <p:nvPr/>
        </p:nvPicPr>
        <p:blipFill>
          <a:blip r:embed="rId2"/>
          <a:srcRect/>
          <a:stretch>
            <a:fillRect/>
          </a:stretch>
        </p:blipFill>
        <p:spPr bwMode="auto">
          <a:xfrm>
            <a:off x="8548101" y="3730256"/>
            <a:ext cx="3649985" cy="2290785"/>
          </a:xfrm>
          <a:prstGeom prst="rect">
            <a:avLst/>
          </a:prstGeom>
          <a:noFill/>
        </p:spPr>
      </p:pic>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307975" y="210702"/>
            <a:ext cx="1999906" cy="369332"/>
          </a:xfrm>
          <a:prstGeom prst="rect">
            <a:avLst/>
          </a:prstGeom>
        </p:spPr>
        <p:txBody>
          <a:bodyPr wrap="none">
            <a:spAutoFit/>
          </a:bodyPr>
          <a:lstStyle/>
          <a:p>
            <a:r>
              <a:rPr lang="en-US" b="1" u="sng" dirty="0">
                <a:solidFill>
                  <a:srgbClr val="FF0000"/>
                </a:solidFill>
              </a:rPr>
              <a:t>Why </a:t>
            </a:r>
            <a:r>
              <a:rPr lang="en-US" b="1" u="sng" dirty="0" smtClean="0">
                <a:solidFill>
                  <a:srgbClr val="FF0000"/>
                </a:solidFill>
              </a:rPr>
              <a:t>Cloud (Public)</a:t>
            </a:r>
            <a:endParaRPr lang="en-US" b="1" u="sng" dirty="0"/>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591" y="937051"/>
            <a:ext cx="5597055" cy="25001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4377" y="974686"/>
            <a:ext cx="5521783" cy="24248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8375" y="3682893"/>
            <a:ext cx="6641022" cy="2483227"/>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2307881" y="561718"/>
            <a:ext cx="2438809" cy="369332"/>
          </a:xfrm>
          <a:prstGeom prst="rect">
            <a:avLst/>
          </a:prstGeom>
        </p:spPr>
        <p:txBody>
          <a:bodyPr wrap="none">
            <a:spAutoFit/>
          </a:bodyPr>
          <a:lstStyle/>
          <a:p>
            <a:r>
              <a:rPr lang="en-US" b="1" u="sng" dirty="0" err="1" smtClean="0">
                <a:solidFill>
                  <a:srgbClr val="FF0000"/>
                </a:solidFill>
              </a:rPr>
              <a:t>Onprem</a:t>
            </a:r>
            <a:r>
              <a:rPr lang="en-US" b="1" u="sng" dirty="0" smtClean="0">
                <a:solidFill>
                  <a:srgbClr val="FF0000"/>
                </a:solidFill>
              </a:rPr>
              <a:t> (Private Cloud)</a:t>
            </a:r>
            <a:endParaRPr lang="en-US" b="1" u="sng" dirty="0"/>
          </a:p>
        </p:txBody>
      </p:sp>
      <p:sp>
        <p:nvSpPr>
          <p:cNvPr id="9" name="Rectangle 8"/>
          <p:cNvSpPr/>
          <p:nvPr/>
        </p:nvSpPr>
        <p:spPr>
          <a:xfrm>
            <a:off x="7847099" y="580034"/>
            <a:ext cx="1364476" cy="369332"/>
          </a:xfrm>
          <a:prstGeom prst="rect">
            <a:avLst/>
          </a:prstGeom>
        </p:spPr>
        <p:txBody>
          <a:bodyPr wrap="none">
            <a:spAutoFit/>
          </a:bodyPr>
          <a:lstStyle/>
          <a:p>
            <a:r>
              <a:rPr lang="en-US" b="1" u="sng" dirty="0" smtClean="0">
                <a:solidFill>
                  <a:srgbClr val="FF0000"/>
                </a:solidFill>
              </a:rPr>
              <a:t>Public Cloud</a:t>
            </a:r>
            <a:endParaRPr lang="en-US" b="1" u="sng" dirty="0"/>
          </a:p>
        </p:txBody>
      </p:sp>
      <p:cxnSp>
        <p:nvCxnSpPr>
          <p:cNvPr id="4" name="Straight Connector 3"/>
          <p:cNvCxnSpPr/>
          <p:nvPr/>
        </p:nvCxnSpPr>
        <p:spPr>
          <a:xfrm>
            <a:off x="6087035" y="0"/>
            <a:ext cx="71718" cy="685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820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7909742" y="406806"/>
            <a:ext cx="3967048" cy="4706369"/>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161333" y="37476"/>
            <a:ext cx="2318327" cy="369332"/>
          </a:xfrm>
          <a:prstGeom prst="rect">
            <a:avLst/>
          </a:prstGeom>
        </p:spPr>
        <p:txBody>
          <a:bodyPr wrap="none">
            <a:spAutoFit/>
          </a:bodyPr>
          <a:lstStyle/>
          <a:p>
            <a:r>
              <a:rPr lang="en-US" b="1" u="sng" dirty="0">
                <a:solidFill>
                  <a:srgbClr val="FF0000"/>
                </a:solidFill>
              </a:rPr>
              <a:t>Major Cloud Providers</a:t>
            </a:r>
            <a:endParaRPr lang="en-US" b="1" u="sng" dirty="0"/>
          </a:p>
        </p:txBody>
      </p:sp>
      <p:sp>
        <p:nvSpPr>
          <p:cNvPr id="11" name="Rectangle 10"/>
          <p:cNvSpPr/>
          <p:nvPr/>
        </p:nvSpPr>
        <p:spPr>
          <a:xfrm>
            <a:off x="147434" y="410511"/>
            <a:ext cx="3743075" cy="4031873"/>
          </a:xfrm>
          <a:prstGeom prst="rect">
            <a:avLst/>
          </a:prstGeom>
        </p:spPr>
        <p:txBody>
          <a:bodyPr wrap="square">
            <a:spAutoFit/>
          </a:bodyPr>
          <a:lstStyle/>
          <a:p>
            <a:pPr algn="just"/>
            <a:r>
              <a:rPr lang="en-US" sz="1600" b="1" dirty="0"/>
              <a:t>AWS</a:t>
            </a:r>
            <a:r>
              <a:rPr lang="en-US" sz="1600" dirty="0"/>
              <a:t> comprises over </a:t>
            </a:r>
            <a:r>
              <a:rPr lang="en-US" sz="1600" b="1" dirty="0"/>
              <a:t>200+</a:t>
            </a:r>
            <a:r>
              <a:rPr lang="en-US" sz="1600" dirty="0"/>
              <a:t> products and services including </a:t>
            </a:r>
            <a:r>
              <a:rPr lang="en-US" sz="1600" dirty="0">
                <a:hlinkClick r:id="rId2" tooltip="Computation"/>
              </a:rPr>
              <a:t>computing</a:t>
            </a:r>
            <a:r>
              <a:rPr lang="en-US" sz="1600" dirty="0"/>
              <a:t>, </a:t>
            </a:r>
            <a:r>
              <a:rPr lang="en-US" sz="1600" dirty="0">
                <a:hlinkClick r:id="rId3" tooltip="Storage virtualization"/>
              </a:rPr>
              <a:t>storage</a:t>
            </a:r>
            <a:r>
              <a:rPr lang="en-US" sz="1600" dirty="0"/>
              <a:t>, </a:t>
            </a:r>
            <a:r>
              <a:rPr lang="en-US" sz="1600" dirty="0">
                <a:hlinkClick r:id="rId4" tooltip="Computer network"/>
              </a:rPr>
              <a:t>networking</a:t>
            </a:r>
            <a:r>
              <a:rPr lang="en-US" sz="1600" dirty="0"/>
              <a:t>, </a:t>
            </a:r>
            <a:r>
              <a:rPr lang="en-US" sz="1600" dirty="0">
                <a:hlinkClick r:id="rId5" tooltip="Database"/>
              </a:rPr>
              <a:t>database</a:t>
            </a:r>
            <a:r>
              <a:rPr lang="en-US" sz="1600" dirty="0"/>
              <a:t>, </a:t>
            </a:r>
            <a:r>
              <a:rPr lang="en-US" sz="1600" dirty="0">
                <a:hlinkClick r:id="rId6" tooltip="Analytics"/>
              </a:rPr>
              <a:t>analytics</a:t>
            </a:r>
            <a:r>
              <a:rPr lang="en-US" sz="1600" dirty="0"/>
              <a:t>, </a:t>
            </a:r>
            <a:r>
              <a:rPr lang="en-US" sz="1600" dirty="0">
                <a:hlinkClick r:id="rId7" tooltip="Application service provider"/>
              </a:rPr>
              <a:t>application services</a:t>
            </a:r>
            <a:r>
              <a:rPr lang="en-US" sz="1600" dirty="0"/>
              <a:t>, </a:t>
            </a:r>
            <a:r>
              <a:rPr lang="en-US" sz="1600" dirty="0">
                <a:hlinkClick r:id="rId8" tooltip="Software deployment"/>
              </a:rPr>
              <a:t>deployment</a:t>
            </a:r>
            <a:r>
              <a:rPr lang="en-US" sz="1600" dirty="0"/>
              <a:t>, </a:t>
            </a:r>
            <a:r>
              <a:rPr lang="en-US" sz="1600" dirty="0">
                <a:hlinkClick r:id="rId9" tooltip="Systems management"/>
              </a:rPr>
              <a:t>management</a:t>
            </a:r>
            <a:r>
              <a:rPr lang="en-US" sz="1600" dirty="0"/>
              <a:t>, </a:t>
            </a:r>
            <a:r>
              <a:rPr lang="en-US" sz="1600" dirty="0">
                <a:hlinkClick r:id="rId10" tooltip="Mobile application development"/>
              </a:rPr>
              <a:t>mobile</a:t>
            </a:r>
            <a:r>
              <a:rPr lang="en-US" sz="1600" dirty="0"/>
              <a:t>, </a:t>
            </a:r>
            <a:r>
              <a:rPr lang="en-US" sz="1600" dirty="0">
                <a:hlinkClick r:id="rId11" tooltip="Programming tool"/>
              </a:rPr>
              <a:t>developer tools</a:t>
            </a:r>
            <a:r>
              <a:rPr lang="en-US" sz="1600" dirty="0"/>
              <a:t>, and tools for the </a:t>
            </a:r>
            <a:r>
              <a:rPr lang="en-US" sz="1600" dirty="0">
                <a:hlinkClick r:id="rId12" tooltip="Internet of Things"/>
              </a:rPr>
              <a:t>Internet of Things</a:t>
            </a:r>
            <a:r>
              <a:rPr lang="en-US" sz="1600" dirty="0"/>
              <a:t>.</a:t>
            </a:r>
            <a:endParaRPr lang="en-US" sz="1600" b="1" dirty="0"/>
          </a:p>
          <a:p>
            <a:pPr algn="just"/>
            <a:endParaRPr lang="en-US" sz="1600" b="1" dirty="0"/>
          </a:p>
          <a:p>
            <a:pPr algn="just"/>
            <a:r>
              <a:rPr lang="en-US" sz="1600" b="1" dirty="0"/>
              <a:t>History – </a:t>
            </a:r>
          </a:p>
          <a:p>
            <a:pPr algn="just"/>
            <a:r>
              <a:rPr lang="en-US" sz="1600" b="1" dirty="0"/>
              <a:t>Jeff Bezos - 1994</a:t>
            </a:r>
          </a:p>
          <a:p>
            <a:pPr algn="just"/>
            <a:r>
              <a:rPr lang="en-US" sz="1600" dirty="0"/>
              <a:t>Started – 2000, </a:t>
            </a:r>
            <a:r>
              <a:rPr lang="en-US" sz="1600" b="1" dirty="0"/>
              <a:t>Launched – 2002</a:t>
            </a:r>
            <a:r>
              <a:rPr lang="en-US" sz="1600" dirty="0"/>
              <a:t>, </a:t>
            </a:r>
          </a:p>
          <a:p>
            <a:pPr algn="just"/>
            <a:r>
              <a:rPr lang="en-US" sz="1600" dirty="0"/>
              <a:t>EC2 – 2003, SQS – 2004, S3 – 2006 ……..</a:t>
            </a:r>
          </a:p>
          <a:p>
            <a:pPr algn="just"/>
            <a:endParaRPr lang="en-US" sz="1600" b="1" dirty="0"/>
          </a:p>
          <a:p>
            <a:pPr algn="just"/>
            <a:r>
              <a:rPr lang="en-US" sz="1600" b="1" dirty="0"/>
              <a:t>Market Stake</a:t>
            </a:r>
            <a:r>
              <a:rPr lang="en-US" sz="1600" b="1" dirty="0" smtClean="0"/>
              <a:t>:</a:t>
            </a:r>
          </a:p>
          <a:p>
            <a:pPr algn="just"/>
            <a:r>
              <a:rPr lang="en-US" sz="1600" b="1" dirty="0" smtClean="0"/>
              <a:t>30+ ,Small level companies, Common Matured Ecosystems..</a:t>
            </a:r>
            <a:endParaRPr lang="en-US" sz="1600" b="1" dirty="0"/>
          </a:p>
        </p:txBody>
      </p:sp>
      <p:sp>
        <p:nvSpPr>
          <p:cNvPr id="6" name="Rectangle 5"/>
          <p:cNvSpPr/>
          <p:nvPr/>
        </p:nvSpPr>
        <p:spPr>
          <a:xfrm>
            <a:off x="4295659" y="420166"/>
            <a:ext cx="3324836" cy="4524315"/>
          </a:xfrm>
          <a:prstGeom prst="rect">
            <a:avLst/>
          </a:prstGeom>
        </p:spPr>
        <p:txBody>
          <a:bodyPr wrap="square">
            <a:spAutoFit/>
          </a:bodyPr>
          <a:lstStyle/>
          <a:p>
            <a:pPr algn="just"/>
            <a:r>
              <a:rPr lang="en-US" sz="1600" b="1" dirty="0"/>
              <a:t>GCP</a:t>
            </a:r>
            <a:r>
              <a:rPr lang="en-US" sz="1600" dirty="0"/>
              <a:t> is a public cloud vendor that offers a suite of </a:t>
            </a:r>
            <a:r>
              <a:rPr lang="en-US" sz="1600" b="1" dirty="0"/>
              <a:t>100+</a:t>
            </a:r>
            <a:r>
              <a:rPr lang="en-US" sz="1600" dirty="0"/>
              <a:t> services to do everything from </a:t>
            </a:r>
            <a:r>
              <a:rPr lang="en-US" sz="1600" u="sng" dirty="0"/>
              <a:t>data </a:t>
            </a:r>
            <a:r>
              <a:rPr lang="en-US" sz="1600" u="sng" dirty="0" smtClean="0"/>
              <a:t>management (Engineering &amp; Analytics) </a:t>
            </a:r>
            <a:r>
              <a:rPr lang="en-US" sz="1600" u="sng" dirty="0"/>
              <a:t>to delivering web and </a:t>
            </a:r>
            <a:r>
              <a:rPr lang="en-US" sz="1600" u="sng" dirty="0" smtClean="0"/>
              <a:t>image/video </a:t>
            </a:r>
            <a:r>
              <a:rPr lang="en-US" sz="1600" u="sng" dirty="0"/>
              <a:t>over the web to AI and machine learning tools</a:t>
            </a:r>
            <a:r>
              <a:rPr lang="en-US" sz="1600" dirty="0"/>
              <a:t>.</a:t>
            </a:r>
          </a:p>
          <a:p>
            <a:pPr algn="just"/>
            <a:endParaRPr lang="en-US" sz="1600" dirty="0"/>
          </a:p>
          <a:p>
            <a:pPr algn="just"/>
            <a:r>
              <a:rPr lang="en-US" sz="1600" b="1" dirty="0"/>
              <a:t>History – </a:t>
            </a:r>
          </a:p>
          <a:p>
            <a:pPr algn="just"/>
            <a:r>
              <a:rPr lang="en-US" sz="1600" dirty="0"/>
              <a:t>In April </a:t>
            </a:r>
            <a:r>
              <a:rPr lang="en-US" sz="1600" b="1" dirty="0"/>
              <a:t>2008</a:t>
            </a:r>
            <a:r>
              <a:rPr lang="en-US" sz="1600" dirty="0"/>
              <a:t>, </a:t>
            </a:r>
          </a:p>
          <a:p>
            <a:pPr algn="just"/>
            <a:endParaRPr lang="en-US" sz="1600" dirty="0">
              <a:hlinkClick r:id="rId13"/>
            </a:endParaRPr>
          </a:p>
          <a:p>
            <a:pPr algn="just"/>
            <a:r>
              <a:rPr lang="en-US" sz="1600" dirty="0">
                <a:hlinkClick r:id="rId13"/>
              </a:rPr>
              <a:t>Google announced a preview release of App Engine</a:t>
            </a:r>
            <a:endParaRPr lang="en-US" sz="1600" dirty="0"/>
          </a:p>
          <a:p>
            <a:pPr algn="just"/>
            <a:endParaRPr lang="en-US" sz="1600" dirty="0"/>
          </a:p>
          <a:p>
            <a:pPr algn="just"/>
            <a:r>
              <a:rPr lang="en-US" sz="1600" b="1" dirty="0"/>
              <a:t>Market Stake</a:t>
            </a:r>
            <a:r>
              <a:rPr lang="en-US" sz="1600" b="1" dirty="0" smtClean="0"/>
              <a:t>:</a:t>
            </a:r>
          </a:p>
          <a:p>
            <a:pPr algn="just"/>
            <a:r>
              <a:rPr lang="en-US" sz="1600" b="1" dirty="0" smtClean="0"/>
              <a:t>10</a:t>
            </a:r>
            <a:r>
              <a:rPr lang="en-US" sz="1600" b="1" dirty="0"/>
              <a:t>+ , Small </a:t>
            </a:r>
            <a:r>
              <a:rPr lang="en-US" sz="1600" b="1" dirty="0" smtClean="0"/>
              <a:t>scale to </a:t>
            </a:r>
            <a:r>
              <a:rPr lang="en-US" sz="1600" b="1" dirty="0"/>
              <a:t>Enterprise </a:t>
            </a:r>
            <a:r>
              <a:rPr lang="en-US" sz="1600" b="1" dirty="0" smtClean="0"/>
              <a:t>(Data Analytics, </a:t>
            </a:r>
            <a:r>
              <a:rPr lang="en-US" sz="1600" b="1" dirty="0"/>
              <a:t>Data Engineering</a:t>
            </a:r>
            <a:r>
              <a:rPr lang="en-US" sz="1600" b="1" dirty="0" smtClean="0"/>
              <a:t> &amp; AIML Services).</a:t>
            </a:r>
            <a:endParaRPr lang="en-US" sz="1600" b="1" dirty="0"/>
          </a:p>
        </p:txBody>
      </p:sp>
      <p:sp>
        <p:nvSpPr>
          <p:cNvPr id="7" name="Rectangle 6"/>
          <p:cNvSpPr/>
          <p:nvPr/>
        </p:nvSpPr>
        <p:spPr>
          <a:xfrm>
            <a:off x="7909742" y="406808"/>
            <a:ext cx="3966328" cy="4185761"/>
          </a:xfrm>
          <a:prstGeom prst="rect">
            <a:avLst/>
          </a:prstGeom>
        </p:spPr>
        <p:txBody>
          <a:bodyPr wrap="square">
            <a:spAutoFit/>
          </a:bodyPr>
          <a:lstStyle/>
          <a:p>
            <a:pPr algn="just"/>
            <a:r>
              <a:rPr lang="en-US" sz="1400" b="1" dirty="0"/>
              <a:t>Azure</a:t>
            </a:r>
            <a:r>
              <a:rPr lang="en-US" sz="1400" dirty="0"/>
              <a:t> is a cloud computing service over </a:t>
            </a:r>
            <a:r>
              <a:rPr lang="en-US" sz="1400" dirty="0" smtClean="0"/>
              <a:t>nearly 200 </a:t>
            </a:r>
            <a:r>
              <a:rPr lang="en-US" sz="1400" dirty="0"/>
              <a:t>operated by Microsoft, provides </a:t>
            </a:r>
            <a:r>
              <a:rPr lang="en-US" sz="1400" dirty="0">
                <a:hlinkClick r:id="rId14" tooltip="Software as a service"/>
              </a:rPr>
              <a:t>software as a service (SaaS)</a:t>
            </a:r>
            <a:r>
              <a:rPr lang="en-US" sz="1400" dirty="0"/>
              <a:t>, </a:t>
            </a:r>
            <a:r>
              <a:rPr lang="en-US" sz="1400" dirty="0">
                <a:hlinkClick r:id="rId15" tooltip="Platform as a service"/>
              </a:rPr>
              <a:t>platform as a service (PaaS)</a:t>
            </a:r>
            <a:r>
              <a:rPr lang="en-US" sz="1400" dirty="0"/>
              <a:t> and </a:t>
            </a:r>
            <a:r>
              <a:rPr lang="en-US" sz="1400" dirty="0">
                <a:hlinkClick r:id="rId16" tooltip="Infrastructure as a service"/>
              </a:rPr>
              <a:t>infrastructure as a service (IaaS)</a:t>
            </a:r>
            <a:r>
              <a:rPr lang="en-US" sz="1400" dirty="0"/>
              <a:t> and supports many different </a:t>
            </a:r>
            <a:r>
              <a:rPr lang="en-US" sz="1400" dirty="0">
                <a:hlinkClick r:id="rId17" tooltip="Programming language"/>
              </a:rPr>
              <a:t>programming languages</a:t>
            </a:r>
            <a:r>
              <a:rPr lang="en-US" sz="1400" dirty="0"/>
              <a:t>, tools, and frameworks, including both </a:t>
            </a:r>
            <a:r>
              <a:rPr lang="en-US" sz="1400" b="1" dirty="0"/>
              <a:t>Microsoft-specific</a:t>
            </a:r>
            <a:r>
              <a:rPr lang="en-US" sz="1400" dirty="0"/>
              <a:t> and third-party software and systems</a:t>
            </a:r>
          </a:p>
          <a:p>
            <a:pPr algn="just"/>
            <a:endParaRPr lang="en-US" sz="1400" b="1" dirty="0"/>
          </a:p>
          <a:p>
            <a:pPr algn="just"/>
            <a:r>
              <a:rPr lang="en-US" sz="1400" b="1" dirty="0"/>
              <a:t>History -</a:t>
            </a:r>
          </a:p>
          <a:p>
            <a:pPr algn="just"/>
            <a:r>
              <a:rPr lang="en-US" sz="1400" dirty="0"/>
              <a:t>Azure, announced at Microsoft's Professional Developers Conference (PDC) in October 2008, went by the internal project </a:t>
            </a:r>
            <a:r>
              <a:rPr lang="en-US" sz="1400" b="1" dirty="0"/>
              <a:t>codename "Project Red Dog"</a:t>
            </a:r>
            <a:r>
              <a:rPr lang="en-US" sz="1400" dirty="0"/>
              <a:t>, and formally released in February </a:t>
            </a:r>
            <a:r>
              <a:rPr lang="en-US" sz="1400" b="1" dirty="0"/>
              <a:t>2010</a:t>
            </a:r>
            <a:r>
              <a:rPr lang="en-US" sz="1400" dirty="0"/>
              <a:t>, as Windows Azure before being renamed to </a:t>
            </a:r>
            <a:r>
              <a:rPr lang="en-US" sz="1400" b="1" dirty="0"/>
              <a:t>Microsoft Azure on March 25, 2014</a:t>
            </a:r>
          </a:p>
          <a:p>
            <a:pPr algn="just"/>
            <a:endParaRPr lang="en-US" sz="1400" b="1" dirty="0"/>
          </a:p>
          <a:p>
            <a:pPr algn="just"/>
            <a:r>
              <a:rPr lang="en-US" sz="1400" b="1" dirty="0"/>
              <a:t>Market Stake</a:t>
            </a:r>
            <a:r>
              <a:rPr lang="en-US" sz="1400" b="1" dirty="0" smtClean="0"/>
              <a:t>:</a:t>
            </a:r>
          </a:p>
          <a:p>
            <a:pPr algn="just"/>
            <a:r>
              <a:rPr lang="en-US" sz="1400" b="1" dirty="0" smtClean="0"/>
              <a:t>20</a:t>
            </a:r>
            <a:r>
              <a:rPr lang="en-US" sz="1400" b="1" dirty="0"/>
              <a:t>+ , </a:t>
            </a:r>
            <a:r>
              <a:rPr lang="en-US" sz="1400" b="1" dirty="0" smtClean="0"/>
              <a:t>Small scale Enterprise (Microsoft flavored), Data Engineering (Databricks)..</a:t>
            </a:r>
            <a:endParaRPr lang="en-US" sz="1400" b="1" dirty="0"/>
          </a:p>
        </p:txBody>
      </p:sp>
      <p:sp>
        <p:nvSpPr>
          <p:cNvPr id="14" name="Rectangle 13"/>
          <p:cNvSpPr/>
          <p:nvPr/>
        </p:nvSpPr>
        <p:spPr>
          <a:xfrm>
            <a:off x="147434" y="410835"/>
            <a:ext cx="3812087" cy="46970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4252685" y="416137"/>
            <a:ext cx="3367810" cy="4697037"/>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18">
            <p14:nvContentPartPr>
              <p14:cNvPr id="3" name="Ink 2"/>
              <p14:cNvContentPartPr/>
              <p14:nvPr/>
            </p14:nvContentPartPr>
            <p14:xfrm>
              <a:off x="7257960" y="3422520"/>
              <a:ext cx="360" cy="360"/>
            </p14:xfrm>
          </p:contentPart>
        </mc:Choice>
        <mc:Fallback xmlns="">
          <p:pic>
            <p:nvPicPr>
              <p:cNvPr id="3" name="Ink 2"/>
              <p:cNvPicPr/>
              <p:nvPr/>
            </p:nvPicPr>
            <p:blipFill>
              <a:blip r:embed="rId20"/>
              <a:stretch>
                <a:fillRect/>
              </a:stretch>
            </p:blipFill>
            <p:spPr>
              <a:xfrm>
                <a:off x="7248600" y="3413160"/>
                <a:ext cx="19080" cy="19080"/>
              </a:xfrm>
              <a:prstGeom prst="rect">
                <a:avLst/>
              </a:prstGeom>
            </p:spPr>
          </p:pic>
        </mc:Fallback>
      </mc:AlternateContent>
    </p:spTree>
    <p:extLst>
      <p:ext uri="{BB962C8B-B14F-4D97-AF65-F5344CB8AC3E}">
        <p14:creationId xmlns:p14="http://schemas.microsoft.com/office/powerpoint/2010/main" val="2459492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2" descr="Cloud Admin  Icon"/>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mc:AlternateContent xmlns:mc="http://schemas.openxmlformats.org/markup-compatibility/2006" xmlns:p14="http://schemas.microsoft.com/office/powerpoint/2010/main">
        <mc:Choice Requires="p14">
          <p:contentPart p14:bwMode="auto" r:id="rId2">
            <p14:nvContentPartPr>
              <p14:cNvPr id="22" name="Ink 21">
                <a:extLst>
                  <a:ext uri="{FF2B5EF4-FFF2-40B4-BE49-F238E27FC236}">
                    <a16:creationId xmlns="" xmlns:a16="http://schemas.microsoft.com/office/drawing/2014/main" id="{3B68E77A-D76A-3959-7ADD-2ABCC3F364DC}"/>
                  </a:ext>
                </a:extLst>
              </p14:cNvPr>
              <p14:cNvContentPartPr/>
              <p14:nvPr/>
            </p14:nvContentPartPr>
            <p14:xfrm>
              <a:off x="-1558344" y="849137"/>
              <a:ext cx="360" cy="360"/>
            </p14:xfrm>
          </p:contentPart>
        </mc:Choice>
        <mc:Fallback xmlns="">
          <p:pic>
            <p:nvPicPr>
              <p:cNvPr id="22" name="Ink 21">
                <a:extLst>
                  <a:ext uri="{FF2B5EF4-FFF2-40B4-BE49-F238E27FC236}">
                    <a16:creationId xmlns:a16="http://schemas.microsoft.com/office/drawing/2014/main" id="{3B68E77A-D76A-3959-7ADD-2ABCC3F364DC}"/>
                  </a:ext>
                </a:extLst>
              </p:cNvPr>
              <p:cNvPicPr/>
              <p:nvPr/>
            </p:nvPicPr>
            <p:blipFill>
              <a:blip r:embed="rId25"/>
              <a:stretch>
                <a:fillRect/>
              </a:stretch>
            </p:blipFill>
            <p:spPr>
              <a:xfrm>
                <a:off x="-1575984" y="831137"/>
                <a:ext cx="36000" cy="36000"/>
              </a:xfrm>
              <a:prstGeom prst="rect">
                <a:avLst/>
              </a:prstGeom>
            </p:spPr>
          </p:pic>
        </mc:Fallback>
      </mc:AlternateContent>
      <p:sp>
        <p:nvSpPr>
          <p:cNvPr id="188" name="Rectangle 187"/>
          <p:cNvSpPr/>
          <p:nvPr/>
        </p:nvSpPr>
        <p:spPr>
          <a:xfrm>
            <a:off x="7633493" y="713868"/>
            <a:ext cx="2611036" cy="369332"/>
          </a:xfrm>
          <a:prstGeom prst="rect">
            <a:avLst/>
          </a:prstGeom>
        </p:spPr>
        <p:txBody>
          <a:bodyPr wrap="none">
            <a:spAutoFit/>
          </a:bodyPr>
          <a:lstStyle/>
          <a:p>
            <a:r>
              <a:rPr lang="en-US" b="1" u="sng" dirty="0" smtClean="0">
                <a:solidFill>
                  <a:srgbClr val="FF0000"/>
                </a:solidFill>
              </a:rPr>
              <a:t>Cloud Engineer (IP) (First)</a:t>
            </a:r>
            <a:endParaRPr lang="en-US" b="1" u="sng" dirty="0"/>
          </a:p>
        </p:txBody>
      </p:sp>
      <p:sp>
        <p:nvSpPr>
          <p:cNvPr id="189" name="Rectangle 188"/>
          <p:cNvSpPr/>
          <p:nvPr/>
        </p:nvSpPr>
        <p:spPr>
          <a:xfrm>
            <a:off x="3742175" y="146753"/>
            <a:ext cx="3973717" cy="369332"/>
          </a:xfrm>
          <a:prstGeom prst="rect">
            <a:avLst/>
          </a:prstGeom>
        </p:spPr>
        <p:txBody>
          <a:bodyPr wrap="none">
            <a:spAutoFit/>
          </a:bodyPr>
          <a:lstStyle/>
          <a:p>
            <a:r>
              <a:rPr lang="en-US" b="1" u="sng" dirty="0">
                <a:solidFill>
                  <a:srgbClr val="FF0000"/>
                </a:solidFill>
              </a:rPr>
              <a:t>Assumptions &amp; Scope of Learning Cloud</a:t>
            </a:r>
            <a:endParaRPr lang="en-US" b="1" u="sng" dirty="0"/>
          </a:p>
        </p:txBody>
      </p:sp>
      <p:sp>
        <p:nvSpPr>
          <p:cNvPr id="190" name="Rectangle 189"/>
          <p:cNvSpPr/>
          <p:nvPr/>
        </p:nvSpPr>
        <p:spPr>
          <a:xfrm>
            <a:off x="936399" y="720127"/>
            <a:ext cx="4081951" cy="369332"/>
          </a:xfrm>
          <a:prstGeom prst="rect">
            <a:avLst/>
          </a:prstGeom>
        </p:spPr>
        <p:txBody>
          <a:bodyPr wrap="none">
            <a:spAutoFit/>
          </a:bodyPr>
          <a:lstStyle/>
          <a:p>
            <a:r>
              <a:rPr lang="en-US" b="1" u="sng" dirty="0">
                <a:solidFill>
                  <a:srgbClr val="FF0000"/>
                </a:solidFill>
              </a:rPr>
              <a:t>Cloud </a:t>
            </a:r>
            <a:r>
              <a:rPr lang="en-US" b="1" u="sng" dirty="0" smtClean="0">
                <a:solidFill>
                  <a:schemeClr val="tx2"/>
                </a:solidFill>
              </a:rPr>
              <a:t>Data/AI/BI</a:t>
            </a:r>
            <a:r>
              <a:rPr lang="en-US" b="1" u="sng" dirty="0" smtClean="0">
                <a:solidFill>
                  <a:srgbClr val="FF0000"/>
                </a:solidFill>
              </a:rPr>
              <a:t> </a:t>
            </a:r>
            <a:r>
              <a:rPr lang="en-US" b="1" u="sng" dirty="0">
                <a:solidFill>
                  <a:srgbClr val="FF0000"/>
                </a:solidFill>
              </a:rPr>
              <a:t>Engineer (IPS</a:t>
            </a:r>
            <a:r>
              <a:rPr lang="en-US" b="1" u="sng" dirty="0" smtClean="0">
                <a:solidFill>
                  <a:srgbClr val="FF0000"/>
                </a:solidFill>
              </a:rPr>
              <a:t>) (Second)</a:t>
            </a:r>
            <a:endParaRPr lang="en-US" b="1" u="sng" dirty="0"/>
          </a:p>
        </p:txBody>
      </p:sp>
      <p:sp>
        <p:nvSpPr>
          <p:cNvPr id="195" name="TextBox 194"/>
          <p:cNvSpPr txBox="1"/>
          <p:nvPr/>
        </p:nvSpPr>
        <p:spPr>
          <a:xfrm>
            <a:off x="377693" y="4367345"/>
            <a:ext cx="11179834" cy="2308324"/>
          </a:xfrm>
          <a:prstGeom prst="rect">
            <a:avLst/>
          </a:prstGeom>
          <a:noFill/>
        </p:spPr>
        <p:txBody>
          <a:bodyPr wrap="square" rtlCol="0">
            <a:spAutoFit/>
          </a:bodyPr>
          <a:lstStyle/>
          <a:p>
            <a:r>
              <a:rPr lang="en-US" b="1" u="sng" dirty="0">
                <a:solidFill>
                  <a:srgbClr val="FF0000"/>
                </a:solidFill>
              </a:rPr>
              <a:t>Caveat:</a:t>
            </a:r>
          </a:p>
          <a:p>
            <a:pPr marL="342900" indent="-342900">
              <a:buAutoNum type="arabicPeriod"/>
            </a:pPr>
            <a:r>
              <a:rPr lang="en-US" dirty="0"/>
              <a:t>Try to learn about minimum </a:t>
            </a:r>
            <a:r>
              <a:rPr lang="en-US" b="1" i="1" dirty="0"/>
              <a:t>one specific cloud</a:t>
            </a:r>
            <a:r>
              <a:rPr lang="en-US" dirty="0"/>
              <a:t>, specific cloud components and the security features </a:t>
            </a:r>
            <a:r>
              <a:rPr lang="en-US" i="1" dirty="0"/>
              <a:t>(only name varies but performs same operations and works in a same architecture).</a:t>
            </a:r>
          </a:p>
          <a:p>
            <a:pPr marL="342900" indent="-342900">
              <a:buAutoNum type="arabicPeriod"/>
            </a:pPr>
            <a:r>
              <a:rPr lang="en-US" dirty="0"/>
              <a:t>Try to understand the </a:t>
            </a:r>
            <a:r>
              <a:rPr lang="en-US" b="1" i="1" dirty="0"/>
              <a:t>Scope</a:t>
            </a:r>
            <a:r>
              <a:rPr lang="en-US" dirty="0"/>
              <a:t> of the cloud Services </a:t>
            </a:r>
            <a:r>
              <a:rPr lang="en-US" dirty="0" smtClean="0"/>
              <a:t>particularly for </a:t>
            </a:r>
            <a:r>
              <a:rPr lang="en-US" dirty="0"/>
              <a:t>a Data </a:t>
            </a:r>
            <a:r>
              <a:rPr lang="en-US" dirty="0" smtClean="0"/>
              <a:t>Engineering + AI + BI (Don’t get diluted).</a:t>
            </a:r>
            <a:endParaRPr lang="en-US" dirty="0"/>
          </a:p>
          <a:p>
            <a:pPr marL="342900" indent="-342900">
              <a:buAutoNum type="arabicPeriod"/>
            </a:pPr>
            <a:r>
              <a:rPr lang="en-US" dirty="0"/>
              <a:t>Keep in mind Features/Options used can be changed by the </a:t>
            </a:r>
            <a:r>
              <a:rPr lang="en-US" dirty="0" smtClean="0"/>
              <a:t>providers.</a:t>
            </a:r>
            <a:endParaRPr lang="en-US" dirty="0"/>
          </a:p>
          <a:p>
            <a:pPr marL="342900" indent="-342900">
              <a:buAutoNum type="arabicPeriod"/>
            </a:pPr>
            <a:r>
              <a:rPr lang="en-US" dirty="0"/>
              <a:t>Think how to make use of the </a:t>
            </a:r>
            <a:r>
              <a:rPr lang="en-US" dirty="0" smtClean="0"/>
              <a:t>infra/platform/software </a:t>
            </a:r>
            <a:r>
              <a:rPr lang="en-US" dirty="0"/>
              <a:t>for my </a:t>
            </a:r>
            <a:r>
              <a:rPr lang="en-US" dirty="0" err="1"/>
              <a:t>BigData</a:t>
            </a:r>
            <a:r>
              <a:rPr lang="en-US" dirty="0"/>
              <a:t> components.</a:t>
            </a:r>
          </a:p>
          <a:p>
            <a:r>
              <a:rPr lang="en-US" i="1" u="sng" dirty="0"/>
              <a:t>5.    How can </a:t>
            </a:r>
            <a:r>
              <a:rPr lang="en-US" b="1" i="1" u="sng" dirty="0"/>
              <a:t>I smartly </a:t>
            </a:r>
            <a:r>
              <a:rPr lang="en-US" i="1" u="sng" dirty="0"/>
              <a:t>create some </a:t>
            </a:r>
            <a:r>
              <a:rPr lang="en-US" b="1" i="1" u="sng" dirty="0"/>
              <a:t>Business use cases </a:t>
            </a:r>
            <a:r>
              <a:rPr lang="en-US" i="1" u="sng" dirty="0"/>
              <a:t>to show my cloud proficiency integrated with </a:t>
            </a:r>
            <a:r>
              <a:rPr lang="en-US" i="1" u="sng" dirty="0" err="1"/>
              <a:t>Bigdata</a:t>
            </a:r>
            <a:r>
              <a:rPr lang="en-US" i="1" u="sng" dirty="0"/>
              <a:t> </a:t>
            </a:r>
            <a:r>
              <a:rPr lang="en-US" i="1" u="sng" dirty="0" smtClean="0"/>
              <a:t>+ AI + BI components</a:t>
            </a:r>
            <a:endParaRPr lang="en-US" u="sng" dirty="0">
              <a:solidFill>
                <a:srgbClr val="FF0000"/>
              </a:solidFill>
            </a:endParaRPr>
          </a:p>
        </p:txBody>
      </p:sp>
      <p:pic>
        <p:nvPicPr>
          <p:cNvPr id="2050" name="Picture 2" descr="C:\Users\moham\Downloads\cloud1.png"/>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989018" y="1083200"/>
            <a:ext cx="6167406" cy="31921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2" name="Picture 4" descr="C:\Users\moham\Downloads\cloud2.png"/>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30355" y="1532670"/>
            <a:ext cx="5894041" cy="24090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6191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118203" y="140988"/>
            <a:ext cx="1562094" cy="369332"/>
          </a:xfrm>
          <a:prstGeom prst="rect">
            <a:avLst/>
          </a:prstGeom>
        </p:spPr>
        <p:txBody>
          <a:bodyPr wrap="none">
            <a:spAutoFit/>
          </a:bodyPr>
          <a:lstStyle/>
          <a:p>
            <a:r>
              <a:rPr lang="en-US" b="1" u="sng" dirty="0">
                <a:solidFill>
                  <a:srgbClr val="FF0000"/>
                </a:solidFill>
              </a:rPr>
              <a:t>Cloud Services</a:t>
            </a:r>
            <a:endParaRPr lang="en-US" b="1" u="sng" dirty="0"/>
          </a:p>
        </p:txBody>
      </p:sp>
      <p:sp>
        <p:nvSpPr>
          <p:cNvPr id="3" name="Rectangle 2"/>
          <p:cNvSpPr/>
          <p:nvPr/>
        </p:nvSpPr>
        <p:spPr>
          <a:xfrm>
            <a:off x="174046" y="871101"/>
            <a:ext cx="5907577" cy="5632311"/>
          </a:xfrm>
          <a:prstGeom prst="rect">
            <a:avLst/>
          </a:prstGeom>
        </p:spPr>
        <p:txBody>
          <a:bodyPr wrap="square">
            <a:spAutoFit/>
          </a:bodyPr>
          <a:lstStyle/>
          <a:p>
            <a:r>
              <a:rPr lang="en-US" b="1" u="sng" dirty="0">
                <a:solidFill>
                  <a:schemeClr val="accent1">
                    <a:lumMod val="75000"/>
                  </a:schemeClr>
                </a:solidFill>
              </a:rPr>
              <a:t>OnPrem:</a:t>
            </a:r>
          </a:p>
          <a:p>
            <a:r>
              <a:rPr lang="en-US" b="1" dirty="0">
                <a:solidFill>
                  <a:schemeClr val="accent1">
                    <a:lumMod val="75000"/>
                  </a:schemeClr>
                </a:solidFill>
              </a:rPr>
              <a:t>Capex</a:t>
            </a:r>
            <a:r>
              <a:rPr lang="en-US" dirty="0">
                <a:solidFill>
                  <a:schemeClr val="accent1">
                    <a:lumMod val="75000"/>
                  </a:schemeClr>
                </a:solidFill>
              </a:rPr>
              <a:t>: Defined workload with near recent changes expected in the Infra.  (Capital Expenditure)</a:t>
            </a:r>
          </a:p>
          <a:p>
            <a:endParaRPr lang="en-US" b="1" dirty="0">
              <a:solidFill>
                <a:schemeClr val="accent1">
                  <a:lumMod val="75000"/>
                </a:schemeClr>
              </a:solidFill>
            </a:endParaRPr>
          </a:p>
          <a:p>
            <a:r>
              <a:rPr lang="en-US" b="1" u="sng" dirty="0">
                <a:solidFill>
                  <a:schemeClr val="accent1">
                    <a:lumMod val="75000"/>
                  </a:schemeClr>
                </a:solidFill>
              </a:rPr>
              <a:t>Cloud:</a:t>
            </a:r>
          </a:p>
          <a:p>
            <a:r>
              <a:rPr lang="en-US" b="1" dirty="0" err="1">
                <a:solidFill>
                  <a:schemeClr val="accent1">
                    <a:lumMod val="75000"/>
                  </a:schemeClr>
                </a:solidFill>
              </a:rPr>
              <a:t>Opex</a:t>
            </a:r>
            <a:r>
              <a:rPr lang="en-US" dirty="0">
                <a:solidFill>
                  <a:schemeClr val="accent1">
                    <a:lumMod val="75000"/>
                  </a:schemeClr>
                </a:solidFill>
              </a:rPr>
              <a:t>: Variable workload with frequent changes expected in the Infra. (Operational Expenditure – </a:t>
            </a:r>
            <a:r>
              <a:rPr lang="en-US" sz="1600" dirty="0">
                <a:solidFill>
                  <a:schemeClr val="accent1">
                    <a:lumMod val="75000"/>
                  </a:schemeClr>
                </a:solidFill>
              </a:rPr>
              <a:t>Pay as you go/Pay per use</a:t>
            </a:r>
            <a:r>
              <a:rPr lang="en-US" dirty="0">
                <a:solidFill>
                  <a:schemeClr val="accent1">
                    <a:lumMod val="75000"/>
                  </a:schemeClr>
                </a:solidFill>
              </a:rPr>
              <a:t>)</a:t>
            </a:r>
            <a:endParaRPr lang="en-US" b="1" u="sng" dirty="0">
              <a:solidFill>
                <a:schemeClr val="accent1">
                  <a:lumMod val="75000"/>
                </a:schemeClr>
              </a:solidFill>
            </a:endParaRPr>
          </a:p>
          <a:p>
            <a:endParaRPr lang="en-US" b="1" u="sng" dirty="0">
              <a:solidFill>
                <a:schemeClr val="accent1">
                  <a:lumMod val="75000"/>
                </a:schemeClr>
              </a:solidFill>
            </a:endParaRPr>
          </a:p>
          <a:p>
            <a:r>
              <a:rPr lang="en-US" b="1" u="sng" dirty="0" err="1">
                <a:solidFill>
                  <a:schemeClr val="accent1">
                    <a:lumMod val="75000"/>
                  </a:schemeClr>
                </a:solidFill>
              </a:rPr>
              <a:t>IaaS</a:t>
            </a:r>
            <a:r>
              <a:rPr lang="en-US" dirty="0">
                <a:solidFill>
                  <a:schemeClr val="accent1">
                    <a:lumMod val="75000"/>
                  </a:schemeClr>
                </a:solidFill>
              </a:rPr>
              <a:t>: </a:t>
            </a:r>
            <a:r>
              <a:rPr lang="en-US" b="1" i="1" dirty="0">
                <a:solidFill>
                  <a:schemeClr val="accent1">
                    <a:lumMod val="75000"/>
                  </a:schemeClr>
                </a:solidFill>
              </a:rPr>
              <a:t>cloud-based services</a:t>
            </a:r>
            <a:r>
              <a:rPr lang="en-US" dirty="0">
                <a:solidFill>
                  <a:schemeClr val="accent1">
                    <a:lumMod val="75000"/>
                  </a:schemeClr>
                </a:solidFill>
              </a:rPr>
              <a:t>, pay-as-you-go for services such as storage, networking, and virtualization. </a:t>
            </a:r>
          </a:p>
          <a:p>
            <a:endParaRPr lang="en-US" dirty="0">
              <a:solidFill>
                <a:schemeClr val="accent1">
                  <a:lumMod val="75000"/>
                </a:schemeClr>
              </a:solidFill>
            </a:endParaRPr>
          </a:p>
          <a:p>
            <a:r>
              <a:rPr lang="en-US" b="1" u="sng" dirty="0">
                <a:solidFill>
                  <a:schemeClr val="accent1">
                    <a:lumMod val="75000"/>
                  </a:schemeClr>
                </a:solidFill>
              </a:rPr>
              <a:t>PaaS</a:t>
            </a:r>
            <a:r>
              <a:rPr lang="en-US" dirty="0">
                <a:solidFill>
                  <a:schemeClr val="accent1">
                    <a:lumMod val="75000"/>
                  </a:schemeClr>
                </a:solidFill>
              </a:rPr>
              <a:t>: Software tools like middleware, OS available over the internet. </a:t>
            </a:r>
          </a:p>
          <a:p>
            <a:endParaRPr lang="en-US" dirty="0">
              <a:solidFill>
                <a:schemeClr val="accent1">
                  <a:lumMod val="75000"/>
                </a:schemeClr>
              </a:solidFill>
            </a:endParaRPr>
          </a:p>
          <a:p>
            <a:r>
              <a:rPr lang="en-US" b="1" u="sng" dirty="0">
                <a:solidFill>
                  <a:schemeClr val="accent1">
                    <a:lumMod val="75000"/>
                  </a:schemeClr>
                </a:solidFill>
              </a:rPr>
              <a:t>SaaS</a:t>
            </a:r>
            <a:r>
              <a:rPr lang="en-US" dirty="0">
                <a:solidFill>
                  <a:schemeClr val="accent1">
                    <a:lumMod val="75000"/>
                  </a:schemeClr>
                </a:solidFill>
              </a:rPr>
              <a:t>: Software like applications, DB servers, Clusters that's available via a third-party over the internet.</a:t>
            </a:r>
          </a:p>
          <a:p>
            <a:endParaRPr lang="en-US" dirty="0">
              <a:solidFill>
                <a:schemeClr val="accent1">
                  <a:lumMod val="75000"/>
                </a:schemeClr>
              </a:solidFill>
            </a:endParaRPr>
          </a:p>
          <a:p>
            <a:r>
              <a:rPr lang="en-US" b="1" u="sng" dirty="0">
                <a:solidFill>
                  <a:schemeClr val="accent1">
                    <a:lumMod val="75000"/>
                  </a:schemeClr>
                </a:solidFill>
              </a:rPr>
              <a:t>Hybrid:</a:t>
            </a:r>
            <a:endParaRPr lang="en-US" dirty="0"/>
          </a:p>
          <a:p>
            <a:endParaRPr lang="en-US" dirty="0">
              <a:solidFill>
                <a:schemeClr val="accent1">
                  <a:lumMod val="75000"/>
                </a:schemeClr>
              </a:solidFill>
            </a:endParaRPr>
          </a:p>
          <a:p>
            <a:r>
              <a:rPr lang="en-US" dirty="0">
                <a:solidFill>
                  <a:schemeClr val="accent1">
                    <a:lumMod val="75000"/>
                  </a:schemeClr>
                </a:solidFill>
              </a:rPr>
              <a:t>Features of CapEx of On </a:t>
            </a:r>
            <a:r>
              <a:rPr lang="en-US" dirty="0" err="1">
                <a:solidFill>
                  <a:schemeClr val="accent1">
                    <a:lumMod val="75000"/>
                  </a:schemeClr>
                </a:solidFill>
              </a:rPr>
              <a:t>Prem</a:t>
            </a:r>
            <a:r>
              <a:rPr lang="en-US" dirty="0">
                <a:solidFill>
                  <a:schemeClr val="accent1">
                    <a:lumMod val="75000"/>
                  </a:schemeClr>
                </a:solidFill>
              </a:rPr>
              <a:t> &amp; OpEx of Cloud </a:t>
            </a:r>
          </a:p>
        </p:txBody>
      </p:sp>
      <p:pic>
        <p:nvPicPr>
          <p:cNvPr id="2050" name="Picture 2" descr="What is Iaa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2342" y="477402"/>
            <a:ext cx="7496881" cy="4787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0208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118203" y="115110"/>
            <a:ext cx="5899115" cy="338554"/>
          </a:xfrm>
          <a:prstGeom prst="rect">
            <a:avLst/>
          </a:prstGeom>
        </p:spPr>
        <p:txBody>
          <a:bodyPr wrap="none">
            <a:spAutoFit/>
          </a:bodyPr>
          <a:lstStyle/>
          <a:p>
            <a:r>
              <a:rPr lang="en-US" sz="1600" b="1" u="sng" dirty="0">
                <a:solidFill>
                  <a:srgbClr val="FF0000"/>
                </a:solidFill>
              </a:rPr>
              <a:t>Cloud Computing Solutions – </a:t>
            </a:r>
            <a:r>
              <a:rPr lang="en-US" sz="1600" b="1" u="sng" dirty="0" smtClean="0">
                <a:solidFill>
                  <a:srgbClr val="FF0000"/>
                </a:solidFill>
              </a:rPr>
              <a:t>Unmanaged vs </a:t>
            </a:r>
            <a:r>
              <a:rPr lang="en-US" sz="1600" b="1" u="sng" dirty="0">
                <a:solidFill>
                  <a:srgbClr val="FF0000"/>
                </a:solidFill>
              </a:rPr>
              <a:t>Managed </a:t>
            </a:r>
            <a:r>
              <a:rPr lang="en-US" sz="1600" b="1" u="sng" dirty="0" smtClean="0">
                <a:solidFill>
                  <a:srgbClr val="FF0000"/>
                </a:solidFill>
              </a:rPr>
              <a:t>vs </a:t>
            </a:r>
            <a:r>
              <a:rPr lang="en-US" sz="1600" b="1" u="sng" dirty="0">
                <a:solidFill>
                  <a:srgbClr val="FF0000"/>
                </a:solidFill>
              </a:rPr>
              <a:t>Serverless</a:t>
            </a:r>
            <a:endParaRPr lang="en-US" sz="1600" b="1" u="sng" dirty="0"/>
          </a:p>
        </p:txBody>
      </p:sp>
      <p:pic>
        <p:nvPicPr>
          <p:cNvPr id="3074" name="Picture 2" descr="Infographic explaining the difference between managed cloud and unmanaged cloud, with differences split into five sections: management, support, costs, reliability and secur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934" y="484442"/>
            <a:ext cx="6483366" cy="7446456"/>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0057" y="5099974"/>
            <a:ext cx="1236084" cy="11905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4375" y="5161779"/>
            <a:ext cx="1307646" cy="10864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62370" y="5119492"/>
            <a:ext cx="1574380" cy="11710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80368" y="2818748"/>
            <a:ext cx="5881156" cy="21989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6044218" y="2731995"/>
            <a:ext cx="6084498" cy="389051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79"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34784" y="299776"/>
            <a:ext cx="3684595" cy="16973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4" name="TextBox 3"/>
          <p:cNvSpPr txBox="1"/>
          <p:nvPr/>
        </p:nvSpPr>
        <p:spPr>
          <a:xfrm>
            <a:off x="8196141" y="2455293"/>
            <a:ext cx="2489977" cy="307777"/>
          </a:xfrm>
          <a:prstGeom prst="rect">
            <a:avLst/>
          </a:prstGeom>
          <a:noFill/>
        </p:spPr>
        <p:txBody>
          <a:bodyPr wrap="none" rtlCol="0">
            <a:spAutoFit/>
          </a:bodyPr>
          <a:lstStyle/>
          <a:p>
            <a:r>
              <a:rPr lang="en-IN" sz="1400" b="1" dirty="0">
                <a:solidFill>
                  <a:schemeClr val="tx1">
                    <a:lumMod val="65000"/>
                    <a:lumOff val="35000"/>
                  </a:schemeClr>
                </a:solidFill>
                <a:effectLst>
                  <a:outerShdw blurRad="38100" dist="38100" dir="2700000" algn="tl">
                    <a:srgbClr val="000000">
                      <a:alpha val="43137"/>
                    </a:srgbClr>
                  </a:outerShdw>
                </a:effectLst>
              </a:rPr>
              <a:t>Server </a:t>
            </a:r>
            <a:r>
              <a:rPr lang="en-IN" sz="1400" b="1" dirty="0">
                <a:effectLst>
                  <a:outerShdw blurRad="38100" dist="38100" dir="2700000" algn="tl">
                    <a:srgbClr val="000000">
                      <a:alpha val="43137"/>
                    </a:srgbClr>
                  </a:outerShdw>
                </a:effectLst>
              </a:rPr>
              <a:t>less</a:t>
            </a:r>
            <a:r>
              <a:rPr lang="en-IN" sz="1400" b="1" dirty="0">
                <a:solidFill>
                  <a:schemeClr val="tx1">
                    <a:lumMod val="65000"/>
                    <a:lumOff val="35000"/>
                  </a:schemeClr>
                </a:solidFill>
                <a:effectLst>
                  <a:outerShdw blurRad="38100" dist="38100" dir="2700000" algn="tl">
                    <a:srgbClr val="000000">
                      <a:alpha val="43137"/>
                    </a:srgbClr>
                  </a:outerShdw>
                </a:effectLst>
              </a:rPr>
              <a:t> Computing Benefits</a:t>
            </a:r>
          </a:p>
        </p:txBody>
      </p:sp>
      <mc:AlternateContent xmlns:mc="http://schemas.openxmlformats.org/markup-compatibility/2006" xmlns:p14="http://schemas.microsoft.com/office/powerpoint/2010/main">
        <mc:Choice Requires="p14">
          <p:contentPart p14:bwMode="auto" r:id="rId8">
            <p14:nvContentPartPr>
              <p14:cNvPr id="3" name="Ink 2"/>
              <p14:cNvContentPartPr/>
              <p14:nvPr/>
            </p14:nvContentPartPr>
            <p14:xfrm>
              <a:off x="1942920" y="2266920"/>
              <a:ext cx="6680880" cy="120960"/>
            </p14:xfrm>
          </p:contentPart>
        </mc:Choice>
        <mc:Fallback xmlns="">
          <p:pic>
            <p:nvPicPr>
              <p:cNvPr id="3" name="Ink 2"/>
              <p:cNvPicPr/>
              <p:nvPr/>
            </p:nvPicPr>
            <p:blipFill>
              <a:blip r:embed="rId9"/>
              <a:stretch>
                <a:fillRect/>
              </a:stretch>
            </p:blipFill>
            <p:spPr>
              <a:xfrm>
                <a:off x="1933560" y="2257560"/>
                <a:ext cx="6699600" cy="139680"/>
              </a:xfrm>
              <a:prstGeom prst="rect">
                <a:avLst/>
              </a:prstGeom>
            </p:spPr>
          </p:pic>
        </mc:Fallback>
      </mc:AlternateContent>
      <p:sp>
        <p:nvSpPr>
          <p:cNvPr id="13" name="TextBox 12"/>
          <p:cNvSpPr txBox="1"/>
          <p:nvPr/>
        </p:nvSpPr>
        <p:spPr>
          <a:xfrm>
            <a:off x="8207668" y="-35105"/>
            <a:ext cx="2790508" cy="307777"/>
          </a:xfrm>
          <a:prstGeom prst="rect">
            <a:avLst/>
          </a:prstGeom>
          <a:noFill/>
        </p:spPr>
        <p:txBody>
          <a:bodyPr wrap="none" rtlCol="0">
            <a:spAutoFit/>
          </a:bodyPr>
          <a:lstStyle/>
          <a:p>
            <a:r>
              <a:rPr lang="en-IN" sz="1400" b="1" dirty="0">
                <a:solidFill>
                  <a:schemeClr val="tx1">
                    <a:lumMod val="65000"/>
                    <a:lumOff val="35000"/>
                  </a:schemeClr>
                </a:solidFill>
                <a:effectLst>
                  <a:outerShdw blurRad="38100" dist="38100" dir="2700000" algn="tl">
                    <a:srgbClr val="000000">
                      <a:alpha val="43137"/>
                    </a:srgbClr>
                  </a:outerShdw>
                </a:effectLst>
              </a:rPr>
              <a:t>Server </a:t>
            </a:r>
            <a:r>
              <a:rPr lang="en-IN" sz="1400" b="1" dirty="0" err="1">
                <a:solidFill>
                  <a:schemeClr val="tx1">
                    <a:lumMod val="65000"/>
                    <a:lumOff val="35000"/>
                  </a:schemeClr>
                </a:solidFill>
                <a:effectLst>
                  <a:outerShdw blurRad="38100" dist="38100" dir="2700000" algn="tl">
                    <a:srgbClr val="000000">
                      <a:alpha val="43137"/>
                    </a:srgbClr>
                  </a:outerShdw>
                </a:effectLst>
              </a:rPr>
              <a:t>ful</a:t>
            </a:r>
            <a:r>
              <a:rPr lang="en-IN" sz="1400" b="1" dirty="0">
                <a:solidFill>
                  <a:schemeClr val="tx1">
                    <a:lumMod val="65000"/>
                    <a:lumOff val="35000"/>
                  </a:schemeClr>
                </a:solidFill>
                <a:effectLst>
                  <a:outerShdw blurRad="38100" dist="38100" dir="2700000" algn="tl">
                    <a:srgbClr val="000000">
                      <a:alpha val="43137"/>
                    </a:srgbClr>
                  </a:outerShdw>
                </a:effectLst>
              </a:rPr>
              <a:t> vs Server </a:t>
            </a:r>
            <a:r>
              <a:rPr lang="en-IN" sz="1400" b="1" dirty="0">
                <a:effectLst>
                  <a:outerShdw blurRad="38100" dist="38100" dir="2700000" algn="tl">
                    <a:srgbClr val="000000">
                      <a:alpha val="43137"/>
                    </a:srgbClr>
                  </a:outerShdw>
                </a:effectLst>
              </a:rPr>
              <a:t>less</a:t>
            </a:r>
            <a:r>
              <a:rPr lang="en-IN" sz="1400" b="1" dirty="0">
                <a:solidFill>
                  <a:schemeClr val="tx1">
                    <a:lumMod val="65000"/>
                    <a:lumOff val="35000"/>
                  </a:schemeClr>
                </a:solidFill>
                <a:effectLst>
                  <a:outerShdw blurRad="38100" dist="38100" dir="2700000" algn="tl">
                    <a:srgbClr val="000000">
                      <a:alpha val="43137"/>
                    </a:srgbClr>
                  </a:outerShdw>
                </a:effectLst>
              </a:rPr>
              <a:t> Computing</a:t>
            </a:r>
          </a:p>
        </p:txBody>
      </p:sp>
      <p:cxnSp>
        <p:nvCxnSpPr>
          <p:cNvPr id="7" name="Straight Connector 6"/>
          <p:cNvCxnSpPr/>
          <p:nvPr/>
        </p:nvCxnSpPr>
        <p:spPr>
          <a:xfrm>
            <a:off x="5952565" y="0"/>
            <a:ext cx="8964" cy="685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1615155" y="1656201"/>
            <a:ext cx="914400" cy="5896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smtClean="0"/>
              <a:t>Vm</a:t>
            </a:r>
            <a:r>
              <a:rPr lang="en-IN" dirty="0" smtClean="0"/>
              <a:t>/</a:t>
            </a:r>
            <a:r>
              <a:rPr lang="en-IN" dirty="0" err="1" smtClean="0"/>
              <a:t>os</a:t>
            </a:r>
            <a:r>
              <a:rPr lang="en-IN" dirty="0" smtClean="0"/>
              <a:t>/</a:t>
            </a:r>
          </a:p>
          <a:p>
            <a:pPr algn="ctr"/>
            <a:r>
              <a:rPr lang="en-IN" dirty="0" smtClean="0">
                <a:solidFill>
                  <a:srgbClr val="C00000"/>
                </a:solidFill>
              </a:rPr>
              <a:t>Apps</a:t>
            </a:r>
            <a:endParaRPr lang="en-IN" dirty="0">
              <a:solidFill>
                <a:srgbClr val="C00000"/>
              </a:solidFill>
            </a:endParaRPr>
          </a:p>
        </p:txBody>
      </p:sp>
      <p:sp>
        <p:nvSpPr>
          <p:cNvPr id="16" name="Rectangle 15"/>
          <p:cNvSpPr/>
          <p:nvPr/>
        </p:nvSpPr>
        <p:spPr>
          <a:xfrm>
            <a:off x="3681813" y="1656202"/>
            <a:ext cx="914400" cy="5896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t>HDInsight</a:t>
            </a:r>
          </a:p>
          <a:p>
            <a:pPr algn="ctr"/>
            <a:r>
              <a:rPr lang="en-IN" sz="1400" dirty="0" err="1" smtClean="0"/>
              <a:t>Vm</a:t>
            </a:r>
            <a:r>
              <a:rPr lang="en-IN" sz="1400" dirty="0" smtClean="0"/>
              <a:t>/</a:t>
            </a:r>
            <a:r>
              <a:rPr lang="en-IN" sz="1400" dirty="0" err="1" smtClean="0"/>
              <a:t>os</a:t>
            </a:r>
            <a:r>
              <a:rPr lang="en-IN" sz="1400" dirty="0" smtClean="0"/>
              <a:t>/</a:t>
            </a:r>
          </a:p>
          <a:p>
            <a:pPr algn="ctr"/>
            <a:r>
              <a:rPr lang="en-IN" sz="1400" b="1" dirty="0" smtClean="0">
                <a:solidFill>
                  <a:schemeClr val="bg1"/>
                </a:solidFill>
              </a:rPr>
              <a:t>Apps</a:t>
            </a:r>
            <a:endParaRPr lang="en-IN" sz="1400" b="1" dirty="0">
              <a:solidFill>
                <a:schemeClr val="bg1"/>
              </a:solidFill>
            </a:endParaRPr>
          </a:p>
        </p:txBody>
      </p:sp>
      <p:sp>
        <p:nvSpPr>
          <p:cNvPr id="9" name="TextBox 8"/>
          <p:cNvSpPr txBox="1"/>
          <p:nvPr/>
        </p:nvSpPr>
        <p:spPr>
          <a:xfrm>
            <a:off x="855491" y="727970"/>
            <a:ext cx="1519327" cy="369332"/>
          </a:xfrm>
          <a:prstGeom prst="rect">
            <a:avLst/>
          </a:prstGeom>
          <a:noFill/>
        </p:spPr>
        <p:txBody>
          <a:bodyPr wrap="none" rtlCol="0">
            <a:spAutoFit/>
          </a:bodyPr>
          <a:lstStyle/>
          <a:p>
            <a:r>
              <a:rPr lang="en-IN" b="1" dirty="0" smtClean="0"/>
              <a:t>Infra Platform</a:t>
            </a:r>
            <a:endParaRPr lang="en-IN" b="1" dirty="0"/>
          </a:p>
        </p:txBody>
      </p:sp>
      <p:sp>
        <p:nvSpPr>
          <p:cNvPr id="18" name="TextBox 17"/>
          <p:cNvSpPr txBox="1"/>
          <p:nvPr/>
        </p:nvSpPr>
        <p:spPr>
          <a:xfrm>
            <a:off x="3408783" y="760678"/>
            <a:ext cx="2435988" cy="369332"/>
          </a:xfrm>
          <a:prstGeom prst="rect">
            <a:avLst/>
          </a:prstGeom>
          <a:noFill/>
        </p:spPr>
        <p:txBody>
          <a:bodyPr wrap="none" rtlCol="0">
            <a:spAutoFit/>
          </a:bodyPr>
          <a:lstStyle/>
          <a:p>
            <a:r>
              <a:rPr lang="en-IN" b="1" dirty="0" smtClean="0"/>
              <a:t>Infra Platform Software</a:t>
            </a:r>
            <a:endParaRPr lang="en-IN" b="1" dirty="0"/>
          </a:p>
        </p:txBody>
      </p:sp>
      <p:sp>
        <p:nvSpPr>
          <p:cNvPr id="10" name="Rectangle 9"/>
          <p:cNvSpPr/>
          <p:nvPr/>
        </p:nvSpPr>
        <p:spPr>
          <a:xfrm>
            <a:off x="6435842" y="727970"/>
            <a:ext cx="1048429" cy="369332"/>
          </a:xfrm>
          <a:prstGeom prst="rect">
            <a:avLst/>
          </a:prstGeom>
        </p:spPr>
        <p:txBody>
          <a:bodyPr wrap="none">
            <a:spAutoFit/>
          </a:bodyPr>
          <a:lstStyle/>
          <a:p>
            <a:r>
              <a:rPr lang="en-IN" b="1" dirty="0"/>
              <a:t>Software</a:t>
            </a:r>
            <a:endParaRPr lang="en-IN" dirty="0"/>
          </a:p>
        </p:txBody>
      </p:sp>
    </p:spTree>
    <p:extLst>
      <p:ext uri="{BB962C8B-B14F-4D97-AF65-F5344CB8AC3E}">
        <p14:creationId xmlns:p14="http://schemas.microsoft.com/office/powerpoint/2010/main" val="2537773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161332" y="8078"/>
            <a:ext cx="8036880" cy="369332"/>
          </a:xfrm>
          <a:prstGeom prst="rect">
            <a:avLst/>
          </a:prstGeom>
        </p:spPr>
        <p:txBody>
          <a:bodyPr wrap="none">
            <a:spAutoFit/>
          </a:bodyPr>
          <a:lstStyle/>
          <a:p>
            <a:r>
              <a:rPr lang="en-US" b="1" u="sng" dirty="0" err="1">
                <a:solidFill>
                  <a:srgbClr val="FF0000"/>
                </a:solidFill>
              </a:rPr>
              <a:t>BigData</a:t>
            </a:r>
            <a:r>
              <a:rPr lang="en-US" b="1" u="sng" dirty="0">
                <a:solidFill>
                  <a:srgbClr val="FF0000"/>
                </a:solidFill>
              </a:rPr>
              <a:t> components Comparison of  Different Cloud Providers      </a:t>
            </a:r>
            <a:r>
              <a:rPr lang="en-US" sz="1200" b="1" u="sng" dirty="0">
                <a:solidFill>
                  <a:srgbClr val="FF0000"/>
                </a:solidFill>
              </a:rPr>
              <a:t>https://comparecloud.in/</a:t>
            </a:r>
            <a:endParaRPr lang="en-US" sz="1200" b="1" u="sng" dirty="0"/>
          </a:p>
        </p:txBody>
      </p:sp>
      <p:graphicFrame>
        <p:nvGraphicFramePr>
          <p:cNvPr id="9" name="Table 8"/>
          <p:cNvGraphicFramePr>
            <a:graphicFrameLocks noGrp="1"/>
          </p:cNvGraphicFramePr>
          <p:nvPr>
            <p:extLst>
              <p:ext uri="{D42A27DB-BD31-4B8C-83A1-F6EECF244321}">
                <p14:modId xmlns:p14="http://schemas.microsoft.com/office/powerpoint/2010/main" val="973277240"/>
              </p:ext>
            </p:extLst>
          </p:nvPr>
        </p:nvGraphicFramePr>
        <p:xfrm>
          <a:off x="68988" y="301183"/>
          <a:ext cx="12054023" cy="6214630"/>
        </p:xfrm>
        <a:graphic>
          <a:graphicData uri="http://schemas.openxmlformats.org/drawingml/2006/table">
            <a:tbl>
              <a:tblPr/>
              <a:tblGrid>
                <a:gridCol w="1106637">
                  <a:extLst>
                    <a:ext uri="{9D8B030D-6E8A-4147-A177-3AD203B41FA5}">
                      <a16:colId xmlns="" xmlns:a16="http://schemas.microsoft.com/office/drawing/2014/main" val="20000"/>
                    </a:ext>
                  </a:extLst>
                </a:gridCol>
                <a:gridCol w="1154235">
                  <a:extLst>
                    <a:ext uri="{9D8B030D-6E8A-4147-A177-3AD203B41FA5}">
                      <a16:colId xmlns="" xmlns:a16="http://schemas.microsoft.com/office/drawing/2014/main" val="20001"/>
                    </a:ext>
                  </a:extLst>
                </a:gridCol>
                <a:gridCol w="1154235">
                  <a:extLst>
                    <a:ext uri="{9D8B030D-6E8A-4147-A177-3AD203B41FA5}">
                      <a16:colId xmlns="" xmlns:a16="http://schemas.microsoft.com/office/drawing/2014/main" val="20002"/>
                    </a:ext>
                  </a:extLst>
                </a:gridCol>
                <a:gridCol w="1273228">
                  <a:extLst>
                    <a:ext uri="{9D8B030D-6E8A-4147-A177-3AD203B41FA5}">
                      <a16:colId xmlns="" xmlns:a16="http://schemas.microsoft.com/office/drawing/2014/main" val="20003"/>
                    </a:ext>
                  </a:extLst>
                </a:gridCol>
                <a:gridCol w="1603244">
                  <a:extLst>
                    <a:ext uri="{9D8B030D-6E8A-4147-A177-3AD203B41FA5}">
                      <a16:colId xmlns="" xmlns:a16="http://schemas.microsoft.com/office/drawing/2014/main" val="20004"/>
                    </a:ext>
                  </a:extLst>
                </a:gridCol>
                <a:gridCol w="1268083">
                  <a:extLst>
                    <a:ext uri="{9D8B030D-6E8A-4147-A177-3AD203B41FA5}">
                      <a16:colId xmlns="" xmlns:a16="http://schemas.microsoft.com/office/drawing/2014/main" val="20005"/>
                    </a:ext>
                  </a:extLst>
                </a:gridCol>
                <a:gridCol w="4494361">
                  <a:extLst>
                    <a:ext uri="{9D8B030D-6E8A-4147-A177-3AD203B41FA5}">
                      <a16:colId xmlns="" xmlns:a16="http://schemas.microsoft.com/office/drawing/2014/main" val="20006"/>
                    </a:ext>
                  </a:extLst>
                </a:gridCol>
              </a:tblGrid>
              <a:tr h="130190">
                <a:tc>
                  <a:txBody>
                    <a:bodyPr/>
                    <a:lstStyle/>
                    <a:p>
                      <a:pPr algn="ctr" fontAlgn="b"/>
                      <a:r>
                        <a:rPr lang="en-IN" sz="1200" b="1" i="0" u="none" strike="noStrike" dirty="0">
                          <a:solidFill>
                            <a:srgbClr val="000000"/>
                          </a:solidFill>
                          <a:effectLst/>
                          <a:latin typeface="Calibri"/>
                        </a:rPr>
                        <a:t>Service Category</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DD5"/>
                    </a:solidFill>
                  </a:tcPr>
                </a:tc>
                <a:tc>
                  <a:txBody>
                    <a:bodyPr/>
                    <a:lstStyle/>
                    <a:p>
                      <a:pPr algn="ctr" fontAlgn="b"/>
                      <a:r>
                        <a:rPr lang="en-IN" sz="1200" b="1" i="0" u="none" strike="noStrike">
                          <a:solidFill>
                            <a:srgbClr val="000000"/>
                          </a:solidFill>
                          <a:effectLst/>
                          <a:latin typeface="Calibri"/>
                        </a:rPr>
                        <a:t>Service Type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DD5"/>
                    </a:solidFill>
                  </a:tcPr>
                </a:tc>
                <a:tc>
                  <a:txBody>
                    <a:bodyPr/>
                    <a:lstStyle/>
                    <a:p>
                      <a:pPr algn="ctr" fontAlgn="b"/>
                      <a:r>
                        <a:rPr lang="en-IN" sz="1200" b="1" i="0" u="none" strike="noStrike" dirty="0" err="1">
                          <a:solidFill>
                            <a:srgbClr val="000000"/>
                          </a:solidFill>
                          <a:effectLst/>
                          <a:latin typeface="Calibri"/>
                        </a:rPr>
                        <a:t>OnPrem</a:t>
                      </a:r>
                      <a:endParaRPr lang="en-IN" sz="1200" b="1" i="0" u="none" strike="noStrike" dirty="0">
                        <a:solidFill>
                          <a:srgbClr val="000000"/>
                        </a:solidFill>
                        <a:effectLst/>
                        <a:latin typeface="Calibri"/>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DD5"/>
                    </a:solidFill>
                  </a:tcPr>
                </a:tc>
                <a:tc>
                  <a:txBody>
                    <a:bodyPr/>
                    <a:lstStyle/>
                    <a:p>
                      <a:pPr algn="ctr" fontAlgn="b"/>
                      <a:r>
                        <a:rPr lang="en-IN" sz="1200" b="1" i="0" u="none" strike="noStrike" dirty="0">
                          <a:solidFill>
                            <a:srgbClr val="000000"/>
                          </a:solidFill>
                          <a:effectLst/>
                          <a:latin typeface="Calibri"/>
                        </a:rPr>
                        <a:t>AWS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DD5"/>
                    </a:solidFill>
                  </a:tcPr>
                </a:tc>
                <a:tc>
                  <a:txBody>
                    <a:bodyPr/>
                    <a:lstStyle/>
                    <a:p>
                      <a:pPr algn="ctr" fontAlgn="b"/>
                      <a:r>
                        <a:rPr lang="en-IN" sz="1200" b="1" i="0" u="none" strike="noStrike" dirty="0">
                          <a:solidFill>
                            <a:srgbClr val="000000"/>
                          </a:solidFill>
                          <a:effectLst/>
                          <a:latin typeface="Calibri"/>
                        </a:rPr>
                        <a:t>MS Azure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DD5"/>
                    </a:solidFill>
                  </a:tcPr>
                </a:tc>
                <a:tc>
                  <a:txBody>
                    <a:bodyPr/>
                    <a:lstStyle/>
                    <a:p>
                      <a:pPr algn="ctr" fontAlgn="b"/>
                      <a:r>
                        <a:rPr lang="en-IN" sz="1200" b="1" i="0" u="none" strike="noStrike" dirty="0">
                          <a:solidFill>
                            <a:srgbClr val="000000"/>
                          </a:solidFill>
                          <a:effectLst/>
                          <a:latin typeface="Calibri"/>
                        </a:rPr>
                        <a:t>GCP</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DD5"/>
                    </a:solidFill>
                  </a:tcPr>
                </a:tc>
                <a:tc>
                  <a:txBody>
                    <a:bodyPr/>
                    <a:lstStyle/>
                    <a:p>
                      <a:pPr algn="ctr" fontAlgn="b"/>
                      <a:r>
                        <a:rPr lang="en-IN" sz="1200" b="1" i="0" u="none" strike="noStrike" dirty="0">
                          <a:solidFill>
                            <a:srgbClr val="000000"/>
                          </a:solidFill>
                          <a:effectLst/>
                          <a:latin typeface="Calibri"/>
                        </a:rPr>
                        <a:t>Description</a:t>
                      </a:r>
                    </a:p>
                  </a:txBody>
                  <a:tcPr marL="5007" marR="5007" marT="50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DD5"/>
                    </a:solidFill>
                  </a:tcPr>
                </a:tc>
                <a:extLst>
                  <a:ext uri="{0D108BD9-81ED-4DB2-BD59-A6C34878D82A}">
                    <a16:rowId xmlns="" xmlns:a16="http://schemas.microsoft.com/office/drawing/2014/main" val="10000"/>
                  </a:ext>
                </a:extLst>
              </a:tr>
              <a:tr h="230335">
                <a:tc>
                  <a:txBody>
                    <a:bodyPr/>
                    <a:lstStyle/>
                    <a:p>
                      <a:pPr algn="ctr" fontAlgn="t"/>
                      <a:r>
                        <a:rPr lang="en-IN" sz="1050" b="1" i="0" u="none" strike="noStrike" dirty="0">
                          <a:solidFill>
                            <a:srgbClr val="C00000"/>
                          </a:solidFill>
                          <a:effectLst/>
                          <a:latin typeface="Arial"/>
                        </a:rPr>
                        <a:t>Storage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r>
                        <a:rPr lang="en-IN" sz="1050" b="0" i="0" u="none" strike="noStrike" dirty="0">
                          <a:solidFill>
                            <a:srgbClr val="202124"/>
                          </a:solidFill>
                          <a:effectLst/>
                          <a:latin typeface="Arial"/>
                        </a:rPr>
                        <a:t>Object storage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r>
                        <a:rPr lang="en-IN" sz="1050" b="0" i="0" u="none" strike="noStrike" dirty="0">
                          <a:solidFill>
                            <a:srgbClr val="202124"/>
                          </a:solidFill>
                          <a:effectLst/>
                          <a:latin typeface="Arial"/>
                        </a:rPr>
                        <a:t>HDFS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r>
                        <a:rPr lang="en-US" sz="1050" b="0" i="0" u="none" strike="noStrike" dirty="0">
                          <a:solidFill>
                            <a:srgbClr val="202124"/>
                          </a:solidFill>
                          <a:effectLst/>
                          <a:latin typeface="Arial"/>
                        </a:rPr>
                        <a:t>AWS Simple Storage Service (S3)</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r>
                        <a:rPr lang="en-IN" sz="1050" b="0" i="0" u="none" strike="noStrike" dirty="0">
                          <a:solidFill>
                            <a:srgbClr val="202124"/>
                          </a:solidFill>
                          <a:effectLst/>
                          <a:latin typeface="Arial"/>
                        </a:rPr>
                        <a:t>Azure Blob Storage</a:t>
                      </a:r>
                    </a:p>
                    <a:p>
                      <a:pPr algn="ctr" fontAlgn="t"/>
                      <a:r>
                        <a:rPr lang="en-US" sz="1050" b="0" i="0" u="none" strike="noStrike" dirty="0">
                          <a:solidFill>
                            <a:srgbClr val="202124"/>
                          </a:solidFill>
                          <a:effectLst/>
                          <a:latin typeface="Arial"/>
                        </a:rPr>
                        <a:t>Azure Data Lake Service Gen2</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r>
                        <a:rPr lang="en-IN" sz="1050" b="0" i="0" u="none" strike="noStrike" dirty="0">
                          <a:solidFill>
                            <a:srgbClr val="202124"/>
                          </a:solidFill>
                          <a:effectLst/>
                          <a:latin typeface="Arial"/>
                          <a:hlinkClick r:id="rId2"/>
                        </a:rPr>
                        <a:t>Cloud Storage</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just" fontAlgn="t"/>
                      <a:r>
                        <a:rPr lang="en-US" sz="1050" b="0" i="0" u="none" strike="noStrike" dirty="0">
                          <a:solidFill>
                            <a:srgbClr val="202124"/>
                          </a:solidFill>
                          <a:effectLst/>
                          <a:latin typeface="Arial"/>
                        </a:rPr>
                        <a:t>Store any amount of data and retrieve it as often as you'd like, using Google Cloud's object storage offering.</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 xmlns:a16="http://schemas.microsoft.com/office/drawing/2014/main" val="10001"/>
                  </a:ext>
                </a:extLst>
              </a:tr>
              <a:tr h="345503">
                <a:tc>
                  <a:txBody>
                    <a:bodyPr/>
                    <a:lstStyle/>
                    <a:p>
                      <a:pPr marL="0" algn="ctr" defTabSz="914400" rtl="0" eaLnBrk="1" fontAlgn="t" latinLnBrk="0" hangingPunct="1"/>
                      <a:r>
                        <a:rPr lang="en-IN" sz="1050" b="1" i="0" u="none" strike="noStrike" dirty="0">
                          <a:solidFill>
                            <a:srgbClr val="202124"/>
                          </a:solidFill>
                          <a:effectLst/>
                          <a:latin typeface="Arial"/>
                        </a:rPr>
                        <a:t>Storage</a:t>
                      </a:r>
                      <a:endParaRPr lang="en-IN" sz="1050" b="1" i="0" u="none" strike="noStrike" kern="1200" dirty="0">
                        <a:solidFill>
                          <a:srgbClr val="202124"/>
                        </a:solidFill>
                        <a:effectLst/>
                        <a:latin typeface="Arial"/>
                        <a:ea typeface="+mn-ea"/>
                        <a:cs typeface="+mn-cs"/>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algn="ctr" defTabSz="914400" rtl="0" eaLnBrk="1" fontAlgn="t" latinLnBrk="0" hangingPunct="1"/>
                      <a:r>
                        <a:rPr lang="en-IN" sz="1050" b="0" i="0" u="none" strike="noStrike" dirty="0">
                          <a:solidFill>
                            <a:srgbClr val="202124"/>
                          </a:solidFill>
                          <a:effectLst/>
                          <a:latin typeface="Arial"/>
                        </a:rPr>
                        <a:t>Block</a:t>
                      </a:r>
                      <a:r>
                        <a:rPr lang="en-IN" sz="1050" b="0" i="0" u="none" strike="noStrike" baseline="0" dirty="0">
                          <a:solidFill>
                            <a:srgbClr val="202124"/>
                          </a:solidFill>
                          <a:effectLst/>
                          <a:latin typeface="Arial"/>
                        </a:rPr>
                        <a:t> Storage</a:t>
                      </a:r>
                      <a:endParaRPr lang="en-IN" sz="1050" b="0" i="0" u="none" strike="noStrike" kern="1200" dirty="0">
                        <a:solidFill>
                          <a:srgbClr val="202124"/>
                        </a:solidFill>
                        <a:effectLst/>
                        <a:latin typeface="Arial"/>
                        <a:ea typeface="+mn-ea"/>
                        <a:cs typeface="+mn-cs"/>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algn="ctr" defTabSz="914400" rtl="0" eaLnBrk="1" fontAlgn="t" latinLnBrk="0" hangingPunct="1"/>
                      <a:r>
                        <a:rPr lang="en-IN" sz="1050" b="0" i="0" u="none" strike="noStrike" kern="1200" dirty="0">
                          <a:solidFill>
                            <a:srgbClr val="202124"/>
                          </a:solidFill>
                          <a:effectLst/>
                          <a:latin typeface="Arial"/>
                          <a:ea typeface="+mn-ea"/>
                          <a:cs typeface="+mn-cs"/>
                        </a:rPr>
                        <a:t>HDD/SSD</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algn="ctr" defTabSz="914400" rtl="0" eaLnBrk="1" fontAlgn="t" latinLnBrk="0" hangingPunct="1"/>
                      <a:r>
                        <a:rPr lang="en-IN" sz="1050" b="0" i="0" u="none" strike="noStrike" kern="1200" dirty="0">
                          <a:solidFill>
                            <a:srgbClr val="202124"/>
                          </a:solidFill>
                          <a:effectLst/>
                          <a:latin typeface="Arial"/>
                          <a:ea typeface="+mn-ea"/>
                          <a:cs typeface="+mn-cs"/>
                        </a:rPr>
                        <a:t>Amazon Elastic Block Store (EBS)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algn="ctr" defTabSz="914400" rtl="0" eaLnBrk="1" fontAlgn="t" latinLnBrk="0" hangingPunct="1"/>
                      <a:r>
                        <a:rPr lang="en-IN" sz="1050" b="0" i="0" u="none" strike="noStrike" kern="1200" dirty="0">
                          <a:solidFill>
                            <a:srgbClr val="202124"/>
                          </a:solidFill>
                          <a:effectLst/>
                          <a:latin typeface="Arial"/>
                          <a:ea typeface="+mn-ea"/>
                          <a:cs typeface="+mn-cs"/>
                        </a:rPr>
                        <a:t>Azure Managed Disks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algn="ctr" defTabSz="914400" rtl="0" eaLnBrk="1" fontAlgn="t" latinLnBrk="0" hangingPunct="1"/>
                      <a:r>
                        <a:rPr lang="en-IN" sz="1050" b="0" i="0" u="none" strike="noStrike" kern="1200" dirty="0">
                          <a:solidFill>
                            <a:srgbClr val="202124"/>
                          </a:solidFill>
                          <a:effectLst/>
                          <a:latin typeface="Arial"/>
                          <a:ea typeface="+mn-ea"/>
                          <a:cs typeface="+mn-cs"/>
                          <a:hlinkClick r:id="rId3"/>
                        </a:rPr>
                        <a:t>Persistent Disk</a:t>
                      </a:r>
                      <a:endParaRPr lang="en-IN" sz="1050" b="0" i="0" u="none" strike="noStrike" kern="1200" dirty="0">
                        <a:solidFill>
                          <a:srgbClr val="202124"/>
                        </a:solidFill>
                        <a:effectLst/>
                        <a:latin typeface="Arial"/>
                        <a:ea typeface="+mn-ea"/>
                        <a:cs typeface="+mn-cs"/>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algn="l" defTabSz="914400" rtl="0" eaLnBrk="1" fontAlgn="t" latinLnBrk="0" hangingPunct="1"/>
                      <a:r>
                        <a:rPr lang="en-US" sz="1050" b="0" i="0" u="none" strike="noStrike" kern="1200" dirty="0">
                          <a:solidFill>
                            <a:srgbClr val="202124"/>
                          </a:solidFill>
                          <a:effectLst/>
                          <a:latin typeface="Arial"/>
                          <a:ea typeface="+mn-ea"/>
                          <a:cs typeface="+mn-cs"/>
                        </a:rPr>
                        <a:t>Reliable, high-performance block storage for VM instances.</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2"/>
                  </a:ext>
                </a:extLst>
              </a:tr>
              <a:tr h="345503">
                <a:tc>
                  <a:txBody>
                    <a:bodyPr/>
                    <a:lstStyle/>
                    <a:p>
                      <a:pPr algn="ctr" fontAlgn="t"/>
                      <a:r>
                        <a:rPr lang="en-IN" sz="1050" b="1" i="0" u="none" strike="noStrike" dirty="0">
                          <a:solidFill>
                            <a:srgbClr val="C00000"/>
                          </a:solidFill>
                          <a:effectLst/>
                          <a:latin typeface="Arial"/>
                        </a:rPr>
                        <a:t>Compute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t"/>
                      <a:r>
                        <a:rPr lang="en-IN" sz="1050" b="0" i="0" u="none" strike="noStrike">
                          <a:solidFill>
                            <a:srgbClr val="202124"/>
                          </a:solidFill>
                          <a:effectLst/>
                          <a:latin typeface="Arial"/>
                        </a:rPr>
                        <a:t>Core compute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t"/>
                      <a:r>
                        <a:rPr lang="en-IN" sz="1050" b="0" i="0" u="none" strike="noStrike" dirty="0">
                          <a:solidFill>
                            <a:srgbClr val="202124"/>
                          </a:solidFill>
                          <a:effectLst/>
                          <a:latin typeface="Arial"/>
                        </a:rPr>
                        <a:t>Physical Node/VM</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t"/>
                      <a:r>
                        <a:rPr lang="en-IN" sz="1050" b="0" i="0" u="none" strike="noStrike" dirty="0">
                          <a:solidFill>
                            <a:srgbClr val="202124"/>
                          </a:solidFill>
                          <a:effectLst/>
                          <a:latin typeface="Arial"/>
                        </a:rPr>
                        <a:t>Amazon Elastic Compute Cloud (EC2)</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t"/>
                      <a:r>
                        <a:rPr lang="en-IN" sz="1050" b="0" i="0" u="none" strike="noStrike" dirty="0">
                          <a:solidFill>
                            <a:srgbClr val="202124"/>
                          </a:solidFill>
                          <a:effectLst/>
                          <a:latin typeface="Arial"/>
                        </a:rPr>
                        <a:t>Azure Virtual Machines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t"/>
                      <a:r>
                        <a:rPr lang="en-IN" sz="1050" b="0" i="0" u="none" strike="noStrike" dirty="0">
                          <a:solidFill>
                            <a:srgbClr val="202124"/>
                          </a:solidFill>
                          <a:effectLst/>
                          <a:latin typeface="Arial"/>
                          <a:hlinkClick r:id="rId4"/>
                        </a:rPr>
                        <a:t>Compute Engine</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just" fontAlgn="t"/>
                      <a:r>
                        <a:rPr lang="en-US" sz="1050" b="0" i="0" u="none" strike="noStrike" dirty="0">
                          <a:solidFill>
                            <a:srgbClr val="202124"/>
                          </a:solidFill>
                          <a:effectLst/>
                          <a:latin typeface="Arial"/>
                        </a:rPr>
                        <a:t>Accelerate your digital transformation with high-performance VMs.</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extLst>
                  <a:ext uri="{0D108BD9-81ED-4DB2-BD59-A6C34878D82A}">
                    <a16:rowId xmlns="" xmlns:a16="http://schemas.microsoft.com/office/drawing/2014/main" val="10003"/>
                  </a:ext>
                </a:extLst>
              </a:tr>
              <a:tr h="220321">
                <a:tc>
                  <a:txBody>
                    <a:bodyPr/>
                    <a:lstStyle/>
                    <a:p>
                      <a:pPr algn="ctr" fontAlgn="t"/>
                      <a:r>
                        <a:rPr lang="en-IN" sz="1050" b="0" i="0" u="none" strike="noStrike" dirty="0">
                          <a:solidFill>
                            <a:srgbClr val="202124"/>
                          </a:solidFill>
                          <a:effectLst/>
                          <a:latin typeface="Arial"/>
                        </a:rPr>
                        <a:t>Database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1" i="0" u="none" strike="noStrike" dirty="0">
                          <a:solidFill>
                            <a:srgbClr val="202124"/>
                          </a:solidFill>
                          <a:effectLst/>
                          <a:latin typeface="Arial"/>
                        </a:rPr>
                        <a:t>RDBMS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a:solidFill>
                            <a:srgbClr val="202124"/>
                          </a:solidFill>
                          <a:effectLst/>
                          <a:latin typeface="Arial"/>
                        </a:rPr>
                        <a:t>MYSQL/Derby</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a:solidFill>
                            <a:srgbClr val="202124"/>
                          </a:solidFill>
                          <a:effectLst/>
                          <a:latin typeface="Arial"/>
                        </a:rPr>
                        <a:t>Amazon Aurora</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a:solidFill>
                            <a:srgbClr val="202124"/>
                          </a:solidFill>
                          <a:effectLst/>
                          <a:latin typeface="Arial"/>
                        </a:rPr>
                        <a:t>Azure SQL Database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a:solidFill>
                            <a:srgbClr val="202124"/>
                          </a:solidFill>
                          <a:effectLst/>
                          <a:latin typeface="Arial"/>
                          <a:hlinkClick r:id="rId5"/>
                        </a:rPr>
                        <a:t>Cloud Spanner</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just" fontAlgn="t"/>
                      <a:r>
                        <a:rPr lang="en-US" sz="1050" b="0" i="0" u="none" strike="noStrike" dirty="0">
                          <a:solidFill>
                            <a:srgbClr val="202124"/>
                          </a:solidFill>
                          <a:effectLst/>
                          <a:latin typeface="Arial"/>
                        </a:rPr>
                        <a:t>Manage relational data with massive scale, strong consistency worldwide, and up to 99.999% availability.</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extLst>
                  <a:ext uri="{0D108BD9-81ED-4DB2-BD59-A6C34878D82A}">
                    <a16:rowId xmlns="" xmlns:a16="http://schemas.microsoft.com/office/drawing/2014/main" val="10004"/>
                  </a:ext>
                </a:extLst>
              </a:tr>
              <a:tr h="460671">
                <a:tc>
                  <a:txBody>
                    <a:bodyPr/>
                    <a:lstStyle/>
                    <a:p>
                      <a:pPr algn="ctr" fontAlgn="t"/>
                      <a:r>
                        <a:rPr lang="en-IN" sz="1050" b="0" i="0" u="none" strike="noStrike" dirty="0">
                          <a:solidFill>
                            <a:srgbClr val="202124"/>
                          </a:solidFill>
                          <a:effectLst/>
                          <a:latin typeface="Arial"/>
                        </a:rPr>
                        <a:t>Database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a:solidFill>
                            <a:srgbClr val="202124"/>
                          </a:solidFill>
                          <a:effectLst/>
                          <a:latin typeface="Arial"/>
                        </a:rPr>
                        <a:t>RDBMS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err="1">
                          <a:solidFill>
                            <a:srgbClr val="202124"/>
                          </a:solidFill>
                          <a:effectLst/>
                          <a:latin typeface="Arial"/>
                        </a:rPr>
                        <a:t>Postgres</a:t>
                      </a:r>
                      <a:r>
                        <a:rPr lang="en-IN" sz="1050" b="0" i="0" u="none" strike="noStrike" dirty="0">
                          <a:solidFill>
                            <a:srgbClr val="202124"/>
                          </a:solidFill>
                          <a:effectLst/>
                          <a:latin typeface="Arial"/>
                        </a:rPr>
                        <a:t>/MYSQL</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a:solidFill>
                            <a:srgbClr val="202124"/>
                          </a:solidFill>
                          <a:effectLst/>
                          <a:latin typeface="Arial"/>
                        </a:rPr>
                        <a:t>Amazon Relational Database Service (RDS), Amazon Aurora</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a:solidFill>
                            <a:srgbClr val="202124"/>
                          </a:solidFill>
                          <a:effectLst/>
                          <a:latin typeface="Arial"/>
                        </a:rPr>
                        <a:t>Azure Database for MySQL and Azure Database for PostgreSQL</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a:solidFill>
                            <a:srgbClr val="202124"/>
                          </a:solidFill>
                          <a:effectLst/>
                          <a:latin typeface="Arial"/>
                          <a:hlinkClick r:id="rId6"/>
                        </a:rPr>
                        <a:t>Cloud SQL</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just" fontAlgn="t"/>
                      <a:r>
                        <a:rPr lang="en-US" sz="1050" b="0" i="0" u="none" strike="noStrike" dirty="0">
                          <a:solidFill>
                            <a:srgbClr val="202124"/>
                          </a:solidFill>
                          <a:effectLst/>
                          <a:latin typeface="Arial"/>
                        </a:rPr>
                        <a:t>Manage relational data for MySQL, PostgreSQL, and SQL Server for workloads under 30TB.</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extLst>
                  <a:ext uri="{0D108BD9-81ED-4DB2-BD59-A6C34878D82A}">
                    <a16:rowId xmlns="" xmlns:a16="http://schemas.microsoft.com/office/drawing/2014/main" val="10005"/>
                  </a:ext>
                </a:extLst>
              </a:tr>
              <a:tr h="230335">
                <a:tc>
                  <a:txBody>
                    <a:bodyPr/>
                    <a:lstStyle/>
                    <a:p>
                      <a:pPr algn="ctr" fontAlgn="t"/>
                      <a:r>
                        <a:rPr lang="en-IN" sz="1050" b="0" i="0" u="none" strike="noStrike" dirty="0">
                          <a:solidFill>
                            <a:srgbClr val="202124"/>
                          </a:solidFill>
                          <a:effectLst/>
                          <a:latin typeface="Arial"/>
                        </a:rPr>
                        <a:t>Data analytics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a:solidFill>
                            <a:srgbClr val="202124"/>
                          </a:solidFill>
                          <a:effectLst/>
                          <a:latin typeface="Arial"/>
                        </a:rPr>
                        <a:t>Business intelligence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err="1">
                          <a:solidFill>
                            <a:srgbClr val="202124"/>
                          </a:solidFill>
                          <a:effectLst/>
                          <a:latin typeface="Arial"/>
                        </a:rPr>
                        <a:t>Kibana</a:t>
                      </a:r>
                      <a:r>
                        <a:rPr lang="en-IN" sz="1050" b="0" i="0" u="none" strike="noStrike" dirty="0">
                          <a:solidFill>
                            <a:srgbClr val="202124"/>
                          </a:solidFill>
                          <a:effectLst/>
                          <a:latin typeface="Arial"/>
                        </a:rPr>
                        <a:t>/</a:t>
                      </a:r>
                      <a:r>
                        <a:rPr lang="en-IN" sz="1050" b="0" i="0" u="none" strike="noStrike" dirty="0" err="1">
                          <a:solidFill>
                            <a:srgbClr val="202124"/>
                          </a:solidFill>
                          <a:effectLst/>
                          <a:latin typeface="Arial"/>
                        </a:rPr>
                        <a:t>Grafana</a:t>
                      </a:r>
                      <a:r>
                        <a:rPr lang="en-IN" sz="1050" b="0" i="0" u="none" strike="noStrike" dirty="0">
                          <a:solidFill>
                            <a:srgbClr val="202124"/>
                          </a:solidFill>
                          <a:effectLst/>
                          <a:latin typeface="Arial"/>
                        </a:rPr>
                        <a:t>/Tableau..</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Amazon </a:t>
                      </a:r>
                      <a:r>
                        <a:rPr lang="en-IN" sz="1050" b="0" i="0" u="none" strike="noStrike" dirty="0" err="1">
                          <a:solidFill>
                            <a:srgbClr val="202124"/>
                          </a:solidFill>
                          <a:effectLst/>
                          <a:latin typeface="Arial"/>
                        </a:rPr>
                        <a:t>QuickSight</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Microsoft Power BI</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hlinkClick r:id="rId7"/>
                        </a:rPr>
                        <a:t>Looker</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just" fontAlgn="t"/>
                      <a:r>
                        <a:rPr lang="en-US" sz="1050" b="0" i="0" u="none" strike="noStrike" dirty="0">
                          <a:solidFill>
                            <a:srgbClr val="202124"/>
                          </a:solidFill>
                          <a:effectLst/>
                          <a:latin typeface="Arial"/>
                        </a:rPr>
                        <a:t>Explore, share, and visualize your company's data so that you can make better business decisions.</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extLst>
                  <a:ext uri="{0D108BD9-81ED-4DB2-BD59-A6C34878D82A}">
                    <a16:rowId xmlns="" xmlns:a16="http://schemas.microsoft.com/office/drawing/2014/main" val="10006"/>
                  </a:ext>
                </a:extLst>
              </a:tr>
              <a:tr h="230335">
                <a:tc>
                  <a:txBody>
                    <a:bodyPr/>
                    <a:lstStyle/>
                    <a:p>
                      <a:pPr algn="ctr" fontAlgn="t"/>
                      <a:r>
                        <a:rPr lang="en-IN" sz="1050" b="0" i="0" u="none" strike="noStrike" dirty="0">
                          <a:solidFill>
                            <a:srgbClr val="202124"/>
                          </a:solidFill>
                          <a:effectLst/>
                          <a:latin typeface="Arial"/>
                        </a:rPr>
                        <a:t>Data analytics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Data warehouse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1" i="0" u="none" strike="noStrike" dirty="0">
                          <a:solidFill>
                            <a:srgbClr val="202124"/>
                          </a:solidFill>
                          <a:effectLst/>
                          <a:latin typeface="Arial"/>
                        </a:rPr>
                        <a:t>Hive</a:t>
                      </a:r>
                      <a:r>
                        <a:rPr lang="en-IN" sz="1050" b="0" i="0" u="none" strike="noStrike" dirty="0">
                          <a:solidFill>
                            <a:srgbClr val="202124"/>
                          </a:solidFill>
                          <a:effectLst/>
                          <a:latin typeface="Arial"/>
                        </a:rPr>
                        <a:t>/Presto/Impala</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Amazon Athena, Amazon Redshift</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Azure Synapse Analytics</a:t>
                      </a:r>
                    </a:p>
                    <a:p>
                      <a:pPr algn="ctr" fontAlgn="t"/>
                      <a:r>
                        <a:rPr lang="en-IN" sz="1050" b="0" i="0" u="none" strike="noStrike" dirty="0">
                          <a:solidFill>
                            <a:srgbClr val="202124"/>
                          </a:solidFill>
                          <a:effectLst/>
                          <a:latin typeface="Arial"/>
                        </a:rPr>
                        <a:t>Databricks SQL Analytics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err="1">
                          <a:solidFill>
                            <a:srgbClr val="202124"/>
                          </a:solidFill>
                          <a:effectLst/>
                          <a:latin typeface="Arial"/>
                          <a:hlinkClick r:id="rId8"/>
                        </a:rPr>
                        <a:t>BigQuery</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just" fontAlgn="t"/>
                      <a:r>
                        <a:rPr lang="en-US" sz="1050" b="0" i="0" u="none" strike="noStrike" dirty="0">
                          <a:solidFill>
                            <a:srgbClr val="202124"/>
                          </a:solidFill>
                          <a:effectLst/>
                          <a:latin typeface="Arial"/>
                        </a:rPr>
                        <a:t>Serverless, highly scalable, and cost-effective multi-cloud data warehouse designed for business agility.</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extLst>
                  <a:ext uri="{0D108BD9-81ED-4DB2-BD59-A6C34878D82A}">
                    <a16:rowId xmlns="" xmlns:a16="http://schemas.microsoft.com/office/drawing/2014/main" val="10007"/>
                  </a:ext>
                </a:extLst>
              </a:tr>
              <a:tr h="220321">
                <a:tc>
                  <a:txBody>
                    <a:bodyPr/>
                    <a:lstStyle/>
                    <a:p>
                      <a:pPr algn="ctr" fontAlgn="t"/>
                      <a:r>
                        <a:rPr lang="en-IN" sz="1050" b="0" i="0" u="none" strike="noStrike">
                          <a:solidFill>
                            <a:srgbClr val="202124"/>
                          </a:solidFill>
                          <a:effectLst/>
                          <a:latin typeface="Arial"/>
                        </a:rPr>
                        <a:t>Data analytics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Stream data ingest</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Kafka</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Amazon Kinesis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Azure Event Hubs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hlinkClick r:id="rId9"/>
                        </a:rPr>
                        <a:t>Pub/Sub</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just" fontAlgn="t"/>
                      <a:r>
                        <a:rPr lang="en-US" sz="1050" b="0" i="0" u="none" strike="noStrike" dirty="0">
                          <a:solidFill>
                            <a:srgbClr val="202124"/>
                          </a:solidFill>
                          <a:effectLst/>
                          <a:latin typeface="Arial"/>
                        </a:rPr>
                        <a:t>Create scalable messaging and ingestion for event-driven systems and streaming analytics.</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extLst>
                  <a:ext uri="{0D108BD9-81ED-4DB2-BD59-A6C34878D82A}">
                    <a16:rowId xmlns="" xmlns:a16="http://schemas.microsoft.com/office/drawing/2014/main" val="10008"/>
                  </a:ext>
                </a:extLst>
              </a:tr>
              <a:tr h="460671">
                <a:tc>
                  <a:txBody>
                    <a:bodyPr/>
                    <a:lstStyle/>
                    <a:p>
                      <a:pPr algn="ctr" fontAlgn="t"/>
                      <a:r>
                        <a:rPr lang="en-IN" sz="1050" b="0" i="0" u="none" strike="noStrike">
                          <a:solidFill>
                            <a:srgbClr val="202124"/>
                          </a:solidFill>
                          <a:effectLst/>
                          <a:latin typeface="Arial"/>
                        </a:rPr>
                        <a:t>Data analytics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a:solidFill>
                            <a:srgbClr val="202124"/>
                          </a:solidFill>
                          <a:effectLst/>
                          <a:latin typeface="Arial"/>
                        </a:rPr>
                        <a:t>Open source processing</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IZ/Hortonworks/Cloudera/DB Community Distributions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US" sz="1050" b="0" i="0" u="none" strike="noStrike" dirty="0">
                          <a:solidFill>
                            <a:srgbClr val="202124"/>
                          </a:solidFill>
                          <a:effectLst/>
                          <a:latin typeface="Arial"/>
                        </a:rPr>
                        <a:t>Amazon Elastic MapReduce (EMR), AWS Batch, AWS Glue, </a:t>
                      </a:r>
                      <a:r>
                        <a:rPr lang="en-US" sz="1050" b="0" i="0" u="none" strike="noStrike" dirty="0" err="1">
                          <a:solidFill>
                            <a:srgbClr val="202124"/>
                          </a:solidFill>
                          <a:effectLst/>
                          <a:latin typeface="Arial"/>
                        </a:rPr>
                        <a:t>DataBricks</a:t>
                      </a:r>
                      <a:endParaRPr lang="en-US"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US" sz="1050" b="0" i="0" u="none" strike="noStrike" dirty="0">
                          <a:solidFill>
                            <a:srgbClr val="202124"/>
                          </a:solidFill>
                          <a:effectLst/>
                          <a:latin typeface="Arial"/>
                        </a:rPr>
                        <a:t>Azure </a:t>
                      </a:r>
                      <a:r>
                        <a:rPr lang="en-US" sz="1050" b="0" i="0" u="none" strike="noStrike" dirty="0" err="1">
                          <a:solidFill>
                            <a:srgbClr val="202124"/>
                          </a:solidFill>
                          <a:effectLst/>
                          <a:latin typeface="Arial"/>
                        </a:rPr>
                        <a:t>DataBricks</a:t>
                      </a:r>
                      <a:r>
                        <a:rPr lang="en-US" sz="1050" b="0" i="0" u="none" strike="noStrike" dirty="0">
                          <a:solidFill>
                            <a:srgbClr val="202124"/>
                          </a:solidFill>
                          <a:effectLst/>
                          <a:latin typeface="Arial"/>
                        </a:rPr>
                        <a:t>, HDInsight</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err="1">
                          <a:solidFill>
                            <a:srgbClr val="202124"/>
                          </a:solidFill>
                          <a:effectLst/>
                          <a:latin typeface="Arial"/>
                          <a:hlinkClick r:id="rId10"/>
                        </a:rPr>
                        <a:t>Dataproc</a:t>
                      </a:r>
                      <a:r>
                        <a:rPr lang="en-IN" sz="1050" b="0" i="0" u="none" strike="noStrike" dirty="0">
                          <a:solidFill>
                            <a:srgbClr val="202124"/>
                          </a:solidFill>
                          <a:effectLst/>
                          <a:latin typeface="Arial"/>
                        </a:rPr>
                        <a:t>,</a:t>
                      </a:r>
                    </a:p>
                    <a:p>
                      <a:pPr algn="ctr" fontAlgn="t"/>
                      <a:r>
                        <a:rPr lang="en-US" sz="1050" b="0" i="0" u="none" strike="noStrike" dirty="0" err="1">
                          <a:solidFill>
                            <a:srgbClr val="202124"/>
                          </a:solidFill>
                          <a:effectLst/>
                          <a:latin typeface="Arial"/>
                        </a:rPr>
                        <a:t>DataBricks</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just" fontAlgn="t"/>
                      <a:r>
                        <a:rPr lang="en-US" sz="1050" b="0" i="0" u="none" strike="noStrike" dirty="0">
                          <a:solidFill>
                            <a:srgbClr val="202124"/>
                          </a:solidFill>
                          <a:effectLst/>
                          <a:latin typeface="Arial"/>
                        </a:rPr>
                        <a:t>Deploy open-source data and analytics processing services (Apache Hadoop, Apache Spark, etc.) with improved efficiency and security.</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extLst>
                  <a:ext uri="{0D108BD9-81ED-4DB2-BD59-A6C34878D82A}">
                    <a16:rowId xmlns="" xmlns:a16="http://schemas.microsoft.com/office/drawing/2014/main" val="10009"/>
                  </a:ext>
                </a:extLst>
              </a:tr>
              <a:tr h="460671">
                <a:tc>
                  <a:txBody>
                    <a:bodyPr/>
                    <a:lstStyle/>
                    <a:p>
                      <a:pPr algn="ctr" fontAlgn="t"/>
                      <a:r>
                        <a:rPr lang="en-IN" sz="1050" b="0" i="0" u="none" strike="noStrike">
                          <a:solidFill>
                            <a:srgbClr val="202124"/>
                          </a:solidFill>
                          <a:effectLst/>
                          <a:latin typeface="Arial"/>
                        </a:rPr>
                        <a:t>Data analytics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a:solidFill>
                            <a:srgbClr val="202124"/>
                          </a:solidFill>
                          <a:effectLst/>
                          <a:latin typeface="Arial"/>
                        </a:rPr>
                        <a:t>Workflow orchestration</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err="1">
                          <a:solidFill>
                            <a:srgbClr val="202124"/>
                          </a:solidFill>
                          <a:effectLst/>
                          <a:latin typeface="Arial"/>
                        </a:rPr>
                        <a:t>Oozie</a:t>
                      </a:r>
                      <a:r>
                        <a:rPr lang="en-IN" sz="1050" b="0" i="0" u="none" strike="noStrike" dirty="0">
                          <a:solidFill>
                            <a:srgbClr val="202124"/>
                          </a:solidFill>
                          <a:effectLst/>
                          <a:latin typeface="Arial"/>
                        </a:rPr>
                        <a:t>/</a:t>
                      </a:r>
                      <a:r>
                        <a:rPr lang="en-IN" sz="1050" b="0" i="0" u="none" strike="noStrike" dirty="0" err="1">
                          <a:solidFill>
                            <a:srgbClr val="202124"/>
                          </a:solidFill>
                          <a:effectLst/>
                          <a:latin typeface="Arial"/>
                        </a:rPr>
                        <a:t>Cron</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US" sz="1050" b="0" i="0" u="none" strike="noStrike" dirty="0">
                          <a:solidFill>
                            <a:srgbClr val="202124"/>
                          </a:solidFill>
                          <a:effectLst/>
                          <a:latin typeface="Arial"/>
                        </a:rPr>
                        <a:t>Amazon Data Pipeline, AWS Glue, Managed Workflows for Apache Airflow</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Azure Data Factory</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hlinkClick r:id="rId11"/>
                        </a:rPr>
                        <a:t>Cloud Composer</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just" fontAlgn="t"/>
                      <a:r>
                        <a:rPr lang="en-US" sz="1050" b="0" i="0" u="none" strike="noStrike" dirty="0">
                          <a:solidFill>
                            <a:srgbClr val="202124"/>
                          </a:solidFill>
                          <a:effectLst/>
                          <a:latin typeface="Arial"/>
                        </a:rPr>
                        <a:t>Author, schedule, and monitor pipelines that span across hybrid and multi-cloud environments using this fully managed workflow orchestration service built on Apache Airflow.</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extLst>
                  <a:ext uri="{0D108BD9-81ED-4DB2-BD59-A6C34878D82A}">
                    <a16:rowId xmlns="" xmlns:a16="http://schemas.microsoft.com/office/drawing/2014/main" val="10010"/>
                  </a:ext>
                </a:extLst>
              </a:tr>
              <a:tr h="440642">
                <a:tc>
                  <a:txBody>
                    <a:bodyPr/>
                    <a:lstStyle/>
                    <a:p>
                      <a:pPr algn="ctr" fontAlgn="t"/>
                      <a:r>
                        <a:rPr lang="en-IN" sz="1050" b="1" i="0" u="none" strike="noStrike" dirty="0">
                          <a:solidFill>
                            <a:srgbClr val="C00000"/>
                          </a:solidFill>
                          <a:effectLst/>
                          <a:latin typeface="Arial"/>
                        </a:rPr>
                        <a:t>Networking</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t"/>
                      <a:r>
                        <a:rPr lang="en-IN" sz="1050" b="0" i="0" u="none" strike="noStrike" dirty="0">
                          <a:solidFill>
                            <a:srgbClr val="202124"/>
                          </a:solidFill>
                          <a:effectLst/>
                          <a:latin typeface="Arial"/>
                        </a:rPr>
                        <a:t>Virtual networks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t"/>
                      <a:r>
                        <a:rPr lang="en-IN" sz="1050" b="0" i="0" u="none" strike="noStrike" dirty="0">
                          <a:solidFill>
                            <a:srgbClr val="202124"/>
                          </a:solidFill>
                          <a:effectLst/>
                          <a:latin typeface="Arial"/>
                        </a:rPr>
                        <a:t>VPN</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t"/>
                      <a:r>
                        <a:rPr lang="en-IN" sz="1050" b="0" i="0" u="none" strike="noStrike" dirty="0">
                          <a:solidFill>
                            <a:srgbClr val="202124"/>
                          </a:solidFill>
                          <a:effectLst/>
                          <a:latin typeface="Arial"/>
                        </a:rPr>
                        <a:t>Amazon Virtual Private Cloud (VPC)</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t"/>
                      <a:r>
                        <a:rPr lang="en-IN" sz="1050" b="0" i="0" u="none" strike="noStrike" dirty="0">
                          <a:solidFill>
                            <a:srgbClr val="202124"/>
                          </a:solidFill>
                          <a:effectLst/>
                          <a:latin typeface="Arial"/>
                        </a:rPr>
                        <a:t>Azure Virtual Network</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t"/>
                      <a:r>
                        <a:rPr lang="en-IN" sz="1050" b="0" i="0" u="none" strike="noStrike" dirty="0">
                          <a:solidFill>
                            <a:srgbClr val="202124"/>
                          </a:solidFill>
                          <a:effectLst/>
                          <a:latin typeface="Arial"/>
                          <a:hlinkClick r:id="rId12"/>
                        </a:rPr>
                        <a:t>Virtual Private Cloud</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just" fontAlgn="t"/>
                      <a:r>
                        <a:rPr lang="en-IN" sz="1050" b="0" i="0" u="none" strike="noStrike">
                          <a:solidFill>
                            <a:srgbClr val="202124"/>
                          </a:solidFill>
                          <a:effectLst/>
                          <a:latin typeface="Arial"/>
                        </a:rPr>
                        <a:t>Provide managed networking functionality for your cloud-based services running on Compute Engine VM instances, Google Kubernetes Engine, App Engine flexible environment instances, and other Google Cloud products built on Compute Engine VMs.</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 xmlns:a16="http://schemas.microsoft.com/office/drawing/2014/main" val="10011"/>
                  </a:ext>
                </a:extLst>
              </a:tr>
              <a:tr h="345503">
                <a:tc>
                  <a:txBody>
                    <a:bodyPr/>
                    <a:lstStyle/>
                    <a:p>
                      <a:pPr algn="ctr" fontAlgn="t"/>
                      <a:r>
                        <a:rPr lang="en-IN" sz="1050" b="0" i="0" u="none" strike="noStrike">
                          <a:solidFill>
                            <a:srgbClr val="202124"/>
                          </a:solidFill>
                          <a:effectLst/>
                          <a:latin typeface="Arial"/>
                        </a:rPr>
                        <a:t>Operations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t"/>
                      <a:r>
                        <a:rPr lang="en-IN" sz="1050" b="0" i="0" u="none" strike="noStrike">
                          <a:solidFill>
                            <a:srgbClr val="202124"/>
                          </a:solidFill>
                          <a:effectLst/>
                          <a:latin typeface="Arial"/>
                        </a:rPr>
                        <a:t>Monitoring</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t"/>
                      <a:r>
                        <a:rPr lang="en-IN" sz="1050" b="0" i="0" u="none" strike="noStrike" dirty="0">
                          <a:solidFill>
                            <a:srgbClr val="202124"/>
                          </a:solidFill>
                          <a:effectLst/>
                          <a:latin typeface="Arial"/>
                        </a:rPr>
                        <a:t>Ganglia/Nagios/</a:t>
                      </a:r>
                      <a:r>
                        <a:rPr lang="en-IN" sz="1050" b="0" i="0" u="none" strike="noStrike" dirty="0" err="1">
                          <a:solidFill>
                            <a:srgbClr val="202124"/>
                          </a:solidFill>
                          <a:effectLst/>
                          <a:latin typeface="Arial"/>
                        </a:rPr>
                        <a:t>Ambari</a:t>
                      </a:r>
                      <a:r>
                        <a:rPr lang="en-IN" sz="1050" b="0" i="0" u="none" strike="noStrike" dirty="0">
                          <a:solidFill>
                            <a:srgbClr val="202124"/>
                          </a:solidFill>
                          <a:effectLst/>
                          <a:latin typeface="Arial"/>
                        </a:rPr>
                        <a:t>/Cloudera Manager</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t"/>
                      <a:r>
                        <a:rPr lang="en-IN" sz="1050" b="0" i="0" u="none" strike="noStrike" dirty="0">
                          <a:solidFill>
                            <a:srgbClr val="202124"/>
                          </a:solidFill>
                          <a:effectLst/>
                          <a:latin typeface="Arial"/>
                        </a:rPr>
                        <a:t>Amazon </a:t>
                      </a:r>
                      <a:r>
                        <a:rPr lang="en-IN" sz="1050" b="0" i="0" u="none" strike="noStrike" dirty="0" err="1">
                          <a:solidFill>
                            <a:srgbClr val="202124"/>
                          </a:solidFill>
                          <a:effectLst/>
                          <a:latin typeface="Arial"/>
                        </a:rPr>
                        <a:t>CloudWatch</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t"/>
                      <a:r>
                        <a:rPr lang="en-IN" sz="1050" b="0" i="0" u="none" strike="noStrike" dirty="0">
                          <a:solidFill>
                            <a:srgbClr val="202124"/>
                          </a:solidFill>
                          <a:effectLst/>
                          <a:latin typeface="Arial"/>
                        </a:rPr>
                        <a:t>Azure Monitor</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t"/>
                      <a:r>
                        <a:rPr lang="en-IN" sz="1050" b="0" i="0" u="none" strike="noStrike" dirty="0">
                          <a:solidFill>
                            <a:srgbClr val="202124"/>
                          </a:solidFill>
                          <a:effectLst/>
                          <a:latin typeface="Arial"/>
                          <a:hlinkClick r:id="rId13"/>
                        </a:rPr>
                        <a:t>Cloud Monitoring</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just" fontAlgn="t"/>
                      <a:r>
                        <a:rPr lang="en-US" sz="1050" b="0" i="0" u="none" strike="noStrike" dirty="0">
                          <a:solidFill>
                            <a:srgbClr val="202124"/>
                          </a:solidFill>
                          <a:effectLst/>
                          <a:latin typeface="Arial"/>
                        </a:rPr>
                        <a:t>Monitor the performance, availability, and health of your applications and infrastructure.</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extLst>
                  <a:ext uri="{0D108BD9-81ED-4DB2-BD59-A6C34878D82A}">
                    <a16:rowId xmlns="" xmlns:a16="http://schemas.microsoft.com/office/drawing/2014/main" val="10012"/>
                  </a:ext>
                </a:extLst>
              </a:tr>
              <a:tr h="345503">
                <a:tc>
                  <a:txBody>
                    <a:bodyPr/>
                    <a:lstStyle/>
                    <a:p>
                      <a:pPr algn="ctr" fontAlgn="t"/>
                      <a:r>
                        <a:rPr lang="en-IN" sz="1050" b="1" i="0" u="none" strike="noStrike" dirty="0">
                          <a:solidFill>
                            <a:srgbClr val="C00000"/>
                          </a:solidFill>
                          <a:effectLst/>
                          <a:latin typeface="Arial"/>
                        </a:rPr>
                        <a:t>Security</a:t>
                      </a:r>
                      <a:r>
                        <a:rPr lang="en-IN" sz="1050" b="1" i="0" u="none" strike="noStrike" dirty="0">
                          <a:solidFill>
                            <a:srgbClr val="202124"/>
                          </a:solidFill>
                          <a:effectLst/>
                          <a:latin typeface="Arial"/>
                        </a:rPr>
                        <a:t> &amp; identity</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IN" sz="1050" b="0" i="0" u="none" strike="noStrike" dirty="0">
                          <a:solidFill>
                            <a:srgbClr val="202124"/>
                          </a:solidFill>
                          <a:effectLst/>
                          <a:latin typeface="Arial"/>
                        </a:rPr>
                        <a:t>IAM</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IN" sz="1050" b="0" i="0" u="none" strike="noStrike" dirty="0">
                          <a:solidFill>
                            <a:srgbClr val="202124"/>
                          </a:solidFill>
                          <a:effectLst/>
                          <a:latin typeface="Arial"/>
                        </a:rPr>
                        <a:t>SSL/LDAP/SSO</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US" sz="1050" b="0" i="0" u="none" strike="noStrike" dirty="0">
                          <a:solidFill>
                            <a:srgbClr val="202124"/>
                          </a:solidFill>
                          <a:effectLst/>
                          <a:latin typeface="Arial"/>
                        </a:rPr>
                        <a:t>Amazon Identity and Access Management</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IN" sz="1050" b="0" i="0" u="none" strike="noStrike" dirty="0">
                          <a:solidFill>
                            <a:srgbClr val="202124"/>
                          </a:solidFill>
                          <a:effectLst/>
                          <a:latin typeface="Arial"/>
                        </a:rPr>
                        <a:t>Azure Identity Management</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IN" sz="1050" b="0" i="0" u="none" strike="noStrike" dirty="0">
                          <a:solidFill>
                            <a:srgbClr val="202124"/>
                          </a:solidFill>
                          <a:effectLst/>
                          <a:latin typeface="Arial"/>
                          <a:hlinkClick r:id="rId14"/>
                        </a:rPr>
                        <a:t>Identity and Access Management</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just" fontAlgn="t"/>
                      <a:r>
                        <a:rPr lang="en-US" sz="1050" b="0" i="0" u="none" strike="noStrike" dirty="0">
                          <a:solidFill>
                            <a:srgbClr val="202124"/>
                          </a:solidFill>
                          <a:effectLst/>
                          <a:latin typeface="Arial"/>
                        </a:rPr>
                        <a:t>Provide fine-grained access control and visibility for centrally managing resources.</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extLst>
                  <a:ext uri="{0D108BD9-81ED-4DB2-BD59-A6C34878D82A}">
                    <a16:rowId xmlns="" xmlns:a16="http://schemas.microsoft.com/office/drawing/2014/main" val="10013"/>
                  </a:ext>
                </a:extLst>
              </a:tr>
            </a:tbl>
          </a:graphicData>
        </a:graphic>
      </p:graphicFrame>
      <p:graphicFrame>
        <p:nvGraphicFramePr>
          <p:cNvPr id="2" name="Table 1">
            <a:extLst>
              <a:ext uri="{FF2B5EF4-FFF2-40B4-BE49-F238E27FC236}">
                <a16:creationId xmlns="" xmlns:a16="http://schemas.microsoft.com/office/drawing/2014/main" id="{9904BE2A-5E32-46D5-61FA-2C23E2419A07}"/>
              </a:ext>
            </a:extLst>
          </p:cNvPr>
          <p:cNvGraphicFramePr>
            <a:graphicFrameLocks noGrp="1"/>
          </p:cNvGraphicFramePr>
          <p:nvPr>
            <p:extLst>
              <p:ext uri="{D42A27DB-BD31-4B8C-83A1-F6EECF244321}">
                <p14:modId xmlns:p14="http://schemas.microsoft.com/office/powerpoint/2010/main" val="3005518444"/>
              </p:ext>
            </p:extLst>
          </p:nvPr>
        </p:nvGraphicFramePr>
        <p:xfrm>
          <a:off x="68988" y="6515813"/>
          <a:ext cx="12054023" cy="485067"/>
        </p:xfrm>
        <a:graphic>
          <a:graphicData uri="http://schemas.openxmlformats.org/drawingml/2006/table">
            <a:tbl>
              <a:tblPr/>
              <a:tblGrid>
                <a:gridCol w="1106637">
                  <a:extLst>
                    <a:ext uri="{9D8B030D-6E8A-4147-A177-3AD203B41FA5}">
                      <a16:colId xmlns="" xmlns:a16="http://schemas.microsoft.com/office/drawing/2014/main" val="1385002525"/>
                    </a:ext>
                  </a:extLst>
                </a:gridCol>
                <a:gridCol w="1154235">
                  <a:extLst>
                    <a:ext uri="{9D8B030D-6E8A-4147-A177-3AD203B41FA5}">
                      <a16:colId xmlns="" xmlns:a16="http://schemas.microsoft.com/office/drawing/2014/main" val="3518846103"/>
                    </a:ext>
                  </a:extLst>
                </a:gridCol>
                <a:gridCol w="1154235">
                  <a:extLst>
                    <a:ext uri="{9D8B030D-6E8A-4147-A177-3AD203B41FA5}">
                      <a16:colId xmlns="" xmlns:a16="http://schemas.microsoft.com/office/drawing/2014/main" val="338546282"/>
                    </a:ext>
                  </a:extLst>
                </a:gridCol>
                <a:gridCol w="1273228">
                  <a:extLst>
                    <a:ext uri="{9D8B030D-6E8A-4147-A177-3AD203B41FA5}">
                      <a16:colId xmlns="" xmlns:a16="http://schemas.microsoft.com/office/drawing/2014/main" val="3542746899"/>
                    </a:ext>
                  </a:extLst>
                </a:gridCol>
                <a:gridCol w="1603244">
                  <a:extLst>
                    <a:ext uri="{9D8B030D-6E8A-4147-A177-3AD203B41FA5}">
                      <a16:colId xmlns="" xmlns:a16="http://schemas.microsoft.com/office/drawing/2014/main" val="2056613460"/>
                    </a:ext>
                  </a:extLst>
                </a:gridCol>
                <a:gridCol w="1268083">
                  <a:extLst>
                    <a:ext uri="{9D8B030D-6E8A-4147-A177-3AD203B41FA5}">
                      <a16:colId xmlns="" xmlns:a16="http://schemas.microsoft.com/office/drawing/2014/main" val="1330678681"/>
                    </a:ext>
                  </a:extLst>
                </a:gridCol>
                <a:gridCol w="4494361">
                  <a:extLst>
                    <a:ext uri="{9D8B030D-6E8A-4147-A177-3AD203B41FA5}">
                      <a16:colId xmlns="" xmlns:a16="http://schemas.microsoft.com/office/drawing/2014/main" val="3062032114"/>
                    </a:ext>
                  </a:extLst>
                </a:gridCol>
              </a:tblGrid>
              <a:tr h="345503">
                <a:tc>
                  <a:txBody>
                    <a:bodyPr/>
                    <a:lstStyle/>
                    <a:p>
                      <a:pPr algn="ctr" fontAlgn="t"/>
                      <a:r>
                        <a:rPr lang="en-IN" sz="1050" b="1" i="0" u="none" strike="noStrike" dirty="0">
                          <a:solidFill>
                            <a:srgbClr val="202124"/>
                          </a:solidFill>
                          <a:effectLst/>
                          <a:latin typeface="Arial"/>
                        </a:rPr>
                        <a:t>Realtime Streaming</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IN" sz="1050" b="0" i="0" u="none" strike="noStrike" dirty="0">
                          <a:solidFill>
                            <a:srgbClr val="202124"/>
                          </a:solidFill>
                          <a:effectLst/>
                          <a:latin typeface="Arial"/>
                        </a:rPr>
                        <a:t>IAM</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IN" sz="1050" b="0" i="0" u="none" strike="noStrike" dirty="0" err="1">
                          <a:solidFill>
                            <a:srgbClr val="202124"/>
                          </a:solidFill>
                          <a:effectLst/>
                          <a:latin typeface="Arial"/>
                        </a:rPr>
                        <a:t>Nifi</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US" sz="1050" b="0" i="0" u="none" strike="noStrike" dirty="0">
                          <a:solidFill>
                            <a:srgbClr val="202124"/>
                          </a:solidFill>
                          <a:effectLst/>
                          <a:latin typeface="Arial"/>
                        </a:rPr>
                        <a:t>Amazon Kinesis Stream</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IN" sz="1050" b="0" i="0" u="none" strike="noStrike" dirty="0">
                          <a:solidFill>
                            <a:srgbClr val="202124"/>
                          </a:solidFill>
                          <a:effectLst/>
                          <a:latin typeface="Arial"/>
                        </a:rPr>
                        <a:t>Azure Stream Analytics/</a:t>
                      </a:r>
                    </a:p>
                    <a:p>
                      <a:pPr algn="ctr" fontAlgn="t"/>
                      <a:r>
                        <a:rPr lang="en-IN" sz="1050" b="0" i="0" u="none" strike="noStrike" dirty="0">
                          <a:solidFill>
                            <a:srgbClr val="202124"/>
                          </a:solidFill>
                          <a:effectLst/>
                          <a:latin typeface="Arial"/>
                        </a:rPr>
                        <a:t>Databricks DLT/Spark Struct Streaming</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IN" sz="1050" b="1" i="0" u="none" strike="noStrike" dirty="0">
                          <a:solidFill>
                            <a:srgbClr val="202124"/>
                          </a:solidFill>
                          <a:effectLst/>
                          <a:latin typeface="Arial"/>
                        </a:rPr>
                        <a:t>Dataflow</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just" fontAlgn="t"/>
                      <a:r>
                        <a:rPr lang="en-US" sz="1050" b="0" i="0" u="none" strike="noStrike" dirty="0">
                          <a:solidFill>
                            <a:srgbClr val="202124"/>
                          </a:solidFill>
                          <a:effectLst/>
                          <a:latin typeface="Arial"/>
                        </a:rPr>
                        <a:t>Event Based/Micro batch based Streaming solution.</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extLst>
                  <a:ext uri="{0D108BD9-81ED-4DB2-BD59-A6C34878D82A}">
                    <a16:rowId xmlns="" xmlns:a16="http://schemas.microsoft.com/office/drawing/2014/main" val="834445232"/>
                  </a:ext>
                </a:extLst>
              </a:tr>
            </a:tbl>
          </a:graphicData>
        </a:graphic>
      </p:graphicFrame>
    </p:spTree>
    <p:extLst>
      <p:ext uri="{BB962C8B-B14F-4D97-AF65-F5344CB8AC3E}">
        <p14:creationId xmlns:p14="http://schemas.microsoft.com/office/powerpoint/2010/main" val="1346146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2"/>
          <p:cNvSpPr>
            <a:spLocks noGrp="1" noChangeArrowheads="1"/>
          </p:cNvSpPr>
          <p:nvPr>
            <p:ph type="ctrTitle"/>
          </p:nvPr>
        </p:nvSpPr>
        <p:spPr>
          <a:xfrm>
            <a:off x="804333" y="2438400"/>
            <a:ext cx="10363200" cy="1143000"/>
          </a:xfrm>
        </p:spPr>
        <p:txBody>
          <a:bodyPr vert="horz" lIns="91440" tIns="45720" rIns="91440" bIns="45720" rtlCol="0" anchor="ctr">
            <a:noAutofit/>
          </a:bodyPr>
          <a:lstStyle/>
          <a:p>
            <a:r>
              <a:rPr lang="en-US" sz="4800" b="1" dirty="0">
                <a:solidFill>
                  <a:srgbClr val="FF0000"/>
                </a:solidFill>
              </a:rPr>
              <a:t>        Azure – </a:t>
            </a:r>
            <a:r>
              <a:rPr lang="en-US" sz="4800" b="1" dirty="0" smtClean="0">
                <a:solidFill>
                  <a:srgbClr val="FF0000"/>
                </a:solidFill>
              </a:rPr>
              <a:t>Account Creation</a:t>
            </a:r>
            <a:endParaRPr lang="cs-CZ" sz="4800" b="1" dirty="0">
              <a:solidFill>
                <a:srgbClr val="FF0000"/>
              </a:solidFill>
            </a:endParaRPr>
          </a:p>
        </p:txBody>
      </p:sp>
    </p:spTree>
    <p:extLst>
      <p:ext uri="{BB962C8B-B14F-4D97-AF65-F5344CB8AC3E}">
        <p14:creationId xmlns:p14="http://schemas.microsoft.com/office/powerpoint/2010/main" val="52719329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D989169-B54D-3783-7C90-1CF6FAF1FFA8}"/>
            </a:ext>
          </a:extLst>
        </p:cNvPr>
        <p:cNvGrpSpPr/>
        <p:nvPr/>
      </p:nvGrpSpPr>
      <p:grpSpPr>
        <a:xfrm>
          <a:off x="0" y="0"/>
          <a:ext cx="0" cy="0"/>
          <a:chOff x="0" y="0"/>
          <a:chExt cx="0" cy="0"/>
        </a:xfrm>
      </p:grpSpPr>
      <p:pic>
        <p:nvPicPr>
          <p:cNvPr id="1026" name="Picture 2">
            <a:extLst>
              <a:ext uri="{FF2B5EF4-FFF2-40B4-BE49-F238E27FC236}">
                <a16:creationId xmlns="" xmlns:a16="http://schemas.microsoft.com/office/drawing/2014/main" id="{C46991DC-48D2-5B62-DD14-68822EAF3A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000" y="583883"/>
            <a:ext cx="6124452" cy="24830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 xmlns:a16="http://schemas.microsoft.com/office/drawing/2014/main" id="{60EBAE74-E670-9C35-93C0-F7BE9E0214F1}"/>
                  </a:ext>
                </a:extLst>
              </p14:cNvPr>
              <p14:cNvContentPartPr/>
              <p14:nvPr/>
            </p14:nvContentPartPr>
            <p14:xfrm>
              <a:off x="7689960" y="3740040"/>
              <a:ext cx="360" cy="360"/>
            </p14:xfrm>
          </p:contentPart>
        </mc:Choice>
        <mc:Fallback xmlns="">
          <p:pic>
            <p:nvPicPr>
              <p:cNvPr id="2" name="Ink 1">
                <a:extLst>
                  <a:ext uri="{FF2B5EF4-FFF2-40B4-BE49-F238E27FC236}">
                    <a16:creationId xmlns:a16="http://schemas.microsoft.com/office/drawing/2014/main" id="{60EBAE74-E670-9C35-93C0-F7BE9E0214F1}"/>
                  </a:ext>
                </a:extLst>
              </p:cNvPr>
              <p:cNvPicPr/>
              <p:nvPr/>
            </p:nvPicPr>
            <p:blipFill>
              <a:blip r:embed="rId5"/>
              <a:stretch>
                <a:fillRect/>
              </a:stretch>
            </p:blipFill>
            <p:spPr>
              <a:xfrm>
                <a:off x="7680600" y="3730680"/>
                <a:ext cx="19080" cy="19080"/>
              </a:xfrm>
              <a:prstGeom prst="rect">
                <a:avLst/>
              </a:prstGeom>
            </p:spPr>
          </p:pic>
        </mc:Fallback>
      </mc:AlternateContent>
      <p:sp>
        <p:nvSpPr>
          <p:cNvPr id="5" name="Rectangle 4">
            <a:extLst>
              <a:ext uri="{FF2B5EF4-FFF2-40B4-BE49-F238E27FC236}">
                <a16:creationId xmlns="" xmlns:a16="http://schemas.microsoft.com/office/drawing/2014/main" id="{55A84217-FB91-A3FC-74BE-378915C2E303}"/>
              </a:ext>
            </a:extLst>
          </p:cNvPr>
          <p:cNvSpPr/>
          <p:nvPr/>
        </p:nvSpPr>
        <p:spPr>
          <a:xfrm>
            <a:off x="590550" y="861596"/>
            <a:ext cx="3228975" cy="307777"/>
          </a:xfrm>
          <a:prstGeom prst="rect">
            <a:avLst/>
          </a:prstGeom>
        </p:spPr>
        <p:txBody>
          <a:bodyPr wrap="square">
            <a:spAutoFit/>
          </a:bodyPr>
          <a:lstStyle/>
          <a:p>
            <a:r>
              <a:rPr lang="en-IN" sz="1400" b="1" dirty="0">
                <a:solidFill>
                  <a:srgbClr val="0070C0"/>
                </a:solidFill>
              </a:rPr>
              <a:t>https://azure.microsoft.com/en-in/free</a:t>
            </a:r>
          </a:p>
        </p:txBody>
      </p:sp>
      <p:sp>
        <p:nvSpPr>
          <p:cNvPr id="6" name="Rectangle 5">
            <a:extLst>
              <a:ext uri="{FF2B5EF4-FFF2-40B4-BE49-F238E27FC236}">
                <a16:creationId xmlns="" xmlns:a16="http://schemas.microsoft.com/office/drawing/2014/main" id="{CFE54AF6-815A-4002-1E7E-D9E110775A3F}"/>
              </a:ext>
            </a:extLst>
          </p:cNvPr>
          <p:cNvSpPr/>
          <p:nvPr/>
        </p:nvSpPr>
        <p:spPr>
          <a:xfrm>
            <a:off x="85725" y="95250"/>
            <a:ext cx="6819900" cy="400110"/>
          </a:xfrm>
          <a:prstGeom prst="rect">
            <a:avLst/>
          </a:prstGeom>
        </p:spPr>
        <p:txBody>
          <a:bodyPr wrap="square">
            <a:spAutoFit/>
          </a:bodyPr>
          <a:lstStyle/>
          <a:p>
            <a:r>
              <a:rPr lang="en-US" sz="2000" dirty="0">
                <a:solidFill>
                  <a:srgbClr val="C00000"/>
                </a:solidFill>
              </a:rPr>
              <a:t> </a:t>
            </a:r>
            <a:r>
              <a:rPr lang="en-US" sz="2000" b="1" dirty="0">
                <a:solidFill>
                  <a:srgbClr val="C00000"/>
                </a:solidFill>
              </a:rPr>
              <a:t>Creating Microsoft Cloud Free Account</a:t>
            </a:r>
            <a:endParaRPr lang="en-IN" sz="2000" dirty="0">
              <a:solidFill>
                <a:srgbClr val="C00000"/>
              </a:solidFill>
            </a:endParaRPr>
          </a:p>
        </p:txBody>
      </p:sp>
      <p:pic>
        <p:nvPicPr>
          <p:cNvPr id="1027" name="Picture 3">
            <a:extLst>
              <a:ext uri="{FF2B5EF4-FFF2-40B4-BE49-F238E27FC236}">
                <a16:creationId xmlns="" xmlns:a16="http://schemas.microsoft.com/office/drawing/2014/main" id="{BA05337B-96E1-2358-3B97-DB4DEF2C99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000" y="3206526"/>
            <a:ext cx="3323823" cy="34775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028" name="Picture 4">
            <a:extLst>
              <a:ext uri="{FF2B5EF4-FFF2-40B4-BE49-F238E27FC236}">
                <a16:creationId xmlns="" xmlns:a16="http://schemas.microsoft.com/office/drawing/2014/main" id="{A9AD8F7F-3326-7540-FD1F-40AABC9BF24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5481" y="3309426"/>
            <a:ext cx="4093388" cy="33061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029" name="Picture 5">
            <a:extLst>
              <a:ext uri="{FF2B5EF4-FFF2-40B4-BE49-F238E27FC236}">
                <a16:creationId xmlns="" xmlns:a16="http://schemas.microsoft.com/office/drawing/2014/main" id="{6DB5700F-FFF1-F989-1978-5BB6B6EF833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56994" y="3299901"/>
            <a:ext cx="3735575" cy="30557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2" name="Heptagon 11">
            <a:extLst>
              <a:ext uri="{FF2B5EF4-FFF2-40B4-BE49-F238E27FC236}">
                <a16:creationId xmlns="" xmlns:a16="http://schemas.microsoft.com/office/drawing/2014/main" id="{F585B9BD-F94A-6B21-B32B-A9B399E63753}"/>
              </a:ext>
            </a:extLst>
          </p:cNvPr>
          <p:cNvSpPr/>
          <p:nvPr/>
        </p:nvSpPr>
        <p:spPr>
          <a:xfrm>
            <a:off x="4175837" y="531737"/>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1</a:t>
            </a:r>
            <a:endParaRPr lang="en-IN" sz="3600" b="1" dirty="0">
              <a:solidFill>
                <a:prstClr val="white"/>
              </a:solidFill>
            </a:endParaRPr>
          </a:p>
        </p:txBody>
      </p:sp>
      <p:sp>
        <p:nvSpPr>
          <p:cNvPr id="13" name="Heptagon 12">
            <a:extLst>
              <a:ext uri="{FF2B5EF4-FFF2-40B4-BE49-F238E27FC236}">
                <a16:creationId xmlns="" xmlns:a16="http://schemas.microsoft.com/office/drawing/2014/main" id="{21BC0E36-7C14-74A5-981E-592439F60050}"/>
              </a:ext>
            </a:extLst>
          </p:cNvPr>
          <p:cNvSpPr/>
          <p:nvPr/>
        </p:nvSpPr>
        <p:spPr>
          <a:xfrm>
            <a:off x="2964135" y="3232120"/>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2</a:t>
            </a:r>
            <a:endParaRPr lang="en-IN" sz="3600" b="1" dirty="0">
              <a:solidFill>
                <a:prstClr val="white"/>
              </a:solidFill>
            </a:endParaRPr>
          </a:p>
        </p:txBody>
      </p:sp>
      <p:sp>
        <p:nvSpPr>
          <p:cNvPr id="14" name="Heptagon 13">
            <a:extLst>
              <a:ext uri="{FF2B5EF4-FFF2-40B4-BE49-F238E27FC236}">
                <a16:creationId xmlns="" xmlns:a16="http://schemas.microsoft.com/office/drawing/2014/main" id="{E9108496-3089-ABB3-868F-66DE88491DE5}"/>
              </a:ext>
            </a:extLst>
          </p:cNvPr>
          <p:cNvSpPr/>
          <p:nvPr/>
        </p:nvSpPr>
        <p:spPr>
          <a:xfrm>
            <a:off x="7038380" y="3299901"/>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3</a:t>
            </a:r>
            <a:endParaRPr lang="en-IN" sz="3600" b="1" dirty="0">
              <a:solidFill>
                <a:prstClr val="white"/>
              </a:solidFill>
            </a:endParaRPr>
          </a:p>
        </p:txBody>
      </p:sp>
      <p:sp>
        <p:nvSpPr>
          <p:cNvPr id="15" name="Heptagon 14">
            <a:extLst>
              <a:ext uri="{FF2B5EF4-FFF2-40B4-BE49-F238E27FC236}">
                <a16:creationId xmlns="" xmlns:a16="http://schemas.microsoft.com/office/drawing/2014/main" id="{BA785C3F-CD18-8B63-4AAC-7AA12FDE9A3A}"/>
              </a:ext>
            </a:extLst>
          </p:cNvPr>
          <p:cNvSpPr/>
          <p:nvPr/>
        </p:nvSpPr>
        <p:spPr>
          <a:xfrm>
            <a:off x="11362730" y="3192143"/>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4</a:t>
            </a:r>
            <a:endParaRPr lang="en-IN" sz="3600" b="1" dirty="0">
              <a:solidFill>
                <a:prstClr val="white"/>
              </a:solidFill>
            </a:endParaRPr>
          </a:p>
        </p:txBody>
      </p:sp>
      <p:pic>
        <p:nvPicPr>
          <p:cNvPr id="16" name="Picture 2">
            <a:extLst>
              <a:ext uri="{FF2B5EF4-FFF2-40B4-BE49-F238E27FC236}">
                <a16:creationId xmlns="" xmlns:a16="http://schemas.microsoft.com/office/drawing/2014/main" id="{F5777CF8-DB51-ED2D-8627-2FF5B992B346}"/>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5408819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7689960" y="3740040"/>
              <a:ext cx="360" cy="360"/>
            </p14:xfrm>
          </p:contentPart>
        </mc:Choice>
        <mc:Fallback xmlns="">
          <p:pic>
            <p:nvPicPr>
              <p:cNvPr id="2" name="Ink 1"/>
              <p:cNvPicPr/>
              <p:nvPr/>
            </p:nvPicPr>
            <p:blipFill>
              <a:blip r:embed="rId5"/>
              <a:stretch>
                <a:fillRect/>
              </a:stretch>
            </p:blipFill>
            <p:spPr>
              <a:xfrm>
                <a:off x="7680600" y="3730680"/>
                <a:ext cx="19080" cy="19080"/>
              </a:xfrm>
              <a:prstGeom prst="rect">
                <a:avLst/>
              </a:prstGeom>
            </p:spPr>
          </p:pic>
        </mc:Fallback>
      </mc:AlternateContent>
      <p:sp>
        <p:nvSpPr>
          <p:cNvPr id="6" name="Rectangle 5"/>
          <p:cNvSpPr/>
          <p:nvPr/>
        </p:nvSpPr>
        <p:spPr>
          <a:xfrm>
            <a:off x="85725" y="95250"/>
            <a:ext cx="6819900" cy="400110"/>
          </a:xfrm>
          <a:prstGeom prst="rect">
            <a:avLst/>
          </a:prstGeom>
        </p:spPr>
        <p:txBody>
          <a:bodyPr wrap="square">
            <a:spAutoFit/>
          </a:bodyPr>
          <a:lstStyle/>
          <a:p>
            <a:r>
              <a:rPr lang="en-US" sz="2000" dirty="0">
                <a:solidFill>
                  <a:srgbClr val="C00000"/>
                </a:solidFill>
              </a:rPr>
              <a:t> </a:t>
            </a:r>
            <a:r>
              <a:rPr lang="en-US" sz="2000" b="1" dirty="0">
                <a:solidFill>
                  <a:srgbClr val="C00000"/>
                </a:solidFill>
              </a:rPr>
              <a:t>Creating Microsoft Cloud Free Account</a:t>
            </a:r>
            <a:endParaRPr lang="en-IN" sz="2000" dirty="0">
              <a:solidFill>
                <a:srgbClr val="C00000"/>
              </a:solidFill>
            </a:endParaRPr>
          </a:p>
        </p:txBody>
      </p:sp>
      <p:pic>
        <p:nvPicPr>
          <p:cNvPr id="2050"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83860" y="612646"/>
            <a:ext cx="5061531" cy="220558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3860" y="3224325"/>
            <a:ext cx="5233238" cy="300015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2052"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04515" y="220128"/>
            <a:ext cx="2811970" cy="32420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3" name="Rectangle 2"/>
          <p:cNvSpPr/>
          <p:nvPr/>
        </p:nvSpPr>
        <p:spPr>
          <a:xfrm>
            <a:off x="6180589" y="3875232"/>
            <a:ext cx="3035896" cy="338554"/>
          </a:xfrm>
          <a:prstGeom prst="rect">
            <a:avLst/>
          </a:prstGeom>
        </p:spPr>
        <p:txBody>
          <a:bodyPr wrap="none">
            <a:spAutoFit/>
          </a:bodyPr>
          <a:lstStyle/>
          <a:p>
            <a:r>
              <a:rPr lang="en-IN" sz="1600" b="1" dirty="0">
                <a:solidFill>
                  <a:srgbClr val="0070C0"/>
                </a:solidFill>
              </a:rPr>
              <a:t>https://portal.azure.com/#home </a:t>
            </a:r>
          </a:p>
        </p:txBody>
      </p:sp>
      <p:pic>
        <p:nvPicPr>
          <p:cNvPr id="2053" name="Picture 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873208" y="4191219"/>
            <a:ext cx="4193032" cy="18474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4" name="Heptagon 13"/>
          <p:cNvSpPr/>
          <p:nvPr/>
        </p:nvSpPr>
        <p:spPr>
          <a:xfrm>
            <a:off x="5223200" y="418748"/>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5</a:t>
            </a:r>
            <a:endParaRPr lang="en-IN" sz="3600" b="1" dirty="0">
              <a:solidFill>
                <a:prstClr val="white"/>
              </a:solidFill>
            </a:endParaRPr>
          </a:p>
        </p:txBody>
      </p:sp>
      <p:sp>
        <p:nvSpPr>
          <p:cNvPr id="15" name="Heptagon 14"/>
          <p:cNvSpPr/>
          <p:nvPr/>
        </p:nvSpPr>
        <p:spPr>
          <a:xfrm>
            <a:off x="5263571" y="3074431"/>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6</a:t>
            </a:r>
            <a:endParaRPr lang="en-IN" sz="3600" b="1" dirty="0">
              <a:solidFill>
                <a:prstClr val="white"/>
              </a:solidFill>
            </a:endParaRPr>
          </a:p>
        </p:txBody>
      </p:sp>
      <p:sp>
        <p:nvSpPr>
          <p:cNvPr id="16" name="Heptagon 15"/>
          <p:cNvSpPr/>
          <p:nvPr/>
        </p:nvSpPr>
        <p:spPr>
          <a:xfrm>
            <a:off x="9095780" y="93373"/>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7</a:t>
            </a:r>
            <a:endParaRPr lang="en-IN" sz="3600" b="1" dirty="0">
              <a:solidFill>
                <a:prstClr val="white"/>
              </a:solidFill>
            </a:endParaRPr>
          </a:p>
        </p:txBody>
      </p:sp>
      <p:sp>
        <p:nvSpPr>
          <p:cNvPr id="20" name="Heptagon 19"/>
          <p:cNvSpPr/>
          <p:nvPr/>
        </p:nvSpPr>
        <p:spPr>
          <a:xfrm>
            <a:off x="9872342" y="3981789"/>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8</a:t>
            </a:r>
            <a:endParaRPr lang="en-IN" sz="3600" b="1" dirty="0">
              <a:solidFill>
                <a:prstClr val="white"/>
              </a:solidFill>
            </a:endParaRPr>
          </a:p>
        </p:txBody>
      </p:sp>
      <p:pic>
        <p:nvPicPr>
          <p:cNvPr id="13" name="Picture 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508324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267200" y="2667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solidFill>
                  <a:prstClr val="black">
                    <a:tint val="75000"/>
                  </a:prstClr>
                </a:solidFill>
              </a:rPr>
              <a:pPr/>
              <a:t>14</a:t>
            </a:fld>
            <a:endParaRPr lang="en-US">
              <a:solidFill>
                <a:prstClr val="black">
                  <a:tint val="75000"/>
                </a:prstClr>
              </a:solidFill>
            </a:endParaRPr>
          </a:p>
        </p:txBody>
      </p:sp>
      <p:sp>
        <p:nvSpPr>
          <p:cNvPr id="11" name="Text Box 5"/>
          <p:cNvSpPr txBox="1">
            <a:spLocks noChangeArrowheads="1"/>
          </p:cNvSpPr>
          <p:nvPr/>
        </p:nvSpPr>
        <p:spPr bwMode="auto">
          <a:xfrm>
            <a:off x="4267200" y="3048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2" name="Title 1"/>
          <p:cNvSpPr>
            <a:spLocks noGrp="1"/>
          </p:cNvSpPr>
          <p:nvPr>
            <p:ph type="title"/>
          </p:nvPr>
        </p:nvSpPr>
        <p:spPr>
          <a:xfrm>
            <a:off x="0" y="-306561"/>
            <a:ext cx="10972800" cy="1143000"/>
          </a:xfrm>
        </p:spPr>
        <p:txBody>
          <a:bodyPr vert="horz" lIns="91440" tIns="45720" rIns="91440" bIns="45720" rtlCol="0" anchor="ctr">
            <a:normAutofit/>
          </a:bodyPr>
          <a:lstStyle/>
          <a:p>
            <a:r>
              <a:rPr lang="en-US" sz="2800" b="1" dirty="0">
                <a:solidFill>
                  <a:srgbClr val="FF0000"/>
                </a:solidFill>
              </a:rPr>
              <a:t>About Azure</a:t>
            </a:r>
          </a:p>
        </p:txBody>
      </p:sp>
      <p:sp>
        <p:nvSpPr>
          <p:cNvPr id="13" name="Rectangle 12"/>
          <p:cNvSpPr/>
          <p:nvPr/>
        </p:nvSpPr>
        <p:spPr>
          <a:xfrm>
            <a:off x="149956" y="484516"/>
            <a:ext cx="11946793" cy="523220"/>
          </a:xfrm>
          <a:prstGeom prst="rect">
            <a:avLst/>
          </a:prstGeom>
        </p:spPr>
        <p:txBody>
          <a:bodyPr wrap="square">
            <a:spAutoFit/>
          </a:bodyPr>
          <a:lstStyle/>
          <a:p>
            <a:r>
              <a:rPr lang="en-US" sz="1400" b="1" dirty="0">
                <a:solidFill>
                  <a:prstClr val="black"/>
                </a:solidFill>
              </a:rPr>
              <a:t>Microsoft Azure is a public cloud vendor</a:t>
            </a:r>
            <a:r>
              <a:rPr lang="en-US" sz="1400" dirty="0">
                <a:solidFill>
                  <a:prstClr val="black"/>
                </a:solidFill>
              </a:rPr>
              <a:t> — like competitors Amazon Web Services (AWS) and GCP and other cloud vendors, customers are able to access computer resources housed in Microsoft data centers around the world for free or on a pay-per-use basis.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307" y="1726872"/>
            <a:ext cx="8234485" cy="35208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283307" y="1130309"/>
            <a:ext cx="4957126" cy="523220"/>
          </a:xfrm>
          <a:prstGeom prst="rect">
            <a:avLst/>
          </a:prstGeom>
        </p:spPr>
        <p:txBody>
          <a:bodyPr wrap="none">
            <a:spAutoFit/>
          </a:bodyPr>
          <a:lstStyle/>
          <a:p>
            <a:r>
              <a:rPr lang="en-IN" sz="1400" dirty="0">
                <a:solidFill>
                  <a:prstClr val="black"/>
                </a:solidFill>
                <a:hlinkClick r:id="rId3"/>
              </a:rPr>
              <a:t>https://datacenters.microsoft.com/globe/explore/</a:t>
            </a:r>
            <a:endParaRPr lang="en-IN" sz="1400" dirty="0">
              <a:solidFill>
                <a:prstClr val="black"/>
              </a:solidFill>
            </a:endParaRPr>
          </a:p>
          <a:p>
            <a:r>
              <a:rPr lang="en-IN" sz="1400" dirty="0">
                <a:solidFill>
                  <a:srgbClr val="0070C0"/>
                </a:solidFill>
              </a:rPr>
              <a:t>https://azure.microsoft.com/en-us/explore/global-infrastructure/</a:t>
            </a:r>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425" y="5334000"/>
            <a:ext cx="7239000" cy="1438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9907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Title 1"/>
          <p:cNvSpPr>
            <a:spLocks noGrp="1"/>
          </p:cNvSpPr>
          <p:nvPr>
            <p:ph type="title"/>
          </p:nvPr>
        </p:nvSpPr>
        <p:spPr>
          <a:xfrm>
            <a:off x="790575" y="3429000"/>
            <a:ext cx="10515600" cy="562796"/>
          </a:xfrm>
        </p:spPr>
        <p:txBody>
          <a:bodyPr>
            <a:normAutofit fontScale="90000"/>
          </a:bodyPr>
          <a:lstStyle/>
          <a:p>
            <a:pPr algn="ctr"/>
            <a:r>
              <a:rPr lang="en-US" b="1" dirty="0">
                <a:solidFill>
                  <a:srgbClr val="C00000"/>
                </a:solidFill>
              </a:rPr>
              <a:t>Azure Data </a:t>
            </a:r>
            <a:r>
              <a:rPr lang="en-US" b="1" dirty="0" smtClean="0">
                <a:solidFill>
                  <a:srgbClr val="C00000"/>
                </a:solidFill>
              </a:rPr>
              <a:t>Engineering/AI/BI Services (Software)</a:t>
            </a:r>
            <a:endParaRPr lang="en-IN" b="1" dirty="0">
              <a:solidFill>
                <a:srgbClr val="C00000"/>
              </a:solidFill>
            </a:endParaRPr>
          </a:p>
        </p:txBody>
      </p:sp>
      <p:graphicFrame>
        <p:nvGraphicFramePr>
          <p:cNvPr id="488" name="Diagram 487"/>
          <p:cNvGraphicFramePr/>
          <p:nvPr>
            <p:extLst>
              <p:ext uri="{D42A27DB-BD31-4B8C-83A1-F6EECF244321}">
                <p14:modId xmlns:p14="http://schemas.microsoft.com/office/powerpoint/2010/main" val="965415647"/>
              </p:ext>
            </p:extLst>
          </p:nvPr>
        </p:nvGraphicFramePr>
        <p:xfrm>
          <a:off x="293019" y="4113590"/>
          <a:ext cx="11522635" cy="6340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89" name="Diagram 488"/>
          <p:cNvGraphicFramePr/>
          <p:nvPr>
            <p:extLst>
              <p:ext uri="{D42A27DB-BD31-4B8C-83A1-F6EECF244321}">
                <p14:modId xmlns:p14="http://schemas.microsoft.com/office/powerpoint/2010/main" val="190465306"/>
              </p:ext>
            </p:extLst>
          </p:nvPr>
        </p:nvGraphicFramePr>
        <p:xfrm>
          <a:off x="0" y="1989391"/>
          <a:ext cx="11819191" cy="59998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96" name="Title 1"/>
          <p:cNvSpPr txBox="1">
            <a:spLocks/>
          </p:cNvSpPr>
          <p:nvPr/>
        </p:nvSpPr>
        <p:spPr>
          <a:xfrm>
            <a:off x="722258" y="1355833"/>
            <a:ext cx="10515600" cy="59695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00000"/>
                </a:solidFill>
              </a:rPr>
              <a:t>Azure Core </a:t>
            </a:r>
            <a:r>
              <a:rPr lang="en-US" b="1" dirty="0" smtClean="0">
                <a:solidFill>
                  <a:srgbClr val="C00000"/>
                </a:solidFill>
              </a:rPr>
              <a:t>Services (Infra &amp; Platform)</a:t>
            </a:r>
            <a:endParaRPr lang="en-IN" b="1" dirty="0">
              <a:solidFill>
                <a:srgbClr val="C00000"/>
              </a:solidFill>
            </a:endParaRPr>
          </a:p>
        </p:txBody>
      </p:sp>
      <p:graphicFrame>
        <p:nvGraphicFramePr>
          <p:cNvPr id="7" name="Diagram 6"/>
          <p:cNvGraphicFramePr/>
          <p:nvPr>
            <p:extLst>
              <p:ext uri="{D42A27DB-BD31-4B8C-83A1-F6EECF244321}">
                <p14:modId xmlns:p14="http://schemas.microsoft.com/office/powerpoint/2010/main" val="1570693518"/>
              </p:ext>
            </p:extLst>
          </p:nvPr>
        </p:nvGraphicFramePr>
        <p:xfrm>
          <a:off x="325779" y="5129114"/>
          <a:ext cx="11522635" cy="634003"/>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1081483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2"/>
          <p:cNvSpPr>
            <a:spLocks noGrp="1" noChangeArrowheads="1"/>
          </p:cNvSpPr>
          <p:nvPr>
            <p:ph type="ctrTitle"/>
          </p:nvPr>
        </p:nvSpPr>
        <p:spPr>
          <a:xfrm>
            <a:off x="778696" y="2899873"/>
            <a:ext cx="10363200" cy="1143000"/>
          </a:xfrm>
        </p:spPr>
        <p:txBody>
          <a:bodyPr vert="horz" lIns="91440" tIns="45720" rIns="91440" bIns="45720" rtlCol="0" anchor="ctr">
            <a:noAutofit/>
          </a:bodyPr>
          <a:lstStyle/>
          <a:p>
            <a:r>
              <a:rPr lang="en-US" sz="4800" b="1" dirty="0">
                <a:solidFill>
                  <a:srgbClr val="FF0000"/>
                </a:solidFill>
              </a:rPr>
              <a:t>        Azure – Resource Hierarchy</a:t>
            </a:r>
            <a:endParaRPr lang="cs-CZ" sz="4800" b="1" dirty="0">
              <a:solidFill>
                <a:srgbClr val="FF0000"/>
              </a:solidFill>
            </a:endParaRPr>
          </a:p>
        </p:txBody>
      </p:sp>
      <p:sp>
        <p:nvSpPr>
          <p:cNvPr id="2" name="TextBox 1"/>
          <p:cNvSpPr txBox="1"/>
          <p:nvPr/>
        </p:nvSpPr>
        <p:spPr>
          <a:xfrm>
            <a:off x="290557" y="386135"/>
            <a:ext cx="10096354" cy="646331"/>
          </a:xfrm>
          <a:prstGeom prst="rect">
            <a:avLst/>
          </a:prstGeom>
          <a:noFill/>
        </p:spPr>
        <p:txBody>
          <a:bodyPr wrap="none" rtlCol="0">
            <a:spAutoFit/>
          </a:bodyPr>
          <a:lstStyle/>
          <a:p>
            <a:r>
              <a:rPr lang="en-IN" b="1" dirty="0" smtClean="0"/>
              <a:t>PC/Computer Resource Hierarchy</a:t>
            </a:r>
          </a:p>
          <a:p>
            <a:r>
              <a:rPr lang="en-IN" dirty="0" smtClean="0"/>
              <a:t>My Computer (Authentication) -&gt; Drive (Partitions) -&gt; Main/Sub Folder (Grouping) -&gt; Files/App (Resource)</a:t>
            </a:r>
            <a:endParaRPr lang="en-IN" dirty="0"/>
          </a:p>
        </p:txBody>
      </p:sp>
      <p:sp>
        <p:nvSpPr>
          <p:cNvPr id="4" name="TextBox 3"/>
          <p:cNvSpPr txBox="1"/>
          <p:nvPr/>
        </p:nvSpPr>
        <p:spPr>
          <a:xfrm>
            <a:off x="152401" y="1256532"/>
            <a:ext cx="11808104" cy="800219"/>
          </a:xfrm>
          <a:prstGeom prst="rect">
            <a:avLst/>
          </a:prstGeom>
          <a:noFill/>
        </p:spPr>
        <p:txBody>
          <a:bodyPr wrap="none" rtlCol="0">
            <a:spAutoFit/>
          </a:bodyPr>
          <a:lstStyle/>
          <a:p>
            <a:r>
              <a:rPr lang="en-IN" b="1" dirty="0" smtClean="0"/>
              <a:t>Azure Resource Hierarchy</a:t>
            </a:r>
          </a:p>
          <a:p>
            <a:r>
              <a:rPr lang="en-IN" sz="1400" dirty="0" smtClean="0"/>
              <a:t>Azure </a:t>
            </a:r>
            <a:r>
              <a:rPr lang="en-IN" sz="1400" b="1" dirty="0" err="1" smtClean="0"/>
              <a:t>Entra</a:t>
            </a:r>
            <a:r>
              <a:rPr lang="en-IN" sz="1400" b="1" dirty="0" smtClean="0"/>
              <a:t>/</a:t>
            </a:r>
            <a:r>
              <a:rPr lang="en-IN" sz="1400" b="1" strike="sngStrike" dirty="0" smtClean="0"/>
              <a:t>AD</a:t>
            </a:r>
            <a:r>
              <a:rPr lang="en-IN" sz="1400" b="1" dirty="0" smtClean="0"/>
              <a:t>/Tenant</a:t>
            </a:r>
            <a:r>
              <a:rPr lang="en-IN" sz="1400" dirty="0" smtClean="0"/>
              <a:t> (Authentication) -&gt; </a:t>
            </a:r>
            <a:r>
              <a:rPr lang="en-IN" sz="1400" b="1" dirty="0" smtClean="0"/>
              <a:t>Management</a:t>
            </a:r>
            <a:r>
              <a:rPr lang="en-IN" sz="1400" dirty="0" smtClean="0"/>
              <a:t> Group (Divisions) -&gt; </a:t>
            </a:r>
            <a:r>
              <a:rPr lang="en-IN" sz="1400" b="1" dirty="0" smtClean="0"/>
              <a:t>Subscription</a:t>
            </a:r>
            <a:r>
              <a:rPr lang="en-IN" sz="1400" dirty="0" smtClean="0"/>
              <a:t> (Cost management) -&gt; </a:t>
            </a:r>
            <a:r>
              <a:rPr lang="en-IN" sz="1400" dirty="0" smtClean="0">
                <a:solidFill>
                  <a:srgbClr val="00B050"/>
                </a:solidFill>
              </a:rPr>
              <a:t>Resource Group (Logical Container Grouping) </a:t>
            </a:r>
          </a:p>
          <a:p>
            <a:r>
              <a:rPr lang="en-IN" sz="1400" dirty="0" smtClean="0">
                <a:solidFill>
                  <a:srgbClr val="00B050"/>
                </a:solidFill>
              </a:rPr>
              <a:t>-&gt; </a:t>
            </a:r>
            <a:r>
              <a:rPr lang="en-IN" sz="1400" dirty="0" err="1" smtClean="0">
                <a:solidFill>
                  <a:srgbClr val="00B050"/>
                </a:solidFill>
              </a:rPr>
              <a:t>Databricks</a:t>
            </a:r>
            <a:r>
              <a:rPr lang="en-IN" sz="1400" dirty="0" smtClean="0">
                <a:solidFill>
                  <a:srgbClr val="00B050"/>
                </a:solidFill>
              </a:rPr>
              <a:t>/DF/ADLS/Virtual Machine/</a:t>
            </a:r>
            <a:r>
              <a:rPr lang="en-IN" sz="1400" dirty="0" err="1" smtClean="0">
                <a:solidFill>
                  <a:srgbClr val="00B050"/>
                </a:solidFill>
              </a:rPr>
              <a:t>OpenAI</a:t>
            </a:r>
            <a:r>
              <a:rPr lang="en-IN" sz="1400" dirty="0" smtClean="0">
                <a:solidFill>
                  <a:srgbClr val="00B050"/>
                </a:solidFill>
              </a:rPr>
              <a:t> (Resource/Services)</a:t>
            </a:r>
            <a:endParaRPr lang="en-IN" sz="1400" dirty="0">
              <a:solidFill>
                <a:srgbClr val="00B050"/>
              </a:solidFill>
            </a:endParaRPr>
          </a:p>
        </p:txBody>
      </p:sp>
      <p:sp>
        <p:nvSpPr>
          <p:cNvPr id="5" name="TextBox 4"/>
          <p:cNvSpPr txBox="1"/>
          <p:nvPr/>
        </p:nvSpPr>
        <p:spPr>
          <a:xfrm>
            <a:off x="152401" y="2297695"/>
            <a:ext cx="11808104" cy="800219"/>
          </a:xfrm>
          <a:prstGeom prst="rect">
            <a:avLst/>
          </a:prstGeom>
          <a:noFill/>
        </p:spPr>
        <p:txBody>
          <a:bodyPr wrap="square" rtlCol="0">
            <a:spAutoFit/>
          </a:bodyPr>
          <a:lstStyle/>
          <a:p>
            <a:r>
              <a:rPr lang="en-IN" b="1" u="sng" dirty="0" smtClean="0"/>
              <a:t>GCP Resource Hierarchy</a:t>
            </a:r>
          </a:p>
          <a:p>
            <a:r>
              <a:rPr lang="en-IN" sz="1400" b="1" dirty="0" smtClean="0"/>
              <a:t>Organization</a:t>
            </a:r>
            <a:r>
              <a:rPr lang="en-IN" sz="1400" dirty="0" smtClean="0"/>
              <a:t> (Authentication) -&gt; </a:t>
            </a:r>
            <a:r>
              <a:rPr lang="en-IN" sz="1400" b="1" dirty="0" smtClean="0"/>
              <a:t>Folders</a:t>
            </a:r>
            <a:r>
              <a:rPr lang="en-IN" sz="1400" dirty="0" smtClean="0"/>
              <a:t> (Divisions) -&gt; </a:t>
            </a:r>
            <a:r>
              <a:rPr lang="en-IN" sz="1400" b="1" dirty="0" smtClean="0">
                <a:solidFill>
                  <a:srgbClr val="00B050"/>
                </a:solidFill>
              </a:rPr>
              <a:t>Project</a:t>
            </a:r>
            <a:r>
              <a:rPr lang="en-IN" sz="1400" dirty="0" smtClean="0">
                <a:solidFill>
                  <a:srgbClr val="00B050"/>
                </a:solidFill>
              </a:rPr>
              <a:t> (Cost management) &amp; Resource Group (Logical Container Grouping) </a:t>
            </a:r>
          </a:p>
          <a:p>
            <a:r>
              <a:rPr lang="en-IN" sz="1400" dirty="0" smtClean="0">
                <a:solidFill>
                  <a:srgbClr val="00B050"/>
                </a:solidFill>
              </a:rPr>
              <a:t>-&gt; </a:t>
            </a:r>
            <a:r>
              <a:rPr lang="en-IN" sz="1400" dirty="0" err="1" smtClean="0">
                <a:solidFill>
                  <a:srgbClr val="00B050"/>
                </a:solidFill>
              </a:rPr>
              <a:t>Databricks</a:t>
            </a:r>
            <a:r>
              <a:rPr lang="en-IN" sz="1400" dirty="0" smtClean="0">
                <a:solidFill>
                  <a:srgbClr val="00B050"/>
                </a:solidFill>
              </a:rPr>
              <a:t>/</a:t>
            </a:r>
            <a:r>
              <a:rPr lang="en-IN" sz="1400" dirty="0" err="1" smtClean="0">
                <a:solidFill>
                  <a:srgbClr val="00B050"/>
                </a:solidFill>
              </a:rPr>
              <a:t>DFlow</a:t>
            </a:r>
            <a:r>
              <a:rPr lang="en-IN" sz="1400" dirty="0" smtClean="0">
                <a:solidFill>
                  <a:srgbClr val="00B050"/>
                </a:solidFill>
              </a:rPr>
              <a:t>/GCS/Compute Engine/Gemini (Resource/Services)</a:t>
            </a:r>
            <a:endParaRPr lang="en-IN" sz="1400" dirty="0">
              <a:solidFill>
                <a:srgbClr val="00B050"/>
              </a:solidFill>
            </a:endParaRPr>
          </a:p>
        </p:txBody>
      </p:sp>
    </p:spTree>
    <p:extLst>
      <p:ext uri="{BB962C8B-B14F-4D97-AF65-F5344CB8AC3E}">
        <p14:creationId xmlns:p14="http://schemas.microsoft.com/office/powerpoint/2010/main" val="125462209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C:\Users\moham\Downloads\azure hierarchy2.jpg"/>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8000"/>
                    </a14:imgEffect>
                  </a14:imgLayer>
                </a14:imgProps>
              </a:ext>
              <a:ext uri="{28A0092B-C50C-407E-A947-70E740481C1C}">
                <a14:useLocalDpi xmlns:a14="http://schemas.microsoft.com/office/drawing/2010/main" val="0"/>
              </a:ext>
            </a:extLst>
          </a:blip>
          <a:srcRect/>
          <a:stretch>
            <a:fillRect/>
          </a:stretch>
        </p:blipFill>
        <p:spPr bwMode="auto">
          <a:xfrm>
            <a:off x="1910037" y="961604"/>
            <a:ext cx="8572591" cy="571053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6" name="Rectangle 2"/>
          <p:cNvSpPr txBox="1">
            <a:spLocks noChangeArrowheads="1"/>
          </p:cNvSpPr>
          <p:nvPr/>
        </p:nvSpPr>
        <p:spPr>
          <a:xfrm>
            <a:off x="65774" y="136732"/>
            <a:ext cx="7446520" cy="714555"/>
          </a:xfrm>
          <a:prstGeom prst="rect">
            <a:avLst/>
          </a:prstGeom>
        </p:spPr>
        <p:txBody>
          <a:bodyPr vert="horz" lIns="91440" tIns="45720" rIns="91440" bIns="45720" rtlCol="0" anchor="ctr">
            <a:normAutofit fontScale="92500" lnSpcReduction="10000"/>
          </a:bodyPr>
          <a:lstStyle>
            <a:lvl1pPr>
              <a:lnSpc>
                <a:spcPct val="90000"/>
              </a:lnSpc>
              <a:spcBef>
                <a:spcPct val="0"/>
              </a:spcBef>
              <a:buNone/>
              <a:defRPr sz="2800" b="1">
                <a:solidFill>
                  <a:srgbClr val="FF0000"/>
                </a:solidFill>
                <a:latin typeface="+mj-lt"/>
                <a:ea typeface="+mj-ea"/>
                <a:cs typeface="+mj-cs"/>
              </a:defRPr>
            </a:lvl1pPr>
          </a:lstStyle>
          <a:p>
            <a:r>
              <a:rPr lang="en-US" sz="3500" dirty="0"/>
              <a:t>AZURE Fundamental Organization Hierarchy</a:t>
            </a:r>
          </a:p>
          <a:p>
            <a:r>
              <a:rPr lang="en-US" sz="2100" dirty="0"/>
              <a:t>Tenant, Management group, Subscription, Resource Group, Resources</a:t>
            </a:r>
            <a:endParaRPr lang="cs-CZ" sz="2100" dirty="0"/>
          </a:p>
        </p:txBody>
      </p:sp>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4908600" y="2698920"/>
              <a:ext cx="360" cy="360"/>
            </p14:xfrm>
          </p:contentPart>
        </mc:Choice>
        <mc:Fallback xmlns="">
          <p:pic>
            <p:nvPicPr>
              <p:cNvPr id="2" name="Ink 1"/>
              <p:cNvPicPr/>
              <p:nvPr/>
            </p:nvPicPr>
            <p:blipFill>
              <a:blip r:embed="rId6"/>
              <a:stretch>
                <a:fillRect/>
              </a:stretch>
            </p:blipFill>
            <p:spPr>
              <a:xfrm>
                <a:off x="4899240" y="2689560"/>
                <a:ext cx="19080" cy="19080"/>
              </a:xfrm>
              <a:prstGeom prst="rect">
                <a:avLst/>
              </a:prstGeom>
            </p:spPr>
          </p:pic>
        </mc:Fallback>
      </mc:AlternateContent>
      <p:sp>
        <p:nvSpPr>
          <p:cNvPr id="3" name="TextBox 2"/>
          <p:cNvSpPr txBox="1"/>
          <p:nvPr/>
        </p:nvSpPr>
        <p:spPr>
          <a:xfrm>
            <a:off x="3059395" y="2864318"/>
            <a:ext cx="1135696" cy="307777"/>
          </a:xfrm>
          <a:prstGeom prst="rect">
            <a:avLst/>
          </a:prstGeom>
          <a:noFill/>
        </p:spPr>
        <p:txBody>
          <a:bodyPr wrap="none" rtlCol="0">
            <a:spAutoFit/>
          </a:bodyPr>
          <a:lstStyle/>
          <a:p>
            <a:r>
              <a:rPr lang="en-IN" sz="1400" b="1" dirty="0" smtClean="0"/>
              <a:t>Organization</a:t>
            </a:r>
            <a:endParaRPr lang="en-IN" sz="1400" b="1" dirty="0"/>
          </a:p>
        </p:txBody>
      </p:sp>
      <p:sp>
        <p:nvSpPr>
          <p:cNvPr id="7" name="TextBox 6"/>
          <p:cNvSpPr txBox="1"/>
          <p:nvPr/>
        </p:nvSpPr>
        <p:spPr>
          <a:xfrm>
            <a:off x="5330111" y="2869523"/>
            <a:ext cx="1158907" cy="307777"/>
          </a:xfrm>
          <a:prstGeom prst="rect">
            <a:avLst/>
          </a:prstGeom>
          <a:noFill/>
        </p:spPr>
        <p:txBody>
          <a:bodyPr wrap="none" rtlCol="0">
            <a:spAutoFit/>
          </a:bodyPr>
          <a:lstStyle/>
          <a:p>
            <a:r>
              <a:rPr lang="en-IN" sz="1400" b="1" dirty="0" err="1" smtClean="0"/>
              <a:t>Entra</a:t>
            </a:r>
            <a:r>
              <a:rPr lang="en-IN" sz="1400" b="1" dirty="0" smtClean="0"/>
              <a:t>/Tenant</a:t>
            </a:r>
            <a:endParaRPr lang="en-IN" sz="1400" b="1" dirty="0"/>
          </a:p>
        </p:txBody>
      </p:sp>
      <p:sp>
        <p:nvSpPr>
          <p:cNvPr id="8" name="TextBox 7"/>
          <p:cNvSpPr txBox="1"/>
          <p:nvPr/>
        </p:nvSpPr>
        <p:spPr>
          <a:xfrm>
            <a:off x="2076202" y="3808433"/>
            <a:ext cx="725327" cy="307777"/>
          </a:xfrm>
          <a:prstGeom prst="rect">
            <a:avLst/>
          </a:prstGeom>
          <a:noFill/>
        </p:spPr>
        <p:txBody>
          <a:bodyPr wrap="none" rtlCol="0">
            <a:spAutoFit/>
          </a:bodyPr>
          <a:lstStyle/>
          <a:p>
            <a:r>
              <a:rPr lang="en-IN" sz="1400" b="1" dirty="0" smtClean="0"/>
              <a:t>Folders</a:t>
            </a:r>
            <a:endParaRPr lang="en-IN" sz="1400" b="1" dirty="0"/>
          </a:p>
        </p:txBody>
      </p:sp>
      <p:sp>
        <p:nvSpPr>
          <p:cNvPr id="9" name="TextBox 8"/>
          <p:cNvSpPr txBox="1"/>
          <p:nvPr/>
        </p:nvSpPr>
        <p:spPr>
          <a:xfrm>
            <a:off x="6057118" y="3642500"/>
            <a:ext cx="1179747" cy="523220"/>
          </a:xfrm>
          <a:prstGeom prst="rect">
            <a:avLst/>
          </a:prstGeom>
          <a:noFill/>
        </p:spPr>
        <p:txBody>
          <a:bodyPr wrap="none" rtlCol="0">
            <a:spAutoFit/>
          </a:bodyPr>
          <a:lstStyle/>
          <a:p>
            <a:r>
              <a:rPr lang="en-IN" sz="1400" b="1" dirty="0" smtClean="0"/>
              <a:t>Management</a:t>
            </a:r>
          </a:p>
          <a:p>
            <a:r>
              <a:rPr lang="en-IN" sz="1400" b="1" dirty="0" smtClean="0"/>
              <a:t>Group</a:t>
            </a:r>
            <a:endParaRPr lang="en-IN" sz="1400" b="1" dirty="0"/>
          </a:p>
        </p:txBody>
      </p:sp>
      <p:sp>
        <p:nvSpPr>
          <p:cNvPr id="10" name="TextBox 9"/>
          <p:cNvSpPr txBox="1"/>
          <p:nvPr/>
        </p:nvSpPr>
        <p:spPr>
          <a:xfrm>
            <a:off x="6073496" y="4362484"/>
            <a:ext cx="1112805" cy="307777"/>
          </a:xfrm>
          <a:prstGeom prst="rect">
            <a:avLst/>
          </a:prstGeom>
          <a:noFill/>
        </p:spPr>
        <p:txBody>
          <a:bodyPr wrap="none" rtlCol="0">
            <a:spAutoFit/>
          </a:bodyPr>
          <a:lstStyle/>
          <a:p>
            <a:r>
              <a:rPr lang="en-IN" sz="1400" b="1" dirty="0" smtClean="0"/>
              <a:t>Subscription</a:t>
            </a:r>
            <a:endParaRPr lang="en-IN" sz="1400" b="1" dirty="0"/>
          </a:p>
        </p:txBody>
      </p:sp>
      <p:sp>
        <p:nvSpPr>
          <p:cNvPr id="11" name="TextBox 10"/>
          <p:cNvSpPr txBox="1"/>
          <p:nvPr/>
        </p:nvSpPr>
        <p:spPr>
          <a:xfrm>
            <a:off x="6090588" y="4970517"/>
            <a:ext cx="904030" cy="523220"/>
          </a:xfrm>
          <a:prstGeom prst="rect">
            <a:avLst/>
          </a:prstGeom>
          <a:noFill/>
        </p:spPr>
        <p:txBody>
          <a:bodyPr wrap="none" rtlCol="0">
            <a:spAutoFit/>
          </a:bodyPr>
          <a:lstStyle/>
          <a:p>
            <a:r>
              <a:rPr lang="en-IN" sz="1400" b="1" dirty="0" smtClean="0"/>
              <a:t>Resource </a:t>
            </a:r>
          </a:p>
          <a:p>
            <a:r>
              <a:rPr lang="en-IN" sz="1400" b="1" dirty="0" smtClean="0"/>
              <a:t>Group</a:t>
            </a:r>
            <a:endParaRPr lang="en-IN" sz="1400" b="1" dirty="0"/>
          </a:p>
        </p:txBody>
      </p:sp>
      <p:sp>
        <p:nvSpPr>
          <p:cNvPr id="12" name="TextBox 11"/>
          <p:cNvSpPr txBox="1"/>
          <p:nvPr/>
        </p:nvSpPr>
        <p:spPr>
          <a:xfrm>
            <a:off x="5909564" y="5650123"/>
            <a:ext cx="1324530" cy="523220"/>
          </a:xfrm>
          <a:prstGeom prst="rect">
            <a:avLst/>
          </a:prstGeom>
          <a:noFill/>
        </p:spPr>
        <p:txBody>
          <a:bodyPr wrap="none" rtlCol="0">
            <a:spAutoFit/>
          </a:bodyPr>
          <a:lstStyle/>
          <a:p>
            <a:r>
              <a:rPr lang="en-IN" sz="1400" b="1" dirty="0" smtClean="0"/>
              <a:t>Resources</a:t>
            </a:r>
          </a:p>
          <a:p>
            <a:r>
              <a:rPr lang="en-IN" sz="1400" b="1" dirty="0" smtClean="0"/>
              <a:t>ADF/ADLS/DB..</a:t>
            </a:r>
            <a:endParaRPr lang="en-IN" sz="1400" b="1" dirty="0"/>
          </a:p>
        </p:txBody>
      </p:sp>
      <p:sp>
        <p:nvSpPr>
          <p:cNvPr id="13" name="TextBox 12"/>
          <p:cNvSpPr txBox="1"/>
          <p:nvPr/>
        </p:nvSpPr>
        <p:spPr>
          <a:xfrm>
            <a:off x="2076202" y="4816628"/>
            <a:ext cx="713080" cy="307777"/>
          </a:xfrm>
          <a:prstGeom prst="rect">
            <a:avLst/>
          </a:prstGeom>
          <a:noFill/>
        </p:spPr>
        <p:txBody>
          <a:bodyPr wrap="none" rtlCol="0">
            <a:spAutoFit/>
          </a:bodyPr>
          <a:lstStyle/>
          <a:p>
            <a:r>
              <a:rPr lang="en-IN" sz="1400" b="1" dirty="0" smtClean="0"/>
              <a:t>Project</a:t>
            </a:r>
            <a:endParaRPr lang="en-IN" sz="1400" b="1" dirty="0"/>
          </a:p>
        </p:txBody>
      </p:sp>
      <p:sp>
        <p:nvSpPr>
          <p:cNvPr id="14" name="TextBox 13"/>
          <p:cNvSpPr txBox="1"/>
          <p:nvPr/>
        </p:nvSpPr>
        <p:spPr>
          <a:xfrm>
            <a:off x="1910037" y="5650123"/>
            <a:ext cx="1675330" cy="523220"/>
          </a:xfrm>
          <a:prstGeom prst="rect">
            <a:avLst/>
          </a:prstGeom>
          <a:noFill/>
        </p:spPr>
        <p:txBody>
          <a:bodyPr wrap="none" rtlCol="0">
            <a:spAutoFit/>
          </a:bodyPr>
          <a:lstStyle/>
          <a:p>
            <a:r>
              <a:rPr lang="en-IN" sz="1400" b="1" dirty="0" smtClean="0"/>
              <a:t>Services/Resources</a:t>
            </a:r>
          </a:p>
          <a:p>
            <a:r>
              <a:rPr lang="en-IN" sz="1400" b="1" dirty="0" smtClean="0"/>
              <a:t>BQ/DP/DB/DF/CR…</a:t>
            </a:r>
            <a:endParaRPr lang="en-IN" sz="1400" b="1" dirty="0"/>
          </a:p>
        </p:txBody>
      </p:sp>
    </p:spTree>
    <p:extLst>
      <p:ext uri="{BB962C8B-B14F-4D97-AF65-F5344CB8AC3E}">
        <p14:creationId xmlns:p14="http://schemas.microsoft.com/office/powerpoint/2010/main" val="288805562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 y="1663700"/>
            <a:ext cx="11791950" cy="3530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6" name="Rectangle 2"/>
          <p:cNvSpPr txBox="1">
            <a:spLocks noChangeArrowheads="1"/>
          </p:cNvSpPr>
          <p:nvPr/>
        </p:nvSpPr>
        <p:spPr>
          <a:xfrm>
            <a:off x="51215" y="5580"/>
            <a:ext cx="10868870" cy="35727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dirty="0"/>
              <a:t>AZURE Fundamental Organization Hierarchy</a:t>
            </a: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4908600" y="2698920"/>
              <a:ext cx="360" cy="360"/>
            </p14:xfrm>
          </p:contentPart>
        </mc:Choice>
        <mc:Fallback xmlns="">
          <p:pic>
            <p:nvPicPr>
              <p:cNvPr id="2" name="Ink 1"/>
              <p:cNvPicPr/>
              <p:nvPr/>
            </p:nvPicPr>
            <p:blipFill>
              <a:blip r:embed="rId6"/>
              <a:stretch>
                <a:fillRect/>
              </a:stretch>
            </p:blipFill>
            <p:spPr>
              <a:xfrm>
                <a:off x="4899240" y="2689560"/>
                <a:ext cx="19080" cy="19080"/>
              </a:xfrm>
              <a:prstGeom prst="rect">
                <a:avLst/>
              </a:prstGeom>
            </p:spPr>
          </p:pic>
        </mc:Fallback>
      </mc:AlternateContent>
      <p:sp>
        <p:nvSpPr>
          <p:cNvPr id="8" name="Rectangle 7"/>
          <p:cNvSpPr/>
          <p:nvPr/>
        </p:nvSpPr>
        <p:spPr>
          <a:xfrm>
            <a:off x="9628428" y="1663700"/>
            <a:ext cx="406335"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 name="Rectangle 3"/>
          <p:cNvSpPr/>
          <p:nvPr/>
        </p:nvSpPr>
        <p:spPr>
          <a:xfrm>
            <a:off x="123824" y="467410"/>
            <a:ext cx="8087974" cy="369332"/>
          </a:xfrm>
          <a:prstGeom prst="rect">
            <a:avLst/>
          </a:prstGeom>
        </p:spPr>
        <p:txBody>
          <a:bodyPr wrap="square">
            <a:spAutoFit/>
          </a:bodyPr>
          <a:lstStyle/>
          <a:p>
            <a:r>
              <a:rPr lang="en-US" b="1" dirty="0">
                <a:solidFill>
                  <a:prstClr val="black"/>
                </a:solidFill>
              </a:rPr>
              <a:t>1. Tenant/Directory (AD) (Organization) – Created by default (Admin).</a:t>
            </a:r>
            <a:endParaRPr lang="cs-CZ" b="1" dirty="0">
              <a:solidFill>
                <a:prstClr val="black"/>
              </a:solidFill>
            </a:endParaRPr>
          </a:p>
        </p:txBody>
      </p:sp>
      <p:sp>
        <p:nvSpPr>
          <p:cNvPr id="10" name="Rectangle 9"/>
          <p:cNvSpPr/>
          <p:nvPr/>
        </p:nvSpPr>
        <p:spPr>
          <a:xfrm>
            <a:off x="2351049" y="4971805"/>
            <a:ext cx="9231351"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pic>
        <p:nvPicPr>
          <p:cNvPr id="11"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2730025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8540" y="1034460"/>
            <a:ext cx="8667750" cy="5486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6" name="Rectangle 2"/>
          <p:cNvSpPr txBox="1">
            <a:spLocks noChangeArrowheads="1"/>
          </p:cNvSpPr>
          <p:nvPr/>
        </p:nvSpPr>
        <p:spPr>
          <a:xfrm>
            <a:off x="51215" y="5580"/>
            <a:ext cx="10868870" cy="35727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dirty="0"/>
              <a:t>AZURE Fundamental Organization Hierarchy</a:t>
            </a: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4908600" y="2698920"/>
              <a:ext cx="360" cy="360"/>
            </p14:xfrm>
          </p:contentPart>
        </mc:Choice>
        <mc:Fallback xmlns="">
          <p:pic>
            <p:nvPicPr>
              <p:cNvPr id="2" name="Ink 1"/>
              <p:cNvPicPr/>
              <p:nvPr/>
            </p:nvPicPr>
            <p:blipFill>
              <a:blip r:embed="rId5"/>
              <a:stretch>
                <a:fillRect/>
              </a:stretch>
            </p:blipFill>
            <p:spPr>
              <a:xfrm>
                <a:off x="4899240" y="2689560"/>
                <a:ext cx="19080" cy="19080"/>
              </a:xfrm>
              <a:prstGeom prst="rect">
                <a:avLst/>
              </a:prstGeom>
            </p:spPr>
          </p:pic>
        </mc:Fallback>
      </mc:AlternateContent>
      <p:sp>
        <p:nvSpPr>
          <p:cNvPr id="7" name="Rectangle 6"/>
          <p:cNvSpPr/>
          <p:nvPr/>
        </p:nvSpPr>
        <p:spPr>
          <a:xfrm>
            <a:off x="6936543" y="2349379"/>
            <a:ext cx="1275255"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8" name="Rectangle 7"/>
          <p:cNvSpPr/>
          <p:nvPr/>
        </p:nvSpPr>
        <p:spPr>
          <a:xfrm>
            <a:off x="3547121" y="1968379"/>
            <a:ext cx="719848"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9" name="Rectangle 8"/>
          <p:cNvSpPr/>
          <p:nvPr/>
        </p:nvSpPr>
        <p:spPr>
          <a:xfrm>
            <a:off x="6917493" y="6235579"/>
            <a:ext cx="719848"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 name="Rectangle 3"/>
          <p:cNvSpPr/>
          <p:nvPr/>
        </p:nvSpPr>
        <p:spPr>
          <a:xfrm>
            <a:off x="123823" y="467410"/>
            <a:ext cx="11412821" cy="369332"/>
          </a:xfrm>
          <a:prstGeom prst="rect">
            <a:avLst/>
          </a:prstGeom>
        </p:spPr>
        <p:txBody>
          <a:bodyPr wrap="square">
            <a:spAutoFit/>
          </a:bodyPr>
          <a:lstStyle/>
          <a:p>
            <a:r>
              <a:rPr lang="en-US" b="1" dirty="0">
                <a:solidFill>
                  <a:prstClr val="black"/>
                </a:solidFill>
              </a:rPr>
              <a:t>2. Create a </a:t>
            </a:r>
            <a:r>
              <a:rPr lang="en-US" b="1" u="sng" dirty="0">
                <a:solidFill>
                  <a:prstClr val="black"/>
                </a:solidFill>
              </a:rPr>
              <a:t>Management group (Folder)</a:t>
            </a:r>
            <a:r>
              <a:rPr lang="en-US" b="1" dirty="0">
                <a:solidFill>
                  <a:prstClr val="black"/>
                </a:solidFill>
              </a:rPr>
              <a:t> under (Tenant/Directory) – Search for “Management Group” in the search</a:t>
            </a:r>
            <a:endParaRPr lang="cs-CZ" b="1" dirty="0">
              <a:solidFill>
                <a:prstClr val="black"/>
              </a:solidFill>
            </a:endParaRPr>
          </a:p>
        </p:txBody>
      </p:sp>
      <p:pic>
        <p:nvPicPr>
          <p:cNvPr id="10"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1237144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4908600" y="2698920"/>
              <a:ext cx="360" cy="360"/>
            </p14:xfrm>
          </p:contentPart>
        </mc:Choice>
        <mc:Fallback xmlns="">
          <p:pic>
            <p:nvPicPr>
              <p:cNvPr id="2" name="Ink 1"/>
              <p:cNvPicPr/>
              <p:nvPr/>
            </p:nvPicPr>
            <p:blipFill>
              <a:blip r:embed="rId5"/>
              <a:stretch>
                <a:fillRect/>
              </a:stretch>
            </p:blipFill>
            <p:spPr>
              <a:xfrm>
                <a:off x="4899240" y="2689560"/>
                <a:ext cx="19080" cy="19080"/>
              </a:xfrm>
              <a:prstGeom prst="rect">
                <a:avLst/>
              </a:prstGeom>
            </p:spPr>
          </p:pic>
        </mc:Fallback>
      </mc:AlternateContent>
      <p:sp>
        <p:nvSpPr>
          <p:cNvPr id="7" name="Rectangle 2"/>
          <p:cNvSpPr txBox="1">
            <a:spLocks noChangeArrowheads="1"/>
          </p:cNvSpPr>
          <p:nvPr/>
        </p:nvSpPr>
        <p:spPr>
          <a:xfrm>
            <a:off x="51215" y="5580"/>
            <a:ext cx="10868870" cy="35727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dirty="0"/>
              <a:t>AZURE Fundamental Organization Hierarchy</a:t>
            </a:r>
          </a:p>
        </p:txBody>
      </p:sp>
      <p:sp>
        <p:nvSpPr>
          <p:cNvPr id="8" name="Rectangle 7"/>
          <p:cNvSpPr/>
          <p:nvPr/>
        </p:nvSpPr>
        <p:spPr>
          <a:xfrm>
            <a:off x="123824" y="467410"/>
            <a:ext cx="8087974" cy="369332"/>
          </a:xfrm>
          <a:prstGeom prst="rect">
            <a:avLst/>
          </a:prstGeom>
        </p:spPr>
        <p:txBody>
          <a:bodyPr wrap="square">
            <a:spAutoFit/>
          </a:bodyPr>
          <a:lstStyle/>
          <a:p>
            <a:r>
              <a:rPr lang="en-US" b="1" dirty="0">
                <a:solidFill>
                  <a:prstClr val="black"/>
                </a:solidFill>
              </a:rPr>
              <a:t>3. Create a </a:t>
            </a:r>
            <a:r>
              <a:rPr lang="en-US" b="1" u="sng" dirty="0">
                <a:solidFill>
                  <a:prstClr val="black"/>
                </a:solidFill>
              </a:rPr>
              <a:t>Subscription (Project)</a:t>
            </a:r>
            <a:r>
              <a:rPr lang="en-US" b="1" dirty="0">
                <a:solidFill>
                  <a:prstClr val="black"/>
                </a:solidFill>
              </a:rPr>
              <a:t> under (Management Group)</a:t>
            </a:r>
            <a:endParaRPr lang="cs-CZ" b="1" dirty="0">
              <a:solidFill>
                <a:prstClr val="black"/>
              </a:solidFill>
            </a:endParaRPr>
          </a:p>
        </p:txBody>
      </p:sp>
      <p:grpSp>
        <p:nvGrpSpPr>
          <p:cNvPr id="13" name="Group 12">
            <a:extLst>
              <a:ext uri="{FF2B5EF4-FFF2-40B4-BE49-F238E27FC236}">
                <a16:creationId xmlns="" xmlns:a16="http://schemas.microsoft.com/office/drawing/2014/main" id="{30637170-0D01-C4B7-BDAB-4791F2CE2519}"/>
              </a:ext>
            </a:extLst>
          </p:cNvPr>
          <p:cNvGrpSpPr/>
          <p:nvPr/>
        </p:nvGrpSpPr>
        <p:grpSpPr>
          <a:xfrm>
            <a:off x="2231613" y="941295"/>
            <a:ext cx="8064500" cy="5492750"/>
            <a:chOff x="3943681" y="897840"/>
            <a:chExt cx="8064500" cy="5492750"/>
          </a:xfrm>
        </p:grpSpPr>
        <p:grpSp>
          <p:nvGrpSpPr>
            <p:cNvPr id="3" name="Group 2">
              <a:extLst>
                <a:ext uri="{FF2B5EF4-FFF2-40B4-BE49-F238E27FC236}">
                  <a16:creationId xmlns="" xmlns:a16="http://schemas.microsoft.com/office/drawing/2014/main" id="{E0AA9B85-2DF3-1730-CEE2-D46AA6AC00C4}"/>
                </a:ext>
              </a:extLst>
            </p:cNvPr>
            <p:cNvGrpSpPr/>
            <p:nvPr/>
          </p:nvGrpSpPr>
          <p:grpSpPr>
            <a:xfrm>
              <a:off x="3943681" y="897840"/>
              <a:ext cx="8064500" cy="5492750"/>
              <a:chOff x="1453400" y="1014319"/>
              <a:chExt cx="8064500" cy="5492750"/>
            </a:xfrm>
          </p:grpSpPr>
          <p:pic>
            <p:nvPicPr>
              <p:cNvPr id="717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3400" y="1014319"/>
                <a:ext cx="8064500" cy="54927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0" name="Rectangle 9"/>
              <p:cNvSpPr/>
              <p:nvPr/>
            </p:nvSpPr>
            <p:spPr>
              <a:xfrm>
                <a:off x="4240312" y="2000382"/>
                <a:ext cx="958118"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1" name="Rectangle 10"/>
              <p:cNvSpPr/>
              <p:nvPr/>
            </p:nvSpPr>
            <p:spPr>
              <a:xfrm>
                <a:off x="6831116" y="2228169"/>
                <a:ext cx="958118"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sp>
          <p:nvSpPr>
            <p:cNvPr id="12" name="Rectangle 11"/>
            <p:cNvSpPr/>
            <p:nvPr/>
          </p:nvSpPr>
          <p:spPr>
            <a:xfrm>
              <a:off x="9321397" y="6168095"/>
              <a:ext cx="719848"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pic>
        <p:nvPicPr>
          <p:cNvPr id="9"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1662641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4909081" y="2950137"/>
              <a:ext cx="360" cy="360"/>
            </p14:xfrm>
          </p:contentPart>
        </mc:Choice>
        <mc:Fallback xmlns="">
          <p:pic>
            <p:nvPicPr>
              <p:cNvPr id="2" name="Ink 1"/>
              <p:cNvPicPr/>
              <p:nvPr/>
            </p:nvPicPr>
            <p:blipFill>
              <a:blip r:embed="rId4"/>
              <a:stretch>
                <a:fillRect/>
              </a:stretch>
            </p:blipFill>
            <p:spPr>
              <a:xfrm>
                <a:off x="4899721" y="2940777"/>
                <a:ext cx="19080" cy="19080"/>
              </a:xfrm>
              <a:prstGeom prst="rect">
                <a:avLst/>
              </a:prstGeom>
            </p:spPr>
          </p:pic>
        </mc:Fallback>
      </mc:AlternateContent>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2" y="1736344"/>
            <a:ext cx="5343351" cy="38214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53390" y="1736344"/>
            <a:ext cx="3355007" cy="32367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2052"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94417" y="1736344"/>
            <a:ext cx="2476500" cy="50165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7" name="Rectangle 2"/>
          <p:cNvSpPr txBox="1">
            <a:spLocks noChangeArrowheads="1"/>
          </p:cNvSpPr>
          <p:nvPr/>
        </p:nvSpPr>
        <p:spPr>
          <a:xfrm>
            <a:off x="51215" y="5580"/>
            <a:ext cx="10868870" cy="35727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dirty="0"/>
              <a:t>AZURE Fundamental Organization Hierarchy</a:t>
            </a:r>
          </a:p>
        </p:txBody>
      </p:sp>
      <p:sp>
        <p:nvSpPr>
          <p:cNvPr id="8" name="Rectangle 7"/>
          <p:cNvSpPr/>
          <p:nvPr/>
        </p:nvSpPr>
        <p:spPr>
          <a:xfrm>
            <a:off x="95247" y="362857"/>
            <a:ext cx="10029225" cy="584775"/>
          </a:xfrm>
          <a:prstGeom prst="rect">
            <a:avLst/>
          </a:prstGeom>
        </p:spPr>
        <p:txBody>
          <a:bodyPr wrap="square">
            <a:spAutoFit/>
          </a:bodyPr>
          <a:lstStyle/>
          <a:p>
            <a:r>
              <a:rPr lang="en-US" b="1" dirty="0">
                <a:solidFill>
                  <a:prstClr val="black"/>
                </a:solidFill>
              </a:rPr>
              <a:t>4. Create a </a:t>
            </a:r>
            <a:r>
              <a:rPr lang="en-US" b="1" u="sng" dirty="0">
                <a:solidFill>
                  <a:prstClr val="black"/>
                </a:solidFill>
              </a:rPr>
              <a:t>Resource group</a:t>
            </a:r>
            <a:r>
              <a:rPr lang="en-US" b="1" dirty="0">
                <a:solidFill>
                  <a:prstClr val="black"/>
                </a:solidFill>
              </a:rPr>
              <a:t> under (Subscription)</a:t>
            </a:r>
          </a:p>
          <a:p>
            <a:r>
              <a:rPr lang="en-US" sz="1400" b="1" dirty="0">
                <a:solidFill>
                  <a:prstClr val="black"/>
                </a:solidFill>
              </a:rPr>
              <a:t>Search for the Resource Group -&gt; Create -&gt; Resource group name -&gt; Review + Create</a:t>
            </a:r>
          </a:p>
        </p:txBody>
      </p:sp>
      <p:sp>
        <p:nvSpPr>
          <p:cNvPr id="9" name="Heptagon 8"/>
          <p:cNvSpPr/>
          <p:nvPr/>
        </p:nvSpPr>
        <p:spPr>
          <a:xfrm>
            <a:off x="4269452" y="1612844"/>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1</a:t>
            </a:r>
            <a:endParaRPr lang="en-IN" sz="3600" b="1" dirty="0">
              <a:solidFill>
                <a:prstClr val="white"/>
              </a:solidFill>
            </a:endParaRPr>
          </a:p>
        </p:txBody>
      </p:sp>
      <p:sp>
        <p:nvSpPr>
          <p:cNvPr id="10" name="Heptagon 9"/>
          <p:cNvSpPr/>
          <p:nvPr/>
        </p:nvSpPr>
        <p:spPr>
          <a:xfrm>
            <a:off x="6996098" y="1612844"/>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2</a:t>
            </a:r>
            <a:endParaRPr lang="en-IN" sz="3600" b="1" dirty="0">
              <a:solidFill>
                <a:prstClr val="white"/>
              </a:solidFill>
            </a:endParaRPr>
          </a:p>
        </p:txBody>
      </p:sp>
      <p:sp>
        <p:nvSpPr>
          <p:cNvPr id="11" name="Heptagon 10"/>
          <p:cNvSpPr/>
          <p:nvPr/>
        </p:nvSpPr>
        <p:spPr>
          <a:xfrm>
            <a:off x="11323990" y="1542445"/>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3</a:t>
            </a:r>
            <a:endParaRPr lang="en-IN" sz="3600" b="1" dirty="0">
              <a:solidFill>
                <a:prstClr val="white"/>
              </a:solidFill>
            </a:endParaRPr>
          </a:p>
        </p:txBody>
      </p:sp>
      <p:sp>
        <p:nvSpPr>
          <p:cNvPr id="12" name="Rectangle 11"/>
          <p:cNvSpPr/>
          <p:nvPr/>
        </p:nvSpPr>
        <p:spPr>
          <a:xfrm>
            <a:off x="201161" y="2538469"/>
            <a:ext cx="491665"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3" name="Rectangle 12"/>
          <p:cNvSpPr/>
          <p:nvPr/>
        </p:nvSpPr>
        <p:spPr>
          <a:xfrm>
            <a:off x="6996098" y="3235640"/>
            <a:ext cx="606453" cy="20226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4" name="Rectangle 13"/>
          <p:cNvSpPr/>
          <p:nvPr/>
        </p:nvSpPr>
        <p:spPr>
          <a:xfrm>
            <a:off x="9486431" y="6425536"/>
            <a:ext cx="667098" cy="2692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pic>
        <p:nvPicPr>
          <p:cNvPr id="15"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2736152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a:xfrm>
            <a:off x="51215" y="5580"/>
            <a:ext cx="10868870" cy="35727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dirty="0"/>
              <a:t>AZURE Fundamental Organization Hierarchy</a:t>
            </a:r>
          </a:p>
        </p:txBody>
      </p:sp>
      <p:pic>
        <p:nvPicPr>
          <p:cNvPr id="1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48640" y="384038"/>
            <a:ext cx="12479761" cy="615553"/>
          </a:xfrm>
          <a:prstGeom prst="rect">
            <a:avLst/>
          </a:prstGeom>
        </p:spPr>
        <p:txBody>
          <a:bodyPr wrap="square">
            <a:spAutoFit/>
          </a:bodyPr>
          <a:lstStyle/>
          <a:p>
            <a:r>
              <a:rPr lang="en-US" b="1" dirty="0">
                <a:solidFill>
                  <a:prstClr val="black"/>
                </a:solidFill>
              </a:rPr>
              <a:t>5. Create a </a:t>
            </a:r>
            <a:r>
              <a:rPr lang="en-US" b="1" u="sng" dirty="0">
                <a:solidFill>
                  <a:prstClr val="black"/>
                </a:solidFill>
              </a:rPr>
              <a:t>Resource  </a:t>
            </a:r>
            <a:r>
              <a:rPr lang="en-US" b="1" dirty="0">
                <a:solidFill>
                  <a:prstClr val="black"/>
                </a:solidFill>
              </a:rPr>
              <a:t>under (Resource Group)</a:t>
            </a:r>
          </a:p>
          <a:p>
            <a:r>
              <a:rPr lang="en-US" sz="1600" b="1" dirty="0">
                <a:solidFill>
                  <a:prstClr val="black"/>
                </a:solidFill>
              </a:rPr>
              <a:t>Once the resource group is created -&gt; Create -&gt; resource Account -&gt; Market place -&gt; Azure services only -&gt; search for Databricks/storage account</a:t>
            </a:r>
            <a:endParaRPr lang="cs-CZ" sz="1600" b="1" dirty="0">
              <a:solidFill>
                <a:prstClr val="black"/>
              </a:solidFill>
            </a:endParaRP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312" y="1036099"/>
            <a:ext cx="4352315" cy="43132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5650" y="1186786"/>
            <a:ext cx="5791200" cy="52387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4" name="Rectangle 13"/>
          <p:cNvSpPr/>
          <p:nvPr/>
        </p:nvSpPr>
        <p:spPr>
          <a:xfrm>
            <a:off x="7060669" y="6215037"/>
            <a:ext cx="905279" cy="183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8" name="Rectangle 17"/>
          <p:cNvSpPr/>
          <p:nvPr/>
        </p:nvSpPr>
        <p:spPr>
          <a:xfrm>
            <a:off x="1940936" y="1885084"/>
            <a:ext cx="905279" cy="183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0" name="Rectangle 19"/>
          <p:cNvSpPr/>
          <p:nvPr/>
        </p:nvSpPr>
        <p:spPr>
          <a:xfrm>
            <a:off x="1838344" y="5103415"/>
            <a:ext cx="680150" cy="183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1" name="Rectangle 20"/>
          <p:cNvSpPr/>
          <p:nvPr/>
        </p:nvSpPr>
        <p:spPr>
          <a:xfrm>
            <a:off x="7513308" y="3881718"/>
            <a:ext cx="1128668" cy="24913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2" name="Heptagon 21"/>
          <p:cNvSpPr/>
          <p:nvPr/>
        </p:nvSpPr>
        <p:spPr>
          <a:xfrm>
            <a:off x="4075554" y="1094722"/>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1</a:t>
            </a:r>
            <a:endParaRPr lang="en-IN" sz="3600" b="1" dirty="0">
              <a:solidFill>
                <a:prstClr val="white"/>
              </a:solidFill>
            </a:endParaRPr>
          </a:p>
        </p:txBody>
      </p:sp>
      <p:sp>
        <p:nvSpPr>
          <p:cNvPr id="23" name="Heptagon 22"/>
          <p:cNvSpPr/>
          <p:nvPr/>
        </p:nvSpPr>
        <p:spPr>
          <a:xfrm>
            <a:off x="8660206" y="1094722"/>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2</a:t>
            </a:r>
            <a:endParaRPr lang="en-IN" sz="3600" b="1" dirty="0">
              <a:solidFill>
                <a:prstClr val="white"/>
              </a:solidFill>
            </a:endParaRPr>
          </a:p>
        </p:txBody>
      </p:sp>
    </p:spTree>
    <p:extLst>
      <p:ext uri="{BB962C8B-B14F-4D97-AF65-F5344CB8AC3E}">
        <p14:creationId xmlns:p14="http://schemas.microsoft.com/office/powerpoint/2010/main" val="197338355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2"/>
          <p:cNvSpPr>
            <a:spLocks noGrp="1" noChangeArrowheads="1"/>
          </p:cNvSpPr>
          <p:nvPr>
            <p:ph type="ctrTitle"/>
          </p:nvPr>
        </p:nvSpPr>
        <p:spPr>
          <a:xfrm>
            <a:off x="606751" y="2600770"/>
            <a:ext cx="10363200" cy="1143000"/>
          </a:xfrm>
        </p:spPr>
        <p:txBody>
          <a:bodyPr vert="horz" lIns="91440" tIns="45720" rIns="91440" bIns="45720" rtlCol="0" anchor="ctr">
            <a:noAutofit/>
          </a:bodyPr>
          <a:lstStyle/>
          <a:p>
            <a:r>
              <a:rPr lang="en-US" sz="4800" b="1" dirty="0">
                <a:solidFill>
                  <a:srgbClr val="FF0000"/>
                </a:solidFill>
              </a:rPr>
              <a:t>        Azure </a:t>
            </a:r>
            <a:r>
              <a:rPr lang="en-US" sz="4800" b="1" dirty="0" smtClean="0">
                <a:solidFill>
                  <a:srgbClr val="FF0000"/>
                </a:solidFill>
              </a:rPr>
              <a:t>– Connectivity</a:t>
            </a:r>
            <a:endParaRPr lang="cs-CZ" sz="4800" b="1" dirty="0">
              <a:solidFill>
                <a:srgbClr val="FF0000"/>
              </a:solidFill>
            </a:endParaRPr>
          </a:p>
        </p:txBody>
      </p:sp>
    </p:spTree>
    <p:extLst>
      <p:ext uri="{BB962C8B-B14F-4D97-AF65-F5344CB8AC3E}">
        <p14:creationId xmlns:p14="http://schemas.microsoft.com/office/powerpoint/2010/main" val="16482146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1306" y="3117795"/>
            <a:ext cx="1239140" cy="649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User</a:t>
            </a:r>
          </a:p>
          <a:p>
            <a:pPr algn="ctr"/>
            <a:r>
              <a:rPr lang="en-IN" dirty="0" smtClean="0"/>
              <a:t>US</a:t>
            </a:r>
            <a:endParaRPr lang="en-IN" dirty="0"/>
          </a:p>
        </p:txBody>
      </p:sp>
      <p:sp>
        <p:nvSpPr>
          <p:cNvPr id="4" name="Rectangle 3"/>
          <p:cNvSpPr/>
          <p:nvPr/>
        </p:nvSpPr>
        <p:spPr>
          <a:xfrm>
            <a:off x="4902703" y="2287427"/>
            <a:ext cx="3283011" cy="13237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Azure Cloud</a:t>
            </a:r>
          </a:p>
          <a:p>
            <a:pPr algn="ctr"/>
            <a:r>
              <a:rPr lang="en-IN" dirty="0" smtClean="0"/>
              <a:t>Chennai</a:t>
            </a:r>
          </a:p>
          <a:p>
            <a:pPr algn="ctr"/>
            <a:r>
              <a:rPr lang="en-IN" dirty="0" smtClean="0">
                <a:solidFill>
                  <a:schemeClr val="tx1"/>
                </a:solidFill>
              </a:rPr>
              <a:t>AD/</a:t>
            </a:r>
            <a:r>
              <a:rPr lang="en-IN" dirty="0" err="1" smtClean="0">
                <a:solidFill>
                  <a:schemeClr val="tx1"/>
                </a:solidFill>
              </a:rPr>
              <a:t>Entra</a:t>
            </a:r>
            <a:r>
              <a:rPr lang="en-IN" dirty="0" smtClean="0"/>
              <a:t>-&gt;MG-&gt;Sub-&gt;RG-&gt;Res</a:t>
            </a:r>
            <a:endParaRPr lang="en-IN" dirty="0"/>
          </a:p>
        </p:txBody>
      </p:sp>
      <p:sp>
        <p:nvSpPr>
          <p:cNvPr id="5" name="Rectangle 4"/>
          <p:cNvSpPr/>
          <p:nvPr/>
        </p:nvSpPr>
        <p:spPr>
          <a:xfrm>
            <a:off x="2511306" y="2287427"/>
            <a:ext cx="1239140" cy="649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User</a:t>
            </a:r>
          </a:p>
          <a:p>
            <a:pPr algn="ctr"/>
            <a:r>
              <a:rPr lang="en-IN" dirty="0" smtClean="0"/>
              <a:t>Singapore</a:t>
            </a:r>
            <a:endParaRPr lang="en-IN" dirty="0"/>
          </a:p>
        </p:txBody>
      </p:sp>
      <p:cxnSp>
        <p:nvCxnSpPr>
          <p:cNvPr id="20" name="Straight Arrow Connector 19"/>
          <p:cNvCxnSpPr>
            <a:stCxn id="5" idx="3"/>
            <a:endCxn id="4" idx="1"/>
          </p:cNvCxnSpPr>
          <p:nvPr/>
        </p:nvCxnSpPr>
        <p:spPr>
          <a:xfrm>
            <a:off x="3750446" y="2612167"/>
            <a:ext cx="1152257" cy="3371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2" idx="3"/>
            <a:endCxn id="4" idx="1"/>
          </p:cNvCxnSpPr>
          <p:nvPr/>
        </p:nvCxnSpPr>
        <p:spPr>
          <a:xfrm flipV="1">
            <a:off x="3750446" y="2949283"/>
            <a:ext cx="1152257" cy="4932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4000235" y="2443988"/>
            <a:ext cx="463588" cy="369332"/>
          </a:xfrm>
          <a:prstGeom prst="rect">
            <a:avLst/>
          </a:prstGeom>
        </p:spPr>
        <p:txBody>
          <a:bodyPr wrap="none">
            <a:spAutoFit/>
          </a:bodyPr>
          <a:lstStyle/>
          <a:p>
            <a:r>
              <a:rPr lang="en-IN" dirty="0" smtClean="0"/>
              <a:t>CLI</a:t>
            </a:r>
            <a:endParaRPr lang="en-IN" dirty="0"/>
          </a:p>
        </p:txBody>
      </p:sp>
      <p:sp>
        <p:nvSpPr>
          <p:cNvPr id="27" name="Rectangle 26"/>
          <p:cNvSpPr/>
          <p:nvPr/>
        </p:nvSpPr>
        <p:spPr>
          <a:xfrm>
            <a:off x="4000235" y="3241806"/>
            <a:ext cx="389850" cy="369332"/>
          </a:xfrm>
          <a:prstGeom prst="rect">
            <a:avLst/>
          </a:prstGeom>
        </p:spPr>
        <p:txBody>
          <a:bodyPr wrap="none">
            <a:spAutoFit/>
          </a:bodyPr>
          <a:lstStyle/>
          <a:p>
            <a:r>
              <a:rPr lang="en-IN" dirty="0" smtClean="0"/>
              <a:t>UI</a:t>
            </a:r>
            <a:endParaRPr lang="en-IN" dirty="0"/>
          </a:p>
        </p:txBody>
      </p:sp>
      <p:sp>
        <p:nvSpPr>
          <p:cNvPr id="28" name="Rectangle 27"/>
          <p:cNvSpPr/>
          <p:nvPr/>
        </p:nvSpPr>
        <p:spPr>
          <a:xfrm>
            <a:off x="2202234" y="2202924"/>
            <a:ext cx="6282584" cy="16930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p:cNvSpPr txBox="1"/>
          <p:nvPr/>
        </p:nvSpPr>
        <p:spPr>
          <a:xfrm>
            <a:off x="3741900" y="1867776"/>
            <a:ext cx="2885470" cy="369332"/>
          </a:xfrm>
          <a:prstGeom prst="rect">
            <a:avLst/>
          </a:prstGeom>
          <a:noFill/>
        </p:spPr>
        <p:txBody>
          <a:bodyPr wrap="none" rtlCol="0">
            <a:spAutoFit/>
          </a:bodyPr>
          <a:lstStyle/>
          <a:p>
            <a:r>
              <a:rPr lang="en-IN" b="1" dirty="0" smtClean="0"/>
              <a:t>Core Cloud Security Concept</a:t>
            </a:r>
            <a:endParaRPr lang="en-IN" b="1" dirty="0"/>
          </a:p>
        </p:txBody>
      </p:sp>
    </p:spTree>
    <p:extLst>
      <p:ext uri="{BB962C8B-B14F-4D97-AF65-F5344CB8AC3E}">
        <p14:creationId xmlns:p14="http://schemas.microsoft.com/office/powerpoint/2010/main" val="162254505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702577" y="1421362"/>
            <a:ext cx="11560543"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600" dirty="0"/>
              <a:t>          SDK/CLI Connectivity </a:t>
            </a:r>
          </a:p>
          <a:p>
            <a:r>
              <a:rPr lang="en-US" sz="3600" dirty="0"/>
              <a:t>          from </a:t>
            </a:r>
            <a:r>
              <a:rPr lang="en-US" sz="3600" dirty="0" err="1"/>
              <a:t>Edgenode</a:t>
            </a:r>
            <a:r>
              <a:rPr lang="en-US" sz="3600" dirty="0"/>
              <a:t> to Cloud</a:t>
            </a:r>
          </a:p>
        </p:txBody>
      </p:sp>
      <p:grpSp>
        <p:nvGrpSpPr>
          <p:cNvPr id="3" name="Group 2"/>
          <p:cNvGrpSpPr/>
          <p:nvPr/>
        </p:nvGrpSpPr>
        <p:grpSpPr>
          <a:xfrm>
            <a:off x="131843" y="160285"/>
            <a:ext cx="1392157" cy="1474784"/>
            <a:chOff x="8622919" y="-50014"/>
            <a:chExt cx="1457840" cy="1544366"/>
          </a:xfrm>
        </p:grpSpPr>
        <p:pic>
          <p:nvPicPr>
            <p:cNvPr id="4" name="Picture 3"/>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60000" contrast="80000"/>
                      </a14:imgEffect>
                    </a14:imgLayer>
                  </a14:imgProps>
                </a:ext>
                <a:ext uri="{28A0092B-C50C-407E-A947-70E740481C1C}">
                  <a14:useLocalDpi xmlns:a14="http://schemas.microsoft.com/office/drawing/2010/main" val="0"/>
                </a:ext>
              </a:extLst>
            </a:blip>
            <a:srcRect/>
            <a:stretch>
              <a:fillRect/>
            </a:stretch>
          </p:blipFill>
          <p:spPr bwMode="auto">
            <a:xfrm>
              <a:off x="8688429" y="-50014"/>
              <a:ext cx="1251285" cy="12512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5" name="TextBox 4"/>
            <p:cNvSpPr txBox="1"/>
            <p:nvPr/>
          </p:nvSpPr>
          <p:spPr>
            <a:xfrm>
              <a:off x="8622919" y="1204284"/>
              <a:ext cx="1457840" cy="290068"/>
            </a:xfrm>
            <a:prstGeom prst="rect">
              <a:avLst/>
            </a:prstGeom>
            <a:noFill/>
          </p:spPr>
          <p:txBody>
            <a:bodyPr wrap="square" rtlCol="0">
              <a:spAutoFit/>
            </a:bodyPr>
            <a:lstStyle/>
            <a:p>
              <a:r>
                <a:rPr lang="en-US" sz="1200" b="1" dirty="0">
                  <a:effectLst>
                    <a:outerShdw blurRad="38100" dist="38100" dir="2700000" algn="tl">
                      <a:srgbClr val="000000">
                        <a:alpha val="43137"/>
                      </a:srgbClr>
                    </a:outerShdw>
                  </a:effectLst>
                </a:rPr>
                <a:t>Cloud Admin Role</a:t>
              </a:r>
              <a:endParaRPr lang="en-IN" sz="1200" b="1" dirty="0">
                <a:effectLst>
                  <a:outerShdw blurRad="38100" dist="38100" dir="2700000" algn="tl">
                    <a:srgbClr val="000000">
                      <a:alpha val="43137"/>
                    </a:srgbClr>
                  </a:outerShdw>
                </a:effectLst>
              </a:endParaRPr>
            </a:p>
          </p:txBody>
        </p:sp>
      </p:grpSp>
      <p:sp>
        <p:nvSpPr>
          <p:cNvPr id="2" name="Rectangle 1"/>
          <p:cNvSpPr/>
          <p:nvPr/>
        </p:nvSpPr>
        <p:spPr>
          <a:xfrm>
            <a:off x="173364" y="3110702"/>
            <a:ext cx="7070716" cy="2677656"/>
          </a:xfrm>
          <a:prstGeom prst="rect">
            <a:avLst/>
          </a:prstGeom>
        </p:spPr>
        <p:txBody>
          <a:bodyPr wrap="square">
            <a:spAutoFit/>
          </a:bodyPr>
          <a:lstStyle/>
          <a:p>
            <a:r>
              <a:rPr lang="en-US" sz="2800" b="1" dirty="0"/>
              <a:t>Download &amp; Install SDK in </a:t>
            </a:r>
            <a:r>
              <a:rPr lang="en-US" sz="2800" b="1" dirty="0" err="1"/>
              <a:t>Edgenode</a:t>
            </a:r>
            <a:r>
              <a:rPr lang="en-US" sz="2800" b="1" dirty="0"/>
              <a:t> for CLI connectivity to Cloud for using </a:t>
            </a:r>
            <a:r>
              <a:rPr lang="en-US" sz="2800" b="1" dirty="0" err="1"/>
              <a:t>Utils</a:t>
            </a:r>
            <a:r>
              <a:rPr lang="en-US" sz="2800" dirty="0"/>
              <a:t> </a:t>
            </a:r>
          </a:p>
          <a:p>
            <a:endParaRPr lang="en-US" sz="2800" dirty="0"/>
          </a:p>
          <a:p>
            <a:pPr marL="800100" lvl="1" indent="-342900">
              <a:buAutoNum type="alphaLcPeriod"/>
            </a:pPr>
            <a:r>
              <a:rPr lang="en-US" sz="2800" dirty="0"/>
              <a:t>Download and Install Cloud </a:t>
            </a:r>
            <a:r>
              <a:rPr lang="en-US" sz="2800" b="1" dirty="0"/>
              <a:t>SDK</a:t>
            </a:r>
          </a:p>
          <a:p>
            <a:pPr marL="800100" lvl="1" indent="-342900">
              <a:buAutoNum type="alphaLcPeriod"/>
            </a:pPr>
            <a:r>
              <a:rPr lang="en-US" sz="2800" dirty="0"/>
              <a:t>Enable Cloud login</a:t>
            </a:r>
          </a:p>
          <a:p>
            <a:pPr marL="800100" lvl="1" indent="-342900">
              <a:buAutoNum type="alphaLcPeriod"/>
            </a:pPr>
            <a:r>
              <a:rPr lang="en-US" sz="2800" dirty="0"/>
              <a:t>Test sample </a:t>
            </a:r>
            <a:r>
              <a:rPr lang="en-US" sz="2800" dirty="0" err="1"/>
              <a:t>utils</a:t>
            </a:r>
            <a:r>
              <a:rPr lang="en-US" sz="2800" dirty="0"/>
              <a:t> commands (</a:t>
            </a:r>
            <a:r>
              <a:rPr lang="en-US" sz="2800" dirty="0" err="1"/>
              <a:t>az</a:t>
            </a:r>
            <a:r>
              <a:rPr lang="en-US" sz="2800" dirty="0"/>
              <a:t>)</a:t>
            </a:r>
          </a:p>
        </p:txBody>
      </p:sp>
      <p:pic>
        <p:nvPicPr>
          <p:cNvPr id="28678" name="Picture 6" descr="C:\Users\MOHAMED\AppData\Local\Packages\Microsoft.Windows.Photos_8wekyb3d8bbwe\TempState\ShareServiceTempFolder\Designer (13).jpe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34739" y="1114"/>
            <a:ext cx="4136478" cy="4136478"/>
          </a:xfrm>
          <a:prstGeom prst="rect">
            <a:avLst/>
          </a:prstGeom>
          <a:noFill/>
          <a:extLst>
            <a:ext uri="{909E8E84-426E-40DD-AFC4-6F175D3DCCD1}">
              <a14:hiddenFill xmlns:a14="http://schemas.microsoft.com/office/drawing/2010/main">
                <a:solidFill>
                  <a:srgbClr val="FFFFFF"/>
                </a:solidFill>
              </a14:hiddenFill>
            </a:ext>
          </a:extLst>
        </p:spPr>
      </p:pic>
      <p:pic>
        <p:nvPicPr>
          <p:cNvPr id="28674" name="Picture 2" descr="C:\Users\MOHAMED\AppData\Local\Packages\Microsoft.Windows.Photos_8wekyb3d8bbwe\TempState\ShareServiceTempFolder\Designer (15).jpe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841520" y="4593605"/>
            <a:ext cx="1929697" cy="19296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0" name="Picture 2" descr="Information about recruitment and hiring platform in Malaysia"/>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26302" y="4731702"/>
            <a:ext cx="2881313" cy="191738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8">
            <p14:nvContentPartPr>
              <p14:cNvPr id="9" name="Ink 8"/>
              <p14:cNvContentPartPr/>
              <p14:nvPr/>
            </p14:nvContentPartPr>
            <p14:xfrm>
              <a:off x="628560" y="3543120"/>
              <a:ext cx="3181680" cy="1587960"/>
            </p14:xfrm>
          </p:contentPart>
        </mc:Choice>
        <mc:Fallback xmlns="">
          <p:pic>
            <p:nvPicPr>
              <p:cNvPr id="9" name="Ink 8"/>
              <p:cNvPicPr/>
              <p:nvPr/>
            </p:nvPicPr>
            <p:blipFill>
              <a:blip r:embed="rId9"/>
              <a:stretch>
                <a:fillRect/>
              </a:stretch>
            </p:blipFill>
            <p:spPr>
              <a:xfrm>
                <a:off x="619200" y="3533760"/>
                <a:ext cx="3200400" cy="1606680"/>
              </a:xfrm>
              <a:prstGeom prst="rect">
                <a:avLst/>
              </a:prstGeom>
            </p:spPr>
          </p:pic>
        </mc:Fallback>
      </mc:AlternateContent>
      <p:sp>
        <p:nvSpPr>
          <p:cNvPr id="7" name="Rectangle 6"/>
          <p:cNvSpPr/>
          <p:nvPr/>
        </p:nvSpPr>
        <p:spPr>
          <a:xfrm>
            <a:off x="9955013" y="4160162"/>
            <a:ext cx="1702710" cy="369332"/>
          </a:xfrm>
          <a:prstGeom prst="rect">
            <a:avLst/>
          </a:prstGeom>
        </p:spPr>
        <p:txBody>
          <a:bodyPr wrap="none">
            <a:spAutoFit/>
          </a:bodyPr>
          <a:lstStyle/>
          <a:p>
            <a:r>
              <a:rPr lang="en-US" b="1" dirty="0" smtClean="0"/>
              <a:t>Cloud Shell (US)</a:t>
            </a:r>
            <a:endParaRPr lang="en-IN" dirty="0"/>
          </a:p>
        </p:txBody>
      </p:sp>
      <p:sp>
        <p:nvSpPr>
          <p:cNvPr id="12" name="Rectangle 11"/>
          <p:cNvSpPr/>
          <p:nvPr/>
        </p:nvSpPr>
        <p:spPr>
          <a:xfrm>
            <a:off x="7444031" y="388407"/>
            <a:ext cx="1045479" cy="369332"/>
          </a:xfrm>
          <a:prstGeom prst="rect">
            <a:avLst/>
          </a:prstGeom>
        </p:spPr>
        <p:txBody>
          <a:bodyPr wrap="none">
            <a:spAutoFit/>
          </a:bodyPr>
          <a:lstStyle/>
          <a:p>
            <a:r>
              <a:rPr lang="en-US" b="1" dirty="0" smtClean="0"/>
              <a:t>US Cloud</a:t>
            </a:r>
            <a:endParaRPr lang="en-IN" dirty="0"/>
          </a:p>
        </p:txBody>
      </p:sp>
      <p:sp>
        <p:nvSpPr>
          <p:cNvPr id="13" name="Rectangle 12"/>
          <p:cNvSpPr/>
          <p:nvPr/>
        </p:nvSpPr>
        <p:spPr>
          <a:xfrm>
            <a:off x="6996744" y="4224273"/>
            <a:ext cx="2061270" cy="369332"/>
          </a:xfrm>
          <a:prstGeom prst="rect">
            <a:avLst/>
          </a:prstGeom>
        </p:spPr>
        <p:txBody>
          <a:bodyPr wrap="none">
            <a:spAutoFit/>
          </a:bodyPr>
          <a:lstStyle/>
          <a:p>
            <a:r>
              <a:rPr lang="en-US" b="1" dirty="0" err="1" smtClean="0"/>
              <a:t>Cmd</a:t>
            </a:r>
            <a:r>
              <a:rPr lang="en-US" b="1" dirty="0" smtClean="0"/>
              <a:t> prompt (India)</a:t>
            </a:r>
            <a:endParaRPr lang="en-IN" dirty="0"/>
          </a:p>
        </p:txBody>
      </p:sp>
      <p:cxnSp>
        <p:nvCxnSpPr>
          <p:cNvPr id="10" name="Straight Arrow Connector 9"/>
          <p:cNvCxnSpPr>
            <a:stCxn id="2050" idx="0"/>
            <a:endCxn id="28678" idx="2"/>
          </p:cNvCxnSpPr>
          <p:nvPr/>
        </p:nvCxnSpPr>
        <p:spPr>
          <a:xfrm flipV="1">
            <a:off x="8066959" y="4137592"/>
            <a:ext cx="1636019" cy="59411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28678" idx="2"/>
            <a:endCxn id="7" idx="2"/>
          </p:cNvCxnSpPr>
          <p:nvPr/>
        </p:nvCxnSpPr>
        <p:spPr>
          <a:xfrm>
            <a:off x="9702978" y="4137592"/>
            <a:ext cx="1103390" cy="391902"/>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980140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267200" y="2667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p>
        </p:txBody>
      </p:sp>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pPr/>
              <a:t>26</a:t>
            </a:fld>
            <a:endParaRPr lang="en-US"/>
          </a:p>
        </p:txBody>
      </p:sp>
      <p:sp>
        <p:nvSpPr>
          <p:cNvPr id="11" name="Text Box 5"/>
          <p:cNvSpPr txBox="1">
            <a:spLocks noChangeArrowheads="1"/>
          </p:cNvSpPr>
          <p:nvPr/>
        </p:nvSpPr>
        <p:spPr bwMode="auto">
          <a:xfrm>
            <a:off x="4267200" y="3048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p>
        </p:txBody>
      </p:sp>
      <p:sp>
        <p:nvSpPr>
          <p:cNvPr id="12" name="Title 1"/>
          <p:cNvSpPr>
            <a:spLocks noGrp="1"/>
          </p:cNvSpPr>
          <p:nvPr>
            <p:ph type="title"/>
          </p:nvPr>
        </p:nvSpPr>
        <p:spPr>
          <a:xfrm>
            <a:off x="0" y="0"/>
            <a:ext cx="10972800" cy="719847"/>
          </a:xfrm>
        </p:spPr>
        <p:txBody>
          <a:bodyPr vert="horz" lIns="91440" tIns="45720" rIns="91440" bIns="45720" rtlCol="0" anchor="ctr">
            <a:normAutofit/>
          </a:bodyPr>
          <a:lstStyle/>
          <a:p>
            <a:r>
              <a:rPr lang="en-US" sz="2800" b="1" dirty="0">
                <a:solidFill>
                  <a:srgbClr val="FF0000"/>
                </a:solidFill>
              </a:rPr>
              <a:t>Cloud SDK &amp; CLIs </a:t>
            </a:r>
          </a:p>
        </p:txBody>
      </p:sp>
      <p:sp>
        <p:nvSpPr>
          <p:cNvPr id="13" name="Rectangle 12"/>
          <p:cNvSpPr/>
          <p:nvPr/>
        </p:nvSpPr>
        <p:spPr>
          <a:xfrm>
            <a:off x="0" y="725048"/>
            <a:ext cx="11988800" cy="5216813"/>
          </a:xfrm>
          <a:prstGeom prst="rect">
            <a:avLst/>
          </a:prstGeom>
        </p:spPr>
        <p:txBody>
          <a:bodyPr wrap="square">
            <a:spAutoFit/>
          </a:bodyPr>
          <a:lstStyle/>
          <a:p>
            <a:r>
              <a:rPr lang="en-IN" b="1" dirty="0"/>
              <a:t>Azure Cloud SDK: </a:t>
            </a:r>
            <a:endParaRPr lang="en-IN" dirty="0"/>
          </a:p>
          <a:p>
            <a:pPr marL="285750" lvl="0" indent="-285750">
              <a:buFont typeface="Wingdings" panose="05000000000000000000" pitchFamily="2" charset="2"/>
              <a:buChar char="ü"/>
            </a:pPr>
            <a:r>
              <a:rPr lang="en-IN" b="1" dirty="0"/>
              <a:t>Azure Cloud CLI (</a:t>
            </a:r>
            <a:r>
              <a:rPr lang="en-IN" b="1" dirty="0" err="1"/>
              <a:t>az</a:t>
            </a:r>
            <a:r>
              <a:rPr lang="en-IN" b="1" dirty="0"/>
              <a:t>)</a:t>
            </a:r>
            <a:r>
              <a:rPr lang="en-IN" dirty="0"/>
              <a:t> lets you manage resources and services from the command </a:t>
            </a:r>
            <a:r>
              <a:rPr lang="en-IN" dirty="0" smtClean="0"/>
              <a:t>line</a:t>
            </a:r>
            <a:r>
              <a:rPr lang="en-IN" dirty="0"/>
              <a:t> </a:t>
            </a:r>
            <a:r>
              <a:rPr lang="en-IN" dirty="0" smtClean="0"/>
              <a:t>(Only if I programmatic access).</a:t>
            </a:r>
            <a:endParaRPr lang="en-IN" dirty="0"/>
          </a:p>
          <a:p>
            <a:pPr marL="285750" lvl="0" indent="-285750">
              <a:buFont typeface="Wingdings" panose="05000000000000000000" pitchFamily="2" charset="2"/>
              <a:buChar char="ü"/>
            </a:pPr>
            <a:r>
              <a:rPr lang="en-IN" b="1" dirty="0"/>
              <a:t>Cloud Shell (online)</a:t>
            </a:r>
            <a:r>
              <a:rPr lang="en-IN" dirty="0"/>
              <a:t> lets you code or use a terminal directly in the web-browser rather than using an </a:t>
            </a:r>
            <a:r>
              <a:rPr lang="en-IN" dirty="0" err="1"/>
              <a:t>onprem</a:t>
            </a:r>
            <a:r>
              <a:rPr lang="en-IN" dirty="0"/>
              <a:t> </a:t>
            </a:r>
            <a:r>
              <a:rPr lang="en-IN" dirty="0" err="1"/>
              <a:t>linux</a:t>
            </a:r>
            <a:r>
              <a:rPr lang="en-IN" dirty="0"/>
              <a:t>/windows </a:t>
            </a:r>
            <a:r>
              <a:rPr lang="en-IN" dirty="0" smtClean="0"/>
              <a:t>box (provided if you have the UI user access).</a:t>
            </a:r>
            <a:endParaRPr lang="en-IN" dirty="0"/>
          </a:p>
          <a:p>
            <a:pPr lvl="0"/>
            <a:endParaRPr lang="en-IN" dirty="0"/>
          </a:p>
          <a:p>
            <a:r>
              <a:rPr lang="en-IN" b="1" dirty="0"/>
              <a:t>What is the </a:t>
            </a:r>
            <a:r>
              <a:rPr lang="en-IN" b="1" dirty="0" err="1"/>
              <a:t>az</a:t>
            </a:r>
            <a:r>
              <a:rPr lang="en-IN" b="1" dirty="0"/>
              <a:t> CLI?</a:t>
            </a:r>
            <a:endParaRPr lang="en-IN" dirty="0"/>
          </a:p>
          <a:p>
            <a:pPr marL="285750" indent="-285750">
              <a:buFont typeface="Wingdings" panose="05000000000000000000" pitchFamily="2" charset="2"/>
              <a:buChar char="ü"/>
            </a:pPr>
            <a:r>
              <a:rPr lang="en-US" dirty="0"/>
              <a:t>Command line interface to interact with Azure cloud resources</a:t>
            </a:r>
            <a:endParaRPr lang="en-IN" dirty="0"/>
          </a:p>
          <a:p>
            <a:pPr marL="285750" indent="-285750">
              <a:buFont typeface="Wingdings" panose="05000000000000000000" pitchFamily="2" charset="2"/>
              <a:buChar char="ü"/>
            </a:pPr>
            <a:r>
              <a:rPr lang="en-IN" dirty="0"/>
              <a:t>You can use these tools to perform many </a:t>
            </a:r>
            <a:r>
              <a:rPr lang="en-IN" b="1" i="1" dirty="0"/>
              <a:t>common platform tasks</a:t>
            </a:r>
            <a:r>
              <a:rPr lang="en-IN" dirty="0"/>
              <a:t> from the command line or through scripts and other automation.</a:t>
            </a:r>
          </a:p>
          <a:p>
            <a:pPr>
              <a:lnSpc>
                <a:spcPct val="150000"/>
              </a:lnSpc>
              <a:buFont typeface="Wingdings" pitchFamily="2" charset="2"/>
              <a:buChar char="ü"/>
            </a:pPr>
            <a:r>
              <a:rPr lang="en-US" b="1" i="1" dirty="0">
                <a:solidFill>
                  <a:srgbClr val="C00000"/>
                </a:solidFill>
              </a:rPr>
              <a:t>Most azure services are managed by the admin from CLI using </a:t>
            </a:r>
            <a:r>
              <a:rPr lang="en-US" b="1" i="1" dirty="0" err="1">
                <a:solidFill>
                  <a:srgbClr val="C00000"/>
                </a:solidFill>
              </a:rPr>
              <a:t>az</a:t>
            </a:r>
            <a:r>
              <a:rPr lang="en-US" b="1" i="1" dirty="0">
                <a:solidFill>
                  <a:srgbClr val="C00000"/>
                </a:solidFill>
              </a:rPr>
              <a:t> rather than going into the </a:t>
            </a:r>
            <a:r>
              <a:rPr lang="en-US" b="1" i="1" dirty="0" smtClean="0">
                <a:solidFill>
                  <a:srgbClr val="C00000"/>
                </a:solidFill>
              </a:rPr>
              <a:t>console.</a:t>
            </a:r>
            <a:endParaRPr lang="en-US" b="1" i="1" dirty="0">
              <a:solidFill>
                <a:srgbClr val="C00000"/>
              </a:solidFill>
            </a:endParaRPr>
          </a:p>
          <a:p>
            <a:pPr>
              <a:lnSpc>
                <a:spcPct val="150000"/>
              </a:lnSpc>
              <a:buFont typeface="Wingdings" pitchFamily="2" charset="2"/>
              <a:buChar char="ü"/>
            </a:pPr>
            <a:r>
              <a:rPr lang="en-US" dirty="0"/>
              <a:t> We can create/delete/update/read existing resources and perform actions like deployment as well using the </a:t>
            </a:r>
            <a:r>
              <a:rPr lang="en-US" dirty="0" err="1"/>
              <a:t>az</a:t>
            </a:r>
            <a:r>
              <a:rPr lang="en-US" dirty="0"/>
              <a:t>/cloud </a:t>
            </a:r>
            <a:r>
              <a:rPr lang="en-US" dirty="0" err="1"/>
              <a:t>utils</a:t>
            </a:r>
            <a:endParaRPr lang="en-US" dirty="0"/>
          </a:p>
          <a:p>
            <a:pPr marL="285750" indent="-285750">
              <a:buFont typeface="Wingdings" panose="05000000000000000000" pitchFamily="2" charset="2"/>
              <a:buChar char="ü"/>
            </a:pPr>
            <a:endParaRPr lang="en-IN" dirty="0"/>
          </a:p>
          <a:p>
            <a:r>
              <a:rPr lang="en-IN" b="1" i="1" dirty="0"/>
              <a:t>For example, you can use the </a:t>
            </a:r>
            <a:r>
              <a:rPr lang="en-IN" b="1" i="1" dirty="0" err="1"/>
              <a:t>az</a:t>
            </a:r>
            <a:r>
              <a:rPr lang="en-IN" b="1" i="1" dirty="0"/>
              <a:t> CLI to create and manage the following services:</a:t>
            </a:r>
          </a:p>
          <a:p>
            <a:pPr lvl="0"/>
            <a:r>
              <a:rPr lang="en-IN" dirty="0"/>
              <a:t>Compute Engine virtual machine instances and other resources</a:t>
            </a:r>
          </a:p>
          <a:p>
            <a:pPr lvl="0"/>
            <a:r>
              <a:rPr lang="en-IN" dirty="0"/>
              <a:t>Azure SQL instances </a:t>
            </a:r>
          </a:p>
          <a:p>
            <a:pPr lvl="0"/>
            <a:r>
              <a:rPr lang="en-IN" dirty="0"/>
              <a:t>HDInsight clusters and jobs</a:t>
            </a:r>
          </a:p>
          <a:p>
            <a:pPr>
              <a:lnSpc>
                <a:spcPct val="150000"/>
              </a:lnSpc>
            </a:pPr>
            <a:r>
              <a:rPr lang="en-US" dirty="0">
                <a:latin typeface="+mn-lt"/>
              </a:rPr>
              <a:t> </a:t>
            </a:r>
          </a:p>
        </p:txBody>
      </p:sp>
    </p:spTree>
    <p:extLst>
      <p:ext uri="{BB962C8B-B14F-4D97-AF65-F5344CB8AC3E}">
        <p14:creationId xmlns:p14="http://schemas.microsoft.com/office/powerpoint/2010/main" val="30868695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pPr/>
              <a:t>27</a:t>
            </a:fld>
            <a:endParaRPr lang="en-US"/>
          </a:p>
        </p:txBody>
      </p:sp>
      <p:sp>
        <p:nvSpPr>
          <p:cNvPr id="12" name="Title 1"/>
          <p:cNvSpPr>
            <a:spLocks noGrp="1"/>
          </p:cNvSpPr>
          <p:nvPr>
            <p:ph type="title"/>
          </p:nvPr>
        </p:nvSpPr>
        <p:spPr>
          <a:xfrm>
            <a:off x="0" y="0"/>
            <a:ext cx="10972800" cy="1143000"/>
          </a:xfrm>
        </p:spPr>
        <p:txBody>
          <a:bodyPr vert="horz" lIns="91440" tIns="45720" rIns="91440" bIns="45720" rtlCol="0" anchor="ctr">
            <a:normAutofit/>
          </a:bodyPr>
          <a:lstStyle/>
          <a:p>
            <a:r>
              <a:rPr lang="en-US" sz="2800" b="1" dirty="0">
                <a:solidFill>
                  <a:srgbClr val="FF0000"/>
                </a:solidFill>
              </a:rPr>
              <a:t>1. Download &amp; Install </a:t>
            </a:r>
            <a:r>
              <a:rPr lang="en-US" sz="2800" b="1" dirty="0" err="1">
                <a:solidFill>
                  <a:srgbClr val="FF0000"/>
                </a:solidFill>
              </a:rPr>
              <a:t>az</a:t>
            </a:r>
            <a:r>
              <a:rPr lang="en-US" sz="2800" b="1" dirty="0">
                <a:solidFill>
                  <a:srgbClr val="FF0000"/>
                </a:solidFill>
              </a:rPr>
              <a:t> SDK</a:t>
            </a:r>
            <a:r>
              <a:rPr lang="en-US" sz="2800" i="1" u="sng" dirty="0">
                <a:effectLst>
                  <a:outerShdw blurRad="38100" dist="38100" dir="2700000" algn="tl">
                    <a:srgbClr val="000000">
                      <a:alpha val="43137"/>
                    </a:srgbClr>
                  </a:outerShdw>
                </a:effectLst>
              </a:rPr>
              <a:t> - Classroom - Practice</a:t>
            </a:r>
            <a:endParaRPr lang="en-US" sz="2800" b="1" dirty="0">
              <a:solidFill>
                <a:srgbClr val="FF0000"/>
              </a:solidFill>
            </a:endParaRPr>
          </a:p>
        </p:txBody>
      </p:sp>
      <p:sp>
        <p:nvSpPr>
          <p:cNvPr id="2" name="TextBox 1"/>
          <p:cNvSpPr txBox="1"/>
          <p:nvPr/>
        </p:nvSpPr>
        <p:spPr>
          <a:xfrm>
            <a:off x="132080" y="883920"/>
            <a:ext cx="3224857" cy="769441"/>
          </a:xfrm>
          <a:prstGeom prst="rect">
            <a:avLst/>
          </a:prstGeom>
          <a:noFill/>
        </p:spPr>
        <p:txBody>
          <a:bodyPr wrap="none" rtlCol="0">
            <a:spAutoFit/>
          </a:bodyPr>
          <a:lstStyle/>
          <a:p>
            <a:pPr marL="342900" indent="-342900">
              <a:buAutoNum type="alphaUcPeriod"/>
            </a:pPr>
            <a:r>
              <a:rPr lang="en-IN" sz="1600" b="1" dirty="0"/>
              <a:t>Go to the below URL </a:t>
            </a:r>
          </a:p>
          <a:p>
            <a:r>
              <a:rPr lang="en-IN" sz="1400" dirty="0">
                <a:hlinkClick r:id="rId2"/>
              </a:rPr>
              <a:t>https://aka.ms/installazurecliwindowsx64</a:t>
            </a:r>
            <a:endParaRPr lang="en-IN" sz="1400" dirty="0"/>
          </a:p>
          <a:p>
            <a:r>
              <a:rPr lang="en-US" sz="1400" b="1" dirty="0">
                <a:solidFill>
                  <a:srgbClr val="0070C0"/>
                </a:solidFill>
              </a:rPr>
              <a:t>brew update &amp;&amp; brew install azure-cli</a:t>
            </a:r>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4" name="Group 13"/>
          <p:cNvGrpSpPr/>
          <p:nvPr/>
        </p:nvGrpSpPr>
        <p:grpSpPr>
          <a:xfrm>
            <a:off x="10464800" y="4139882"/>
            <a:ext cx="1392157" cy="1474784"/>
            <a:chOff x="8622919" y="-50014"/>
            <a:chExt cx="1457840" cy="1544366"/>
          </a:xfrm>
        </p:grpSpPr>
        <p:pic>
          <p:nvPicPr>
            <p:cNvPr id="15" name="Picture 14"/>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60000" contrast="80000"/>
                      </a14:imgEffect>
                    </a14:imgLayer>
                  </a14:imgProps>
                </a:ext>
                <a:ext uri="{28A0092B-C50C-407E-A947-70E740481C1C}">
                  <a14:useLocalDpi xmlns:a14="http://schemas.microsoft.com/office/drawing/2010/main" val="0"/>
                </a:ext>
              </a:extLst>
            </a:blip>
            <a:srcRect/>
            <a:stretch>
              <a:fillRect/>
            </a:stretch>
          </p:blipFill>
          <p:spPr bwMode="auto">
            <a:xfrm>
              <a:off x="8688429" y="-50014"/>
              <a:ext cx="1251285" cy="12512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6" name="TextBox 15"/>
            <p:cNvSpPr txBox="1"/>
            <p:nvPr/>
          </p:nvSpPr>
          <p:spPr>
            <a:xfrm>
              <a:off x="8622919" y="1204284"/>
              <a:ext cx="1457840" cy="290068"/>
            </a:xfrm>
            <a:prstGeom prst="rect">
              <a:avLst/>
            </a:prstGeom>
            <a:noFill/>
          </p:spPr>
          <p:txBody>
            <a:bodyPr wrap="square" rtlCol="0">
              <a:spAutoFit/>
            </a:bodyPr>
            <a:lstStyle/>
            <a:p>
              <a:r>
                <a:rPr lang="en-US" sz="1200" b="1" dirty="0">
                  <a:effectLst>
                    <a:outerShdw blurRad="38100" dist="38100" dir="2700000" algn="tl">
                      <a:srgbClr val="000000">
                        <a:alpha val="43137"/>
                      </a:srgbClr>
                    </a:outerShdw>
                  </a:effectLst>
                </a:rPr>
                <a:t>Cloud Admin Role</a:t>
              </a:r>
              <a:endParaRPr lang="en-IN" sz="1200" b="1" dirty="0">
                <a:effectLst>
                  <a:outerShdw blurRad="38100" dist="38100" dir="2700000" algn="tl">
                    <a:srgbClr val="000000">
                      <a:alpha val="43137"/>
                    </a:srgbClr>
                  </a:outerShdw>
                </a:effectLst>
              </a:endParaRPr>
            </a:p>
          </p:txBody>
        </p:sp>
      </p:gr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8964" y="2523113"/>
            <a:ext cx="3974985" cy="29340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3" name="Rectangle 2"/>
          <p:cNvSpPr/>
          <p:nvPr/>
        </p:nvSpPr>
        <p:spPr>
          <a:xfrm>
            <a:off x="377825" y="5930732"/>
            <a:ext cx="7613650" cy="369332"/>
          </a:xfrm>
          <a:prstGeom prst="rect">
            <a:avLst/>
          </a:prstGeom>
        </p:spPr>
        <p:txBody>
          <a:bodyPr wrap="square">
            <a:spAutoFit/>
          </a:bodyPr>
          <a:lstStyle/>
          <a:p>
            <a:r>
              <a:rPr lang="en-US" dirty="0"/>
              <a:t>Select a subscription and tenant (Type a number or Enter for no changes): 1</a:t>
            </a:r>
            <a:endParaRPr lang="en-IN" dirty="0"/>
          </a:p>
        </p:txBody>
      </p:sp>
      <p:pic>
        <p:nvPicPr>
          <p:cNvPr id="4098"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64155" y="2523113"/>
            <a:ext cx="3505552" cy="30915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5" name="Picture 4">
            <a:extLst>
              <a:ext uri="{FF2B5EF4-FFF2-40B4-BE49-F238E27FC236}">
                <a16:creationId xmlns:a16="http://schemas.microsoft.com/office/drawing/2014/main" xmlns="" id="{04B8BFC7-760F-1389-6A11-4E902B1F5536}"/>
              </a:ext>
            </a:extLst>
          </p:cNvPr>
          <p:cNvPicPr>
            <a:picLocks noChangeAspect="1"/>
          </p:cNvPicPr>
          <p:nvPr/>
        </p:nvPicPr>
        <p:blipFill>
          <a:blip r:embed="rId8"/>
          <a:stretch>
            <a:fillRect/>
          </a:stretch>
        </p:blipFill>
        <p:spPr>
          <a:xfrm>
            <a:off x="8123897" y="279719"/>
            <a:ext cx="3936023" cy="1621727"/>
          </a:xfrm>
          <a:prstGeom prst="rect">
            <a:avLst/>
          </a:prstGeom>
        </p:spPr>
      </p:pic>
    </p:spTree>
    <p:extLst>
      <p:ext uri="{BB962C8B-B14F-4D97-AF65-F5344CB8AC3E}">
        <p14:creationId xmlns:p14="http://schemas.microsoft.com/office/powerpoint/2010/main" val="2575976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267200" y="2667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p>
        </p:txBody>
      </p:sp>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pPr/>
              <a:t>28</a:t>
            </a:fld>
            <a:endParaRPr lang="en-US"/>
          </a:p>
        </p:txBody>
      </p:sp>
      <p:sp>
        <p:nvSpPr>
          <p:cNvPr id="11" name="Text Box 5"/>
          <p:cNvSpPr txBox="1">
            <a:spLocks noChangeArrowheads="1"/>
          </p:cNvSpPr>
          <p:nvPr/>
        </p:nvSpPr>
        <p:spPr bwMode="auto">
          <a:xfrm>
            <a:off x="4267200" y="3048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p>
        </p:txBody>
      </p:sp>
      <p:sp>
        <p:nvSpPr>
          <p:cNvPr id="12" name="Title 1"/>
          <p:cNvSpPr>
            <a:spLocks noGrp="1"/>
          </p:cNvSpPr>
          <p:nvPr>
            <p:ph type="title"/>
          </p:nvPr>
        </p:nvSpPr>
        <p:spPr>
          <a:xfrm>
            <a:off x="0" y="-152405"/>
            <a:ext cx="10972800" cy="1143000"/>
          </a:xfrm>
        </p:spPr>
        <p:txBody>
          <a:bodyPr vert="horz" lIns="91440" tIns="45720" rIns="91440" bIns="45720" rtlCol="0" anchor="ctr">
            <a:normAutofit/>
          </a:bodyPr>
          <a:lstStyle/>
          <a:p>
            <a:r>
              <a:rPr lang="en-US" sz="2000" b="1" dirty="0">
                <a:solidFill>
                  <a:srgbClr val="FF0000"/>
                </a:solidFill>
              </a:rPr>
              <a:t>3. </a:t>
            </a:r>
            <a:r>
              <a:rPr lang="en-US" sz="2000" b="1" dirty="0" err="1" smtClean="0">
                <a:solidFill>
                  <a:srgbClr val="FF0000"/>
                </a:solidFill>
              </a:rPr>
              <a:t>Az</a:t>
            </a:r>
            <a:r>
              <a:rPr lang="en-US" sz="2000" b="1" dirty="0" smtClean="0">
                <a:solidFill>
                  <a:srgbClr val="FF0000"/>
                </a:solidFill>
              </a:rPr>
              <a:t> </a:t>
            </a:r>
            <a:r>
              <a:rPr lang="en-US" sz="2000" b="1" dirty="0">
                <a:solidFill>
                  <a:srgbClr val="FF0000"/>
                </a:solidFill>
              </a:rPr>
              <a:t>Commands list -</a:t>
            </a:r>
            <a:r>
              <a:rPr lang="en-US" sz="2800" b="1" dirty="0">
                <a:solidFill>
                  <a:srgbClr val="FF0000"/>
                </a:solidFill>
              </a:rPr>
              <a:t> </a:t>
            </a:r>
            <a:r>
              <a:rPr lang="en-US" sz="2800" i="1" u="sng" dirty="0">
                <a:effectLst>
                  <a:outerShdw blurRad="38100" dist="38100" dir="2700000" algn="tl">
                    <a:srgbClr val="000000">
                      <a:alpha val="43137"/>
                    </a:srgbClr>
                  </a:outerShdw>
                </a:effectLst>
              </a:rPr>
              <a:t>Classroom - Practice</a:t>
            </a:r>
            <a:endParaRPr lang="en-US" sz="2800" b="1" dirty="0">
              <a:solidFill>
                <a:srgbClr val="FF0000"/>
              </a:solidFill>
            </a:endParaRPr>
          </a:p>
        </p:txBody>
      </p:sp>
      <p:pic>
        <p:nvPicPr>
          <p:cNvPr id="1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44700"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9" name="Group 18"/>
          <p:cNvGrpSpPr/>
          <p:nvPr/>
        </p:nvGrpSpPr>
        <p:grpSpPr>
          <a:xfrm>
            <a:off x="10770051" y="116723"/>
            <a:ext cx="1392157" cy="1474784"/>
            <a:chOff x="8622919" y="-50014"/>
            <a:chExt cx="1457840" cy="1544366"/>
          </a:xfrm>
        </p:grpSpPr>
        <p:pic>
          <p:nvPicPr>
            <p:cNvPr id="20" name="Picture 19"/>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60000" contrast="80000"/>
                      </a14:imgEffect>
                    </a14:imgLayer>
                  </a14:imgProps>
                </a:ext>
                <a:ext uri="{28A0092B-C50C-407E-A947-70E740481C1C}">
                  <a14:useLocalDpi xmlns:a14="http://schemas.microsoft.com/office/drawing/2010/main" val="0"/>
                </a:ext>
              </a:extLst>
            </a:blip>
            <a:srcRect/>
            <a:stretch>
              <a:fillRect/>
            </a:stretch>
          </p:blipFill>
          <p:spPr bwMode="auto">
            <a:xfrm>
              <a:off x="8688429" y="-50014"/>
              <a:ext cx="1251285" cy="12512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21" name="TextBox 20"/>
            <p:cNvSpPr txBox="1"/>
            <p:nvPr/>
          </p:nvSpPr>
          <p:spPr>
            <a:xfrm>
              <a:off x="8622919" y="1204284"/>
              <a:ext cx="1457840" cy="290068"/>
            </a:xfrm>
            <a:prstGeom prst="rect">
              <a:avLst/>
            </a:prstGeom>
            <a:noFill/>
          </p:spPr>
          <p:txBody>
            <a:bodyPr wrap="square" rtlCol="0">
              <a:spAutoFit/>
            </a:bodyPr>
            <a:lstStyle/>
            <a:p>
              <a:r>
                <a:rPr lang="en-US" sz="1200" b="1" dirty="0">
                  <a:effectLst>
                    <a:outerShdw blurRad="38100" dist="38100" dir="2700000" algn="tl">
                      <a:srgbClr val="000000">
                        <a:alpha val="43137"/>
                      </a:srgbClr>
                    </a:outerShdw>
                  </a:effectLst>
                </a:rPr>
                <a:t>Cloud Admin Role</a:t>
              </a:r>
              <a:endParaRPr lang="en-IN" sz="1200" b="1" dirty="0">
                <a:effectLst>
                  <a:outerShdw blurRad="38100" dist="38100" dir="2700000" algn="tl">
                    <a:srgbClr val="000000">
                      <a:alpha val="43137"/>
                    </a:srgbClr>
                  </a:outerShdw>
                </a:effectLst>
              </a:endParaRPr>
            </a:p>
          </p:txBody>
        </p:sp>
      </p:grpSp>
      <p:sp>
        <p:nvSpPr>
          <p:cNvPr id="27" name="TextBox 26"/>
          <p:cNvSpPr txBox="1"/>
          <p:nvPr/>
        </p:nvSpPr>
        <p:spPr>
          <a:xfrm>
            <a:off x="92350" y="586651"/>
            <a:ext cx="10952678" cy="6540252"/>
          </a:xfrm>
          <a:prstGeom prst="rect">
            <a:avLst/>
          </a:prstGeom>
          <a:noFill/>
        </p:spPr>
        <p:txBody>
          <a:bodyPr wrap="none" rtlCol="0">
            <a:spAutoFit/>
          </a:bodyPr>
          <a:lstStyle/>
          <a:p>
            <a:pPr marL="342900" indent="-342900">
              <a:buAutoNum type="alphaUcPeriod"/>
            </a:pPr>
            <a:r>
              <a:rPr lang="en-IN" sz="1400" b="1" dirty="0"/>
              <a:t>Only for the </a:t>
            </a:r>
            <a:r>
              <a:rPr lang="en-IN" sz="1400" b="1" i="1" dirty="0">
                <a:solidFill>
                  <a:srgbClr val="C00000"/>
                </a:solidFill>
              </a:rPr>
              <a:t>first</a:t>
            </a:r>
            <a:r>
              <a:rPr lang="en-IN" sz="1400" b="1" i="1" dirty="0"/>
              <a:t> time</a:t>
            </a:r>
            <a:r>
              <a:rPr lang="en-IN" sz="1400" b="1" dirty="0"/>
              <a:t> to initialize </a:t>
            </a:r>
            <a:r>
              <a:rPr lang="en-IN" sz="1400" b="1" dirty="0" err="1"/>
              <a:t>az</a:t>
            </a:r>
            <a:r>
              <a:rPr lang="en-IN" sz="1400" b="1" dirty="0"/>
              <a:t> access, define the user, project, configuration</a:t>
            </a:r>
          </a:p>
          <a:p>
            <a:r>
              <a:rPr lang="en-US" sz="1100" b="1" dirty="0"/>
              <a:t>B. To login into a given/different user account</a:t>
            </a:r>
            <a:endParaRPr lang="en-US" sz="1100" dirty="0"/>
          </a:p>
          <a:p>
            <a:r>
              <a:rPr lang="en-US" sz="1200" dirty="0" err="1">
                <a:solidFill>
                  <a:schemeClr val="accent1">
                    <a:lumMod val="75000"/>
                  </a:schemeClr>
                </a:solidFill>
              </a:rPr>
              <a:t>az</a:t>
            </a:r>
            <a:r>
              <a:rPr lang="en-US" sz="1200" dirty="0">
                <a:solidFill>
                  <a:schemeClr val="accent1">
                    <a:lumMod val="75000"/>
                  </a:schemeClr>
                </a:solidFill>
              </a:rPr>
              <a:t> login</a:t>
            </a:r>
          </a:p>
          <a:p>
            <a:r>
              <a:rPr lang="en-US" sz="1200" i="1" dirty="0">
                <a:solidFill>
                  <a:schemeClr val="tx1">
                    <a:lumMod val="50000"/>
                    <a:lumOff val="50000"/>
                  </a:schemeClr>
                </a:solidFill>
              </a:rPr>
              <a:t>#Get the directory id by clicking the settings button in the top right corner</a:t>
            </a:r>
            <a:endParaRPr lang="en-IN" sz="1200" i="1" dirty="0">
              <a:solidFill>
                <a:schemeClr val="tx1">
                  <a:lumMod val="50000"/>
                  <a:lumOff val="50000"/>
                </a:schemeClr>
              </a:solidFill>
            </a:endParaRPr>
          </a:p>
          <a:p>
            <a:r>
              <a:rPr lang="en-IN" sz="1200" b="1" dirty="0" err="1">
                <a:solidFill>
                  <a:schemeClr val="accent1">
                    <a:lumMod val="75000"/>
                  </a:schemeClr>
                </a:solidFill>
              </a:rPr>
              <a:t>az</a:t>
            </a:r>
            <a:r>
              <a:rPr lang="en-IN" sz="1200" b="1" dirty="0">
                <a:solidFill>
                  <a:schemeClr val="accent1">
                    <a:lumMod val="75000"/>
                  </a:schemeClr>
                </a:solidFill>
              </a:rPr>
              <a:t> login --tenant </a:t>
            </a:r>
            <a:r>
              <a:rPr lang="en-US" sz="1200" b="1" dirty="0">
                <a:solidFill>
                  <a:schemeClr val="accent1">
                    <a:lumMod val="75000"/>
                  </a:schemeClr>
                </a:solidFill>
              </a:rPr>
              <a:t>dc0ce96f-6b44-4a0c-b4eb-5cacfff7dd94</a:t>
            </a:r>
            <a:endParaRPr lang="en-IN" sz="1200" b="1" dirty="0">
              <a:solidFill>
                <a:schemeClr val="accent1">
                  <a:lumMod val="75000"/>
                </a:schemeClr>
              </a:solidFill>
            </a:endParaRPr>
          </a:p>
          <a:p>
            <a:endParaRPr lang="en-US" sz="1200" u="sng" dirty="0">
              <a:solidFill>
                <a:schemeClr val="accent1">
                  <a:lumMod val="75000"/>
                </a:schemeClr>
              </a:solidFill>
            </a:endParaRPr>
          </a:p>
          <a:p>
            <a:r>
              <a:rPr lang="en-US" sz="1200" b="1" i="1" dirty="0"/>
              <a:t>#To </a:t>
            </a:r>
            <a:r>
              <a:rPr lang="en-IN" sz="1200" b="1" i="1" dirty="0"/>
              <a:t>List which account we have logged in</a:t>
            </a:r>
            <a:r>
              <a:rPr lang="en-IN" sz="1200" b="1" i="1" dirty="0" smtClean="0"/>
              <a:t>? </a:t>
            </a:r>
            <a:r>
              <a:rPr lang="en-US" sz="1200" dirty="0" err="1" smtClean="0">
                <a:solidFill>
                  <a:schemeClr val="accent1">
                    <a:lumMod val="75000"/>
                  </a:schemeClr>
                </a:solidFill>
              </a:rPr>
              <a:t>gcloud</a:t>
            </a:r>
            <a:r>
              <a:rPr lang="en-US" sz="1200" dirty="0" smtClean="0">
                <a:solidFill>
                  <a:schemeClr val="accent1">
                    <a:lumMod val="75000"/>
                  </a:schemeClr>
                </a:solidFill>
              </a:rPr>
              <a:t> </a:t>
            </a:r>
            <a:r>
              <a:rPr lang="en-US" sz="1200" dirty="0" err="1" smtClean="0">
                <a:solidFill>
                  <a:schemeClr val="accent1">
                    <a:lumMod val="75000"/>
                  </a:schemeClr>
                </a:solidFill>
              </a:rPr>
              <a:t>config</a:t>
            </a:r>
            <a:r>
              <a:rPr lang="en-US" sz="1200" dirty="0" smtClean="0">
                <a:solidFill>
                  <a:schemeClr val="accent1">
                    <a:lumMod val="75000"/>
                  </a:schemeClr>
                </a:solidFill>
              </a:rPr>
              <a:t> list</a:t>
            </a:r>
            <a:endParaRPr lang="en-US" sz="1200" i="1" dirty="0"/>
          </a:p>
          <a:p>
            <a:r>
              <a:rPr lang="en-US" sz="1200" dirty="0" err="1">
                <a:solidFill>
                  <a:schemeClr val="accent1">
                    <a:lumMod val="75000"/>
                  </a:schemeClr>
                </a:solidFill>
              </a:rPr>
              <a:t>az</a:t>
            </a:r>
            <a:r>
              <a:rPr lang="en-US" sz="1200" dirty="0">
                <a:solidFill>
                  <a:schemeClr val="accent1">
                    <a:lumMod val="75000"/>
                  </a:schemeClr>
                </a:solidFill>
              </a:rPr>
              <a:t> account show</a:t>
            </a:r>
          </a:p>
          <a:p>
            <a:endParaRPr lang="en-US" sz="1200" u="sng" dirty="0">
              <a:solidFill>
                <a:schemeClr val="accent1">
                  <a:lumMod val="75000"/>
                </a:schemeClr>
              </a:solidFill>
            </a:endParaRPr>
          </a:p>
          <a:p>
            <a:r>
              <a:rPr lang="en-US" sz="1200" b="1" i="1" dirty="0"/>
              <a:t>#To </a:t>
            </a:r>
            <a:r>
              <a:rPr lang="en-IN" sz="1200" b="1" i="1" dirty="0"/>
              <a:t>List available subscriptions </a:t>
            </a:r>
            <a:r>
              <a:rPr lang="en-US" sz="1200" dirty="0" err="1">
                <a:solidFill>
                  <a:schemeClr val="accent1">
                    <a:lumMod val="75000"/>
                  </a:schemeClr>
                </a:solidFill>
              </a:rPr>
              <a:t>gcloud</a:t>
            </a:r>
            <a:r>
              <a:rPr lang="en-US" sz="1200" dirty="0">
                <a:solidFill>
                  <a:schemeClr val="accent1">
                    <a:lumMod val="75000"/>
                  </a:schemeClr>
                </a:solidFill>
              </a:rPr>
              <a:t> </a:t>
            </a:r>
            <a:r>
              <a:rPr lang="en-US" sz="1200" dirty="0" err="1">
                <a:solidFill>
                  <a:schemeClr val="accent1">
                    <a:lumMod val="75000"/>
                  </a:schemeClr>
                </a:solidFill>
              </a:rPr>
              <a:t>auth</a:t>
            </a:r>
            <a:r>
              <a:rPr lang="en-US" sz="1200" dirty="0">
                <a:solidFill>
                  <a:schemeClr val="accent1">
                    <a:lumMod val="75000"/>
                  </a:schemeClr>
                </a:solidFill>
              </a:rPr>
              <a:t> list</a:t>
            </a:r>
            <a:endParaRPr lang="en-US" sz="1200" i="1" dirty="0"/>
          </a:p>
          <a:p>
            <a:r>
              <a:rPr lang="en-US" sz="1200" dirty="0" err="1">
                <a:solidFill>
                  <a:schemeClr val="accent1">
                    <a:lumMod val="75000"/>
                  </a:schemeClr>
                </a:solidFill>
              </a:rPr>
              <a:t>az</a:t>
            </a:r>
            <a:r>
              <a:rPr lang="en-US" sz="1200" dirty="0">
                <a:solidFill>
                  <a:schemeClr val="accent1">
                    <a:lumMod val="75000"/>
                  </a:schemeClr>
                </a:solidFill>
              </a:rPr>
              <a:t> account list --output table</a:t>
            </a:r>
          </a:p>
          <a:p>
            <a:endParaRPr lang="en-US" sz="1200" u="sng" dirty="0">
              <a:solidFill>
                <a:schemeClr val="accent1">
                  <a:lumMod val="75000"/>
                </a:schemeClr>
              </a:solidFill>
            </a:endParaRPr>
          </a:p>
          <a:p>
            <a:r>
              <a:rPr lang="en-US" sz="1200" b="1" dirty="0"/>
              <a:t>B. To login into a given/different user account (capture the subscription id from the above output)</a:t>
            </a:r>
            <a:endParaRPr lang="en-US" sz="1200" b="1" i="1" dirty="0"/>
          </a:p>
          <a:p>
            <a:r>
              <a:rPr lang="en-US" sz="1200" b="1" i="1" dirty="0"/>
              <a:t>#To</a:t>
            </a:r>
            <a:r>
              <a:rPr lang="en-IN" sz="1200" b="1" i="1" dirty="0"/>
              <a:t> Set the subscription</a:t>
            </a:r>
            <a:r>
              <a:rPr lang="en-IN" sz="1200" b="1" i="1" dirty="0" smtClean="0"/>
              <a:t>: </a:t>
            </a:r>
            <a:r>
              <a:rPr lang="en-US" sz="1200" dirty="0" err="1" smtClean="0">
                <a:solidFill>
                  <a:schemeClr val="bg1">
                    <a:lumMod val="75000"/>
                  </a:schemeClr>
                </a:solidFill>
              </a:rPr>
              <a:t>gcloud</a:t>
            </a:r>
            <a:r>
              <a:rPr lang="en-US" sz="1200" dirty="0" smtClean="0">
                <a:solidFill>
                  <a:schemeClr val="bg1">
                    <a:lumMod val="75000"/>
                  </a:schemeClr>
                </a:solidFill>
              </a:rPr>
              <a:t> </a:t>
            </a:r>
            <a:r>
              <a:rPr lang="en-US" sz="1200" dirty="0" err="1" smtClean="0">
                <a:solidFill>
                  <a:schemeClr val="bg1">
                    <a:lumMod val="75000"/>
                  </a:schemeClr>
                </a:solidFill>
              </a:rPr>
              <a:t>config</a:t>
            </a:r>
            <a:r>
              <a:rPr lang="en-US" sz="1200" dirty="0" smtClean="0">
                <a:solidFill>
                  <a:schemeClr val="bg1">
                    <a:lumMod val="75000"/>
                  </a:schemeClr>
                </a:solidFill>
              </a:rPr>
              <a:t> </a:t>
            </a:r>
            <a:r>
              <a:rPr lang="en-US" sz="1200" b="1" dirty="0" smtClean="0">
                <a:solidFill>
                  <a:schemeClr val="bg1">
                    <a:lumMod val="75000"/>
                  </a:schemeClr>
                </a:solidFill>
              </a:rPr>
              <a:t>set project “wd32-proj-1234”</a:t>
            </a:r>
            <a:endParaRPr lang="en-IN" sz="1200" b="1" dirty="0">
              <a:solidFill>
                <a:schemeClr val="bg1">
                  <a:lumMod val="75000"/>
                </a:schemeClr>
              </a:solidFill>
            </a:endParaRPr>
          </a:p>
          <a:p>
            <a:r>
              <a:rPr lang="en-US" sz="1200" dirty="0" err="1">
                <a:solidFill>
                  <a:schemeClr val="accent1">
                    <a:lumMod val="75000"/>
                  </a:schemeClr>
                </a:solidFill>
              </a:rPr>
              <a:t>az</a:t>
            </a:r>
            <a:r>
              <a:rPr lang="en-US" sz="1200" dirty="0">
                <a:solidFill>
                  <a:schemeClr val="accent1">
                    <a:lumMod val="75000"/>
                  </a:schemeClr>
                </a:solidFill>
              </a:rPr>
              <a:t> account </a:t>
            </a:r>
            <a:r>
              <a:rPr lang="en-US" sz="1200" b="1" dirty="0">
                <a:solidFill>
                  <a:schemeClr val="accent1">
                    <a:lumMod val="75000"/>
                  </a:schemeClr>
                </a:solidFill>
              </a:rPr>
              <a:t>set --subscription "445b9ed0-3121-4340-bd7f-8935df4be9f0"</a:t>
            </a:r>
          </a:p>
          <a:p>
            <a:endParaRPr lang="en-US" sz="1200" dirty="0">
              <a:solidFill>
                <a:schemeClr val="accent1">
                  <a:lumMod val="75000"/>
                </a:schemeClr>
              </a:solidFill>
            </a:endParaRPr>
          </a:p>
          <a:p>
            <a:r>
              <a:rPr lang="en-IN" sz="1200" b="1" dirty="0"/>
              <a:t>#</a:t>
            </a:r>
            <a:r>
              <a:rPr lang="en-IN" sz="1200" b="1" i="1" dirty="0"/>
              <a:t>To </a:t>
            </a:r>
            <a:r>
              <a:rPr lang="en-US" sz="1200" b="1" i="1" dirty="0"/>
              <a:t>logout of the given user/principals </a:t>
            </a:r>
            <a:r>
              <a:rPr lang="en-US" sz="1200" b="1" i="1" dirty="0" smtClean="0"/>
              <a:t>account </a:t>
            </a:r>
            <a:r>
              <a:rPr lang="en-US" sz="1200" dirty="0" err="1" smtClean="0">
                <a:solidFill>
                  <a:schemeClr val="accent1">
                    <a:lumMod val="75000"/>
                  </a:schemeClr>
                </a:solidFill>
              </a:rPr>
              <a:t>gcloud</a:t>
            </a:r>
            <a:r>
              <a:rPr lang="en-US" sz="1200" dirty="0" smtClean="0">
                <a:solidFill>
                  <a:schemeClr val="accent1">
                    <a:lumMod val="75000"/>
                  </a:schemeClr>
                </a:solidFill>
              </a:rPr>
              <a:t> </a:t>
            </a:r>
            <a:r>
              <a:rPr lang="en-US" sz="1200" dirty="0" err="1" smtClean="0">
                <a:solidFill>
                  <a:schemeClr val="accent1">
                    <a:lumMod val="75000"/>
                  </a:schemeClr>
                </a:solidFill>
              </a:rPr>
              <a:t>auth</a:t>
            </a:r>
            <a:r>
              <a:rPr lang="en-US" sz="1200" dirty="0" smtClean="0">
                <a:solidFill>
                  <a:schemeClr val="accent1">
                    <a:lumMod val="75000"/>
                  </a:schemeClr>
                </a:solidFill>
              </a:rPr>
              <a:t> revoke</a:t>
            </a:r>
            <a:r>
              <a:rPr lang="en-US" sz="1400" b="1" dirty="0" smtClean="0">
                <a:solidFill>
                  <a:schemeClr val="accent1">
                    <a:lumMod val="75000"/>
                  </a:schemeClr>
                </a:solidFill>
              </a:rPr>
              <a:t> </a:t>
            </a:r>
            <a:endParaRPr lang="en-US" sz="1400" b="1" dirty="0">
              <a:solidFill>
                <a:schemeClr val="accent1">
                  <a:lumMod val="75000"/>
                </a:schemeClr>
              </a:solidFill>
            </a:endParaRPr>
          </a:p>
          <a:p>
            <a:r>
              <a:rPr lang="en-US" sz="1200" strike="sngStrike" dirty="0" err="1">
                <a:solidFill>
                  <a:schemeClr val="accent1">
                    <a:lumMod val="75000"/>
                  </a:schemeClr>
                </a:solidFill>
              </a:rPr>
              <a:t>az</a:t>
            </a:r>
            <a:r>
              <a:rPr lang="en-US" sz="1200" strike="sngStrike" dirty="0">
                <a:solidFill>
                  <a:schemeClr val="accent1">
                    <a:lumMod val="75000"/>
                  </a:schemeClr>
                </a:solidFill>
              </a:rPr>
              <a:t> account clear</a:t>
            </a:r>
          </a:p>
          <a:p>
            <a:endParaRPr lang="en-US" sz="1200" dirty="0">
              <a:solidFill>
                <a:schemeClr val="accent1">
                  <a:lumMod val="75000"/>
                </a:schemeClr>
              </a:solidFill>
            </a:endParaRPr>
          </a:p>
          <a:p>
            <a:r>
              <a:rPr lang="en-IN" sz="1200" b="1" dirty="0"/>
              <a:t>#To list available resource groups </a:t>
            </a:r>
            <a:r>
              <a:rPr lang="en-IN" sz="1200" i="1" dirty="0"/>
              <a:t>(We use these resource group later to create resources/access resources)</a:t>
            </a:r>
            <a:endParaRPr lang="en-IN" sz="1200" i="1" dirty="0">
              <a:solidFill>
                <a:schemeClr val="accent1">
                  <a:lumMod val="75000"/>
                </a:schemeClr>
              </a:solidFill>
            </a:endParaRPr>
          </a:p>
          <a:p>
            <a:r>
              <a:rPr lang="en-IN" sz="1200" b="1" dirty="0" err="1">
                <a:solidFill>
                  <a:schemeClr val="accent1">
                    <a:lumMod val="75000"/>
                  </a:schemeClr>
                </a:solidFill>
              </a:rPr>
              <a:t>az</a:t>
            </a:r>
            <a:r>
              <a:rPr lang="en-IN" sz="1200" b="1" dirty="0">
                <a:solidFill>
                  <a:schemeClr val="accent1">
                    <a:lumMod val="75000"/>
                  </a:schemeClr>
                </a:solidFill>
              </a:rPr>
              <a:t> group list --output table</a:t>
            </a:r>
          </a:p>
          <a:p>
            <a:r>
              <a:rPr lang="en-US" sz="1200" i="1" dirty="0">
                <a:solidFill>
                  <a:schemeClr val="accent1">
                    <a:lumMod val="75000"/>
                  </a:schemeClr>
                </a:solidFill>
              </a:rPr>
              <a:t>#Copy the resource group listed above</a:t>
            </a:r>
            <a:endParaRPr lang="en-IN" sz="1200" i="1" dirty="0">
              <a:solidFill>
                <a:schemeClr val="accent1">
                  <a:lumMod val="75000"/>
                </a:schemeClr>
              </a:solidFill>
            </a:endParaRPr>
          </a:p>
          <a:p>
            <a:endParaRPr lang="en-US" sz="1200" dirty="0">
              <a:solidFill>
                <a:schemeClr val="accent1">
                  <a:lumMod val="75000"/>
                </a:schemeClr>
              </a:solidFill>
            </a:endParaRPr>
          </a:p>
          <a:p>
            <a:r>
              <a:rPr lang="en-US" sz="1200" b="1" dirty="0"/>
              <a:t>#To activate the ad’s (</a:t>
            </a:r>
            <a:r>
              <a:rPr lang="en-US" sz="1200" b="1" dirty="0" err="1"/>
              <a:t>entra</a:t>
            </a:r>
            <a:r>
              <a:rPr lang="en-US" sz="1200" b="1" dirty="0"/>
              <a:t>) service principal </a:t>
            </a:r>
            <a:r>
              <a:rPr lang="en-US" sz="1200" b="1" strike="sngStrike" dirty="0" smtClean="0"/>
              <a:t>(Service Account)</a:t>
            </a:r>
            <a:r>
              <a:rPr lang="en-US" sz="1200" b="1" dirty="0" smtClean="0"/>
              <a:t> (</a:t>
            </a:r>
            <a:r>
              <a:rPr lang="en-US" sz="1200" b="1" dirty="0"/>
              <a:t>IAM authenticating) for RBAC - </a:t>
            </a:r>
            <a:r>
              <a:rPr lang="en-US" sz="800" b="1" strike="sngStrike" dirty="0" err="1">
                <a:solidFill>
                  <a:schemeClr val="accent1">
                    <a:lumMod val="75000"/>
                  </a:schemeClr>
                </a:solidFill>
              </a:rPr>
              <a:t>gcloud</a:t>
            </a:r>
            <a:r>
              <a:rPr lang="en-US" sz="800" b="1" strike="sngStrike" dirty="0">
                <a:solidFill>
                  <a:schemeClr val="accent1">
                    <a:lumMod val="75000"/>
                  </a:schemeClr>
                </a:solidFill>
              </a:rPr>
              <a:t> auth activate-service-account --key-file</a:t>
            </a:r>
            <a:r>
              <a:rPr lang="en-US" sz="800" b="1" strike="sngStrike" dirty="0">
                <a:solidFill>
                  <a:srgbClr val="C00000"/>
                </a:solidFill>
              </a:rPr>
              <a:t>=/home/</a:t>
            </a:r>
            <a:r>
              <a:rPr lang="en-US" sz="800" b="1" strike="sngStrike" dirty="0" err="1">
                <a:solidFill>
                  <a:srgbClr val="C00000"/>
                </a:solidFill>
              </a:rPr>
              <a:t>hduser</a:t>
            </a:r>
            <a:r>
              <a:rPr lang="en-US" sz="800" b="1" strike="sngStrike" dirty="0">
                <a:solidFill>
                  <a:srgbClr val="C00000"/>
                </a:solidFill>
              </a:rPr>
              <a:t>/weekday-32-proj-427802-a6-fd822f730117.json</a:t>
            </a:r>
          </a:p>
          <a:p>
            <a:r>
              <a:rPr lang="en-US" sz="800" b="1" dirty="0"/>
              <a:t>#Generate a Private Key</a:t>
            </a:r>
          </a:p>
          <a:p>
            <a:r>
              <a:rPr lang="en-US" sz="800" dirty="0" err="1">
                <a:solidFill>
                  <a:srgbClr val="0070C0"/>
                </a:solidFill>
              </a:rPr>
              <a:t>openssl</a:t>
            </a:r>
            <a:r>
              <a:rPr lang="en-US" sz="800" dirty="0">
                <a:solidFill>
                  <a:srgbClr val="0070C0"/>
                </a:solidFill>
              </a:rPr>
              <a:t> </a:t>
            </a:r>
            <a:r>
              <a:rPr lang="en-US" sz="800" dirty="0" err="1">
                <a:solidFill>
                  <a:srgbClr val="0070C0"/>
                </a:solidFill>
              </a:rPr>
              <a:t>genrsa</a:t>
            </a:r>
            <a:r>
              <a:rPr lang="en-US" sz="800" dirty="0">
                <a:solidFill>
                  <a:srgbClr val="0070C0"/>
                </a:solidFill>
              </a:rPr>
              <a:t> -out </a:t>
            </a:r>
            <a:r>
              <a:rPr lang="en-US" sz="800" dirty="0" err="1">
                <a:solidFill>
                  <a:srgbClr val="0070C0"/>
                </a:solidFill>
              </a:rPr>
              <a:t>sp_private.pem</a:t>
            </a:r>
            <a:r>
              <a:rPr lang="en-US" sz="800" dirty="0">
                <a:solidFill>
                  <a:srgbClr val="0070C0"/>
                </a:solidFill>
              </a:rPr>
              <a:t> 2048</a:t>
            </a:r>
          </a:p>
          <a:p>
            <a:endParaRPr lang="en-US" sz="800" b="1" dirty="0"/>
          </a:p>
          <a:p>
            <a:r>
              <a:rPr lang="en-US" sz="800" b="1" dirty="0"/>
              <a:t>#Create a self-signed certificate (valid 1 year)</a:t>
            </a:r>
          </a:p>
          <a:p>
            <a:r>
              <a:rPr lang="en-US" sz="800" b="1" dirty="0" err="1">
                <a:solidFill>
                  <a:srgbClr val="0070C0"/>
                </a:solidFill>
              </a:rPr>
              <a:t>openssl</a:t>
            </a:r>
            <a:r>
              <a:rPr lang="en-US" sz="800" b="1" dirty="0">
                <a:solidFill>
                  <a:srgbClr val="0070C0"/>
                </a:solidFill>
              </a:rPr>
              <a:t> req -new -x509 -key </a:t>
            </a:r>
            <a:r>
              <a:rPr lang="en-US" sz="800" b="1" dirty="0" err="1">
                <a:solidFill>
                  <a:srgbClr val="0070C0"/>
                </a:solidFill>
              </a:rPr>
              <a:t>sp_private.pem</a:t>
            </a:r>
            <a:r>
              <a:rPr lang="en-US" sz="800" b="1" dirty="0">
                <a:solidFill>
                  <a:srgbClr val="0070C0"/>
                </a:solidFill>
              </a:rPr>
              <a:t> -out </a:t>
            </a:r>
            <a:r>
              <a:rPr lang="en-US" sz="800" b="1" dirty="0" err="1">
                <a:solidFill>
                  <a:srgbClr val="0070C0"/>
                </a:solidFill>
              </a:rPr>
              <a:t>sp_cert.pem</a:t>
            </a:r>
            <a:r>
              <a:rPr lang="en-US" sz="800" b="1" dirty="0">
                <a:solidFill>
                  <a:srgbClr val="0070C0"/>
                </a:solidFill>
              </a:rPr>
              <a:t> -days 365 -subj "/CN=</a:t>
            </a:r>
            <a:r>
              <a:rPr lang="en-US" sz="800" b="1" dirty="0" err="1">
                <a:solidFill>
                  <a:srgbClr val="0070C0"/>
                </a:solidFill>
              </a:rPr>
              <a:t>MySPNCert</a:t>
            </a:r>
            <a:r>
              <a:rPr lang="en-US" sz="800" b="1" dirty="0">
                <a:solidFill>
                  <a:srgbClr val="0070C0"/>
                </a:solidFill>
              </a:rPr>
              <a:t>"</a:t>
            </a:r>
          </a:p>
          <a:p>
            <a:endParaRPr lang="en-US" sz="800" b="1" dirty="0"/>
          </a:p>
          <a:p>
            <a:r>
              <a:rPr lang="en-US" sz="800" b="1" dirty="0"/>
              <a:t>#Create a Service Principal(Service account) in Azure with the Certificate</a:t>
            </a:r>
          </a:p>
          <a:p>
            <a:r>
              <a:rPr lang="en-US" sz="800" b="1" dirty="0" err="1">
                <a:solidFill>
                  <a:srgbClr val="0070C0"/>
                </a:solidFill>
              </a:rPr>
              <a:t>az</a:t>
            </a:r>
            <a:r>
              <a:rPr lang="en-US" sz="800" b="1" dirty="0">
                <a:solidFill>
                  <a:srgbClr val="0070C0"/>
                </a:solidFill>
              </a:rPr>
              <a:t> ad </a:t>
            </a:r>
            <a:r>
              <a:rPr lang="en-US" sz="800" b="1" dirty="0" err="1">
                <a:solidFill>
                  <a:srgbClr val="0070C0"/>
                </a:solidFill>
              </a:rPr>
              <a:t>sp</a:t>
            </a:r>
            <a:r>
              <a:rPr lang="en-US" sz="800" b="1" dirty="0">
                <a:solidFill>
                  <a:srgbClr val="0070C0"/>
                </a:solidFill>
              </a:rPr>
              <a:t> create-for-</a:t>
            </a:r>
            <a:r>
              <a:rPr lang="en-US" sz="800" b="1" dirty="0" err="1">
                <a:solidFill>
                  <a:srgbClr val="0070C0"/>
                </a:solidFill>
              </a:rPr>
              <a:t>rbac</a:t>
            </a:r>
            <a:r>
              <a:rPr lang="en-US" sz="800" b="1" dirty="0">
                <a:solidFill>
                  <a:srgbClr val="0070C0"/>
                </a:solidFill>
              </a:rPr>
              <a:t> --name "my-certificate-</a:t>
            </a:r>
            <a:r>
              <a:rPr lang="en-US" sz="800" b="1" dirty="0" err="1">
                <a:solidFill>
                  <a:srgbClr val="0070C0"/>
                </a:solidFill>
              </a:rPr>
              <a:t>spn</a:t>
            </a:r>
            <a:r>
              <a:rPr lang="en-US" sz="800" b="1" dirty="0">
                <a:solidFill>
                  <a:srgbClr val="0070C0"/>
                </a:solidFill>
              </a:rPr>
              <a:t>" --cert "@</a:t>
            </a:r>
            <a:r>
              <a:rPr lang="en-US" sz="800" b="1" dirty="0" err="1">
                <a:solidFill>
                  <a:srgbClr val="0070C0"/>
                </a:solidFill>
              </a:rPr>
              <a:t>sp_cert.pem</a:t>
            </a:r>
            <a:r>
              <a:rPr lang="en-US" sz="800" b="1" dirty="0">
                <a:solidFill>
                  <a:srgbClr val="0070C0"/>
                </a:solidFill>
              </a:rPr>
              <a:t>" --role </a:t>
            </a:r>
            <a:r>
              <a:rPr lang="en-US" sz="800" b="1" dirty="0">
                <a:solidFill>
                  <a:srgbClr val="00B050"/>
                </a:solidFill>
              </a:rPr>
              <a:t>Contributor</a:t>
            </a:r>
            <a:r>
              <a:rPr lang="en-US" sz="800" b="1" dirty="0">
                <a:solidFill>
                  <a:srgbClr val="0070C0"/>
                </a:solidFill>
              </a:rPr>
              <a:t> --scopes /</a:t>
            </a:r>
            <a:r>
              <a:rPr lang="en-US" sz="800" b="1" dirty="0" smtClean="0">
                <a:solidFill>
                  <a:srgbClr val="0070C0"/>
                </a:solidFill>
              </a:rPr>
              <a:t>subscriptions/</a:t>
            </a:r>
            <a:r>
              <a:rPr lang="en-IN" sz="800" dirty="0" smtClean="0"/>
              <a:t>7b676d44-6580-4871-8821-52ad8aef4a14</a:t>
            </a:r>
            <a:endParaRPr lang="en-IN" sz="800" dirty="0"/>
          </a:p>
          <a:p>
            <a:endParaRPr lang="en-US" sz="800" b="1" dirty="0"/>
          </a:p>
          <a:p>
            <a:r>
              <a:rPr lang="en-US" sz="800" b="1" dirty="0"/>
              <a:t>#Combine Key + Certificate into One .</a:t>
            </a:r>
            <a:r>
              <a:rPr lang="en-US" sz="800" b="1" dirty="0" err="1"/>
              <a:t>pem</a:t>
            </a:r>
            <a:r>
              <a:rPr lang="en-US" sz="800" b="1" dirty="0"/>
              <a:t> (for login)</a:t>
            </a:r>
          </a:p>
          <a:p>
            <a:r>
              <a:rPr lang="en-US" sz="800" b="1" dirty="0">
                <a:solidFill>
                  <a:srgbClr val="0070C0"/>
                </a:solidFill>
              </a:rPr>
              <a:t>cat </a:t>
            </a:r>
            <a:r>
              <a:rPr lang="en-US" sz="800" b="1" dirty="0" err="1">
                <a:solidFill>
                  <a:srgbClr val="0070C0"/>
                </a:solidFill>
              </a:rPr>
              <a:t>sp_private.pem</a:t>
            </a:r>
            <a:r>
              <a:rPr lang="en-US" sz="800" b="1" dirty="0">
                <a:solidFill>
                  <a:srgbClr val="0070C0"/>
                </a:solidFill>
              </a:rPr>
              <a:t> </a:t>
            </a:r>
            <a:r>
              <a:rPr lang="en-US" sz="800" b="1" dirty="0" err="1">
                <a:solidFill>
                  <a:srgbClr val="0070C0"/>
                </a:solidFill>
              </a:rPr>
              <a:t>sp_cert.pem</a:t>
            </a:r>
            <a:r>
              <a:rPr lang="en-US" sz="800" b="1" dirty="0">
                <a:solidFill>
                  <a:srgbClr val="0070C0"/>
                </a:solidFill>
              </a:rPr>
              <a:t> &gt; </a:t>
            </a:r>
            <a:r>
              <a:rPr lang="en-US" sz="800" b="1" dirty="0" err="1">
                <a:solidFill>
                  <a:srgbClr val="0070C0"/>
                </a:solidFill>
              </a:rPr>
              <a:t>azure_sp.pem</a:t>
            </a:r>
            <a:endParaRPr lang="en-US" sz="800" b="1" dirty="0">
              <a:solidFill>
                <a:srgbClr val="0070C0"/>
              </a:solidFill>
            </a:endParaRPr>
          </a:p>
          <a:p>
            <a:r>
              <a:rPr lang="en-US" sz="800" b="1" dirty="0"/>
              <a:t>  </a:t>
            </a:r>
          </a:p>
          <a:p>
            <a:r>
              <a:rPr lang="en-US" sz="800" b="1" dirty="0"/>
              <a:t>#Login Using the Certificate  (username is </a:t>
            </a:r>
            <a:r>
              <a:rPr lang="en-US" sz="800" b="1" dirty="0" err="1"/>
              <a:t>appId</a:t>
            </a:r>
            <a:r>
              <a:rPr lang="en-US" sz="800" b="1" dirty="0"/>
              <a:t>)</a:t>
            </a:r>
          </a:p>
          <a:p>
            <a:r>
              <a:rPr lang="en-US" sz="800" b="1" dirty="0" err="1">
                <a:solidFill>
                  <a:srgbClr val="0070C0"/>
                </a:solidFill>
              </a:rPr>
              <a:t>az</a:t>
            </a:r>
            <a:r>
              <a:rPr lang="en-US" sz="800" b="1" dirty="0">
                <a:solidFill>
                  <a:srgbClr val="0070C0"/>
                </a:solidFill>
              </a:rPr>
              <a:t> login --service-principal --username "d1df90e1-8e06-4fa6-8870-b3a46b12c086" --tenant "dc0ce96f-6b44-4a0c-b4eb-5cacfff7dd94" --certificate "</a:t>
            </a:r>
            <a:r>
              <a:rPr lang="en-US" sz="800" b="1" dirty="0" err="1">
                <a:solidFill>
                  <a:srgbClr val="0070C0"/>
                </a:solidFill>
              </a:rPr>
              <a:t>azure_sp.pem</a:t>
            </a:r>
            <a:r>
              <a:rPr lang="en-US" sz="800" b="1" dirty="0">
                <a:solidFill>
                  <a:srgbClr val="0070C0"/>
                </a:solidFill>
              </a:rPr>
              <a:t>"</a:t>
            </a:r>
            <a:endParaRPr lang="en-US" sz="1200" b="1" dirty="0">
              <a:solidFill>
                <a:srgbClr val="0070C0"/>
              </a:solidFill>
            </a:endParaRPr>
          </a:p>
        </p:txBody>
      </p:sp>
      <p:graphicFrame>
        <p:nvGraphicFramePr>
          <p:cNvPr id="28" name="Table 27"/>
          <p:cNvGraphicFramePr>
            <a:graphicFrameLocks noGrp="1"/>
          </p:cNvGraphicFramePr>
          <p:nvPr>
            <p:extLst>
              <p:ext uri="{D42A27DB-BD31-4B8C-83A1-F6EECF244321}">
                <p14:modId xmlns:p14="http://schemas.microsoft.com/office/powerpoint/2010/main" val="1158040072"/>
              </p:ext>
            </p:extLst>
          </p:nvPr>
        </p:nvGraphicFramePr>
        <p:xfrm>
          <a:off x="8027090" y="60864"/>
          <a:ext cx="2717610" cy="1306625"/>
        </p:xfrm>
        <a:graphic>
          <a:graphicData uri="http://schemas.openxmlformats.org/drawingml/2006/table">
            <a:tbl>
              <a:tblPr/>
              <a:tblGrid>
                <a:gridCol w="868363">
                  <a:extLst>
                    <a:ext uri="{9D8B030D-6E8A-4147-A177-3AD203B41FA5}">
                      <a16:colId xmlns:a16="http://schemas.microsoft.com/office/drawing/2014/main" xmlns="" val="20000"/>
                    </a:ext>
                  </a:extLst>
                </a:gridCol>
                <a:gridCol w="1849247">
                  <a:extLst>
                    <a:ext uri="{9D8B030D-6E8A-4147-A177-3AD203B41FA5}">
                      <a16:colId xmlns:a16="http://schemas.microsoft.com/office/drawing/2014/main" xmlns="" val="20001"/>
                    </a:ext>
                  </a:extLst>
                </a:gridCol>
              </a:tblGrid>
              <a:tr h="314166">
                <a:tc>
                  <a:txBody>
                    <a:bodyPr/>
                    <a:lstStyle/>
                    <a:p>
                      <a:pPr algn="ctr" rtl="0" fontAlgn="ctr"/>
                      <a:r>
                        <a:rPr lang="en-IN" sz="1400" b="1" i="0" u="none" strike="noStrike" dirty="0" smtClean="0">
                          <a:solidFill>
                            <a:srgbClr val="000000"/>
                          </a:solidFill>
                          <a:effectLst/>
                          <a:latin typeface="Calibri"/>
                        </a:rPr>
                        <a:t>GCP</a:t>
                      </a:r>
                      <a:endParaRPr lang="en-IN" sz="1400" b="1" i="0" u="none" strike="noStrike" dirty="0">
                        <a:solidFill>
                          <a:srgbClr val="000000"/>
                        </a:solidFill>
                        <a:effectLst/>
                        <a:latin typeface="Calibri"/>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BB59"/>
                    </a:solidFill>
                  </a:tcPr>
                </a:tc>
                <a:tc>
                  <a:txBody>
                    <a:bodyPr/>
                    <a:lstStyle/>
                    <a:p>
                      <a:pPr algn="ctr" rtl="0" fontAlgn="ctr"/>
                      <a:r>
                        <a:rPr lang="en-IN" sz="1400" b="1" i="0" u="none" strike="noStrike" dirty="0">
                          <a:solidFill>
                            <a:srgbClr val="000000"/>
                          </a:solidFill>
                          <a:effectLst/>
                          <a:latin typeface="Calibri"/>
                        </a:rPr>
                        <a:t>Azure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BB59"/>
                    </a:solidFill>
                  </a:tcPr>
                </a:tc>
                <a:extLst>
                  <a:ext uri="{0D108BD9-81ED-4DB2-BD59-A6C34878D82A}">
                    <a16:rowId xmlns:a16="http://schemas.microsoft.com/office/drawing/2014/main" xmlns="" val="10000"/>
                  </a:ext>
                </a:extLst>
              </a:tr>
              <a:tr h="228554">
                <a:tc>
                  <a:txBody>
                    <a:bodyPr/>
                    <a:lstStyle/>
                    <a:p>
                      <a:pPr algn="l" rtl="0" fontAlgn="ctr"/>
                      <a:r>
                        <a:rPr lang="en-IN" sz="1200" b="0" i="0" u="none" strike="noStrike" dirty="0">
                          <a:solidFill>
                            <a:srgbClr val="000000"/>
                          </a:solidFill>
                          <a:effectLst/>
                          <a:latin typeface="Calibri"/>
                        </a:rPr>
                        <a:t> Organization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tc>
                  <a:txBody>
                    <a:bodyPr/>
                    <a:lstStyle/>
                    <a:p>
                      <a:pPr algn="l" rtl="0" fontAlgn="ctr"/>
                      <a:r>
                        <a:rPr lang="en-IN" sz="1200" b="0" i="0" u="none" strike="noStrike" dirty="0">
                          <a:solidFill>
                            <a:srgbClr val="000000"/>
                          </a:solidFill>
                          <a:effectLst/>
                          <a:latin typeface="Calibri"/>
                        </a:rPr>
                        <a:t> Tenant/Directory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extLst>
                  <a:ext uri="{0D108BD9-81ED-4DB2-BD59-A6C34878D82A}">
                    <a16:rowId xmlns:a16="http://schemas.microsoft.com/office/drawing/2014/main" xmlns="" val="10001"/>
                  </a:ext>
                </a:extLst>
              </a:tr>
              <a:tr h="180975">
                <a:tc>
                  <a:txBody>
                    <a:bodyPr/>
                    <a:lstStyle/>
                    <a:p>
                      <a:pPr algn="l" rtl="0" fontAlgn="ctr"/>
                      <a:r>
                        <a:rPr lang="en-IN" sz="1200" b="0" i="0" u="none" strike="noStrike" dirty="0">
                          <a:solidFill>
                            <a:srgbClr val="000000"/>
                          </a:solidFill>
                          <a:effectLst/>
                          <a:latin typeface="Calibri"/>
                        </a:rPr>
                        <a:t> Folders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tc>
                  <a:txBody>
                    <a:bodyPr/>
                    <a:lstStyle/>
                    <a:p>
                      <a:pPr algn="l" rtl="0" fontAlgn="ctr"/>
                      <a:r>
                        <a:rPr lang="en-IN" sz="1200" b="0" i="0" u="none" strike="noStrike" dirty="0">
                          <a:solidFill>
                            <a:srgbClr val="000000"/>
                          </a:solidFill>
                          <a:effectLst/>
                          <a:latin typeface="Calibri"/>
                        </a:rPr>
                        <a:t> Management Groups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extLst>
                  <a:ext uri="{0D108BD9-81ED-4DB2-BD59-A6C34878D82A}">
                    <a16:rowId xmlns:a16="http://schemas.microsoft.com/office/drawing/2014/main" xmlns="" val="10002"/>
                  </a:ext>
                </a:extLst>
              </a:tr>
              <a:tr h="171450">
                <a:tc>
                  <a:txBody>
                    <a:bodyPr/>
                    <a:lstStyle/>
                    <a:p>
                      <a:pPr algn="l" rtl="0" fontAlgn="ctr"/>
                      <a:r>
                        <a:rPr lang="en-IN" sz="1200" b="0" i="0" u="none" strike="noStrike" dirty="0">
                          <a:solidFill>
                            <a:srgbClr val="000000"/>
                          </a:solidFill>
                          <a:effectLst/>
                          <a:latin typeface="Calibri"/>
                        </a:rPr>
                        <a:t> Projects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tc>
                  <a:txBody>
                    <a:bodyPr/>
                    <a:lstStyle/>
                    <a:p>
                      <a:pPr algn="l" rtl="0" fontAlgn="ctr"/>
                      <a:r>
                        <a:rPr lang="en-IN" sz="1200" b="0" i="0" u="none" strike="noStrike" dirty="0" smtClean="0">
                          <a:solidFill>
                            <a:srgbClr val="000000"/>
                          </a:solidFill>
                          <a:effectLst/>
                          <a:latin typeface="+mn-lt"/>
                        </a:rPr>
                        <a:t>Resource</a:t>
                      </a:r>
                      <a:r>
                        <a:rPr lang="en-IN" sz="1200" b="0" i="0" u="none" strike="noStrike" baseline="0" dirty="0" smtClean="0">
                          <a:solidFill>
                            <a:srgbClr val="000000"/>
                          </a:solidFill>
                          <a:effectLst/>
                          <a:latin typeface="+mn-lt"/>
                        </a:rPr>
                        <a:t> Group &gt;</a:t>
                      </a:r>
                      <a:r>
                        <a:rPr lang="en-IN" sz="1200" b="0" i="0" u="none" strike="noStrike" dirty="0" smtClean="0">
                          <a:solidFill>
                            <a:srgbClr val="000000"/>
                          </a:solidFill>
                          <a:effectLst/>
                          <a:latin typeface="Calibri"/>
                        </a:rPr>
                        <a:t> </a:t>
                      </a:r>
                      <a:r>
                        <a:rPr lang="en-IN" sz="1200" b="0" i="0" u="none" strike="noStrike" dirty="0">
                          <a:solidFill>
                            <a:srgbClr val="000000"/>
                          </a:solidFill>
                          <a:effectLst/>
                          <a:latin typeface="Calibri"/>
                        </a:rPr>
                        <a:t>Subscriptions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extLst>
                  <a:ext uri="{0D108BD9-81ED-4DB2-BD59-A6C34878D82A}">
                    <a16:rowId xmlns:a16="http://schemas.microsoft.com/office/drawing/2014/main" xmlns="" val="10003"/>
                  </a:ext>
                </a:extLst>
              </a:tr>
              <a:tr h="200025">
                <a:tc>
                  <a:txBody>
                    <a:bodyPr/>
                    <a:lstStyle/>
                    <a:p>
                      <a:pPr algn="l" rtl="0" fontAlgn="ctr"/>
                      <a:r>
                        <a:rPr lang="en-IN" sz="1200" b="0" i="0" u="none" strike="noStrike" dirty="0">
                          <a:solidFill>
                            <a:srgbClr val="000000"/>
                          </a:solidFill>
                          <a:effectLst/>
                          <a:latin typeface="Calibri"/>
                        </a:rPr>
                        <a:t> Resources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tc>
                  <a:txBody>
                    <a:bodyPr/>
                    <a:lstStyle/>
                    <a:p>
                      <a:pPr algn="l" rtl="0" fontAlgn="ctr"/>
                      <a:r>
                        <a:rPr lang="en-IN" sz="1200" b="0" i="0" u="none" strike="noStrike" dirty="0" smtClean="0">
                          <a:solidFill>
                            <a:srgbClr val="000000"/>
                          </a:solidFill>
                          <a:effectLst/>
                          <a:latin typeface="Calibri"/>
                        </a:rPr>
                        <a:t>Resources</a:t>
                      </a:r>
                      <a:endParaRPr lang="en-IN" sz="1200" b="0" i="0" u="none" strike="noStrike" dirty="0">
                        <a:solidFill>
                          <a:srgbClr val="000000"/>
                        </a:solidFill>
                        <a:effectLst/>
                        <a:latin typeface="Calibri"/>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26711938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04333" y="2438400"/>
            <a:ext cx="10363200" cy="1143000"/>
          </a:xfrm>
        </p:spPr>
        <p:txBody>
          <a:bodyPr vert="horz" lIns="91440" tIns="45720" rIns="91440" bIns="45720" rtlCol="0" anchor="ctr">
            <a:noAutofit/>
          </a:bodyPr>
          <a:lstStyle/>
          <a:p>
            <a:r>
              <a:rPr lang="en-US" sz="4800" b="1" dirty="0" err="1">
                <a:solidFill>
                  <a:srgbClr val="FF0000"/>
                </a:solidFill>
              </a:rPr>
              <a:t>Az</a:t>
            </a:r>
            <a:r>
              <a:rPr lang="en-US" sz="4800" b="1" dirty="0">
                <a:solidFill>
                  <a:srgbClr val="FF0000"/>
                </a:solidFill>
              </a:rPr>
              <a:t> – SECURITY</a:t>
            </a:r>
            <a:endParaRPr lang="cs-CZ" sz="4800" b="1" dirty="0">
              <a:solidFill>
                <a:srgbClr val="FF0000"/>
              </a:solidFill>
            </a:endParaRPr>
          </a:p>
        </p:txBody>
      </p:sp>
    </p:spTree>
    <p:extLst>
      <p:ext uri="{BB962C8B-B14F-4D97-AF65-F5344CB8AC3E}">
        <p14:creationId xmlns:p14="http://schemas.microsoft.com/office/powerpoint/2010/main" val="7755636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00722" y="2041001"/>
            <a:ext cx="2782473" cy="98134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Identity (Who)</a:t>
            </a:r>
          </a:p>
          <a:p>
            <a:pPr algn="ctr"/>
            <a:r>
              <a:rPr lang="en-IN" dirty="0" smtClean="0"/>
              <a:t>(Authentication)</a:t>
            </a:r>
          </a:p>
          <a:p>
            <a:pPr algn="ctr"/>
            <a:r>
              <a:rPr lang="en-IN" dirty="0" err="1" smtClean="0"/>
              <a:t>User@Entra</a:t>
            </a:r>
            <a:endParaRPr lang="en-IN" dirty="0"/>
          </a:p>
        </p:txBody>
      </p:sp>
      <p:sp>
        <p:nvSpPr>
          <p:cNvPr id="5" name="TextBox 4"/>
          <p:cNvSpPr txBox="1"/>
          <p:nvPr/>
        </p:nvSpPr>
        <p:spPr>
          <a:xfrm>
            <a:off x="1422055" y="1404344"/>
            <a:ext cx="3739806" cy="369332"/>
          </a:xfrm>
          <a:prstGeom prst="rect">
            <a:avLst/>
          </a:prstGeom>
          <a:noFill/>
        </p:spPr>
        <p:txBody>
          <a:bodyPr wrap="none" rtlCol="0">
            <a:spAutoFit/>
          </a:bodyPr>
          <a:lstStyle/>
          <a:p>
            <a:r>
              <a:rPr lang="en-IN" b="1" dirty="0" smtClean="0"/>
              <a:t>Identity &amp; Access Management - IAM</a:t>
            </a:r>
            <a:endParaRPr lang="en-IN" b="1" dirty="0"/>
          </a:p>
        </p:txBody>
      </p:sp>
      <p:sp>
        <p:nvSpPr>
          <p:cNvPr id="6" name="Rectangle 5"/>
          <p:cNvSpPr/>
          <p:nvPr/>
        </p:nvSpPr>
        <p:spPr>
          <a:xfrm>
            <a:off x="1900722" y="3347082"/>
            <a:ext cx="2782473" cy="118502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Access Management </a:t>
            </a:r>
          </a:p>
          <a:p>
            <a:pPr algn="ctr"/>
            <a:r>
              <a:rPr lang="en-IN" dirty="0" smtClean="0"/>
              <a:t>(What on Where)</a:t>
            </a:r>
          </a:p>
          <a:p>
            <a:pPr algn="ctr"/>
            <a:r>
              <a:rPr lang="en-IN" dirty="0" smtClean="0"/>
              <a:t>(Authorization)</a:t>
            </a:r>
          </a:p>
          <a:p>
            <a:pPr algn="ctr"/>
            <a:r>
              <a:rPr lang="en-IN" dirty="0"/>
              <a:t>MG-&gt;Sub-&gt;RG-&gt;Res</a:t>
            </a:r>
          </a:p>
        </p:txBody>
      </p:sp>
      <p:sp>
        <p:nvSpPr>
          <p:cNvPr id="7" name="Rectangle 6"/>
          <p:cNvSpPr/>
          <p:nvPr/>
        </p:nvSpPr>
        <p:spPr>
          <a:xfrm>
            <a:off x="5933623" y="3008093"/>
            <a:ext cx="2142349" cy="64948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Role (What)</a:t>
            </a:r>
          </a:p>
          <a:p>
            <a:pPr algn="ctr"/>
            <a:r>
              <a:rPr lang="en-IN" sz="1200" dirty="0" smtClean="0"/>
              <a:t>-&gt; Reader/Contributor/Owner</a:t>
            </a:r>
            <a:endParaRPr lang="en-IN" sz="1200" dirty="0"/>
          </a:p>
        </p:txBody>
      </p:sp>
      <p:sp>
        <p:nvSpPr>
          <p:cNvPr id="8" name="TextBox 7"/>
          <p:cNvSpPr txBox="1"/>
          <p:nvPr/>
        </p:nvSpPr>
        <p:spPr>
          <a:xfrm>
            <a:off x="5574698" y="2638761"/>
            <a:ext cx="3365537" cy="369332"/>
          </a:xfrm>
          <a:prstGeom prst="rect">
            <a:avLst/>
          </a:prstGeom>
          <a:noFill/>
        </p:spPr>
        <p:txBody>
          <a:bodyPr wrap="none" rtlCol="0">
            <a:spAutoFit/>
          </a:bodyPr>
          <a:lstStyle/>
          <a:p>
            <a:r>
              <a:rPr lang="en-IN" b="1" dirty="0" smtClean="0"/>
              <a:t>Role Based Access Control - RBAC</a:t>
            </a:r>
            <a:endParaRPr lang="en-IN" b="1" dirty="0"/>
          </a:p>
        </p:txBody>
      </p:sp>
      <p:cxnSp>
        <p:nvCxnSpPr>
          <p:cNvPr id="9" name="Straight Arrow Connector 8"/>
          <p:cNvCxnSpPr>
            <a:stCxn id="6" idx="3"/>
            <a:endCxn id="7" idx="1"/>
          </p:cNvCxnSpPr>
          <p:nvPr/>
        </p:nvCxnSpPr>
        <p:spPr>
          <a:xfrm flipV="1">
            <a:off x="4683195" y="3332833"/>
            <a:ext cx="1250428" cy="60676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933623" y="3939594"/>
            <a:ext cx="2142349" cy="64948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Scope (Where)</a:t>
            </a:r>
          </a:p>
          <a:p>
            <a:pPr algn="ctr"/>
            <a:r>
              <a:rPr lang="en-IN" dirty="0"/>
              <a:t>-&gt; </a:t>
            </a:r>
            <a:r>
              <a:rPr lang="en-IN" dirty="0" smtClean="0"/>
              <a:t>Level of Hierarchy</a:t>
            </a:r>
            <a:endParaRPr lang="en-IN" dirty="0"/>
          </a:p>
        </p:txBody>
      </p:sp>
      <p:cxnSp>
        <p:nvCxnSpPr>
          <p:cNvPr id="11" name="Straight Arrow Connector 10"/>
          <p:cNvCxnSpPr>
            <a:stCxn id="6" idx="3"/>
            <a:endCxn id="10" idx="1"/>
          </p:cNvCxnSpPr>
          <p:nvPr/>
        </p:nvCxnSpPr>
        <p:spPr>
          <a:xfrm>
            <a:off x="4683195" y="3939594"/>
            <a:ext cx="1250428" cy="3247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259788" y="1284703"/>
            <a:ext cx="8092867" cy="37772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p:cNvSpPr txBox="1"/>
          <p:nvPr/>
        </p:nvSpPr>
        <p:spPr>
          <a:xfrm>
            <a:off x="3719126" y="1009374"/>
            <a:ext cx="2885470" cy="369332"/>
          </a:xfrm>
          <a:prstGeom prst="rect">
            <a:avLst/>
          </a:prstGeom>
          <a:noFill/>
        </p:spPr>
        <p:txBody>
          <a:bodyPr wrap="none" rtlCol="0">
            <a:spAutoFit/>
          </a:bodyPr>
          <a:lstStyle/>
          <a:p>
            <a:r>
              <a:rPr lang="en-IN" b="1" dirty="0" smtClean="0"/>
              <a:t>Core Cloud Security Concept</a:t>
            </a:r>
            <a:endParaRPr lang="en-IN" b="1" dirty="0"/>
          </a:p>
        </p:txBody>
      </p:sp>
    </p:spTree>
    <p:extLst>
      <p:ext uri="{BB962C8B-B14F-4D97-AF65-F5344CB8AC3E}">
        <p14:creationId xmlns:p14="http://schemas.microsoft.com/office/powerpoint/2010/main" val="80388624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C:\Users\moham\Downloads\azure hierarchy2.jpg"/>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8000"/>
                    </a14:imgEffect>
                  </a14:imgLayer>
                </a14:imgProps>
              </a:ext>
              <a:ext uri="{28A0092B-C50C-407E-A947-70E740481C1C}">
                <a14:useLocalDpi xmlns:a14="http://schemas.microsoft.com/office/drawing/2010/main" val="0"/>
              </a:ext>
            </a:extLst>
          </a:blip>
          <a:srcRect/>
          <a:stretch>
            <a:fillRect/>
          </a:stretch>
        </p:blipFill>
        <p:spPr bwMode="auto">
          <a:xfrm>
            <a:off x="3153179" y="476739"/>
            <a:ext cx="8572591" cy="571053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5" name="Smiley Face 4"/>
          <p:cNvSpPr/>
          <p:nvPr/>
        </p:nvSpPr>
        <p:spPr>
          <a:xfrm>
            <a:off x="5550065" y="1646352"/>
            <a:ext cx="457200" cy="457200"/>
          </a:xfrm>
          <a:prstGeom prst="smileyFac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Smiley Face 5"/>
          <p:cNvSpPr/>
          <p:nvPr/>
        </p:nvSpPr>
        <p:spPr>
          <a:xfrm>
            <a:off x="6116053" y="1646352"/>
            <a:ext cx="457200" cy="457200"/>
          </a:xfrm>
          <a:prstGeom prst="smileyFac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7" name="Smiley Face 6"/>
          <p:cNvSpPr/>
          <p:nvPr/>
        </p:nvSpPr>
        <p:spPr>
          <a:xfrm>
            <a:off x="228956" y="1686836"/>
            <a:ext cx="457200" cy="457200"/>
          </a:xfrm>
          <a:prstGeom prst="smileyFac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TextBox 7"/>
          <p:cNvSpPr txBox="1"/>
          <p:nvPr/>
        </p:nvSpPr>
        <p:spPr>
          <a:xfrm>
            <a:off x="75309" y="1357501"/>
            <a:ext cx="1148904" cy="369332"/>
          </a:xfrm>
          <a:prstGeom prst="rect">
            <a:avLst/>
          </a:prstGeom>
          <a:noFill/>
        </p:spPr>
        <p:txBody>
          <a:bodyPr wrap="none" rtlCol="0">
            <a:spAutoFit/>
          </a:bodyPr>
          <a:lstStyle/>
          <a:p>
            <a:r>
              <a:rPr lang="en-IN" b="1" dirty="0" smtClean="0"/>
              <a:t>CEO - IAM</a:t>
            </a:r>
            <a:endParaRPr lang="en-IN" b="1" dirty="0"/>
          </a:p>
        </p:txBody>
      </p:sp>
      <p:sp>
        <p:nvSpPr>
          <p:cNvPr id="9" name="TextBox 8"/>
          <p:cNvSpPr txBox="1"/>
          <p:nvPr/>
        </p:nvSpPr>
        <p:spPr>
          <a:xfrm>
            <a:off x="1459354" y="1357501"/>
            <a:ext cx="1061509" cy="369332"/>
          </a:xfrm>
          <a:prstGeom prst="rect">
            <a:avLst/>
          </a:prstGeom>
          <a:noFill/>
        </p:spPr>
        <p:txBody>
          <a:bodyPr wrap="none" rtlCol="0">
            <a:spAutoFit/>
          </a:bodyPr>
          <a:lstStyle/>
          <a:p>
            <a:r>
              <a:rPr lang="en-IN" b="1" dirty="0" smtClean="0"/>
              <a:t>JSE - IAM</a:t>
            </a:r>
            <a:endParaRPr lang="en-IN" b="1" dirty="0"/>
          </a:p>
        </p:txBody>
      </p:sp>
      <p:sp>
        <p:nvSpPr>
          <p:cNvPr id="10" name="Smiley Face 9"/>
          <p:cNvSpPr/>
          <p:nvPr/>
        </p:nvSpPr>
        <p:spPr>
          <a:xfrm>
            <a:off x="1761508" y="1621435"/>
            <a:ext cx="457200" cy="457200"/>
          </a:xfrm>
          <a:prstGeom prst="smileyFac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11" name="Smiley Face 10"/>
          <p:cNvSpPr/>
          <p:nvPr/>
        </p:nvSpPr>
        <p:spPr>
          <a:xfrm>
            <a:off x="4302537" y="2865409"/>
            <a:ext cx="457200" cy="457200"/>
          </a:xfrm>
          <a:prstGeom prst="smileyFac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2" name="Smiley Face 11"/>
          <p:cNvSpPr/>
          <p:nvPr/>
        </p:nvSpPr>
        <p:spPr>
          <a:xfrm>
            <a:off x="5209633" y="2865409"/>
            <a:ext cx="457200" cy="457200"/>
          </a:xfrm>
          <a:prstGeom prst="smileyFac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3" name="Smiley Face 12"/>
          <p:cNvSpPr/>
          <p:nvPr/>
        </p:nvSpPr>
        <p:spPr>
          <a:xfrm>
            <a:off x="6695506" y="2841763"/>
            <a:ext cx="457200" cy="457200"/>
          </a:xfrm>
          <a:prstGeom prst="smileyFac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4" name="TextBox 13"/>
          <p:cNvSpPr txBox="1"/>
          <p:nvPr/>
        </p:nvSpPr>
        <p:spPr>
          <a:xfrm>
            <a:off x="3107555" y="2885697"/>
            <a:ext cx="1262590" cy="369332"/>
          </a:xfrm>
          <a:prstGeom prst="rect">
            <a:avLst/>
          </a:prstGeom>
          <a:noFill/>
        </p:spPr>
        <p:txBody>
          <a:bodyPr wrap="none" rtlCol="0">
            <a:spAutoFit/>
          </a:bodyPr>
          <a:lstStyle/>
          <a:p>
            <a:r>
              <a:rPr lang="en-IN" b="1" dirty="0" smtClean="0"/>
              <a:t>CEO - RBAC</a:t>
            </a:r>
            <a:endParaRPr lang="en-IN" b="1" dirty="0"/>
          </a:p>
        </p:txBody>
      </p:sp>
      <p:sp>
        <p:nvSpPr>
          <p:cNvPr id="15" name="Title 1"/>
          <p:cNvSpPr txBox="1">
            <a:spLocks/>
          </p:cNvSpPr>
          <p:nvPr/>
        </p:nvSpPr>
        <p:spPr>
          <a:xfrm>
            <a:off x="-251013" y="-10095"/>
            <a:ext cx="5118847" cy="48683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smtClean="0">
                <a:solidFill>
                  <a:srgbClr val="FF0000"/>
                </a:solidFill>
              </a:rPr>
              <a:t>    IAM (RBAC) – Ms Entra/Ms AD</a:t>
            </a:r>
            <a:endParaRPr lang="en-US" sz="2800" b="1" dirty="0">
              <a:solidFill>
                <a:srgbClr val="FF0000"/>
              </a:solidFill>
            </a:endParaRPr>
          </a:p>
        </p:txBody>
      </p:sp>
      <p:sp>
        <p:nvSpPr>
          <p:cNvPr id="3" name="Rectangle 2"/>
          <p:cNvSpPr/>
          <p:nvPr/>
        </p:nvSpPr>
        <p:spPr>
          <a:xfrm>
            <a:off x="75309" y="2476255"/>
            <a:ext cx="4232249" cy="400110"/>
          </a:xfrm>
          <a:prstGeom prst="rect">
            <a:avLst/>
          </a:prstGeom>
        </p:spPr>
        <p:txBody>
          <a:bodyPr wrap="none">
            <a:spAutoFit/>
          </a:bodyPr>
          <a:lstStyle/>
          <a:p>
            <a:r>
              <a:rPr lang="en-IN" sz="1000" b="1" dirty="0" smtClean="0"/>
              <a:t>IAM – Identity(Authentication) &amp; Access Management (RBAC-Authorization)</a:t>
            </a:r>
          </a:p>
          <a:p>
            <a:r>
              <a:rPr lang="en-IN" sz="1000" b="1" dirty="0" smtClean="0"/>
              <a:t>RBAC – Role Based Access Control (Authorization)</a:t>
            </a:r>
            <a:endParaRPr lang="en-IN" sz="1000" dirty="0"/>
          </a:p>
        </p:txBody>
      </p:sp>
      <p:sp>
        <p:nvSpPr>
          <p:cNvPr id="16" name="Rectangle 15"/>
          <p:cNvSpPr/>
          <p:nvPr/>
        </p:nvSpPr>
        <p:spPr>
          <a:xfrm>
            <a:off x="6512517" y="1711307"/>
            <a:ext cx="453970" cy="276999"/>
          </a:xfrm>
          <a:prstGeom prst="rect">
            <a:avLst/>
          </a:prstGeom>
        </p:spPr>
        <p:txBody>
          <a:bodyPr wrap="none">
            <a:spAutoFit/>
          </a:bodyPr>
          <a:lstStyle/>
          <a:p>
            <a:r>
              <a:rPr lang="en-IN" sz="1200" b="1" u="sng" dirty="0"/>
              <a:t>IAM</a:t>
            </a:r>
            <a:endParaRPr lang="en-IN" sz="1200" u="sng" dirty="0"/>
          </a:p>
        </p:txBody>
      </p:sp>
      <p:sp>
        <p:nvSpPr>
          <p:cNvPr id="18" name="Smiley Face 17"/>
          <p:cNvSpPr/>
          <p:nvPr/>
        </p:nvSpPr>
        <p:spPr>
          <a:xfrm>
            <a:off x="6869542" y="5199977"/>
            <a:ext cx="457200" cy="457200"/>
          </a:xfrm>
          <a:prstGeom prst="smileyFac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19" name="Rectangle 18"/>
          <p:cNvSpPr/>
          <p:nvPr/>
        </p:nvSpPr>
        <p:spPr>
          <a:xfrm>
            <a:off x="7249829" y="5355006"/>
            <a:ext cx="803425" cy="430887"/>
          </a:xfrm>
          <a:prstGeom prst="rect">
            <a:avLst/>
          </a:prstGeom>
        </p:spPr>
        <p:txBody>
          <a:bodyPr wrap="none">
            <a:spAutoFit/>
          </a:bodyPr>
          <a:lstStyle/>
          <a:p>
            <a:r>
              <a:rPr lang="en-IN" sz="1050" b="1" u="sng" dirty="0" smtClean="0"/>
              <a:t>RBAC</a:t>
            </a:r>
          </a:p>
          <a:p>
            <a:r>
              <a:rPr lang="en-IN" sz="1050" b="1" dirty="0" err="1" smtClean="0"/>
              <a:t>Databricks</a:t>
            </a:r>
            <a:endParaRPr lang="en-IN" sz="1050" dirty="0"/>
          </a:p>
        </p:txBody>
      </p:sp>
      <p:grpSp>
        <p:nvGrpSpPr>
          <p:cNvPr id="20" name="Group 19"/>
          <p:cNvGrpSpPr/>
          <p:nvPr/>
        </p:nvGrpSpPr>
        <p:grpSpPr>
          <a:xfrm>
            <a:off x="230594" y="3654750"/>
            <a:ext cx="2523424" cy="1700256"/>
            <a:chOff x="2565697" y="169593"/>
            <a:chExt cx="2523424" cy="1700256"/>
          </a:xfrm>
        </p:grpSpPr>
        <p:pic>
          <p:nvPicPr>
            <p:cNvPr id="21"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5697" y="512629"/>
              <a:ext cx="2523424" cy="13572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22" name="Rectangle 21"/>
            <p:cNvSpPr/>
            <p:nvPr/>
          </p:nvSpPr>
          <p:spPr>
            <a:xfrm>
              <a:off x="3502960" y="169593"/>
              <a:ext cx="607859" cy="369332"/>
            </a:xfrm>
            <a:prstGeom prst="rect">
              <a:avLst/>
            </a:prstGeom>
          </p:spPr>
          <p:txBody>
            <a:bodyPr wrap="none">
              <a:spAutoFit/>
            </a:bodyPr>
            <a:lstStyle/>
            <a:p>
              <a:r>
                <a:rPr lang="en-US" b="1" dirty="0">
                  <a:solidFill>
                    <a:schemeClr val="tx2"/>
                  </a:solidFill>
                  <a:latin typeface="Helvetica" pitchFamily="50" charset="0"/>
                </a:rPr>
                <a:t>IAM</a:t>
              </a:r>
              <a:endParaRPr lang="en-IN" dirty="0"/>
            </a:p>
          </p:txBody>
        </p:sp>
      </p:grpSp>
      <p:sp>
        <p:nvSpPr>
          <p:cNvPr id="23" name="Rectangle 22"/>
          <p:cNvSpPr/>
          <p:nvPr/>
        </p:nvSpPr>
        <p:spPr>
          <a:xfrm>
            <a:off x="741051" y="4768972"/>
            <a:ext cx="556563" cy="246221"/>
          </a:xfrm>
          <a:prstGeom prst="rect">
            <a:avLst/>
          </a:prstGeom>
        </p:spPr>
        <p:txBody>
          <a:bodyPr wrap="none">
            <a:spAutoFit/>
          </a:bodyPr>
          <a:lstStyle/>
          <a:p>
            <a:r>
              <a:rPr lang="en-US" sz="1000" b="1" dirty="0" smtClean="0">
                <a:solidFill>
                  <a:schemeClr val="tx2"/>
                </a:solidFill>
                <a:latin typeface="Helvetica" pitchFamily="50" charset="0"/>
              </a:rPr>
              <a:t>RBAC</a:t>
            </a:r>
            <a:endParaRPr lang="en-IN" sz="1000" dirty="0"/>
          </a:p>
        </p:txBody>
      </p:sp>
      <p:sp>
        <p:nvSpPr>
          <p:cNvPr id="24" name="TextBox 23"/>
          <p:cNvSpPr txBox="1"/>
          <p:nvPr/>
        </p:nvSpPr>
        <p:spPr>
          <a:xfrm>
            <a:off x="830424" y="600754"/>
            <a:ext cx="1282723" cy="369332"/>
          </a:xfrm>
          <a:prstGeom prst="rect">
            <a:avLst/>
          </a:prstGeom>
          <a:noFill/>
        </p:spPr>
        <p:txBody>
          <a:bodyPr wrap="none" rtlCol="0">
            <a:spAutoFit/>
          </a:bodyPr>
          <a:lstStyle/>
          <a:p>
            <a:r>
              <a:rPr lang="en-IN" b="1" dirty="0" smtClean="0"/>
              <a:t>IT DH - IAM</a:t>
            </a:r>
            <a:endParaRPr lang="en-IN" b="1" dirty="0"/>
          </a:p>
        </p:txBody>
      </p:sp>
      <p:sp>
        <p:nvSpPr>
          <p:cNvPr id="25" name="Smiley Face 24"/>
          <p:cNvSpPr/>
          <p:nvPr/>
        </p:nvSpPr>
        <p:spPr>
          <a:xfrm>
            <a:off x="1154553" y="889051"/>
            <a:ext cx="457200" cy="457200"/>
          </a:xfrm>
          <a:prstGeom prst="smileyFac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26" name="Smiley Face 25"/>
          <p:cNvSpPr/>
          <p:nvPr/>
        </p:nvSpPr>
        <p:spPr>
          <a:xfrm>
            <a:off x="6923484" y="1638527"/>
            <a:ext cx="457200" cy="457200"/>
          </a:xfrm>
          <a:prstGeom prst="smileyFac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27" name="Smiley Face 26"/>
          <p:cNvSpPr/>
          <p:nvPr/>
        </p:nvSpPr>
        <p:spPr>
          <a:xfrm>
            <a:off x="5942401" y="3070363"/>
            <a:ext cx="296029" cy="261645"/>
          </a:xfrm>
          <a:prstGeom prst="smileyFac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28" name="Smiley Face 27"/>
          <p:cNvSpPr/>
          <p:nvPr/>
        </p:nvSpPr>
        <p:spPr>
          <a:xfrm>
            <a:off x="5438233" y="3724337"/>
            <a:ext cx="296029" cy="261645"/>
          </a:xfrm>
          <a:prstGeom prst="smileyFac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29" name="Smiley Face 28"/>
          <p:cNvSpPr/>
          <p:nvPr/>
        </p:nvSpPr>
        <p:spPr>
          <a:xfrm>
            <a:off x="6049394" y="3731453"/>
            <a:ext cx="296029" cy="261645"/>
          </a:xfrm>
          <a:prstGeom prst="smileyFac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30" name="Smiley Face 29"/>
          <p:cNvSpPr/>
          <p:nvPr/>
        </p:nvSpPr>
        <p:spPr>
          <a:xfrm>
            <a:off x="5438233" y="4430713"/>
            <a:ext cx="296029" cy="261645"/>
          </a:xfrm>
          <a:prstGeom prst="smileyFac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31" name="Smiley Face 30"/>
          <p:cNvSpPr/>
          <p:nvPr/>
        </p:nvSpPr>
        <p:spPr>
          <a:xfrm>
            <a:off x="6007265" y="4414751"/>
            <a:ext cx="296029" cy="261645"/>
          </a:xfrm>
          <a:prstGeom prst="smileyFac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32" name="Smiley Face 31"/>
          <p:cNvSpPr/>
          <p:nvPr/>
        </p:nvSpPr>
        <p:spPr>
          <a:xfrm>
            <a:off x="5548028" y="5166932"/>
            <a:ext cx="296029" cy="261645"/>
          </a:xfrm>
          <a:prstGeom prst="smileyFac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33" name="TextBox 32"/>
          <p:cNvSpPr txBox="1"/>
          <p:nvPr/>
        </p:nvSpPr>
        <p:spPr>
          <a:xfrm>
            <a:off x="2160299" y="600754"/>
            <a:ext cx="1855380" cy="369332"/>
          </a:xfrm>
          <a:prstGeom prst="rect">
            <a:avLst/>
          </a:prstGeom>
          <a:noFill/>
        </p:spPr>
        <p:txBody>
          <a:bodyPr wrap="none" rtlCol="0">
            <a:spAutoFit/>
          </a:bodyPr>
          <a:lstStyle/>
          <a:p>
            <a:r>
              <a:rPr lang="en-IN" b="1" dirty="0" smtClean="0"/>
              <a:t>Accountant - IAM</a:t>
            </a:r>
            <a:endParaRPr lang="en-IN" b="1" dirty="0"/>
          </a:p>
        </p:txBody>
      </p:sp>
      <p:sp>
        <p:nvSpPr>
          <p:cNvPr id="34" name="Smiley Face 33"/>
          <p:cNvSpPr/>
          <p:nvPr/>
        </p:nvSpPr>
        <p:spPr>
          <a:xfrm>
            <a:off x="2484428" y="889051"/>
            <a:ext cx="457200" cy="457200"/>
          </a:xfrm>
          <a:prstGeom prst="smileyFac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35" name="Smiley Face 34"/>
          <p:cNvSpPr/>
          <p:nvPr/>
        </p:nvSpPr>
        <p:spPr>
          <a:xfrm>
            <a:off x="7462642" y="1638527"/>
            <a:ext cx="457200" cy="457200"/>
          </a:xfrm>
          <a:prstGeom prst="smileyFac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36" name="Smiley Face 35"/>
          <p:cNvSpPr/>
          <p:nvPr/>
        </p:nvSpPr>
        <p:spPr>
          <a:xfrm>
            <a:off x="7211835" y="3801071"/>
            <a:ext cx="337698" cy="307057"/>
          </a:xfrm>
          <a:prstGeom prst="smileyFac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37" name="Smiley Face 36"/>
          <p:cNvSpPr/>
          <p:nvPr/>
        </p:nvSpPr>
        <p:spPr>
          <a:xfrm>
            <a:off x="7270625" y="4408575"/>
            <a:ext cx="337698" cy="307057"/>
          </a:xfrm>
          <a:prstGeom prst="smileyFac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38" name="Smiley Face 37"/>
          <p:cNvSpPr/>
          <p:nvPr/>
        </p:nvSpPr>
        <p:spPr>
          <a:xfrm>
            <a:off x="6101290" y="4980769"/>
            <a:ext cx="337698" cy="307057"/>
          </a:xfrm>
          <a:prstGeom prst="smileyFace">
            <a:avLst>
              <a:gd name="adj" fmla="val -4653"/>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40" name="Rectangle 39"/>
          <p:cNvSpPr/>
          <p:nvPr/>
        </p:nvSpPr>
        <p:spPr>
          <a:xfrm>
            <a:off x="733431" y="5167461"/>
            <a:ext cx="556563" cy="246221"/>
          </a:xfrm>
          <a:prstGeom prst="rect">
            <a:avLst/>
          </a:prstGeom>
        </p:spPr>
        <p:txBody>
          <a:bodyPr wrap="none">
            <a:spAutoFit/>
          </a:bodyPr>
          <a:lstStyle/>
          <a:p>
            <a:r>
              <a:rPr lang="en-US" sz="1000" b="1" dirty="0" smtClean="0">
                <a:solidFill>
                  <a:schemeClr val="tx2"/>
                </a:solidFill>
                <a:latin typeface="Helvetica" pitchFamily="50" charset="0"/>
              </a:rPr>
              <a:t>RBAC</a:t>
            </a:r>
            <a:endParaRPr lang="en-IN" sz="1000" dirty="0"/>
          </a:p>
        </p:txBody>
      </p:sp>
      <p:sp>
        <p:nvSpPr>
          <p:cNvPr id="17" name="Rectangle 16"/>
          <p:cNvSpPr/>
          <p:nvPr/>
        </p:nvSpPr>
        <p:spPr>
          <a:xfrm>
            <a:off x="6049394" y="1469877"/>
            <a:ext cx="2003860" cy="743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06140950"/>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pPr/>
              <a:t>32</a:t>
            </a:fld>
            <a:endParaRPr lang="en-US"/>
          </a:p>
        </p:txBody>
      </p:sp>
      <p:sp>
        <p:nvSpPr>
          <p:cNvPr id="12" name="Title 1"/>
          <p:cNvSpPr>
            <a:spLocks noGrp="1"/>
          </p:cNvSpPr>
          <p:nvPr>
            <p:ph type="title"/>
          </p:nvPr>
        </p:nvSpPr>
        <p:spPr>
          <a:xfrm>
            <a:off x="-251013" y="-10095"/>
            <a:ext cx="5118847" cy="486834"/>
          </a:xfrm>
        </p:spPr>
        <p:txBody>
          <a:bodyPr vert="horz" lIns="91440" tIns="45720" rIns="91440" bIns="45720" rtlCol="0" anchor="ctr">
            <a:normAutofit/>
          </a:bodyPr>
          <a:lstStyle/>
          <a:p>
            <a:r>
              <a:rPr lang="en-US" sz="2800" b="1" dirty="0">
                <a:solidFill>
                  <a:srgbClr val="FF0000"/>
                </a:solidFill>
              </a:rPr>
              <a:t>    IAM (RBAC) – </a:t>
            </a:r>
            <a:r>
              <a:rPr lang="en-US" sz="2800" b="1" dirty="0" err="1">
                <a:solidFill>
                  <a:srgbClr val="FF0000"/>
                </a:solidFill>
              </a:rPr>
              <a:t>Ms</a:t>
            </a:r>
            <a:r>
              <a:rPr lang="en-US" sz="2800" b="1" dirty="0">
                <a:solidFill>
                  <a:srgbClr val="FF0000"/>
                </a:solidFill>
              </a:rPr>
              <a:t> </a:t>
            </a:r>
            <a:r>
              <a:rPr lang="en-US" sz="2800" b="1" dirty="0" err="1">
                <a:solidFill>
                  <a:srgbClr val="FF0000"/>
                </a:solidFill>
              </a:rPr>
              <a:t>Entra</a:t>
            </a:r>
            <a:r>
              <a:rPr lang="en-US" sz="2800" b="1" dirty="0">
                <a:solidFill>
                  <a:srgbClr val="FF0000"/>
                </a:solidFill>
              </a:rPr>
              <a:t>/</a:t>
            </a:r>
            <a:r>
              <a:rPr lang="en-US" sz="2800" b="1" dirty="0" err="1">
                <a:solidFill>
                  <a:srgbClr val="FF0000"/>
                </a:solidFill>
              </a:rPr>
              <a:t>Ms</a:t>
            </a:r>
            <a:r>
              <a:rPr lang="en-US" sz="2800" b="1" dirty="0">
                <a:solidFill>
                  <a:srgbClr val="FF0000"/>
                </a:solidFill>
              </a:rPr>
              <a:t> AD</a:t>
            </a:r>
          </a:p>
        </p:txBody>
      </p:sp>
      <p:sp>
        <p:nvSpPr>
          <p:cNvPr id="2" name="Rectangle 1"/>
          <p:cNvSpPr/>
          <p:nvPr/>
        </p:nvSpPr>
        <p:spPr>
          <a:xfrm>
            <a:off x="17929" y="568107"/>
            <a:ext cx="6255258" cy="1107996"/>
          </a:xfrm>
          <a:prstGeom prst="rect">
            <a:avLst/>
          </a:prstGeom>
        </p:spPr>
        <p:txBody>
          <a:bodyPr wrap="square">
            <a:spAutoFit/>
          </a:bodyPr>
          <a:lstStyle/>
          <a:p>
            <a:pPr marL="342900" indent="-342900">
              <a:buFont typeface="Wingdings" panose="05000000000000000000" pitchFamily="2" charset="2"/>
              <a:buChar char="ü"/>
            </a:pPr>
            <a:r>
              <a:rPr lang="en-US" sz="1100" dirty="0">
                <a:solidFill>
                  <a:schemeClr val="tx2"/>
                </a:solidFill>
                <a:latin typeface="Helvetica" pitchFamily="50" charset="0"/>
              </a:rPr>
              <a:t>What is IAM </a:t>
            </a:r>
            <a:r>
              <a:rPr lang="en-US" sz="1100" b="1" i="1" dirty="0">
                <a:solidFill>
                  <a:schemeClr val="tx2"/>
                </a:solidFill>
                <a:latin typeface="Helvetica" pitchFamily="50" charset="0"/>
              </a:rPr>
              <a:t>(Identity and Access Management)</a:t>
            </a:r>
          </a:p>
          <a:p>
            <a:r>
              <a:rPr lang="en-US" sz="1100" b="1" i="1" dirty="0">
                <a:solidFill>
                  <a:schemeClr val="tx2"/>
                </a:solidFill>
                <a:latin typeface="Helvetica" pitchFamily="50" charset="0"/>
              </a:rPr>
              <a:t>      Who &gt;&gt; What &gt;&gt; Which</a:t>
            </a:r>
          </a:p>
          <a:p>
            <a:pPr marL="342900" indent="-342900">
              <a:buFont typeface="Wingdings" panose="05000000000000000000" pitchFamily="2" charset="2"/>
              <a:buChar char="ü"/>
            </a:pPr>
            <a:endParaRPr lang="en-US" sz="1100" dirty="0">
              <a:solidFill>
                <a:schemeClr val="tx2"/>
              </a:solidFill>
              <a:latin typeface="Helvetica" pitchFamily="50" charset="0"/>
            </a:endParaRPr>
          </a:p>
          <a:p>
            <a:pPr marL="342900" indent="-342900">
              <a:buFont typeface="Wingdings" panose="05000000000000000000" pitchFamily="2" charset="2"/>
              <a:buChar char="ü"/>
            </a:pPr>
            <a:r>
              <a:rPr lang="en-US" sz="1100" dirty="0">
                <a:solidFill>
                  <a:schemeClr val="tx2"/>
                </a:solidFill>
                <a:latin typeface="Helvetica" pitchFamily="50" charset="0"/>
              </a:rPr>
              <a:t>IAM help the admin provide </a:t>
            </a:r>
          </a:p>
          <a:p>
            <a:pPr marL="742950" lvl="1" indent="-285750">
              <a:buFont typeface="Wingdings" panose="05000000000000000000" pitchFamily="2" charset="2"/>
              <a:buChar char="v"/>
            </a:pPr>
            <a:r>
              <a:rPr lang="en-US" sz="1100" b="1" dirty="0">
                <a:solidFill>
                  <a:schemeClr val="tx2"/>
                </a:solidFill>
                <a:latin typeface="Helvetica" pitchFamily="50" charset="0"/>
              </a:rPr>
              <a:t>Authentication </a:t>
            </a:r>
            <a:r>
              <a:rPr lang="en-US" sz="1100" dirty="0">
                <a:solidFill>
                  <a:schemeClr val="tx2"/>
                </a:solidFill>
                <a:latin typeface="Helvetica" pitchFamily="50" charset="0"/>
              </a:rPr>
              <a:t>(</a:t>
            </a:r>
            <a:r>
              <a:rPr lang="en-US" sz="1100" b="1" dirty="0">
                <a:solidFill>
                  <a:schemeClr val="tx2"/>
                </a:solidFill>
                <a:latin typeface="Helvetica" pitchFamily="50" charset="0"/>
              </a:rPr>
              <a:t>Who</a:t>
            </a:r>
            <a:r>
              <a:rPr lang="en-US" sz="1100" dirty="0">
                <a:solidFill>
                  <a:schemeClr val="tx2"/>
                </a:solidFill>
                <a:latin typeface="Helvetica" pitchFamily="50" charset="0"/>
              </a:rPr>
              <a:t> can Sign in to </a:t>
            </a:r>
            <a:r>
              <a:rPr lang="en-US" sz="1100" dirty="0" err="1">
                <a:solidFill>
                  <a:schemeClr val="tx2"/>
                </a:solidFill>
                <a:latin typeface="Helvetica" pitchFamily="50" charset="0"/>
              </a:rPr>
              <a:t>Az</a:t>
            </a:r>
            <a:r>
              <a:rPr lang="en-US" sz="1100" dirty="0">
                <a:solidFill>
                  <a:schemeClr val="tx2"/>
                </a:solidFill>
                <a:latin typeface="Helvetica" pitchFamily="50" charset="0"/>
              </a:rPr>
              <a:t> account/project)</a:t>
            </a:r>
          </a:p>
          <a:p>
            <a:pPr marL="742950" lvl="1" indent="-285750">
              <a:buFont typeface="Wingdings" panose="05000000000000000000" pitchFamily="2" charset="2"/>
              <a:buChar char="v"/>
            </a:pPr>
            <a:r>
              <a:rPr lang="en-US" sz="1100" b="1" dirty="0">
                <a:solidFill>
                  <a:schemeClr val="tx2"/>
                </a:solidFill>
                <a:latin typeface="Helvetica" pitchFamily="50" charset="0"/>
              </a:rPr>
              <a:t>Authorization </a:t>
            </a:r>
            <a:r>
              <a:rPr lang="en-US" sz="1100" dirty="0">
                <a:solidFill>
                  <a:schemeClr val="tx2"/>
                </a:solidFill>
                <a:latin typeface="Helvetica" pitchFamily="50" charset="0"/>
              </a:rPr>
              <a:t>(</a:t>
            </a:r>
            <a:r>
              <a:rPr lang="en-US" sz="1100" b="1" dirty="0">
                <a:solidFill>
                  <a:schemeClr val="tx2"/>
                </a:solidFill>
                <a:latin typeface="Helvetica" pitchFamily="50" charset="0"/>
              </a:rPr>
              <a:t>What</a:t>
            </a:r>
            <a:r>
              <a:rPr lang="en-US" sz="1100" dirty="0">
                <a:solidFill>
                  <a:schemeClr val="tx2"/>
                </a:solidFill>
                <a:latin typeface="Helvetica" pitchFamily="50" charset="0"/>
              </a:rPr>
              <a:t> can be done on </a:t>
            </a:r>
            <a:r>
              <a:rPr lang="en-US" sz="1100" b="1" dirty="0">
                <a:solidFill>
                  <a:schemeClr val="tx2"/>
                </a:solidFill>
                <a:latin typeface="Helvetica" pitchFamily="50" charset="0"/>
              </a:rPr>
              <a:t>Which</a:t>
            </a:r>
            <a:r>
              <a:rPr lang="en-US" sz="1100" dirty="0">
                <a:solidFill>
                  <a:schemeClr val="tx2"/>
                </a:solidFill>
                <a:latin typeface="Helvetica" pitchFamily="50" charset="0"/>
              </a:rPr>
              <a:t> resources) at project level</a:t>
            </a:r>
          </a:p>
        </p:txBody>
      </p:sp>
      <p:sp>
        <p:nvSpPr>
          <p:cNvPr id="3" name="Rectangle 2"/>
          <p:cNvSpPr/>
          <p:nvPr/>
        </p:nvSpPr>
        <p:spPr>
          <a:xfrm>
            <a:off x="6577933" y="160867"/>
            <a:ext cx="2362867" cy="1676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a:p>
            <a:pPr algn="ctr"/>
            <a:endParaRPr lang="en-IN" dirty="0"/>
          </a:p>
          <a:p>
            <a:pPr algn="ctr"/>
            <a:endParaRPr lang="en-IN" dirty="0"/>
          </a:p>
          <a:p>
            <a:pPr algn="ctr"/>
            <a:endParaRPr lang="en-IN" dirty="0"/>
          </a:p>
          <a:p>
            <a:pPr algn="ctr"/>
            <a:endParaRPr lang="en-IN" dirty="0"/>
          </a:p>
          <a:p>
            <a:pPr algn="ctr"/>
            <a:r>
              <a:rPr lang="en-IN" dirty="0">
                <a:solidFill>
                  <a:schemeClr val="tx1"/>
                </a:solidFill>
              </a:rPr>
              <a:t>Groups</a:t>
            </a:r>
          </a:p>
        </p:txBody>
      </p:sp>
      <p:sp>
        <p:nvSpPr>
          <p:cNvPr id="4" name="Rectangle 3"/>
          <p:cNvSpPr/>
          <p:nvPr/>
        </p:nvSpPr>
        <p:spPr>
          <a:xfrm>
            <a:off x="6849533" y="233322"/>
            <a:ext cx="1921934" cy="55782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1200" dirty="0"/>
              <a:t>For A </a:t>
            </a:r>
            <a:r>
              <a:rPr lang="en-IN" sz="1200" b="1" dirty="0">
                <a:solidFill>
                  <a:schemeClr val="tx1"/>
                </a:solidFill>
              </a:rPr>
              <a:t>User</a:t>
            </a:r>
            <a:r>
              <a:rPr lang="en-IN" sz="1200" dirty="0"/>
              <a:t> create an Account (</a:t>
            </a:r>
            <a:r>
              <a:rPr lang="en-IN" sz="1200" b="1" dirty="0">
                <a:solidFill>
                  <a:schemeClr val="tx1"/>
                </a:solidFill>
              </a:rPr>
              <a:t>Users</a:t>
            </a:r>
            <a:r>
              <a:rPr lang="en-IN" sz="1200" dirty="0"/>
              <a:t>)</a:t>
            </a:r>
          </a:p>
        </p:txBody>
      </p:sp>
      <p:sp>
        <p:nvSpPr>
          <p:cNvPr id="13" name="Rectangle 12"/>
          <p:cNvSpPr/>
          <p:nvPr/>
        </p:nvSpPr>
        <p:spPr>
          <a:xfrm>
            <a:off x="9258413" y="651090"/>
            <a:ext cx="2188677" cy="45139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1200" dirty="0"/>
              <a:t>For a Service we create Account </a:t>
            </a:r>
            <a:r>
              <a:rPr lang="en-IN" sz="1200" b="1" i="1" dirty="0">
                <a:solidFill>
                  <a:schemeClr val="tx1"/>
                </a:solidFill>
              </a:rPr>
              <a:t>(Service  Principal)</a:t>
            </a:r>
          </a:p>
        </p:txBody>
      </p:sp>
      <p:sp>
        <p:nvSpPr>
          <p:cNvPr id="15" name="Rectangle 14"/>
          <p:cNvSpPr/>
          <p:nvPr/>
        </p:nvSpPr>
        <p:spPr>
          <a:xfrm>
            <a:off x="6373906" y="29885"/>
            <a:ext cx="5550172" cy="2196848"/>
          </a:xfrm>
          <a:prstGeom prst="rect">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r>
              <a:rPr lang="en-IN" sz="1200" dirty="0">
                <a:solidFill>
                  <a:schemeClr val="tx1"/>
                </a:solidFill>
              </a:rPr>
              <a:t>For an Organization</a:t>
            </a:r>
          </a:p>
          <a:p>
            <a:pPr algn="ctr"/>
            <a:r>
              <a:rPr lang="en-IN" sz="1200" b="1" dirty="0">
                <a:solidFill>
                  <a:schemeClr val="tx1"/>
                </a:solidFill>
              </a:rPr>
              <a:t>(Org account (Managed Identity))</a:t>
            </a:r>
          </a:p>
        </p:txBody>
      </p:sp>
      <p:sp>
        <p:nvSpPr>
          <p:cNvPr id="14" name="Rectangle 13"/>
          <p:cNvSpPr/>
          <p:nvPr/>
        </p:nvSpPr>
        <p:spPr>
          <a:xfrm>
            <a:off x="6874933" y="876788"/>
            <a:ext cx="1921934" cy="55782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1200" dirty="0"/>
              <a:t>For A User create an Account (User)</a:t>
            </a:r>
          </a:p>
        </p:txBody>
      </p:sp>
      <p:grpSp>
        <p:nvGrpSpPr>
          <p:cNvPr id="7" name="Group 6"/>
          <p:cNvGrpSpPr/>
          <p:nvPr/>
        </p:nvGrpSpPr>
        <p:grpSpPr>
          <a:xfrm>
            <a:off x="8211123" y="4715688"/>
            <a:ext cx="3910265" cy="1944740"/>
            <a:chOff x="6849533" y="3925888"/>
            <a:chExt cx="4731421" cy="2588443"/>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9533" y="4401322"/>
              <a:ext cx="4731421" cy="21130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6" name="Rectangle 15"/>
            <p:cNvSpPr/>
            <p:nvPr/>
          </p:nvSpPr>
          <p:spPr>
            <a:xfrm>
              <a:off x="8271605" y="3925888"/>
              <a:ext cx="1659429" cy="369332"/>
            </a:xfrm>
            <a:prstGeom prst="rect">
              <a:avLst/>
            </a:prstGeom>
          </p:spPr>
          <p:txBody>
            <a:bodyPr wrap="none">
              <a:spAutoFit/>
            </a:bodyPr>
            <a:lstStyle/>
            <a:p>
              <a:r>
                <a:rPr lang="en-US" b="1" dirty="0">
                  <a:solidFill>
                    <a:schemeClr val="tx2"/>
                  </a:solidFill>
                  <a:latin typeface="Helvetica" pitchFamily="50" charset="0"/>
                </a:rPr>
                <a:t>Authorization</a:t>
              </a:r>
              <a:endParaRPr lang="en-IN" dirty="0"/>
            </a:p>
          </p:txBody>
        </p:sp>
      </p:grpSp>
      <p:grpSp>
        <p:nvGrpSpPr>
          <p:cNvPr id="6" name="Group 5"/>
          <p:cNvGrpSpPr/>
          <p:nvPr/>
        </p:nvGrpSpPr>
        <p:grpSpPr>
          <a:xfrm>
            <a:off x="8635665" y="2380748"/>
            <a:ext cx="2523424" cy="1700256"/>
            <a:chOff x="2565697" y="169593"/>
            <a:chExt cx="2523424" cy="1700256"/>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5697" y="512629"/>
              <a:ext cx="2523424" cy="13572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7" name="Rectangle 16"/>
            <p:cNvSpPr/>
            <p:nvPr/>
          </p:nvSpPr>
          <p:spPr>
            <a:xfrm>
              <a:off x="3502960" y="169593"/>
              <a:ext cx="607859" cy="369332"/>
            </a:xfrm>
            <a:prstGeom prst="rect">
              <a:avLst/>
            </a:prstGeom>
          </p:spPr>
          <p:txBody>
            <a:bodyPr wrap="none">
              <a:spAutoFit/>
            </a:bodyPr>
            <a:lstStyle/>
            <a:p>
              <a:r>
                <a:rPr lang="en-US" b="1" dirty="0">
                  <a:solidFill>
                    <a:schemeClr val="tx2"/>
                  </a:solidFill>
                  <a:latin typeface="Helvetica" pitchFamily="50" charset="0"/>
                </a:rPr>
                <a:t>IAM</a:t>
              </a:r>
              <a:endParaRPr lang="en-IN" dirty="0"/>
            </a:p>
          </p:txBody>
        </p:sp>
      </p:grpSp>
      <p:sp>
        <p:nvSpPr>
          <p:cNvPr id="9" name="Rectangle 8"/>
          <p:cNvSpPr/>
          <p:nvPr/>
        </p:nvSpPr>
        <p:spPr>
          <a:xfrm>
            <a:off x="17929" y="2565414"/>
            <a:ext cx="8193194" cy="4324261"/>
          </a:xfrm>
          <a:prstGeom prst="rect">
            <a:avLst/>
          </a:prstGeom>
        </p:spPr>
        <p:txBody>
          <a:bodyPr wrap="square">
            <a:spAutoFit/>
          </a:bodyPr>
          <a:lstStyle/>
          <a:p>
            <a:r>
              <a:rPr lang="en-US" sz="1100" b="1" u="sng" dirty="0"/>
              <a:t>Key Components of Azure RBAC – Role Based Access Control (IAM Roles):</a:t>
            </a:r>
          </a:p>
          <a:p>
            <a:r>
              <a:rPr lang="en-US" sz="1100" b="1" dirty="0"/>
              <a:t>Roles (RBAC)</a:t>
            </a:r>
            <a:r>
              <a:rPr lang="en-US" sz="1100" dirty="0"/>
              <a:t>: </a:t>
            </a:r>
          </a:p>
          <a:p>
            <a:r>
              <a:rPr lang="en-US" sz="1100" b="1" dirty="0"/>
              <a:t>Built-in Roles (Privileged Admin Roles) 4 </a:t>
            </a:r>
            <a:r>
              <a:rPr lang="en-US" sz="1100" dirty="0"/>
              <a:t>: </a:t>
            </a:r>
            <a:r>
              <a:rPr lang="en-US" sz="1100" b="1" dirty="0"/>
              <a:t>Primitive</a:t>
            </a:r>
            <a:r>
              <a:rPr lang="en-US" sz="1100" dirty="0"/>
              <a:t>/Basic roles that cover common access scenarios. </a:t>
            </a:r>
          </a:p>
          <a:p>
            <a:r>
              <a:rPr lang="en-US" sz="1100" dirty="0" err="1"/>
              <a:t>Eg</a:t>
            </a:r>
            <a:r>
              <a:rPr lang="en-US" sz="1100" dirty="0"/>
              <a:t>: </a:t>
            </a:r>
            <a:r>
              <a:rPr lang="en-US" sz="1100" b="1" i="1" dirty="0"/>
              <a:t>Owner</a:t>
            </a:r>
            <a:r>
              <a:rPr lang="en-US" sz="1100" i="1" dirty="0"/>
              <a:t>, </a:t>
            </a:r>
            <a:r>
              <a:rPr lang="en-US" sz="1100" b="1" i="1" dirty="0"/>
              <a:t>Contributor</a:t>
            </a:r>
            <a:r>
              <a:rPr lang="en-US" sz="1100" i="1" dirty="0"/>
              <a:t>, </a:t>
            </a:r>
            <a:r>
              <a:rPr lang="en-US" sz="1100" b="1" i="1" dirty="0"/>
              <a:t>Reader</a:t>
            </a:r>
            <a:r>
              <a:rPr lang="en-US" sz="1100" i="1" dirty="0"/>
              <a:t>, and </a:t>
            </a:r>
            <a:r>
              <a:rPr lang="en-US" sz="1100" b="1" i="1" dirty="0"/>
              <a:t>User Access Administrator</a:t>
            </a:r>
            <a:r>
              <a:rPr lang="en-US" sz="1100" i="1" dirty="0"/>
              <a:t>.  (</a:t>
            </a:r>
            <a:r>
              <a:rPr lang="en-US" sz="1100" b="1" i="1" dirty="0"/>
              <a:t>GCP: </a:t>
            </a:r>
            <a:r>
              <a:rPr lang="en-US" sz="1100" i="1" dirty="0"/>
              <a:t>Owner, Editor, Reader/Browser, Owner (with only user creation/deletion access))</a:t>
            </a:r>
          </a:p>
          <a:p>
            <a:r>
              <a:rPr lang="en-US" sz="1100" b="1" dirty="0"/>
              <a:t>Built-in Roles (Job function Roles) 570+</a:t>
            </a:r>
            <a:r>
              <a:rPr lang="en-US" sz="1100" dirty="0"/>
              <a:t>  </a:t>
            </a:r>
            <a:r>
              <a:rPr lang="en-US" sz="1100" b="1" dirty="0"/>
              <a:t>: Curated </a:t>
            </a:r>
            <a:r>
              <a:rPr lang="en-US" sz="1100" dirty="0"/>
              <a:t>Roles specific to the given resources.</a:t>
            </a:r>
          </a:p>
          <a:p>
            <a:r>
              <a:rPr lang="en-US" sz="1100" dirty="0" err="1"/>
              <a:t>Eg</a:t>
            </a:r>
            <a:r>
              <a:rPr lang="en-US" sz="1100" dirty="0"/>
              <a:t>: Storage account Contributor, Storage blob reader …</a:t>
            </a:r>
          </a:p>
          <a:p>
            <a:r>
              <a:rPr lang="en-US" sz="1100" b="1" dirty="0"/>
              <a:t>Custom Roles</a:t>
            </a:r>
            <a:r>
              <a:rPr lang="en-US" sz="1100" dirty="0"/>
              <a:t>: You can create custom roles tailored to specific needs.</a:t>
            </a:r>
          </a:p>
          <a:p>
            <a:endParaRPr lang="en-US" sz="1100" b="1" dirty="0"/>
          </a:p>
          <a:p>
            <a:r>
              <a:rPr lang="en-US" sz="1100" b="1" dirty="0"/>
              <a:t>User (Principals)</a:t>
            </a:r>
            <a:r>
              <a:rPr lang="en-US" sz="1100" dirty="0"/>
              <a:t>:  4</a:t>
            </a:r>
          </a:p>
          <a:p>
            <a:r>
              <a:rPr lang="en-US" sz="1100" b="1" dirty="0"/>
              <a:t>Users</a:t>
            </a:r>
            <a:r>
              <a:rPr lang="en-US" sz="1100" dirty="0"/>
              <a:t>: Individual accounts within Azure AD.</a:t>
            </a:r>
          </a:p>
          <a:p>
            <a:r>
              <a:rPr lang="en-US" sz="1100" b="1" dirty="0"/>
              <a:t>Groups</a:t>
            </a:r>
            <a:r>
              <a:rPr lang="en-US" sz="1100" dirty="0"/>
              <a:t>: Collections of users that can be managed together.</a:t>
            </a:r>
          </a:p>
          <a:p>
            <a:r>
              <a:rPr lang="en-US" sz="1100" b="1" dirty="0"/>
              <a:t>Service Principals</a:t>
            </a:r>
            <a:r>
              <a:rPr lang="en-US" sz="1100" dirty="0"/>
              <a:t>: Security identities for applications or automation tools that need to access Azure resources.</a:t>
            </a:r>
          </a:p>
          <a:p>
            <a:r>
              <a:rPr lang="en-US" sz="1100" b="1" dirty="0"/>
              <a:t>Managed Identities</a:t>
            </a:r>
            <a:r>
              <a:rPr lang="en-US" sz="1100" dirty="0"/>
              <a:t>: A type of service principal that Azure automatically manages, providing secure access without requiring explicit credentials.</a:t>
            </a:r>
          </a:p>
          <a:p>
            <a:endParaRPr lang="en-US" sz="1100" b="1" dirty="0"/>
          </a:p>
          <a:p>
            <a:r>
              <a:rPr lang="en-US" sz="1100" b="1" dirty="0"/>
              <a:t>Permissions</a:t>
            </a:r>
            <a:r>
              <a:rPr lang="en-US" sz="1100" dirty="0"/>
              <a:t>: 15k +</a:t>
            </a:r>
          </a:p>
          <a:p>
            <a:r>
              <a:rPr lang="en-US" sz="1100" dirty="0"/>
              <a:t>Permissions in Azure are actions (like read, write, delete) that can be assigned to roles. </a:t>
            </a:r>
          </a:p>
          <a:p>
            <a:endParaRPr lang="en-US" sz="1100" dirty="0"/>
          </a:p>
          <a:p>
            <a:r>
              <a:rPr lang="en-US" sz="1100" b="1" i="1" dirty="0"/>
              <a:t>Scope: Roles Can be defined at any level (Tenant/MG/Subscription/RG/Resource).</a:t>
            </a:r>
          </a:p>
          <a:p>
            <a:r>
              <a:rPr lang="en-US" sz="1100" b="1" dirty="0"/>
              <a:t>Azure RBAC (IAM) Workflow:</a:t>
            </a:r>
          </a:p>
          <a:p>
            <a:r>
              <a:rPr lang="en-US" sz="1100" b="1" dirty="0"/>
              <a:t>Define a Role</a:t>
            </a:r>
            <a:r>
              <a:rPr lang="en-US" sz="1100" dirty="0"/>
              <a:t>: Select a built-in role or create a custom role with specific permissions.</a:t>
            </a:r>
          </a:p>
          <a:p>
            <a:r>
              <a:rPr lang="en-US" sz="1100" b="1" dirty="0"/>
              <a:t>Assign the </a:t>
            </a:r>
            <a:r>
              <a:rPr lang="en-US" sz="1100" dirty="0"/>
              <a:t>:</a:t>
            </a:r>
            <a:r>
              <a:rPr lang="en-US" sz="1100" b="1" dirty="0"/>
              <a:t>Role</a:t>
            </a:r>
            <a:r>
              <a:rPr lang="en-US" sz="1100" dirty="0"/>
              <a:t> Assign the role to a principal (user, group, service principal, or managed identity).</a:t>
            </a:r>
          </a:p>
          <a:p>
            <a:r>
              <a:rPr lang="en-US" sz="1100" b="1" dirty="0"/>
              <a:t>Manage Access</a:t>
            </a:r>
            <a:r>
              <a:rPr lang="en-US" sz="1100" dirty="0"/>
              <a:t>: Review and manage access to control the roles(principals) to use the respective subscription -&gt; Resource Group -&gt; Resources</a:t>
            </a:r>
          </a:p>
        </p:txBody>
      </p:sp>
      <p:sp>
        <p:nvSpPr>
          <p:cNvPr id="5" name="Rectangle 4"/>
          <p:cNvSpPr/>
          <p:nvPr/>
        </p:nvSpPr>
        <p:spPr>
          <a:xfrm>
            <a:off x="26895" y="1695874"/>
            <a:ext cx="6255258" cy="869469"/>
          </a:xfrm>
          <a:prstGeom prst="rect">
            <a:avLst/>
          </a:prstGeom>
        </p:spPr>
        <p:txBody>
          <a:bodyPr wrap="square">
            <a:spAutoFit/>
          </a:bodyPr>
          <a:lstStyle/>
          <a:p>
            <a:r>
              <a:rPr lang="en-US" sz="1050" b="1" i="1" u="sng" dirty="0">
                <a:solidFill>
                  <a:schemeClr val="tx2"/>
                </a:solidFill>
                <a:latin typeface="Helvetica" pitchFamily="50" charset="0"/>
              </a:rPr>
              <a:t>What we are learning here:</a:t>
            </a:r>
          </a:p>
          <a:p>
            <a:pPr marL="228600" indent="-228600">
              <a:buFontTx/>
              <a:buAutoNum type="arabicPeriod"/>
            </a:pPr>
            <a:r>
              <a:rPr lang="en-US" sz="800" b="1" i="1" dirty="0">
                <a:solidFill>
                  <a:schemeClr val="tx2"/>
                </a:solidFill>
                <a:latin typeface="Helvetica" pitchFamily="50" charset="0"/>
              </a:rPr>
              <a:t>(Identity)- Define Users/Roles/Service Principals – Can be created by the admin using Active Directory/Microsoft </a:t>
            </a:r>
            <a:r>
              <a:rPr lang="en-US" sz="800" b="1" i="1" dirty="0" err="1">
                <a:solidFill>
                  <a:schemeClr val="tx2"/>
                </a:solidFill>
                <a:latin typeface="Helvetica" pitchFamily="50" charset="0"/>
              </a:rPr>
              <a:t>Entra</a:t>
            </a:r>
            <a:r>
              <a:rPr lang="en-US" sz="800" b="1" i="1" dirty="0">
                <a:solidFill>
                  <a:schemeClr val="tx2"/>
                </a:solidFill>
                <a:latin typeface="Helvetica" pitchFamily="50" charset="0"/>
              </a:rPr>
              <a:t> Id (creating Single Sign On)</a:t>
            </a:r>
          </a:p>
          <a:p>
            <a:r>
              <a:rPr lang="en-US" sz="800" b="1" i="1" dirty="0">
                <a:solidFill>
                  <a:srgbClr val="C00000"/>
                </a:solidFill>
                <a:latin typeface="Helvetica" pitchFamily="50" charset="0"/>
              </a:rPr>
              <a:t>Users=</a:t>
            </a:r>
            <a:r>
              <a:rPr lang="en-US" sz="800" b="1" i="1" strike="sngStrike" dirty="0">
                <a:solidFill>
                  <a:srgbClr val="C00000"/>
                </a:solidFill>
                <a:latin typeface="Helvetica" pitchFamily="50" charset="0"/>
              </a:rPr>
              <a:t>Principal</a:t>
            </a:r>
            <a:r>
              <a:rPr lang="en-US" sz="800" b="1" i="1" dirty="0">
                <a:solidFill>
                  <a:srgbClr val="C00000"/>
                </a:solidFill>
                <a:latin typeface="Helvetica" pitchFamily="50" charset="0"/>
              </a:rPr>
              <a:t>, Group=</a:t>
            </a:r>
            <a:r>
              <a:rPr lang="en-US" sz="800" b="1" i="1" strike="sngStrike" dirty="0">
                <a:solidFill>
                  <a:srgbClr val="C00000"/>
                </a:solidFill>
                <a:latin typeface="Helvetica" pitchFamily="50" charset="0"/>
              </a:rPr>
              <a:t>Group</a:t>
            </a:r>
            <a:r>
              <a:rPr lang="en-US" sz="800" b="1" i="1" dirty="0">
                <a:solidFill>
                  <a:srgbClr val="C00000"/>
                </a:solidFill>
                <a:latin typeface="Helvetica" pitchFamily="50" charset="0"/>
              </a:rPr>
              <a:t>, Service Principal=</a:t>
            </a:r>
            <a:r>
              <a:rPr lang="en-US" sz="800" b="1" i="1" strike="sngStrike" dirty="0">
                <a:solidFill>
                  <a:srgbClr val="C00000"/>
                </a:solidFill>
                <a:latin typeface="Helvetica" pitchFamily="50" charset="0"/>
              </a:rPr>
              <a:t>Service Account</a:t>
            </a:r>
            <a:r>
              <a:rPr lang="en-US" sz="800" b="1" i="1" dirty="0">
                <a:solidFill>
                  <a:srgbClr val="C00000"/>
                </a:solidFill>
                <a:latin typeface="Helvetica" pitchFamily="50" charset="0"/>
              </a:rPr>
              <a:t>, Managed Identity=</a:t>
            </a:r>
            <a:r>
              <a:rPr lang="en-US" sz="800" b="1" i="1" strike="sngStrike" dirty="0">
                <a:solidFill>
                  <a:srgbClr val="C00000"/>
                </a:solidFill>
                <a:latin typeface="Helvetica" pitchFamily="50" charset="0"/>
              </a:rPr>
              <a:t>GCP Owner User</a:t>
            </a:r>
          </a:p>
          <a:p>
            <a:r>
              <a:rPr lang="en-US" sz="800" b="1" i="1" dirty="0">
                <a:solidFill>
                  <a:schemeClr val="tx2"/>
                </a:solidFill>
                <a:latin typeface="Helvetica" pitchFamily="50" charset="0"/>
              </a:rPr>
              <a:t>2.     (Access Management) We are learning about </a:t>
            </a:r>
            <a:r>
              <a:rPr lang="en-US" sz="800" b="1" i="1" dirty="0">
                <a:solidFill>
                  <a:srgbClr val="C00000"/>
                </a:solidFill>
                <a:latin typeface="Helvetica" pitchFamily="50" charset="0"/>
              </a:rPr>
              <a:t>What</a:t>
            </a:r>
            <a:r>
              <a:rPr lang="en-US" sz="800" b="1" i="1" dirty="0">
                <a:solidFill>
                  <a:schemeClr val="tx2"/>
                </a:solidFill>
                <a:latin typeface="Helvetica" pitchFamily="50" charset="0"/>
              </a:rPr>
              <a:t> access can be given for </a:t>
            </a:r>
            <a:r>
              <a:rPr lang="en-US" sz="800" b="1" i="1" dirty="0">
                <a:solidFill>
                  <a:srgbClr val="C00000"/>
                </a:solidFill>
                <a:latin typeface="Helvetica" pitchFamily="50" charset="0"/>
              </a:rPr>
              <a:t>Which</a:t>
            </a:r>
            <a:r>
              <a:rPr lang="en-US" sz="800" b="1" i="1" dirty="0">
                <a:solidFill>
                  <a:schemeClr val="tx2"/>
                </a:solidFill>
                <a:latin typeface="Helvetica" pitchFamily="50" charset="0"/>
              </a:rPr>
              <a:t> Resource at </a:t>
            </a:r>
            <a:r>
              <a:rPr lang="en-US" sz="800" b="1" i="1" dirty="0">
                <a:solidFill>
                  <a:srgbClr val="C00000"/>
                </a:solidFill>
                <a:latin typeface="Helvetica" pitchFamily="50" charset="0"/>
              </a:rPr>
              <a:t>what</a:t>
            </a:r>
            <a:r>
              <a:rPr lang="en-US" sz="800" b="1" i="1" dirty="0">
                <a:solidFill>
                  <a:schemeClr val="tx2"/>
                </a:solidFill>
                <a:latin typeface="Helvetica" pitchFamily="50" charset="0"/>
              </a:rPr>
              <a:t> level of hierarchy  -</a:t>
            </a:r>
          </a:p>
          <a:p>
            <a:r>
              <a:rPr lang="en-US" sz="800" b="1" i="1" dirty="0">
                <a:solidFill>
                  <a:srgbClr val="C00000"/>
                </a:solidFill>
                <a:latin typeface="Helvetica" pitchFamily="50" charset="0"/>
              </a:rPr>
              <a:t>Every level we can control the access</a:t>
            </a:r>
          </a:p>
        </p:txBody>
      </p:sp>
    </p:spTree>
    <p:extLst>
      <p:ext uri="{BB962C8B-B14F-4D97-AF65-F5344CB8AC3E}">
        <p14:creationId xmlns:p14="http://schemas.microsoft.com/office/powerpoint/2010/main" val="39322746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16816" y="-53790"/>
            <a:ext cx="8004369" cy="486834"/>
          </a:xfrm>
        </p:spPr>
        <p:txBody>
          <a:bodyPr vert="horz" lIns="91440" tIns="45720" rIns="91440" bIns="45720" rtlCol="0" anchor="ctr">
            <a:normAutofit fontScale="90000"/>
          </a:bodyPr>
          <a:lstStyle/>
          <a:p>
            <a:r>
              <a:rPr lang="en-US" sz="2800" b="1" dirty="0">
                <a:solidFill>
                  <a:srgbClr val="FF0000"/>
                </a:solidFill>
                <a:latin typeface="+mn-lt"/>
              </a:rPr>
              <a:t>RBAC – IAM (</a:t>
            </a:r>
            <a:r>
              <a:rPr lang="en-US" sz="2800" b="1" u="sng" dirty="0">
                <a:solidFill>
                  <a:srgbClr val="7030A0"/>
                </a:solidFill>
                <a:latin typeface="+mn-lt"/>
              </a:rPr>
              <a:t>Identity</a:t>
            </a:r>
            <a:r>
              <a:rPr lang="en-US" sz="2800" b="1" dirty="0">
                <a:solidFill>
                  <a:srgbClr val="FF0000"/>
                </a:solidFill>
                <a:latin typeface="+mn-lt"/>
              </a:rPr>
              <a:t>) (User/group/role management)</a:t>
            </a:r>
          </a:p>
        </p:txBody>
      </p:sp>
      <p:pic>
        <p:nvPicPr>
          <p:cNvPr id="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44700"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3" name="Group 22"/>
          <p:cNvGrpSpPr/>
          <p:nvPr/>
        </p:nvGrpSpPr>
        <p:grpSpPr>
          <a:xfrm>
            <a:off x="5268758" y="1860155"/>
            <a:ext cx="6650032" cy="3193363"/>
            <a:chOff x="6498489" y="2777128"/>
            <a:chExt cx="5403275" cy="2594667"/>
          </a:xfrm>
        </p:grpSpPr>
        <p:pic>
          <p:nvPicPr>
            <p:cNvPr id="2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8489" y="3038966"/>
              <a:ext cx="5403275" cy="23328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27" name="Heptagon 26"/>
            <p:cNvSpPr/>
            <p:nvPr/>
          </p:nvSpPr>
          <p:spPr>
            <a:xfrm>
              <a:off x="11332725" y="2777128"/>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1</a:t>
              </a:r>
              <a:endParaRPr lang="en-IN" sz="3600" b="1" dirty="0"/>
            </a:p>
          </p:txBody>
        </p:sp>
        <p:sp>
          <p:nvSpPr>
            <p:cNvPr id="28" name="Rectangle 27"/>
            <p:cNvSpPr/>
            <p:nvPr/>
          </p:nvSpPr>
          <p:spPr>
            <a:xfrm>
              <a:off x="10048480" y="4406326"/>
              <a:ext cx="639990" cy="1791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9" name="TextBox 28"/>
          <p:cNvSpPr txBox="1"/>
          <p:nvPr/>
        </p:nvSpPr>
        <p:spPr>
          <a:xfrm>
            <a:off x="208574" y="699665"/>
            <a:ext cx="7221849" cy="769441"/>
          </a:xfrm>
          <a:prstGeom prst="rect">
            <a:avLst/>
          </a:prstGeom>
          <a:noFill/>
        </p:spPr>
        <p:txBody>
          <a:bodyPr wrap="none" rtlCol="0">
            <a:spAutoFit/>
          </a:bodyPr>
          <a:lstStyle/>
          <a:p>
            <a:r>
              <a:rPr lang="en-US" sz="1600" b="1" dirty="0"/>
              <a:t>To add a new user search for active directory -&gt; Add users/groups (done by Admin)</a:t>
            </a:r>
          </a:p>
          <a:p>
            <a:pPr marL="228600" indent="-228600">
              <a:buAutoNum type="arabicPeriod"/>
            </a:pPr>
            <a:r>
              <a:rPr lang="en-US" sz="1400" dirty="0"/>
              <a:t>Go to the </a:t>
            </a:r>
            <a:r>
              <a:rPr lang="en-US" sz="1400" b="1" dirty="0"/>
              <a:t>Azure Active Directory -&gt; </a:t>
            </a:r>
            <a:r>
              <a:rPr lang="en-US" sz="1400" dirty="0"/>
              <a:t>select </a:t>
            </a:r>
            <a:r>
              <a:rPr lang="en-US" sz="1400" b="1" dirty="0"/>
              <a:t>Users</a:t>
            </a:r>
            <a:r>
              <a:rPr lang="en-US" sz="1400" dirty="0"/>
              <a:t> under the "Manage" section</a:t>
            </a:r>
          </a:p>
          <a:p>
            <a:pPr marL="228600" indent="-228600">
              <a:buAutoNum type="arabicPeriod"/>
            </a:pPr>
            <a:r>
              <a:rPr lang="en-US" sz="1400" dirty="0"/>
              <a:t>Invite external guest user or add a internal member user.</a:t>
            </a:r>
            <a:endParaRPr lang="en-IN" sz="1400" dirty="0"/>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5981" y="501216"/>
            <a:ext cx="933450" cy="1047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48758" y="518368"/>
            <a:ext cx="874568" cy="10217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320" y="1759500"/>
            <a:ext cx="4203595" cy="47231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7172380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16816" y="-53790"/>
            <a:ext cx="6059021" cy="486834"/>
          </a:xfrm>
        </p:spPr>
        <p:txBody>
          <a:bodyPr vert="horz" lIns="91440" tIns="45720" rIns="91440" bIns="45720" rtlCol="0" anchor="ctr">
            <a:normAutofit/>
          </a:bodyPr>
          <a:lstStyle/>
          <a:p>
            <a:r>
              <a:rPr lang="en-US" sz="2800" b="1" dirty="0">
                <a:solidFill>
                  <a:srgbClr val="FF0000"/>
                </a:solidFill>
                <a:latin typeface="+mn-lt"/>
              </a:rPr>
              <a:t>RBAC – IAM </a:t>
            </a:r>
            <a:r>
              <a:rPr lang="en-US" sz="2800" b="1" dirty="0">
                <a:solidFill>
                  <a:srgbClr val="FF0000"/>
                </a:solidFill>
              </a:rPr>
              <a:t>(</a:t>
            </a:r>
            <a:r>
              <a:rPr lang="en-US" sz="2800" b="1" u="sng" dirty="0">
                <a:solidFill>
                  <a:srgbClr val="7030A0"/>
                </a:solidFill>
              </a:rPr>
              <a:t>Access</a:t>
            </a:r>
            <a:r>
              <a:rPr lang="en-US" sz="2800" b="1" dirty="0">
                <a:solidFill>
                  <a:srgbClr val="FF0000"/>
                </a:solidFill>
              </a:rPr>
              <a:t>)</a:t>
            </a:r>
            <a:r>
              <a:rPr lang="en-US" sz="2800" b="1" dirty="0">
                <a:solidFill>
                  <a:srgbClr val="FF0000"/>
                </a:solidFill>
                <a:latin typeface="+mn-lt"/>
              </a:rPr>
              <a:t> (Role Assignment)</a:t>
            </a:r>
          </a:p>
        </p:txBody>
      </p:sp>
      <p:grpSp>
        <p:nvGrpSpPr>
          <p:cNvPr id="2" name="Group 1"/>
          <p:cNvGrpSpPr/>
          <p:nvPr/>
        </p:nvGrpSpPr>
        <p:grpSpPr>
          <a:xfrm>
            <a:off x="129885" y="4361075"/>
            <a:ext cx="7663291" cy="2397970"/>
            <a:chOff x="219836" y="406741"/>
            <a:chExt cx="9272582" cy="3510868"/>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836" y="406741"/>
              <a:ext cx="9199628" cy="35108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8" name="Rectangle 17"/>
            <p:cNvSpPr/>
            <p:nvPr/>
          </p:nvSpPr>
          <p:spPr>
            <a:xfrm>
              <a:off x="263122" y="2977704"/>
              <a:ext cx="9229296" cy="21679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219836" y="407070"/>
              <a:ext cx="2932939" cy="1970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 name="Group 3"/>
          <p:cNvGrpSpPr/>
          <p:nvPr/>
        </p:nvGrpSpPr>
        <p:grpSpPr>
          <a:xfrm>
            <a:off x="6053450" y="149845"/>
            <a:ext cx="6064822" cy="2282302"/>
            <a:chOff x="634382" y="4065872"/>
            <a:chExt cx="7338434" cy="2761585"/>
          </a:xfrm>
        </p:grpSpPr>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4069" y="6355143"/>
              <a:ext cx="3652562" cy="4723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 name="Group 2"/>
            <p:cNvGrpSpPr/>
            <p:nvPr/>
          </p:nvGrpSpPr>
          <p:grpSpPr>
            <a:xfrm>
              <a:off x="634382" y="4065872"/>
              <a:ext cx="7338434" cy="2656586"/>
              <a:chOff x="634382" y="4065872"/>
              <a:chExt cx="7338434" cy="2656586"/>
            </a:xfrm>
          </p:grpSpPr>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382" y="4065872"/>
                <a:ext cx="7338434" cy="223145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7" name="Rectangle 16"/>
              <p:cNvSpPr/>
              <p:nvPr/>
            </p:nvSpPr>
            <p:spPr>
              <a:xfrm>
                <a:off x="1166561" y="6460141"/>
                <a:ext cx="1133782" cy="2623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p:cNvSpPr/>
              <p:nvPr/>
            </p:nvSpPr>
            <p:spPr>
              <a:xfrm>
                <a:off x="1886711" y="6017295"/>
                <a:ext cx="2932939" cy="1970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085" y="1122072"/>
            <a:ext cx="4616778" cy="31370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4" name="Rectangle 13"/>
          <p:cNvSpPr/>
          <p:nvPr/>
        </p:nvSpPr>
        <p:spPr>
          <a:xfrm>
            <a:off x="317823" y="3121922"/>
            <a:ext cx="934525" cy="16287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3238398" y="4009422"/>
            <a:ext cx="1027977" cy="16287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Heptagon 15"/>
          <p:cNvSpPr/>
          <p:nvPr/>
        </p:nvSpPr>
        <p:spPr>
          <a:xfrm>
            <a:off x="4611621" y="1122072"/>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1</a:t>
            </a:r>
            <a:endParaRPr lang="en-IN" sz="3600" b="1" dirty="0"/>
          </a:p>
        </p:txBody>
      </p:sp>
      <p:sp>
        <p:nvSpPr>
          <p:cNvPr id="21" name="Heptagon 20"/>
          <p:cNvSpPr/>
          <p:nvPr/>
        </p:nvSpPr>
        <p:spPr>
          <a:xfrm>
            <a:off x="7345088" y="4116225"/>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2</a:t>
            </a:r>
            <a:endParaRPr lang="en-IN" sz="3600" b="1" dirty="0"/>
          </a:p>
        </p:txBody>
      </p:sp>
      <p:sp>
        <p:nvSpPr>
          <p:cNvPr id="22" name="Heptagon 21"/>
          <p:cNvSpPr/>
          <p:nvPr/>
        </p:nvSpPr>
        <p:spPr>
          <a:xfrm>
            <a:off x="9241259" y="77334"/>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3</a:t>
            </a:r>
            <a:endParaRPr lang="en-IN" sz="3600" b="1" dirty="0"/>
          </a:p>
        </p:txBody>
      </p:sp>
      <p:sp>
        <p:nvSpPr>
          <p:cNvPr id="25" name="TextBox 24"/>
          <p:cNvSpPr txBox="1"/>
          <p:nvPr/>
        </p:nvSpPr>
        <p:spPr>
          <a:xfrm>
            <a:off x="129885" y="296017"/>
            <a:ext cx="5770915" cy="769441"/>
          </a:xfrm>
          <a:prstGeom prst="rect">
            <a:avLst/>
          </a:prstGeom>
          <a:noFill/>
        </p:spPr>
        <p:txBody>
          <a:bodyPr wrap="square" rtlCol="0">
            <a:spAutoFit/>
          </a:bodyPr>
          <a:lstStyle/>
          <a:p>
            <a:r>
              <a:rPr lang="en-US" sz="1200" b="1" u="sng" dirty="0"/>
              <a:t>To Assign roles to the new user, we can directly click on the tenant/management group/</a:t>
            </a:r>
          </a:p>
          <a:p>
            <a:r>
              <a:rPr lang="en-US" sz="1200" b="1" u="sng" dirty="0"/>
              <a:t>Resource Group/Resource directly</a:t>
            </a:r>
          </a:p>
          <a:p>
            <a:r>
              <a:rPr lang="en-US" sz="1000" b="1" i="1" dirty="0">
                <a:solidFill>
                  <a:schemeClr val="tx2"/>
                </a:solidFill>
                <a:latin typeface="Helvetica" pitchFamily="50" charset="0"/>
              </a:rPr>
              <a:t>(Access Management) We are learning about </a:t>
            </a:r>
            <a:r>
              <a:rPr lang="en-US" sz="1000" b="1" i="1" dirty="0">
                <a:solidFill>
                  <a:srgbClr val="C00000"/>
                </a:solidFill>
                <a:latin typeface="Helvetica" pitchFamily="50" charset="0"/>
              </a:rPr>
              <a:t>What</a:t>
            </a:r>
            <a:r>
              <a:rPr lang="en-US" sz="1000" b="1" i="1" dirty="0">
                <a:solidFill>
                  <a:schemeClr val="tx2"/>
                </a:solidFill>
                <a:latin typeface="Helvetica" pitchFamily="50" charset="0"/>
              </a:rPr>
              <a:t> access can be given for </a:t>
            </a:r>
            <a:r>
              <a:rPr lang="en-US" sz="1000" b="1" i="1" dirty="0">
                <a:solidFill>
                  <a:srgbClr val="C00000"/>
                </a:solidFill>
                <a:latin typeface="Helvetica" pitchFamily="50" charset="0"/>
              </a:rPr>
              <a:t>Which</a:t>
            </a:r>
            <a:r>
              <a:rPr lang="en-US" sz="1000" b="1" i="1" dirty="0">
                <a:solidFill>
                  <a:schemeClr val="tx2"/>
                </a:solidFill>
                <a:latin typeface="Helvetica" pitchFamily="50" charset="0"/>
              </a:rPr>
              <a:t> Resource at </a:t>
            </a:r>
            <a:r>
              <a:rPr lang="en-US" sz="1000" b="1" i="1" dirty="0">
                <a:solidFill>
                  <a:srgbClr val="C00000"/>
                </a:solidFill>
                <a:latin typeface="Helvetica" pitchFamily="50" charset="0"/>
              </a:rPr>
              <a:t>what</a:t>
            </a:r>
            <a:r>
              <a:rPr lang="en-US" sz="1000" b="1" i="1" dirty="0">
                <a:solidFill>
                  <a:schemeClr val="tx2"/>
                </a:solidFill>
                <a:latin typeface="Helvetica" pitchFamily="50" charset="0"/>
              </a:rPr>
              <a:t> level of hierarchy  - </a:t>
            </a:r>
            <a:r>
              <a:rPr lang="en-US" sz="1000" b="1" i="1" dirty="0">
                <a:solidFill>
                  <a:srgbClr val="C00000"/>
                </a:solidFill>
                <a:latin typeface="Helvetica" pitchFamily="50" charset="0"/>
              </a:rPr>
              <a:t>Every level we can control the access</a:t>
            </a:r>
            <a:endParaRPr lang="en-IN" sz="1000" u="sng" dirty="0"/>
          </a:p>
        </p:txBody>
      </p:sp>
      <p:pic>
        <p:nvPicPr>
          <p:cNvPr id="26"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744700"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Rectangle 26"/>
          <p:cNvSpPr/>
          <p:nvPr/>
        </p:nvSpPr>
        <p:spPr>
          <a:xfrm>
            <a:off x="1726857" y="2110650"/>
            <a:ext cx="934525" cy="16287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185918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2"/>
          <p:cNvSpPr>
            <a:spLocks noGrp="1" noChangeArrowheads="1"/>
          </p:cNvSpPr>
          <p:nvPr>
            <p:ph type="ctrTitle"/>
          </p:nvPr>
        </p:nvSpPr>
        <p:spPr>
          <a:xfrm>
            <a:off x="580215" y="2447365"/>
            <a:ext cx="10363200" cy="1143000"/>
          </a:xfrm>
        </p:spPr>
        <p:txBody>
          <a:bodyPr vert="horz" lIns="91440" tIns="45720" rIns="91440" bIns="45720" rtlCol="0" anchor="ctr">
            <a:noAutofit/>
          </a:bodyPr>
          <a:lstStyle/>
          <a:p>
            <a:r>
              <a:rPr lang="en-US" sz="4800" b="1" dirty="0" smtClean="0">
                <a:solidFill>
                  <a:srgbClr val="FF0000"/>
                </a:solidFill>
              </a:rPr>
              <a:t>Azure Data Lake </a:t>
            </a:r>
            <a:br>
              <a:rPr lang="en-US" sz="4800" b="1" dirty="0" smtClean="0">
                <a:solidFill>
                  <a:srgbClr val="FF0000"/>
                </a:solidFill>
              </a:rPr>
            </a:br>
            <a:r>
              <a:rPr lang="en-US" sz="3200" b="1" dirty="0" smtClean="0">
                <a:solidFill>
                  <a:srgbClr val="FF0000"/>
                </a:solidFill>
              </a:rPr>
              <a:t>(Cloud </a:t>
            </a:r>
            <a:r>
              <a:rPr lang="en-US" sz="3200" b="1" dirty="0" err="1" smtClean="0">
                <a:solidFill>
                  <a:srgbClr val="FF0000"/>
                </a:solidFill>
              </a:rPr>
              <a:t>Engg</a:t>
            </a:r>
            <a:r>
              <a:rPr lang="en-US" sz="3200" b="1" dirty="0" smtClean="0">
                <a:solidFill>
                  <a:srgbClr val="FF0000"/>
                </a:solidFill>
              </a:rPr>
              <a:t>./Platform </a:t>
            </a:r>
            <a:r>
              <a:rPr lang="en-US" sz="3200" b="1" dirty="0" err="1" smtClean="0">
                <a:solidFill>
                  <a:srgbClr val="FF0000"/>
                </a:solidFill>
              </a:rPr>
              <a:t>Engg</a:t>
            </a:r>
            <a:r>
              <a:rPr lang="en-US" sz="3200" b="1" dirty="0" smtClean="0">
                <a:solidFill>
                  <a:srgbClr val="FF0000"/>
                </a:solidFill>
              </a:rPr>
              <a:t>.)</a:t>
            </a:r>
            <a:r>
              <a:rPr lang="en-US" sz="4800" b="1" dirty="0" smtClean="0">
                <a:solidFill>
                  <a:srgbClr val="FF0000"/>
                </a:solidFill>
              </a:rPr>
              <a:t/>
            </a:r>
            <a:br>
              <a:rPr lang="en-US" sz="4800" b="1" dirty="0" smtClean="0">
                <a:solidFill>
                  <a:srgbClr val="FF0000"/>
                </a:solidFill>
              </a:rPr>
            </a:br>
            <a:r>
              <a:rPr lang="en-US" sz="4800" b="1" dirty="0" smtClean="0">
                <a:solidFill>
                  <a:srgbClr val="FF0000"/>
                </a:solidFill>
              </a:rPr>
              <a:t>BLOB/ADLS Gen2</a:t>
            </a:r>
            <a:endParaRPr lang="cs-CZ" sz="4800" b="1" dirty="0">
              <a:solidFill>
                <a:srgbClr val="FF0000"/>
              </a:solidFill>
            </a:endParaRPr>
          </a:p>
        </p:txBody>
      </p:sp>
    </p:spTree>
    <p:extLst>
      <p:ext uri="{BB962C8B-B14F-4D97-AF65-F5344CB8AC3E}">
        <p14:creationId xmlns:p14="http://schemas.microsoft.com/office/powerpoint/2010/main" val="1002053697"/>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20600" y="1691104"/>
            <a:ext cx="2782473" cy="98134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Block Type (</a:t>
            </a:r>
            <a:r>
              <a:rPr lang="en-IN" dirty="0" err="1" smtClean="0"/>
              <a:t>Onprem</a:t>
            </a:r>
            <a:r>
              <a:rPr lang="en-IN" dirty="0" smtClean="0"/>
              <a:t>)</a:t>
            </a:r>
          </a:p>
          <a:p>
            <a:pPr algn="ctr"/>
            <a:r>
              <a:rPr lang="en-IN" dirty="0" smtClean="0"/>
              <a:t>Chunks/pieces -&gt; </a:t>
            </a:r>
            <a:r>
              <a:rPr lang="en-IN" sz="1200" dirty="0" smtClean="0"/>
              <a:t>1Node(Windows/Linux) /</a:t>
            </a:r>
          </a:p>
          <a:p>
            <a:pPr algn="ctr"/>
            <a:r>
              <a:rPr lang="en-IN" sz="1200" dirty="0" err="1" smtClean="0"/>
              <a:t>nNodes</a:t>
            </a:r>
            <a:r>
              <a:rPr lang="en-IN" sz="1200" dirty="0" smtClean="0"/>
              <a:t>(Distributed Storage </a:t>
            </a:r>
            <a:r>
              <a:rPr lang="en-IN" sz="1200" b="1" dirty="0" smtClean="0"/>
              <a:t>WORM</a:t>
            </a:r>
            <a:r>
              <a:rPr lang="en-IN" sz="1200" dirty="0" smtClean="0"/>
              <a:t>)</a:t>
            </a:r>
            <a:endParaRPr lang="en-IN" sz="1200" dirty="0"/>
          </a:p>
        </p:txBody>
      </p:sp>
      <p:sp>
        <p:nvSpPr>
          <p:cNvPr id="5" name="TextBox 4"/>
          <p:cNvSpPr txBox="1"/>
          <p:nvPr/>
        </p:nvSpPr>
        <p:spPr>
          <a:xfrm>
            <a:off x="1299210" y="1054447"/>
            <a:ext cx="3583930" cy="369332"/>
          </a:xfrm>
          <a:prstGeom prst="rect">
            <a:avLst/>
          </a:prstGeom>
          <a:noFill/>
        </p:spPr>
        <p:txBody>
          <a:bodyPr wrap="none" rtlCol="0">
            <a:spAutoFit/>
          </a:bodyPr>
          <a:lstStyle/>
          <a:p>
            <a:r>
              <a:rPr lang="en-IN" b="1" dirty="0" smtClean="0"/>
              <a:t>Core Types of Storages in this world</a:t>
            </a:r>
            <a:endParaRPr lang="en-IN" b="1" dirty="0"/>
          </a:p>
        </p:txBody>
      </p:sp>
      <p:sp>
        <p:nvSpPr>
          <p:cNvPr id="6" name="Rectangle 5"/>
          <p:cNvSpPr/>
          <p:nvPr/>
        </p:nvSpPr>
        <p:spPr>
          <a:xfrm>
            <a:off x="1820600" y="2997185"/>
            <a:ext cx="2782473" cy="118502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Object Type (Cloud)</a:t>
            </a:r>
          </a:p>
          <a:p>
            <a:pPr algn="ctr"/>
            <a:r>
              <a:rPr lang="en-IN" dirty="0" smtClean="0"/>
              <a:t>Single Entity(</a:t>
            </a:r>
            <a:r>
              <a:rPr lang="en-IN" dirty="0" err="1" smtClean="0"/>
              <a:t>Attr</a:t>
            </a:r>
            <a:r>
              <a:rPr lang="en-IN" dirty="0" smtClean="0"/>
              <a:t>, MD, Data)</a:t>
            </a:r>
          </a:p>
          <a:p>
            <a:pPr algn="ctr"/>
            <a:r>
              <a:rPr lang="en-IN" sz="1400" dirty="0" smtClean="0"/>
              <a:t>File 1GB -&gt; 1 Object in 1 HDD</a:t>
            </a:r>
          </a:p>
          <a:p>
            <a:pPr algn="ctr"/>
            <a:r>
              <a:rPr lang="en-IN" sz="1400" dirty="0" smtClean="0"/>
              <a:t>File 190TB -&gt; 1 Object in 1 HDD</a:t>
            </a:r>
            <a:endParaRPr lang="en-IN" sz="1400" dirty="0"/>
          </a:p>
        </p:txBody>
      </p:sp>
      <p:sp>
        <p:nvSpPr>
          <p:cNvPr id="7" name="Rectangle 6"/>
          <p:cNvSpPr/>
          <p:nvPr/>
        </p:nvSpPr>
        <p:spPr>
          <a:xfrm>
            <a:off x="5853501" y="2658196"/>
            <a:ext cx="3419032" cy="64948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BLOB (Bin Large Object)</a:t>
            </a:r>
          </a:p>
          <a:p>
            <a:pPr algn="ctr"/>
            <a:r>
              <a:rPr lang="en-IN" sz="900" dirty="0" smtClean="0"/>
              <a:t>Only Flat File, No Atomic Directory Operations, only IAM(RBAC) Access Control, Used only for Legacy &amp; Not optimized for </a:t>
            </a:r>
            <a:r>
              <a:rPr lang="en-IN" sz="900" dirty="0" err="1" smtClean="0"/>
              <a:t>Bigdata</a:t>
            </a:r>
            <a:endParaRPr lang="en-IN" sz="1200" dirty="0"/>
          </a:p>
        </p:txBody>
      </p:sp>
      <p:sp>
        <p:nvSpPr>
          <p:cNvPr id="8" name="TextBox 7"/>
          <p:cNvSpPr txBox="1"/>
          <p:nvPr/>
        </p:nvSpPr>
        <p:spPr>
          <a:xfrm>
            <a:off x="5853501" y="2288864"/>
            <a:ext cx="4474110" cy="369332"/>
          </a:xfrm>
          <a:prstGeom prst="rect">
            <a:avLst/>
          </a:prstGeom>
          <a:noFill/>
        </p:spPr>
        <p:txBody>
          <a:bodyPr wrap="none" rtlCol="0">
            <a:spAutoFit/>
          </a:bodyPr>
          <a:lstStyle/>
          <a:p>
            <a:r>
              <a:rPr lang="en-IN" b="1" dirty="0" smtClean="0"/>
              <a:t>Azure Object Types - (BLOB &amp; ADLS) - WORM</a:t>
            </a:r>
            <a:endParaRPr lang="en-IN" b="1" dirty="0"/>
          </a:p>
        </p:txBody>
      </p:sp>
      <p:cxnSp>
        <p:nvCxnSpPr>
          <p:cNvPr id="9" name="Straight Arrow Connector 8"/>
          <p:cNvCxnSpPr>
            <a:stCxn id="6" idx="3"/>
            <a:endCxn id="7" idx="1"/>
          </p:cNvCxnSpPr>
          <p:nvPr/>
        </p:nvCxnSpPr>
        <p:spPr>
          <a:xfrm flipV="1">
            <a:off x="4603073" y="2982936"/>
            <a:ext cx="1250428" cy="60676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p:cNvCxnSpPr>
          <p:nvPr/>
        </p:nvCxnSpPr>
        <p:spPr>
          <a:xfrm>
            <a:off x="4603073" y="3589697"/>
            <a:ext cx="1250428" cy="3247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179666" y="934806"/>
            <a:ext cx="9507913" cy="37772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p:cNvSpPr txBox="1"/>
          <p:nvPr/>
        </p:nvSpPr>
        <p:spPr>
          <a:xfrm>
            <a:off x="4761410" y="660928"/>
            <a:ext cx="2344424" cy="369332"/>
          </a:xfrm>
          <a:prstGeom prst="rect">
            <a:avLst/>
          </a:prstGeom>
          <a:noFill/>
        </p:spPr>
        <p:txBody>
          <a:bodyPr wrap="none" rtlCol="0">
            <a:spAutoFit/>
          </a:bodyPr>
          <a:lstStyle/>
          <a:p>
            <a:r>
              <a:rPr lang="en-IN" b="1" dirty="0" smtClean="0"/>
              <a:t>Cloud Storage Concept</a:t>
            </a:r>
            <a:endParaRPr lang="en-IN" b="1" dirty="0"/>
          </a:p>
        </p:txBody>
      </p:sp>
      <p:sp>
        <p:nvSpPr>
          <p:cNvPr id="16" name="Rectangle 15"/>
          <p:cNvSpPr/>
          <p:nvPr/>
        </p:nvSpPr>
        <p:spPr>
          <a:xfrm>
            <a:off x="5865603" y="3582552"/>
            <a:ext cx="3419032" cy="64948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ADLS Gen2 (</a:t>
            </a:r>
            <a:r>
              <a:rPr lang="en-IN" dirty="0" err="1" smtClean="0"/>
              <a:t>Az</a:t>
            </a:r>
            <a:r>
              <a:rPr lang="en-IN" dirty="0" smtClean="0"/>
              <a:t> Data Lake Storage)</a:t>
            </a:r>
          </a:p>
          <a:p>
            <a:pPr algn="ctr"/>
            <a:r>
              <a:rPr lang="en-IN" sz="900" dirty="0" smtClean="0"/>
              <a:t>Hierarchical Folder &amp; File, Atomic Directory Operations, Both IAM(RBAC) &amp; ACLs Access Control, Optimized for </a:t>
            </a:r>
            <a:r>
              <a:rPr lang="en-IN" sz="900" dirty="0" err="1" smtClean="0"/>
              <a:t>Bigdata</a:t>
            </a:r>
            <a:r>
              <a:rPr lang="en-IN" sz="900" dirty="0" smtClean="0"/>
              <a:t> ecosystems</a:t>
            </a:r>
            <a:endParaRPr lang="en-IN" sz="1200" dirty="0"/>
          </a:p>
        </p:txBody>
      </p:sp>
      <p:sp>
        <p:nvSpPr>
          <p:cNvPr id="15" name="Rectangle 14"/>
          <p:cNvSpPr/>
          <p:nvPr/>
        </p:nvSpPr>
        <p:spPr>
          <a:xfrm>
            <a:off x="1598064" y="5418034"/>
            <a:ext cx="1187865" cy="5042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smtClean="0"/>
              <a:t>Src</a:t>
            </a:r>
            <a:endParaRPr lang="en-IN" dirty="0" smtClean="0"/>
          </a:p>
        </p:txBody>
      </p:sp>
      <p:sp>
        <p:nvSpPr>
          <p:cNvPr id="18" name="Rectangle 17"/>
          <p:cNvSpPr/>
          <p:nvPr/>
        </p:nvSpPr>
        <p:spPr>
          <a:xfrm>
            <a:off x="3878366" y="5418034"/>
            <a:ext cx="1187865" cy="5042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Blob</a:t>
            </a:r>
          </a:p>
          <a:p>
            <a:pPr algn="ctr"/>
            <a:r>
              <a:rPr lang="en-IN" dirty="0" smtClean="0"/>
              <a:t>Ingestion</a:t>
            </a:r>
          </a:p>
        </p:txBody>
      </p:sp>
      <p:sp>
        <p:nvSpPr>
          <p:cNvPr id="19" name="Rectangle 18"/>
          <p:cNvSpPr/>
          <p:nvPr/>
        </p:nvSpPr>
        <p:spPr>
          <a:xfrm>
            <a:off x="6406857" y="5418034"/>
            <a:ext cx="1187865" cy="5042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DBFS</a:t>
            </a:r>
            <a:endParaRPr lang="en-IN" dirty="0" smtClean="0"/>
          </a:p>
          <a:p>
            <a:pPr algn="ctr"/>
            <a:r>
              <a:rPr lang="en-IN" dirty="0" err="1" smtClean="0"/>
              <a:t>Brz</a:t>
            </a:r>
            <a:endParaRPr lang="en-IN" dirty="0" smtClean="0"/>
          </a:p>
        </p:txBody>
      </p:sp>
      <p:sp>
        <p:nvSpPr>
          <p:cNvPr id="20" name="Rectangle 19"/>
          <p:cNvSpPr/>
          <p:nvPr/>
        </p:nvSpPr>
        <p:spPr>
          <a:xfrm>
            <a:off x="8464969" y="5418034"/>
            <a:ext cx="1187865" cy="5042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DBFS</a:t>
            </a:r>
          </a:p>
          <a:p>
            <a:pPr algn="ctr"/>
            <a:r>
              <a:rPr lang="en-IN" dirty="0" smtClean="0"/>
              <a:t>Silver</a:t>
            </a:r>
          </a:p>
        </p:txBody>
      </p:sp>
      <p:sp>
        <p:nvSpPr>
          <p:cNvPr id="21" name="Rectangle 20"/>
          <p:cNvSpPr/>
          <p:nvPr/>
        </p:nvSpPr>
        <p:spPr>
          <a:xfrm>
            <a:off x="10327611" y="5418034"/>
            <a:ext cx="1187865" cy="5042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DBFS</a:t>
            </a:r>
          </a:p>
          <a:p>
            <a:pPr algn="ctr"/>
            <a:r>
              <a:rPr lang="en-IN" dirty="0" smtClean="0"/>
              <a:t>Gold</a:t>
            </a:r>
          </a:p>
        </p:txBody>
      </p:sp>
      <p:cxnSp>
        <p:nvCxnSpPr>
          <p:cNvPr id="22" name="Straight Arrow Connector 21"/>
          <p:cNvCxnSpPr>
            <a:stCxn id="15" idx="3"/>
            <a:endCxn id="18" idx="1"/>
          </p:cNvCxnSpPr>
          <p:nvPr/>
        </p:nvCxnSpPr>
        <p:spPr>
          <a:xfrm>
            <a:off x="2785929" y="5670135"/>
            <a:ext cx="109243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5066231" y="5670135"/>
            <a:ext cx="1340626" cy="284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7362739" y="5670135"/>
            <a:ext cx="109243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9267543" y="5672984"/>
            <a:ext cx="109243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8083284"/>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p:cNvSpPr txBox="1"/>
          <p:nvPr/>
        </p:nvSpPr>
        <p:spPr>
          <a:xfrm>
            <a:off x="90003" y="-32302"/>
            <a:ext cx="4285597" cy="369332"/>
          </a:xfrm>
          <a:prstGeom prst="rect">
            <a:avLst/>
          </a:prstGeom>
          <a:noFill/>
        </p:spPr>
        <p:txBody>
          <a:bodyPr wrap="none" rtlCol="0">
            <a:spAutoFit/>
          </a:bodyPr>
          <a:lstStyle/>
          <a:p>
            <a:r>
              <a:rPr lang="en-US" b="1" dirty="0">
                <a:solidFill>
                  <a:srgbClr val="FF0000"/>
                </a:solidFill>
              </a:rPr>
              <a:t>GCS/ADLS/S3 – Architecture &amp; Comparison</a:t>
            </a:r>
          </a:p>
        </p:txBody>
      </p:sp>
      <mc:AlternateContent xmlns:mc="http://schemas.openxmlformats.org/markup-compatibility/2006" xmlns:p14="http://schemas.microsoft.com/office/powerpoint/2010/main">
        <mc:Choice Requires="p14">
          <p:contentPart p14:bwMode="auto" r:id="rId2">
            <p14:nvContentPartPr>
              <p14:cNvPr id="7" name="Ink 6"/>
              <p14:cNvContentPartPr/>
              <p14:nvPr/>
            </p14:nvContentPartPr>
            <p14:xfrm>
              <a:off x="6426360" y="2013120"/>
              <a:ext cx="360" cy="360"/>
            </p14:xfrm>
          </p:contentPart>
        </mc:Choice>
        <mc:Fallback xmlns="">
          <p:pic>
            <p:nvPicPr>
              <p:cNvPr id="7" name="Ink 6"/>
              <p:cNvPicPr/>
              <p:nvPr/>
            </p:nvPicPr>
            <p:blipFill>
              <a:blip r:embed="rId7"/>
              <a:stretch>
                <a:fillRect/>
              </a:stretch>
            </p:blipFill>
            <p:spPr>
              <a:xfrm>
                <a:off x="6417000" y="200376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p14:cNvContentPartPr/>
              <p14:nvPr/>
            </p14:nvContentPartPr>
            <p14:xfrm>
              <a:off x="7931160" y="2901960"/>
              <a:ext cx="360" cy="360"/>
            </p14:xfrm>
          </p:contentPart>
        </mc:Choice>
        <mc:Fallback xmlns="">
          <p:pic>
            <p:nvPicPr>
              <p:cNvPr id="12" name="Ink 11"/>
              <p:cNvPicPr/>
              <p:nvPr/>
            </p:nvPicPr>
            <p:blipFill>
              <a:blip r:embed="rId9"/>
              <a:stretch>
                <a:fillRect/>
              </a:stretch>
            </p:blipFill>
            <p:spPr>
              <a:xfrm>
                <a:off x="7921800" y="2892600"/>
                <a:ext cx="19080" cy="19080"/>
              </a:xfrm>
              <a:prstGeom prst="rect">
                <a:avLst/>
              </a:prstGeom>
            </p:spPr>
          </p:pic>
        </mc:Fallback>
      </mc:AlternateContent>
      <p:sp>
        <p:nvSpPr>
          <p:cNvPr id="10" name="AutoShape 2" descr="https://lh3.googleusercontent.com/gg-dl/AOI_d_-FkaVSupxxfheqer4q0Ep6xZVMVsnsIClPrk25Dr2hzOf6dY4nT7JAk5g0E2wYHpOVCV7acAHi1CW7kc84VTSIbjeQ8cGClZRc3Kyh598k77KD40D68zvhX9nBOh_RWWTQlRpl6iq-lqXliDGabrKuP5XuXO_wby9ldz9_-ljwc44AAQ=s1600-rj"/>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2" name="Picture 4" descr="C:\Users\moham\Downloads\adls_blob.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03" y="545753"/>
            <a:ext cx="7508632" cy="409561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object-storag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00221" y="278145"/>
            <a:ext cx="4089964" cy="22576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7912074" y="2764249"/>
            <a:ext cx="4098233" cy="3458190"/>
            <a:chOff x="7912074" y="2764249"/>
            <a:chExt cx="4098233" cy="3458190"/>
          </a:xfrm>
        </p:grpSpPr>
        <p:grpSp>
          <p:nvGrpSpPr>
            <p:cNvPr id="34" name="Group 33"/>
            <p:cNvGrpSpPr/>
            <p:nvPr/>
          </p:nvGrpSpPr>
          <p:grpSpPr>
            <a:xfrm>
              <a:off x="7912074" y="2906349"/>
              <a:ext cx="4098233" cy="3316090"/>
              <a:chOff x="7623416" y="257941"/>
              <a:chExt cx="4098233" cy="3316090"/>
            </a:xfrm>
          </p:grpSpPr>
          <p:grpSp>
            <p:nvGrpSpPr>
              <p:cNvPr id="35" name="Group 34"/>
              <p:cNvGrpSpPr/>
              <p:nvPr/>
            </p:nvGrpSpPr>
            <p:grpSpPr>
              <a:xfrm>
                <a:off x="7623416" y="632876"/>
                <a:ext cx="4098233" cy="2941155"/>
                <a:chOff x="7193899" y="17525"/>
                <a:chExt cx="4958862" cy="3914678"/>
              </a:xfrm>
            </p:grpSpPr>
            <p:pic>
              <p:nvPicPr>
                <p:cNvPr id="45" name="Picture 2" descr="Related imag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93899" y="48200"/>
                  <a:ext cx="4958862" cy="3884003"/>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254516" y="17525"/>
                  <a:ext cx="577318" cy="466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7" name="Picture 4" descr="https://www.drupal.org/files/styles/grid-3-2x/public/project-images/google_cloud_storage.png?itok=icnuY-_O"/>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306554" y="531668"/>
                  <a:ext cx="910487" cy="646446"/>
                </a:xfrm>
                <a:prstGeom prst="rect">
                  <a:avLst/>
                </a:prstGeom>
                <a:noFill/>
                <a:extLst>
                  <a:ext uri="{909E8E84-426E-40DD-AFC4-6F175D3DCCD1}">
                    <a14:hiddenFill xmlns:a14="http://schemas.microsoft.com/office/drawing/2010/main">
                      <a:solidFill>
                        <a:srgbClr val="FFFFFF"/>
                      </a:solidFill>
                    </a14:hiddenFill>
                  </a:ext>
                </a:extLst>
              </p:spPr>
            </p:pic>
          </p:grpSp>
          <p:pic>
            <p:nvPicPr>
              <p:cNvPr id="38" name="Picture 5" descr="Microsoft Azure Cloud Solutions - Unlock Your Business Potential ..."/>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676809" y="257941"/>
                <a:ext cx="1110870" cy="739235"/>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7" descr="Unlocking the Potential of Azure Data Lake Storage Gen2: 6 Key ..."/>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587146" y="829094"/>
                <a:ext cx="1288610" cy="638245"/>
              </a:xfrm>
              <a:prstGeom prst="rect">
                <a:avLst/>
              </a:prstGeom>
              <a:noFill/>
              <a:extLst>
                <a:ext uri="{909E8E84-426E-40DD-AFC4-6F175D3DCCD1}">
                  <a14:hiddenFill xmlns:a14="http://schemas.microsoft.com/office/drawing/2010/main">
                    <a:solidFill>
                      <a:srgbClr val="FFFFFF"/>
                    </a:solidFill>
                  </a14:hiddenFill>
                </a:ext>
              </a:extLst>
            </p:spPr>
          </p:pic>
          <p:sp>
            <p:nvSpPr>
              <p:cNvPr id="42" name="Rectangle 41"/>
              <p:cNvSpPr/>
              <p:nvPr/>
            </p:nvSpPr>
            <p:spPr>
              <a:xfrm>
                <a:off x="8758692" y="1596010"/>
                <a:ext cx="913840" cy="231237"/>
              </a:xfrm>
              <a:prstGeom prst="rect">
                <a:avLst/>
              </a:prstGeom>
              <a:solidFill>
                <a:schemeClr val="accent5">
                  <a:lumMod val="20000"/>
                  <a:lumOff val="80000"/>
                </a:schemeClr>
              </a:solidFill>
            </p:spPr>
            <p:txBody>
              <a:bodyPr wrap="none">
                <a:spAutoFit/>
              </a:bodyPr>
              <a:lstStyle/>
              <a:p>
                <a:r>
                  <a:rPr lang="en-US" sz="1400" b="1" dirty="0"/>
                  <a:t>Container</a:t>
                </a:r>
                <a:endParaRPr lang="en-IN" sz="1400" dirty="0"/>
              </a:p>
            </p:txBody>
          </p:sp>
          <p:sp>
            <p:nvSpPr>
              <p:cNvPr id="43" name="Rectangle 42"/>
              <p:cNvSpPr/>
              <p:nvPr/>
            </p:nvSpPr>
            <p:spPr>
              <a:xfrm>
                <a:off x="10337981" y="1951366"/>
                <a:ext cx="877420" cy="231237"/>
              </a:xfrm>
              <a:prstGeom prst="rect">
                <a:avLst/>
              </a:prstGeom>
              <a:solidFill>
                <a:schemeClr val="accent5">
                  <a:lumMod val="20000"/>
                  <a:lumOff val="80000"/>
                </a:schemeClr>
              </a:solidFill>
            </p:spPr>
            <p:txBody>
              <a:bodyPr wrap="none">
                <a:spAutoFit/>
              </a:bodyPr>
              <a:lstStyle/>
              <a:p>
                <a:r>
                  <a:rPr lang="en-US" sz="1400" b="1" dirty="0"/>
                  <a:t>Directory</a:t>
                </a:r>
                <a:endParaRPr lang="en-IN" sz="1400" dirty="0"/>
              </a:p>
            </p:txBody>
          </p:sp>
          <p:sp>
            <p:nvSpPr>
              <p:cNvPr id="44" name="Rectangle 43"/>
              <p:cNvSpPr/>
              <p:nvPr/>
            </p:nvSpPr>
            <p:spPr>
              <a:xfrm>
                <a:off x="11079194" y="2335456"/>
                <a:ext cx="518091" cy="231237"/>
              </a:xfrm>
              <a:prstGeom prst="rect">
                <a:avLst/>
              </a:prstGeom>
              <a:solidFill>
                <a:schemeClr val="accent5">
                  <a:lumMod val="20000"/>
                  <a:lumOff val="80000"/>
                </a:schemeClr>
              </a:solidFill>
            </p:spPr>
            <p:txBody>
              <a:bodyPr wrap="none">
                <a:spAutoFit/>
              </a:bodyPr>
              <a:lstStyle/>
              <a:p>
                <a:r>
                  <a:rPr lang="en-US" sz="1400" b="1" dirty="0"/>
                  <a:t>Files</a:t>
                </a:r>
                <a:endParaRPr lang="en-IN" sz="1400" dirty="0"/>
              </a:p>
            </p:txBody>
          </p:sp>
        </p:grpSp>
        <p:sp>
          <p:nvSpPr>
            <p:cNvPr id="48" name="Rectangle 47"/>
            <p:cNvSpPr/>
            <p:nvPr/>
          </p:nvSpPr>
          <p:spPr>
            <a:xfrm>
              <a:off x="7949322" y="2764249"/>
              <a:ext cx="2471767" cy="369332"/>
            </a:xfrm>
            <a:prstGeom prst="rect">
              <a:avLst/>
            </a:prstGeom>
          </p:spPr>
          <p:txBody>
            <a:bodyPr wrap="none">
              <a:spAutoFit/>
            </a:bodyPr>
            <a:lstStyle/>
            <a:p>
              <a:r>
                <a:rPr lang="en-US" b="1" u="sng" dirty="0"/>
                <a:t>Azure Storage Hierarchy</a:t>
              </a:r>
              <a:endParaRPr lang="en-IN" u="sng" dirty="0"/>
            </a:p>
          </p:txBody>
        </p:sp>
        <p:pic>
          <p:nvPicPr>
            <p:cNvPr id="49" name="Picture 2" descr="Microsoft Azure Blob Storage | element61"/>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035158" y="3603935"/>
              <a:ext cx="722488" cy="620787"/>
            </a:xfrm>
            <a:prstGeom prst="rect">
              <a:avLst/>
            </a:prstGeom>
            <a:noFill/>
            <a:extLst>
              <a:ext uri="{909E8E84-426E-40DD-AFC4-6F175D3DCCD1}">
                <a14:hiddenFill xmlns:a14="http://schemas.microsoft.com/office/drawing/2010/main">
                  <a:solidFill>
                    <a:srgbClr val="FFFFFF"/>
                  </a:solidFill>
                </a14:hiddenFill>
              </a:ext>
            </a:extLst>
          </p:spPr>
        </p:pic>
        <p:sp>
          <p:nvSpPr>
            <p:cNvPr id="50" name="Rectangle 49">
              <a:extLst>
                <a:ext uri="{FF2B5EF4-FFF2-40B4-BE49-F238E27FC236}">
                  <a16:creationId xmlns:a16="http://schemas.microsoft.com/office/drawing/2014/main" xmlns="" id="{BCD31034-6593-AB71-7D3C-E1EAD0BA9C96}"/>
                </a:ext>
              </a:extLst>
            </p:cNvPr>
            <p:cNvSpPr/>
            <p:nvPr/>
          </p:nvSpPr>
          <p:spPr>
            <a:xfrm>
              <a:off x="10347618" y="4251433"/>
              <a:ext cx="913840" cy="231237"/>
            </a:xfrm>
            <a:prstGeom prst="rect">
              <a:avLst/>
            </a:prstGeom>
            <a:solidFill>
              <a:schemeClr val="accent5">
                <a:lumMod val="20000"/>
                <a:lumOff val="80000"/>
              </a:schemeClr>
            </a:solidFill>
          </p:spPr>
          <p:txBody>
            <a:bodyPr wrap="none">
              <a:spAutoFit/>
            </a:bodyPr>
            <a:lstStyle/>
            <a:p>
              <a:r>
                <a:rPr lang="en-US" sz="1400" b="1" dirty="0"/>
                <a:t>Container</a:t>
              </a:r>
              <a:endParaRPr lang="en-IN" sz="1400" dirty="0"/>
            </a:p>
          </p:txBody>
        </p:sp>
      </p:grpSp>
      <p:sp>
        <p:nvSpPr>
          <p:cNvPr id="3" name="TextBox 2"/>
          <p:cNvSpPr txBox="1"/>
          <p:nvPr/>
        </p:nvSpPr>
        <p:spPr>
          <a:xfrm>
            <a:off x="8951543" y="-3068"/>
            <a:ext cx="2129686" cy="307777"/>
          </a:xfrm>
          <a:prstGeom prst="rect">
            <a:avLst/>
          </a:prstGeom>
          <a:noFill/>
        </p:spPr>
        <p:txBody>
          <a:bodyPr wrap="none" rtlCol="0">
            <a:spAutoFit/>
          </a:bodyPr>
          <a:lstStyle/>
          <a:p>
            <a:r>
              <a:rPr lang="en-IN" sz="1400" b="1" dirty="0" smtClean="0"/>
              <a:t>Types of Storage Available</a:t>
            </a:r>
            <a:endParaRPr lang="en-IN" sz="1400" b="1" dirty="0"/>
          </a:p>
        </p:txBody>
      </p:sp>
      <p:sp>
        <p:nvSpPr>
          <p:cNvPr id="23" name="TextBox 22"/>
          <p:cNvSpPr txBox="1"/>
          <p:nvPr/>
        </p:nvSpPr>
        <p:spPr>
          <a:xfrm>
            <a:off x="8035026" y="2223708"/>
            <a:ext cx="2082621" cy="415498"/>
          </a:xfrm>
          <a:prstGeom prst="rect">
            <a:avLst/>
          </a:prstGeom>
          <a:noFill/>
        </p:spPr>
        <p:txBody>
          <a:bodyPr wrap="none" rtlCol="0">
            <a:spAutoFit/>
          </a:bodyPr>
          <a:lstStyle/>
          <a:p>
            <a:r>
              <a:rPr lang="en-IN" sz="1050" b="1" dirty="0" smtClean="0">
                <a:solidFill>
                  <a:srgbClr val="C00000"/>
                </a:solidFill>
              </a:rPr>
              <a:t>Blocks in Regular Storage Systems</a:t>
            </a:r>
          </a:p>
          <a:p>
            <a:r>
              <a:rPr lang="en-IN" sz="1050" b="1" dirty="0" err="1" smtClean="0">
                <a:solidFill>
                  <a:srgbClr val="C00000"/>
                </a:solidFill>
              </a:rPr>
              <a:t>Eg</a:t>
            </a:r>
            <a:r>
              <a:rPr lang="en-IN" sz="1050" b="1" dirty="0" smtClean="0">
                <a:solidFill>
                  <a:srgbClr val="C00000"/>
                </a:solidFill>
              </a:rPr>
              <a:t>. HDFS/Windows/Linux/MAC</a:t>
            </a:r>
            <a:endParaRPr lang="en-IN" sz="1050" b="1" dirty="0">
              <a:solidFill>
                <a:srgbClr val="C00000"/>
              </a:solidFill>
            </a:endParaRPr>
          </a:p>
        </p:txBody>
      </p:sp>
      <p:sp>
        <p:nvSpPr>
          <p:cNvPr id="24" name="TextBox 23"/>
          <p:cNvSpPr txBox="1"/>
          <p:nvPr/>
        </p:nvSpPr>
        <p:spPr>
          <a:xfrm>
            <a:off x="10238885" y="2192664"/>
            <a:ext cx="2042547" cy="415498"/>
          </a:xfrm>
          <a:prstGeom prst="rect">
            <a:avLst/>
          </a:prstGeom>
          <a:noFill/>
        </p:spPr>
        <p:txBody>
          <a:bodyPr wrap="none" rtlCol="0">
            <a:spAutoFit/>
          </a:bodyPr>
          <a:lstStyle/>
          <a:p>
            <a:r>
              <a:rPr lang="en-IN" sz="1050" b="1" dirty="0" smtClean="0">
                <a:solidFill>
                  <a:srgbClr val="C00000"/>
                </a:solidFill>
              </a:rPr>
              <a:t>Objects in Cloud Storage Systems</a:t>
            </a:r>
          </a:p>
          <a:p>
            <a:r>
              <a:rPr lang="en-IN" sz="1050" b="1" dirty="0" err="1" smtClean="0">
                <a:solidFill>
                  <a:srgbClr val="C00000"/>
                </a:solidFill>
              </a:rPr>
              <a:t>Eg</a:t>
            </a:r>
            <a:r>
              <a:rPr lang="en-IN" sz="1050" b="1" dirty="0" smtClean="0">
                <a:solidFill>
                  <a:srgbClr val="C00000"/>
                </a:solidFill>
              </a:rPr>
              <a:t>. AWS/</a:t>
            </a:r>
            <a:r>
              <a:rPr lang="en-IN" sz="1050" b="1" dirty="0" err="1" smtClean="0">
                <a:solidFill>
                  <a:srgbClr val="C00000"/>
                </a:solidFill>
              </a:rPr>
              <a:t>Az</a:t>
            </a:r>
            <a:r>
              <a:rPr lang="en-IN" sz="1050" b="1" dirty="0" smtClean="0">
                <a:solidFill>
                  <a:srgbClr val="C00000"/>
                </a:solidFill>
              </a:rPr>
              <a:t>/GCP</a:t>
            </a:r>
            <a:endParaRPr lang="en-IN" sz="1050" b="1" dirty="0">
              <a:solidFill>
                <a:srgbClr val="C00000"/>
              </a:solidFill>
            </a:endParaRPr>
          </a:p>
        </p:txBody>
      </p:sp>
      <p:sp>
        <p:nvSpPr>
          <p:cNvPr id="4" name="Frame 3"/>
          <p:cNvSpPr/>
          <p:nvPr/>
        </p:nvSpPr>
        <p:spPr>
          <a:xfrm>
            <a:off x="54292" y="411480"/>
            <a:ext cx="812165" cy="60198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err="1" smtClean="0">
                <a:solidFill>
                  <a:schemeClr val="tx1"/>
                </a:solidFill>
              </a:rPr>
              <a:t>Chn</a:t>
            </a:r>
            <a:endParaRPr lang="en-IN" sz="1200" dirty="0" smtClean="0">
              <a:solidFill>
                <a:schemeClr val="tx1"/>
              </a:solidFill>
            </a:endParaRPr>
          </a:p>
          <a:p>
            <a:pPr algn="ctr"/>
            <a:r>
              <a:rPr lang="en-IN" sz="1200" dirty="0" smtClean="0">
                <a:solidFill>
                  <a:schemeClr val="tx1"/>
                </a:solidFill>
              </a:rPr>
              <a:t>CLI</a:t>
            </a:r>
            <a:endParaRPr lang="en-IN" sz="1200" dirty="0">
              <a:solidFill>
                <a:schemeClr val="tx1"/>
              </a:solidFill>
            </a:endParaRPr>
          </a:p>
        </p:txBody>
      </p:sp>
      <p:cxnSp>
        <p:nvCxnSpPr>
          <p:cNvPr id="8" name="Straight Arrow Connector 7"/>
          <p:cNvCxnSpPr/>
          <p:nvPr/>
        </p:nvCxnSpPr>
        <p:spPr>
          <a:xfrm>
            <a:off x="460374" y="1013460"/>
            <a:ext cx="95886" cy="4953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8720914" y="3729662"/>
            <a:ext cx="693588" cy="369332"/>
          </a:xfrm>
          <a:prstGeom prst="rect">
            <a:avLst/>
          </a:prstGeom>
        </p:spPr>
        <p:txBody>
          <a:bodyPr wrap="none">
            <a:spAutoFit/>
          </a:bodyPr>
          <a:lstStyle/>
          <a:p>
            <a:r>
              <a:rPr lang="en-IN" b="1" dirty="0" smtClean="0"/>
              <a:t>BLOB</a:t>
            </a:r>
            <a:endParaRPr lang="en-IN" dirty="0"/>
          </a:p>
        </p:txBody>
      </p:sp>
      <p:sp>
        <p:nvSpPr>
          <p:cNvPr id="30" name="Rectangle 29"/>
          <p:cNvSpPr/>
          <p:nvPr/>
        </p:nvSpPr>
        <p:spPr>
          <a:xfrm>
            <a:off x="10734435" y="3615037"/>
            <a:ext cx="676788" cy="369332"/>
          </a:xfrm>
          <a:prstGeom prst="rect">
            <a:avLst/>
          </a:prstGeom>
        </p:spPr>
        <p:txBody>
          <a:bodyPr wrap="none">
            <a:spAutoFit/>
          </a:bodyPr>
          <a:lstStyle/>
          <a:p>
            <a:r>
              <a:rPr lang="en-IN" b="1" dirty="0" smtClean="0"/>
              <a:t>ADLS</a:t>
            </a:r>
            <a:endParaRPr lang="en-IN" dirty="0"/>
          </a:p>
        </p:txBody>
      </p:sp>
      <p:sp>
        <p:nvSpPr>
          <p:cNvPr id="31" name="Rectangle 30"/>
          <p:cNvSpPr/>
          <p:nvPr/>
        </p:nvSpPr>
        <p:spPr>
          <a:xfrm>
            <a:off x="9606449" y="4647514"/>
            <a:ext cx="1042273" cy="369332"/>
          </a:xfrm>
          <a:prstGeom prst="rect">
            <a:avLst/>
          </a:prstGeom>
        </p:spPr>
        <p:txBody>
          <a:bodyPr wrap="none">
            <a:spAutoFit/>
          </a:bodyPr>
          <a:lstStyle/>
          <a:p>
            <a:r>
              <a:rPr lang="en-IN" sz="900" b="1" dirty="0" smtClean="0"/>
              <a:t>(File </a:t>
            </a:r>
          </a:p>
          <a:p>
            <a:r>
              <a:rPr lang="en-IN" sz="900" b="1" dirty="0" smtClean="0"/>
              <a:t>Behind the scene)</a:t>
            </a:r>
            <a:endParaRPr lang="en-IN" sz="900" dirty="0"/>
          </a:p>
        </p:txBody>
      </p:sp>
      <p:sp>
        <p:nvSpPr>
          <p:cNvPr id="32" name="Rectangle 31"/>
          <p:cNvSpPr/>
          <p:nvPr/>
        </p:nvSpPr>
        <p:spPr>
          <a:xfrm>
            <a:off x="11337372" y="4647068"/>
            <a:ext cx="938077" cy="230832"/>
          </a:xfrm>
          <a:prstGeom prst="rect">
            <a:avLst/>
          </a:prstGeom>
        </p:spPr>
        <p:txBody>
          <a:bodyPr wrap="none">
            <a:spAutoFit/>
          </a:bodyPr>
          <a:lstStyle/>
          <a:p>
            <a:r>
              <a:rPr lang="en-IN" sz="900" b="1" dirty="0" smtClean="0"/>
              <a:t>(Real Directory)</a:t>
            </a:r>
            <a:endParaRPr lang="en-IN" sz="900" dirty="0"/>
          </a:p>
        </p:txBody>
      </p:sp>
      <p:cxnSp>
        <p:nvCxnSpPr>
          <p:cNvPr id="14" name="Straight Arrow Connector 13"/>
          <p:cNvCxnSpPr/>
          <p:nvPr/>
        </p:nvCxnSpPr>
        <p:spPr>
          <a:xfrm flipH="1">
            <a:off x="10127585" y="5099482"/>
            <a:ext cx="1209787" cy="592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10266610" y="5104268"/>
            <a:ext cx="1083951" cy="507831"/>
          </a:xfrm>
          <a:prstGeom prst="rect">
            <a:avLst/>
          </a:prstGeom>
        </p:spPr>
        <p:txBody>
          <a:bodyPr wrap="none">
            <a:spAutoFit/>
          </a:bodyPr>
          <a:lstStyle/>
          <a:p>
            <a:r>
              <a:rPr lang="en-IN" sz="900" b="1" dirty="0" smtClean="0"/>
              <a:t>BLOB/ADLS all are </a:t>
            </a:r>
          </a:p>
          <a:p>
            <a:r>
              <a:rPr lang="en-IN" sz="900" b="1" dirty="0" smtClean="0"/>
              <a:t>Stored as objects </a:t>
            </a:r>
          </a:p>
          <a:p>
            <a:r>
              <a:rPr lang="en-IN" sz="900" b="1" dirty="0" smtClean="0"/>
              <a:t>behind the scene</a:t>
            </a:r>
            <a:endParaRPr lang="en-IN" sz="900" dirty="0"/>
          </a:p>
        </p:txBody>
      </p:sp>
      <p:pic>
        <p:nvPicPr>
          <p:cNvPr id="37" name="Picture 3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21856" y="4761984"/>
            <a:ext cx="4869563" cy="1947825"/>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
        <p:nvSpPr>
          <p:cNvPr id="15" name="&quot;No&quot; Symbol 14"/>
          <p:cNvSpPr/>
          <p:nvPr/>
        </p:nvSpPr>
        <p:spPr>
          <a:xfrm>
            <a:off x="5255663" y="5129111"/>
            <a:ext cx="457200" cy="4572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Rectangle 15"/>
          <p:cNvSpPr/>
          <p:nvPr/>
        </p:nvSpPr>
        <p:spPr>
          <a:xfrm>
            <a:off x="4937760" y="6299200"/>
            <a:ext cx="386080" cy="147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 dirty="0" smtClean="0"/>
              <a:t>blob</a:t>
            </a:r>
            <a:endParaRPr lang="en-IN" sz="400" dirty="0"/>
          </a:p>
        </p:txBody>
      </p:sp>
      <p:sp>
        <p:nvSpPr>
          <p:cNvPr id="41" name="Rectangle 40"/>
          <p:cNvSpPr/>
          <p:nvPr/>
        </p:nvSpPr>
        <p:spPr>
          <a:xfrm>
            <a:off x="4744720" y="4945380"/>
            <a:ext cx="386080" cy="213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 dirty="0" smtClean="0"/>
              <a:t>Folder3/file1=san1/blob1</a:t>
            </a:r>
            <a:endParaRPr lang="en-IN" sz="400" dirty="0"/>
          </a:p>
        </p:txBody>
      </p:sp>
    </p:spTree>
    <p:extLst>
      <p:ext uri="{BB962C8B-B14F-4D97-AF65-F5344CB8AC3E}">
        <p14:creationId xmlns:p14="http://schemas.microsoft.com/office/powerpoint/2010/main" val="11202013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267200" y="2667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p>
        </p:txBody>
      </p:sp>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pPr/>
              <a:t>38</a:t>
            </a:fld>
            <a:endParaRPr lang="en-US"/>
          </a:p>
        </p:txBody>
      </p:sp>
      <p:sp>
        <p:nvSpPr>
          <p:cNvPr id="11" name="Text Box 5"/>
          <p:cNvSpPr txBox="1">
            <a:spLocks noChangeArrowheads="1"/>
          </p:cNvSpPr>
          <p:nvPr/>
        </p:nvSpPr>
        <p:spPr bwMode="auto">
          <a:xfrm>
            <a:off x="4267200" y="3048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p>
        </p:txBody>
      </p:sp>
      <p:sp>
        <p:nvSpPr>
          <p:cNvPr id="12" name="Title 1"/>
          <p:cNvSpPr>
            <a:spLocks noGrp="1"/>
          </p:cNvSpPr>
          <p:nvPr>
            <p:ph type="title"/>
          </p:nvPr>
        </p:nvSpPr>
        <p:spPr>
          <a:xfrm>
            <a:off x="8965" y="134475"/>
            <a:ext cx="5969804" cy="480987"/>
          </a:xfrm>
        </p:spPr>
        <p:txBody>
          <a:bodyPr vert="horz" lIns="91440" tIns="45720" rIns="91440" bIns="45720" rtlCol="0" anchor="ctr">
            <a:normAutofit fontScale="90000"/>
          </a:bodyPr>
          <a:lstStyle/>
          <a:p>
            <a:r>
              <a:rPr lang="en-US" sz="2800" b="1" dirty="0" smtClean="0">
                <a:solidFill>
                  <a:srgbClr val="FF0000"/>
                </a:solidFill>
              </a:rPr>
              <a:t>Azure Storage Container Basic Characteristics</a:t>
            </a:r>
            <a:endParaRPr lang="en-US" sz="2000" b="1" dirty="0">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4124724419"/>
              </p:ext>
            </p:extLst>
          </p:nvPr>
        </p:nvGraphicFramePr>
        <p:xfrm>
          <a:off x="171352" y="710446"/>
          <a:ext cx="10352454" cy="3283606"/>
        </p:xfrm>
        <a:graphic>
          <a:graphicData uri="http://schemas.openxmlformats.org/drawingml/2006/table">
            <a:tbl>
              <a:tblPr/>
              <a:tblGrid>
                <a:gridCol w="2354188"/>
                <a:gridCol w="7998266"/>
              </a:tblGrid>
              <a:tr h="190500">
                <a:tc>
                  <a:txBody>
                    <a:bodyPr/>
                    <a:lstStyle/>
                    <a:p>
                      <a:pPr algn="l" rtl="0" fontAlgn="ctr"/>
                      <a:r>
                        <a:rPr lang="en-IN" sz="1100" b="1" i="0" u="none" strike="noStrike" dirty="0">
                          <a:solidFill>
                            <a:srgbClr val="1F1F1F"/>
                          </a:solidFill>
                          <a:effectLst/>
                          <a:latin typeface="Arial"/>
                        </a:rPr>
                        <a:t>Azure Storage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l" rtl="0" fontAlgn="ctr"/>
                      <a:r>
                        <a:rPr lang="en-IN" sz="1100" b="1" i="0" u="none" strike="noStrike" dirty="0">
                          <a:solidFill>
                            <a:srgbClr val="1F1F1F"/>
                          </a:solidFill>
                          <a:effectLst/>
                          <a:latin typeface="Arial"/>
                        </a:rPr>
                        <a:t>Description</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r>
              <a:tr h="190500">
                <a:tc>
                  <a:txBody>
                    <a:bodyPr/>
                    <a:lstStyle/>
                    <a:p>
                      <a:pPr algn="l" rtl="0" fontAlgn="ctr"/>
                      <a:r>
                        <a:rPr lang="en-IN" sz="1100" b="1" i="0" u="none" strike="noStrike" dirty="0">
                          <a:solidFill>
                            <a:srgbClr val="1F1F1F"/>
                          </a:solidFill>
                          <a:effectLst/>
                          <a:latin typeface="Arial"/>
                        </a:rPr>
                        <a:t>Container</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dirty="0">
                          <a:solidFill>
                            <a:srgbClr val="1F1F1F"/>
                          </a:solidFill>
                          <a:effectLst/>
                          <a:latin typeface="Arial"/>
                        </a:rPr>
                        <a:t>The logical </a:t>
                      </a:r>
                      <a:r>
                        <a:rPr lang="en-US" sz="1100" b="0" i="0" u="none" strike="noStrike" dirty="0" smtClean="0">
                          <a:solidFill>
                            <a:srgbClr val="1F1F1F"/>
                          </a:solidFill>
                          <a:effectLst/>
                          <a:latin typeface="Arial"/>
                        </a:rPr>
                        <a:t>unit/name </a:t>
                      </a:r>
                      <a:r>
                        <a:rPr lang="en-US" sz="1100" b="0" i="0" u="none" strike="noStrike" dirty="0">
                          <a:solidFill>
                            <a:srgbClr val="1F1F1F"/>
                          </a:solidFill>
                          <a:effectLst/>
                          <a:latin typeface="Arial"/>
                        </a:rPr>
                        <a:t>for holding related </a:t>
                      </a:r>
                      <a:r>
                        <a:rPr lang="en-US" sz="1100" b="1" i="0" u="none" strike="noStrike" dirty="0" smtClean="0">
                          <a:solidFill>
                            <a:srgbClr val="1F1F1F"/>
                          </a:solidFill>
                          <a:effectLst/>
                          <a:latin typeface="Arial"/>
                        </a:rPr>
                        <a:t>Objects</a:t>
                      </a:r>
                      <a:r>
                        <a:rPr lang="en-US" sz="1100" b="0" i="0" u="none" strike="noStrike" dirty="0" smtClean="0">
                          <a:solidFill>
                            <a:srgbClr val="1F1F1F"/>
                          </a:solidFill>
                          <a:effectLst/>
                          <a:latin typeface="Arial"/>
                        </a:rPr>
                        <a:t>.</a:t>
                      </a:r>
                      <a:endParaRPr lang="en-US" sz="1100" b="0" i="0" u="none" strike="noStrike" dirty="0">
                        <a:solidFill>
                          <a:srgbClr val="1F1F1F"/>
                        </a:solidFill>
                        <a:effectLst/>
                        <a:latin typeface="Arial"/>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3742">
                <a:tc>
                  <a:txBody>
                    <a:bodyPr/>
                    <a:lstStyle/>
                    <a:p>
                      <a:pPr algn="l" rtl="0" fontAlgn="ctr"/>
                      <a:r>
                        <a:rPr lang="en-IN" sz="1100" b="1" i="0" u="none" strike="noStrike" dirty="0">
                          <a:solidFill>
                            <a:srgbClr val="1F1F1F"/>
                          </a:solidFill>
                          <a:effectLst/>
                          <a:latin typeface="Arial"/>
                        </a:rPr>
                        <a:t>Naming Rules</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dirty="0">
                          <a:solidFill>
                            <a:srgbClr val="1F1F1F"/>
                          </a:solidFill>
                          <a:effectLst/>
                          <a:latin typeface="Arial"/>
                        </a:rPr>
                        <a:t>Name must be </a:t>
                      </a:r>
                      <a:r>
                        <a:rPr lang="en-US" sz="1100" b="1" i="0" u="none" strike="noStrike" dirty="0">
                          <a:solidFill>
                            <a:srgbClr val="1F1F1F"/>
                          </a:solidFill>
                          <a:effectLst/>
                          <a:latin typeface="Arial"/>
                        </a:rPr>
                        <a:t>lowercase</a:t>
                      </a:r>
                      <a:r>
                        <a:rPr lang="en-US" sz="1100" b="0" i="0" u="none" strike="noStrike" dirty="0">
                          <a:solidFill>
                            <a:srgbClr val="1F1F1F"/>
                          </a:solidFill>
                          <a:effectLst/>
                          <a:latin typeface="Arial"/>
                        </a:rPr>
                        <a:t>, </a:t>
                      </a:r>
                      <a:r>
                        <a:rPr lang="en-US" sz="1100" b="1" i="0" u="none" strike="noStrike" dirty="0">
                          <a:solidFill>
                            <a:srgbClr val="1F1F1F"/>
                          </a:solidFill>
                          <a:effectLst/>
                          <a:latin typeface="Arial"/>
                        </a:rPr>
                        <a:t>3–63 characters</a:t>
                      </a:r>
                      <a:r>
                        <a:rPr lang="en-US" sz="1100" b="0" i="0" u="none" strike="noStrike" dirty="0">
                          <a:solidFill>
                            <a:srgbClr val="1F1F1F"/>
                          </a:solidFill>
                          <a:effectLst/>
                          <a:latin typeface="Arial"/>
                        </a:rPr>
                        <a:t>, and can only contain letters, numbers, and dashes (</a:t>
                      </a:r>
                      <a:r>
                        <a:rPr lang="en-US" sz="1100" b="1" i="0" u="none" strike="noStrike" dirty="0">
                          <a:solidFill>
                            <a:srgbClr val="1F1F1F"/>
                          </a:solidFill>
                          <a:effectLst/>
                          <a:latin typeface="Arial"/>
                        </a:rPr>
                        <a:t>-</a:t>
                      </a:r>
                      <a:r>
                        <a:rPr lang="en-US" sz="1100" b="0" i="0" u="none" strike="noStrike" dirty="0">
                          <a:solidFill>
                            <a:srgbClr val="1F1F1F"/>
                          </a:solidFill>
                          <a:effectLst/>
                          <a:latin typeface="Arial"/>
                        </a:rPr>
                        <a:t>).</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7392">
                <a:tc>
                  <a:txBody>
                    <a:bodyPr/>
                    <a:lstStyle/>
                    <a:p>
                      <a:pPr algn="l" rtl="0" fontAlgn="ctr"/>
                      <a:r>
                        <a:rPr lang="en-IN" sz="1100" b="1" i="0" u="none" strike="noStrike" dirty="0">
                          <a:solidFill>
                            <a:srgbClr val="1F1F1F"/>
                          </a:solidFill>
                          <a:effectLst/>
                          <a:latin typeface="Arial"/>
                        </a:rPr>
                        <a:t>Unlimited Scale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dirty="0">
                          <a:solidFill>
                            <a:srgbClr val="1F1F1F"/>
                          </a:solidFill>
                          <a:effectLst/>
                          <a:latin typeface="Arial"/>
                        </a:rPr>
                        <a:t>You can create an </a:t>
                      </a:r>
                      <a:r>
                        <a:rPr lang="en-US" sz="1100" b="1" i="0" u="none" strike="noStrike" dirty="0">
                          <a:solidFill>
                            <a:srgbClr val="1F1F1F"/>
                          </a:solidFill>
                          <a:effectLst/>
                          <a:latin typeface="Arial"/>
                        </a:rPr>
                        <a:t>unlimited number of containers</a:t>
                      </a:r>
                      <a:r>
                        <a:rPr lang="en-US" sz="1100" b="0" i="0" u="none" strike="noStrike" dirty="0">
                          <a:solidFill>
                            <a:srgbClr val="1F1F1F"/>
                          </a:solidFill>
                          <a:effectLst/>
                          <a:latin typeface="Arial"/>
                        </a:rPr>
                        <a:t> within a single Storage Account.</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7392">
                <a:tc>
                  <a:txBody>
                    <a:bodyPr/>
                    <a:lstStyle/>
                    <a:p>
                      <a:pPr algn="l" rtl="0" fontAlgn="ctr"/>
                      <a:r>
                        <a:rPr lang="en-IN" sz="1100" b="1" i="0" u="none" strike="noStrike" dirty="0">
                          <a:solidFill>
                            <a:srgbClr val="1F1F1F"/>
                          </a:solidFill>
                          <a:effectLst/>
                          <a:latin typeface="Arial"/>
                        </a:rPr>
                        <a:t>Blob Service API</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dirty="0">
                          <a:solidFill>
                            <a:srgbClr val="1F1F1F"/>
                          </a:solidFill>
                          <a:effectLst/>
                          <a:latin typeface="Arial"/>
                        </a:rPr>
                        <a:t>The service for storing any type of data—from simple text files to massive unstructured videos—accessible via </a:t>
                      </a:r>
                      <a:r>
                        <a:rPr lang="en-US" sz="1100" b="1" i="0" u="none" strike="noStrike" dirty="0">
                          <a:solidFill>
                            <a:srgbClr val="1F1F1F"/>
                          </a:solidFill>
                          <a:effectLst/>
                          <a:latin typeface="Arial"/>
                        </a:rPr>
                        <a:t>REST API</a:t>
                      </a:r>
                      <a:r>
                        <a:rPr lang="en-US" sz="1100" b="0" i="0" u="none" strike="noStrike" dirty="0">
                          <a:solidFill>
                            <a:srgbClr val="1F1F1F"/>
                          </a:solidFill>
                          <a:effectLst/>
                          <a:latin typeface="Arial"/>
                        </a:rPr>
                        <a:t>.</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0500">
                <a:tc>
                  <a:txBody>
                    <a:bodyPr/>
                    <a:lstStyle/>
                    <a:p>
                      <a:pPr algn="l" rtl="0" fontAlgn="ctr"/>
                      <a:r>
                        <a:rPr lang="en-IN" sz="1100" b="1" i="0" u="none" strike="noStrike" dirty="0">
                          <a:solidFill>
                            <a:srgbClr val="1F1F1F"/>
                          </a:solidFill>
                          <a:effectLst/>
                          <a:latin typeface="Arial"/>
                        </a:rPr>
                        <a:t>Immutability (WORM)</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IN" sz="1100" b="0" i="0" u="none" strike="noStrike" dirty="0">
                          <a:solidFill>
                            <a:srgbClr val="1F1F1F"/>
                          </a:solidFill>
                          <a:effectLst/>
                          <a:latin typeface="Arial"/>
                        </a:rPr>
                        <a:t>Supports </a:t>
                      </a:r>
                      <a:r>
                        <a:rPr lang="en-IN" sz="1100" b="1" i="0" u="none" strike="noStrike" dirty="0">
                          <a:solidFill>
                            <a:srgbClr val="1F1F1F"/>
                          </a:solidFill>
                          <a:effectLst/>
                          <a:latin typeface="Arial"/>
                        </a:rPr>
                        <a:t>Immutable </a:t>
                      </a:r>
                      <a:r>
                        <a:rPr lang="en-IN" sz="1100" b="1" i="0" u="none" strike="noStrike" dirty="0" smtClean="0">
                          <a:solidFill>
                            <a:srgbClr val="1F1F1F"/>
                          </a:solidFill>
                          <a:effectLst/>
                          <a:latin typeface="Arial"/>
                        </a:rPr>
                        <a:t>Storage (Write Once Read Many)</a:t>
                      </a:r>
                      <a:endParaRPr lang="en-IN" sz="1100" b="0" i="0" u="none" strike="noStrike" dirty="0">
                        <a:solidFill>
                          <a:srgbClr val="1F1F1F"/>
                        </a:solidFill>
                        <a:effectLst/>
                        <a:latin typeface="Arial"/>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rowSpan="2">
                  <a:txBody>
                    <a:bodyPr/>
                    <a:lstStyle/>
                    <a:p>
                      <a:pPr algn="l" rtl="0" fontAlgn="ctr"/>
                      <a:r>
                        <a:rPr lang="en-IN" sz="1100" b="1" i="0" u="none" strike="noStrike" dirty="0">
                          <a:solidFill>
                            <a:srgbClr val="1F1F1F"/>
                          </a:solidFill>
                          <a:effectLst/>
                          <a:latin typeface="Arial"/>
                        </a:rPr>
                        <a:t>Access Control</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dirty="0">
                          <a:solidFill>
                            <a:srgbClr val="1F1F1F"/>
                          </a:solidFill>
                          <a:effectLst/>
                          <a:latin typeface="Arial"/>
                        </a:rPr>
                        <a:t>Container level:</a:t>
                      </a:r>
                      <a:r>
                        <a:rPr lang="en-US" sz="1100" b="0" i="0" u="none" strike="noStrike" dirty="0">
                          <a:solidFill>
                            <a:srgbClr val="1F1F1F"/>
                          </a:solidFill>
                          <a:effectLst/>
                          <a:latin typeface="Arial"/>
                        </a:rPr>
                        <a:t> Managed via RBAC (Roles</a:t>
                      </a:r>
                      <a:r>
                        <a:rPr lang="en-US" sz="1100" b="0" i="0" u="none" strike="noStrike" dirty="0" smtClean="0">
                          <a:solidFill>
                            <a:srgbClr val="1F1F1F"/>
                          </a:solidFill>
                          <a:effectLst/>
                          <a:latin typeface="Arial"/>
                        </a:rPr>
                        <a:t>)</a:t>
                      </a:r>
                      <a:r>
                        <a:rPr lang="en-US" sz="1100" b="0" i="0" u="none" strike="noStrike" baseline="0" dirty="0" smtClean="0">
                          <a:solidFill>
                            <a:srgbClr val="1F1F1F"/>
                          </a:solidFill>
                          <a:effectLst/>
                          <a:latin typeface="Arial"/>
                        </a:rPr>
                        <a:t> (applicable for both BLOB &amp; ADLS)</a:t>
                      </a:r>
                      <a:endParaRPr lang="en-US" sz="1100" b="1" i="0" u="none" strike="noStrike" dirty="0">
                        <a:solidFill>
                          <a:srgbClr val="1F1F1F"/>
                        </a:solidFill>
                        <a:effectLst/>
                        <a:latin typeface="Arial"/>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r>
              <a:tr h="358140">
                <a:tc vMerge="1">
                  <a:txBody>
                    <a:bodyPr/>
                    <a:lstStyle/>
                    <a:p>
                      <a:endParaRPr lang="en-IN"/>
                    </a:p>
                  </a:txBody>
                  <a:tcPr/>
                </a:tc>
                <a:tc>
                  <a:txBody>
                    <a:bodyPr/>
                    <a:lstStyle/>
                    <a:p>
                      <a:pPr algn="l" rtl="0" fontAlgn="ctr"/>
                      <a:r>
                        <a:rPr lang="en-US" sz="1100" b="1" i="0" u="none" strike="noStrike" dirty="0">
                          <a:solidFill>
                            <a:srgbClr val="1F1F1F"/>
                          </a:solidFill>
                          <a:effectLst/>
                          <a:latin typeface="Arial"/>
                        </a:rPr>
                        <a:t>Object level:</a:t>
                      </a:r>
                      <a:r>
                        <a:rPr lang="en-US" sz="1100" b="0" i="0" u="none" strike="noStrike" dirty="0">
                          <a:solidFill>
                            <a:srgbClr val="1F1F1F"/>
                          </a:solidFill>
                          <a:effectLst/>
                          <a:latin typeface="Arial"/>
                        </a:rPr>
                        <a:t> Managed via SAS tokens or </a:t>
                      </a:r>
                      <a:r>
                        <a:rPr lang="en-US" sz="1100" b="1" i="0" u="none" strike="noStrike" dirty="0">
                          <a:solidFill>
                            <a:srgbClr val="1F1F1F"/>
                          </a:solidFill>
                          <a:effectLst/>
                          <a:latin typeface="Arial"/>
                        </a:rPr>
                        <a:t>ACLs</a:t>
                      </a:r>
                      <a:r>
                        <a:rPr lang="en-US" sz="1100" b="0" i="0" u="none" strike="noStrike" dirty="0">
                          <a:solidFill>
                            <a:srgbClr val="1F1F1F"/>
                          </a:solidFill>
                          <a:effectLst/>
                          <a:latin typeface="Arial"/>
                        </a:rPr>
                        <a:t> (if ADLS Gen2 is enabled).</a:t>
                      </a:r>
                      <a:endParaRPr lang="en-US" sz="1100" b="1" i="0" u="none" strike="noStrike" dirty="0">
                        <a:solidFill>
                          <a:srgbClr val="1F1F1F"/>
                        </a:solidFill>
                        <a:effectLst/>
                        <a:latin typeface="Arial"/>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r>
              <a:tr h="358140">
                <a:tc>
                  <a:txBody>
                    <a:bodyPr/>
                    <a:lstStyle/>
                    <a:p>
                      <a:pPr algn="l" rtl="0" fontAlgn="ctr"/>
                      <a:r>
                        <a:rPr lang="en-IN" sz="1100" b="1" i="0" u="none" strike="noStrike" dirty="0">
                          <a:solidFill>
                            <a:srgbClr val="1F1F1F"/>
                          </a:solidFill>
                          <a:effectLst/>
                          <a:latin typeface="Arial"/>
                        </a:rPr>
                        <a:t>Max Object Size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dirty="0">
                          <a:solidFill>
                            <a:srgbClr val="1F1F1F"/>
                          </a:solidFill>
                          <a:effectLst/>
                          <a:latin typeface="Arial"/>
                        </a:rPr>
                        <a:t>A single Block </a:t>
                      </a:r>
                      <a:r>
                        <a:rPr lang="en-US" sz="1100" b="0" i="0" u="none" strike="noStrike" dirty="0" smtClean="0">
                          <a:solidFill>
                            <a:srgbClr val="1F1F1F"/>
                          </a:solidFill>
                          <a:effectLst/>
                          <a:latin typeface="Arial"/>
                        </a:rPr>
                        <a:t>Blob/object </a:t>
                      </a:r>
                      <a:r>
                        <a:rPr lang="en-US" sz="1100" b="0" i="0" u="none" strike="noStrike" dirty="0">
                          <a:solidFill>
                            <a:srgbClr val="1F1F1F"/>
                          </a:solidFill>
                          <a:effectLst/>
                          <a:latin typeface="Arial"/>
                        </a:rPr>
                        <a:t>can be up to </a:t>
                      </a:r>
                      <a:r>
                        <a:rPr lang="en-US" sz="1100" b="1" i="0" u="none" strike="noStrike" dirty="0">
                          <a:solidFill>
                            <a:srgbClr val="1F1F1F"/>
                          </a:solidFill>
                          <a:effectLst/>
                          <a:latin typeface="Arial"/>
                        </a:rPr>
                        <a:t>190.7 </a:t>
                      </a:r>
                      <a:r>
                        <a:rPr lang="en-US" sz="1100" b="1" i="0" u="none" strike="noStrike" dirty="0" smtClean="0">
                          <a:solidFill>
                            <a:srgbClr val="1F1F1F"/>
                          </a:solidFill>
                          <a:effectLst/>
                          <a:latin typeface="Arial"/>
                        </a:rPr>
                        <a:t>TB (from year 2023 onwards)</a:t>
                      </a:r>
                      <a:r>
                        <a:rPr lang="en-US" sz="1100" b="0" i="0" u="none" strike="noStrike" dirty="0" smtClean="0">
                          <a:solidFill>
                            <a:srgbClr val="1F1F1F"/>
                          </a:solidFill>
                          <a:effectLst/>
                          <a:latin typeface="Arial"/>
                        </a:rPr>
                        <a:t> </a:t>
                      </a:r>
                      <a:r>
                        <a:rPr lang="en-US" sz="1100" b="0" i="0" u="none" strike="noStrike" dirty="0">
                          <a:solidFill>
                            <a:srgbClr val="1F1F1F"/>
                          </a:solidFill>
                          <a:effectLst/>
                          <a:latin typeface="Arial"/>
                        </a:rPr>
                        <a:t>(significantly larger than the 5 TB limit in other clouds).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8140">
                <a:tc>
                  <a:txBody>
                    <a:bodyPr/>
                    <a:lstStyle/>
                    <a:p>
                      <a:pPr algn="l" rtl="0" fontAlgn="ctr"/>
                      <a:r>
                        <a:rPr lang="en-IN" sz="1100" b="1" i="0" u="sng" strike="noStrike" dirty="0" smtClean="0">
                          <a:solidFill>
                            <a:srgbClr val="1F1F1F"/>
                          </a:solidFill>
                          <a:effectLst/>
                          <a:latin typeface="Arial"/>
                        </a:rPr>
                        <a:t>Costing:</a:t>
                      </a:r>
                    </a:p>
                    <a:p>
                      <a:pPr algn="l" rtl="0" fontAlgn="ctr"/>
                      <a:r>
                        <a:rPr lang="en-IN" sz="1100" b="1" i="0" u="none" strike="noStrike" dirty="0" smtClean="0">
                          <a:solidFill>
                            <a:srgbClr val="1F1F1F"/>
                          </a:solidFill>
                          <a:effectLst/>
                          <a:latin typeface="Arial"/>
                        </a:rPr>
                        <a:t>Data </a:t>
                      </a:r>
                      <a:r>
                        <a:rPr lang="en-IN" sz="1100" b="1" i="0" u="none" strike="noStrike" dirty="0">
                          <a:solidFill>
                            <a:srgbClr val="1F1F1F"/>
                          </a:solidFill>
                          <a:effectLst/>
                          <a:latin typeface="Arial"/>
                        </a:rPr>
                        <a:t>Storage Cost</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dirty="0">
                          <a:solidFill>
                            <a:srgbClr val="1F1F1F"/>
                          </a:solidFill>
                          <a:effectLst/>
                          <a:latin typeface="Arial"/>
                        </a:rPr>
                        <a:t>Based on the </a:t>
                      </a:r>
                      <a:r>
                        <a:rPr lang="en-US" sz="1100" b="1" i="0" u="none" strike="noStrike" dirty="0">
                          <a:solidFill>
                            <a:srgbClr val="1F1F1F"/>
                          </a:solidFill>
                          <a:effectLst/>
                          <a:latin typeface="Arial"/>
                        </a:rPr>
                        <a:t>Access Tier</a:t>
                      </a:r>
                      <a:r>
                        <a:rPr lang="en-US" sz="1100" b="0" i="0" u="none" strike="noStrike" dirty="0">
                          <a:solidFill>
                            <a:srgbClr val="1F1F1F"/>
                          </a:solidFill>
                          <a:effectLst/>
                          <a:latin typeface="Arial"/>
                        </a:rPr>
                        <a:t> (Hot, </a:t>
                      </a:r>
                      <a:r>
                        <a:rPr lang="en-US" sz="1100" b="0" i="0" u="none" strike="noStrike" dirty="0" smtClean="0">
                          <a:solidFill>
                            <a:srgbClr val="1F1F1F"/>
                          </a:solidFill>
                          <a:effectLst/>
                          <a:latin typeface="Arial"/>
                        </a:rPr>
                        <a:t>Cool/Cold, </a:t>
                      </a:r>
                      <a:r>
                        <a:rPr lang="en-US" sz="1100" b="0" i="0" u="none" strike="noStrike" dirty="0">
                          <a:solidFill>
                            <a:srgbClr val="1F1F1F"/>
                          </a:solidFill>
                          <a:effectLst/>
                          <a:latin typeface="Arial"/>
                        </a:rPr>
                        <a:t>Archive) and how many GBs you store per month.</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8140">
                <a:tc>
                  <a:txBody>
                    <a:bodyPr/>
                    <a:lstStyle/>
                    <a:p>
                      <a:pPr algn="l" rtl="0" fontAlgn="ctr"/>
                      <a:r>
                        <a:rPr lang="en-IN" sz="1100" b="1" i="0" u="none" strike="noStrike" dirty="0">
                          <a:solidFill>
                            <a:srgbClr val="1F1F1F"/>
                          </a:solidFill>
                          <a:effectLst/>
                          <a:latin typeface="Arial"/>
                        </a:rPr>
                        <a:t>Data </a:t>
                      </a:r>
                      <a:r>
                        <a:rPr lang="en-IN" sz="1100" b="1" i="0" u="none" strike="noStrike" dirty="0" smtClean="0">
                          <a:solidFill>
                            <a:srgbClr val="1F1F1F"/>
                          </a:solidFill>
                          <a:effectLst/>
                          <a:latin typeface="Arial"/>
                        </a:rPr>
                        <a:t>Processing(Read/Write) </a:t>
                      </a:r>
                      <a:r>
                        <a:rPr lang="en-IN" sz="1100" b="1" i="0" u="none" strike="noStrike" dirty="0">
                          <a:solidFill>
                            <a:srgbClr val="1F1F1F"/>
                          </a:solidFill>
                          <a:effectLst/>
                          <a:latin typeface="Arial"/>
                        </a:rPr>
                        <a:t>Cost</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dirty="0">
                          <a:solidFill>
                            <a:srgbClr val="1F1F1F"/>
                          </a:solidFill>
                          <a:effectLst/>
                          <a:latin typeface="Arial"/>
                        </a:rPr>
                        <a:t>Includes </a:t>
                      </a:r>
                      <a:r>
                        <a:rPr lang="en-US" sz="1100" b="1" i="0" u="none" strike="noStrike" dirty="0">
                          <a:solidFill>
                            <a:srgbClr val="1F1F1F"/>
                          </a:solidFill>
                          <a:effectLst/>
                          <a:latin typeface="Arial"/>
                        </a:rPr>
                        <a:t>Transaction fees</a:t>
                      </a:r>
                      <a:r>
                        <a:rPr lang="en-US" sz="1100" b="0" i="0" u="none" strike="noStrike" dirty="0">
                          <a:solidFill>
                            <a:srgbClr val="1F1F1F"/>
                          </a:solidFill>
                          <a:effectLst/>
                          <a:latin typeface="Arial"/>
                        </a:rPr>
                        <a:t> (Read/Write operations) and </a:t>
                      </a:r>
                      <a:r>
                        <a:rPr lang="en-US" sz="1100" b="1" i="0" u="none" strike="noStrike" dirty="0">
                          <a:solidFill>
                            <a:srgbClr val="1F1F1F"/>
                          </a:solidFill>
                          <a:effectLst/>
                          <a:latin typeface="Arial"/>
                        </a:rPr>
                        <a:t>Geo-Replication</a:t>
                      </a:r>
                      <a:r>
                        <a:rPr lang="en-US" sz="1100" b="0" i="0" u="none" strike="noStrike" dirty="0">
                          <a:solidFill>
                            <a:srgbClr val="1F1F1F"/>
                          </a:solidFill>
                          <a:effectLst/>
                          <a:latin typeface="Arial"/>
                        </a:rPr>
                        <a:t> (LRS, ZRS, GRS, GZRS).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8140">
                <a:tc>
                  <a:txBody>
                    <a:bodyPr/>
                    <a:lstStyle/>
                    <a:p>
                      <a:pPr algn="l" rtl="0" fontAlgn="ctr"/>
                      <a:r>
                        <a:rPr lang="en-IN" sz="1100" b="1" i="0" u="none" strike="noStrike" dirty="0">
                          <a:solidFill>
                            <a:srgbClr val="1F1F1F"/>
                          </a:solidFill>
                          <a:effectLst/>
                          <a:latin typeface="Arial"/>
                        </a:rPr>
                        <a:t>Network Usage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dirty="0">
                          <a:solidFill>
                            <a:srgbClr val="1F1F1F"/>
                          </a:solidFill>
                          <a:effectLst/>
                          <a:latin typeface="Arial"/>
                        </a:rPr>
                        <a:t>Charges apply for </a:t>
                      </a:r>
                      <a:r>
                        <a:rPr lang="en-US" sz="1100" b="1" i="0" u="none" strike="noStrike" dirty="0">
                          <a:solidFill>
                            <a:srgbClr val="1F1F1F"/>
                          </a:solidFill>
                          <a:effectLst/>
                          <a:latin typeface="Arial"/>
                        </a:rPr>
                        <a:t>Egress</a:t>
                      </a:r>
                      <a:r>
                        <a:rPr lang="en-US" sz="1100" b="0" i="0" u="none" strike="noStrike" dirty="0">
                          <a:solidFill>
                            <a:srgbClr val="1F1F1F"/>
                          </a:solidFill>
                          <a:effectLst/>
                          <a:latin typeface="Arial"/>
                        </a:rPr>
                        <a:t> (data leaving the Azure region). Data coming in (Ingress) is free.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9250109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267200" y="2667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p>
        </p:txBody>
      </p:sp>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pPr/>
              <a:t>39</a:t>
            </a:fld>
            <a:endParaRPr lang="en-US"/>
          </a:p>
        </p:txBody>
      </p:sp>
      <p:sp>
        <p:nvSpPr>
          <p:cNvPr id="11" name="Text Box 5"/>
          <p:cNvSpPr txBox="1">
            <a:spLocks noChangeArrowheads="1"/>
          </p:cNvSpPr>
          <p:nvPr/>
        </p:nvSpPr>
        <p:spPr bwMode="auto">
          <a:xfrm>
            <a:off x="4267200" y="3048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p>
        </p:txBody>
      </p:sp>
      <p:sp>
        <p:nvSpPr>
          <p:cNvPr id="12" name="Title 1"/>
          <p:cNvSpPr>
            <a:spLocks noGrp="1"/>
          </p:cNvSpPr>
          <p:nvPr>
            <p:ph type="title"/>
          </p:nvPr>
        </p:nvSpPr>
        <p:spPr>
          <a:xfrm>
            <a:off x="0" y="0"/>
            <a:ext cx="10972800" cy="1143000"/>
          </a:xfrm>
        </p:spPr>
        <p:txBody>
          <a:bodyPr vert="horz" lIns="91440" tIns="45720" rIns="91440" bIns="45720" rtlCol="0" anchor="ctr">
            <a:normAutofit/>
          </a:bodyPr>
          <a:lstStyle/>
          <a:p>
            <a:r>
              <a:rPr lang="en-US" sz="2800" b="1" dirty="0">
                <a:solidFill>
                  <a:srgbClr val="FF0000"/>
                </a:solidFill>
              </a:rPr>
              <a:t>Storage Tiers </a:t>
            </a:r>
            <a:r>
              <a:rPr lang="en-US" sz="1600" b="1" dirty="0"/>
              <a:t>(Storage Classes in GCP Standard/Nearline(30d)/</a:t>
            </a:r>
            <a:r>
              <a:rPr lang="en-US" sz="1600" b="1" dirty="0" err="1"/>
              <a:t>Coldline</a:t>
            </a:r>
            <a:r>
              <a:rPr lang="en-US" sz="1600" b="1" dirty="0"/>
              <a:t>(90d)/Archival(365d))</a:t>
            </a:r>
            <a:endParaRPr lang="en-US" sz="2800" b="1" dirty="0"/>
          </a:p>
        </p:txBody>
      </p:sp>
      <p:pic>
        <p:nvPicPr>
          <p:cNvPr id="5122" name="Picture 2" descr="4 different access ti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9775" y="1093230"/>
            <a:ext cx="3400425" cy="29337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124" name="Picture 4" descr="https://miro.medium.com/v2/resize:fit:919/1*gaoRDGWC8QmexZaFVeVzw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859" y="943414"/>
            <a:ext cx="5978741" cy="32333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78243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267200" y="2667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p>
        </p:txBody>
      </p:sp>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pPr/>
              <a:t>40</a:t>
            </a:fld>
            <a:endParaRPr lang="en-US"/>
          </a:p>
        </p:txBody>
      </p:sp>
      <p:sp>
        <p:nvSpPr>
          <p:cNvPr id="11" name="Text Box 5"/>
          <p:cNvSpPr txBox="1">
            <a:spLocks noChangeArrowheads="1"/>
          </p:cNvSpPr>
          <p:nvPr/>
        </p:nvSpPr>
        <p:spPr bwMode="auto">
          <a:xfrm>
            <a:off x="4267200" y="3048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p>
        </p:txBody>
      </p:sp>
      <p:sp>
        <p:nvSpPr>
          <p:cNvPr id="12" name="Title 1"/>
          <p:cNvSpPr>
            <a:spLocks noGrp="1"/>
          </p:cNvSpPr>
          <p:nvPr>
            <p:ph type="title"/>
          </p:nvPr>
        </p:nvSpPr>
        <p:spPr>
          <a:xfrm>
            <a:off x="-38912" y="-38912"/>
            <a:ext cx="10972800" cy="484094"/>
          </a:xfrm>
        </p:spPr>
        <p:txBody>
          <a:bodyPr vert="horz" lIns="91440" tIns="45720" rIns="91440" bIns="45720" rtlCol="0" anchor="ctr">
            <a:normAutofit/>
          </a:bodyPr>
          <a:lstStyle/>
          <a:p>
            <a:r>
              <a:rPr lang="en-US" sz="2800" b="1" dirty="0">
                <a:solidFill>
                  <a:srgbClr val="FF0000"/>
                </a:solidFill>
                <a:latin typeface="+mn-lt"/>
              </a:rPr>
              <a:t>Redundancy (Location) Types</a:t>
            </a:r>
          </a:p>
        </p:txBody>
      </p:sp>
      <p:sp>
        <p:nvSpPr>
          <p:cNvPr id="4" name="AutoShape 5" descr="Google Cloud Storage (GCS) - Tutorials Doj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628560" y="743040"/>
              <a:ext cx="4572360" cy="2375280"/>
            </p14:xfrm>
          </p:contentPart>
        </mc:Choice>
        <mc:Fallback xmlns="">
          <p:pic>
            <p:nvPicPr>
              <p:cNvPr id="2" name="Ink 1"/>
              <p:cNvPicPr/>
              <p:nvPr/>
            </p:nvPicPr>
            <p:blipFill>
              <a:blip r:embed="rId6"/>
              <a:stretch>
                <a:fillRect/>
              </a:stretch>
            </p:blipFill>
            <p:spPr>
              <a:xfrm>
                <a:off x="619200" y="733680"/>
                <a:ext cx="4591080" cy="2394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p14:cNvContentPartPr/>
              <p14:nvPr/>
            </p14:nvContentPartPr>
            <p14:xfrm>
              <a:off x="5632560" y="1378080"/>
              <a:ext cx="360" cy="360"/>
            </p14:xfrm>
          </p:contentPart>
        </mc:Choice>
        <mc:Fallback xmlns="">
          <p:pic>
            <p:nvPicPr>
              <p:cNvPr id="5" name="Ink 4"/>
              <p:cNvPicPr/>
              <p:nvPr/>
            </p:nvPicPr>
            <p:blipFill>
              <a:blip r:embed="rId8"/>
              <a:stretch>
                <a:fillRect/>
              </a:stretch>
            </p:blipFill>
            <p:spPr>
              <a:xfrm>
                <a:off x="5623200" y="1368720"/>
                <a:ext cx="19080" cy="19080"/>
              </a:xfrm>
              <a:prstGeom prst="rect">
                <a:avLst/>
              </a:prstGeom>
            </p:spPr>
          </p:pic>
        </mc:Fallback>
      </mc:AlternateContent>
      <p:pic>
        <p:nvPicPr>
          <p:cNvPr id="3074" name="Picture 2" descr="https://miro.medium.com/v2/resize:fit:919/1*bENl9JnN8h9c-JD1ANB2OQ.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09965" y="401616"/>
            <a:ext cx="8753475" cy="24669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079"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550" y="635283"/>
            <a:ext cx="1973217" cy="20431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80" name="Picture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6391" y="2961890"/>
            <a:ext cx="3434313" cy="18527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81" name="Picture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319" y="5063003"/>
            <a:ext cx="3976917" cy="16707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83" name="Picture 11"/>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689603" y="2919921"/>
            <a:ext cx="3615379" cy="20238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6" name="Picture 4" descr="C:\Users\moham\Downloads\network1.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422589" y="3482724"/>
            <a:ext cx="4740835" cy="316055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8653722" y="4476512"/>
            <a:ext cx="1483098" cy="369332"/>
          </a:xfrm>
          <a:prstGeom prst="rect">
            <a:avLst/>
          </a:prstGeom>
          <a:noFill/>
        </p:spPr>
        <p:txBody>
          <a:bodyPr wrap="none" rtlCol="0">
            <a:spAutoFit/>
          </a:bodyPr>
          <a:lstStyle/>
          <a:p>
            <a:r>
              <a:rPr lang="en-IN" dirty="0" smtClean="0"/>
              <a:t>Geo (US/Asia)</a:t>
            </a:r>
            <a:endParaRPr lang="en-IN" dirty="0"/>
          </a:p>
        </p:txBody>
      </p:sp>
      <p:sp>
        <p:nvSpPr>
          <p:cNvPr id="18" name="TextBox 17"/>
          <p:cNvSpPr txBox="1"/>
          <p:nvPr/>
        </p:nvSpPr>
        <p:spPr>
          <a:xfrm>
            <a:off x="7599285" y="4075368"/>
            <a:ext cx="1787605" cy="369332"/>
          </a:xfrm>
          <a:prstGeom prst="rect">
            <a:avLst/>
          </a:prstGeom>
          <a:noFill/>
        </p:spPr>
        <p:txBody>
          <a:bodyPr wrap="none" rtlCol="0">
            <a:spAutoFit/>
          </a:bodyPr>
          <a:lstStyle/>
          <a:p>
            <a:r>
              <a:rPr lang="en-IN" dirty="0" smtClean="0"/>
              <a:t>Zone </a:t>
            </a:r>
            <a:r>
              <a:rPr lang="en-IN" sz="900" dirty="0" smtClean="0"/>
              <a:t>(Velachery/</a:t>
            </a:r>
            <a:r>
              <a:rPr lang="en-IN" sz="900" dirty="0" err="1" smtClean="0"/>
              <a:t>Tambaram</a:t>
            </a:r>
            <a:r>
              <a:rPr lang="en-IN" sz="900" dirty="0" smtClean="0"/>
              <a:t>)</a:t>
            </a:r>
            <a:endParaRPr lang="en-IN" sz="900" dirty="0"/>
          </a:p>
        </p:txBody>
      </p:sp>
      <p:cxnSp>
        <p:nvCxnSpPr>
          <p:cNvPr id="13" name="Straight Arrow Connector 12"/>
          <p:cNvCxnSpPr/>
          <p:nvPr/>
        </p:nvCxnSpPr>
        <p:spPr>
          <a:xfrm>
            <a:off x="7716387" y="4424677"/>
            <a:ext cx="741549" cy="184666"/>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rot="645656">
            <a:off x="7614390" y="4518102"/>
            <a:ext cx="896399" cy="246221"/>
          </a:xfrm>
          <a:prstGeom prst="rect">
            <a:avLst/>
          </a:prstGeom>
          <a:noFill/>
        </p:spPr>
        <p:txBody>
          <a:bodyPr wrap="none" rtlCol="0">
            <a:spAutoFit/>
          </a:bodyPr>
          <a:lstStyle/>
          <a:p>
            <a:r>
              <a:rPr lang="en-IN" sz="1000" dirty="0" err="1" smtClean="0"/>
              <a:t>Upto</a:t>
            </a:r>
            <a:r>
              <a:rPr lang="en-IN" sz="1000" dirty="0" smtClean="0"/>
              <a:t> 100KMs</a:t>
            </a:r>
            <a:endParaRPr lang="en-IN" sz="1000" dirty="0"/>
          </a:p>
        </p:txBody>
      </p:sp>
      <p:sp>
        <p:nvSpPr>
          <p:cNvPr id="22" name="TextBox 21"/>
          <p:cNvSpPr txBox="1"/>
          <p:nvPr/>
        </p:nvSpPr>
        <p:spPr>
          <a:xfrm>
            <a:off x="6852525" y="5390547"/>
            <a:ext cx="1362168" cy="507831"/>
          </a:xfrm>
          <a:prstGeom prst="rect">
            <a:avLst/>
          </a:prstGeom>
          <a:noFill/>
        </p:spPr>
        <p:txBody>
          <a:bodyPr wrap="none" rtlCol="0">
            <a:spAutoFit/>
          </a:bodyPr>
          <a:lstStyle/>
          <a:p>
            <a:r>
              <a:rPr lang="en-IN" dirty="0" err="1" smtClean="0"/>
              <a:t>Datacenters</a:t>
            </a:r>
            <a:r>
              <a:rPr lang="en-IN" dirty="0" smtClean="0"/>
              <a:t> </a:t>
            </a:r>
          </a:p>
          <a:p>
            <a:r>
              <a:rPr lang="en-IN" sz="900" dirty="0" smtClean="0"/>
              <a:t>(Rack1/Rack2)</a:t>
            </a:r>
            <a:endParaRPr lang="en-IN" sz="900" dirty="0"/>
          </a:p>
        </p:txBody>
      </p:sp>
    </p:spTree>
    <p:extLst>
      <p:ext uri="{BB962C8B-B14F-4D97-AF65-F5344CB8AC3E}">
        <p14:creationId xmlns:p14="http://schemas.microsoft.com/office/powerpoint/2010/main" val="15058529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284601" y="34431"/>
            <a:ext cx="10868870" cy="421962"/>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a:t>AZ Storage Account &amp; Containers</a:t>
            </a:r>
          </a:p>
        </p:txBody>
      </p:sp>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7505640" y="882720"/>
              <a:ext cx="1118160" cy="1943280"/>
            </p14:xfrm>
          </p:contentPart>
        </mc:Choice>
        <mc:Fallback xmlns="">
          <p:pic>
            <p:nvPicPr>
              <p:cNvPr id="6" name="Ink 5"/>
              <p:cNvPicPr/>
              <p:nvPr/>
            </p:nvPicPr>
            <p:blipFill>
              <a:blip r:embed="rId9"/>
              <a:stretch>
                <a:fillRect/>
              </a:stretch>
            </p:blipFill>
            <p:spPr>
              <a:xfrm>
                <a:off x="7496280" y="873360"/>
                <a:ext cx="1136880" cy="1962000"/>
              </a:xfrm>
              <a:prstGeom prst="rect">
                <a:avLst/>
              </a:prstGeom>
            </p:spPr>
          </p:pic>
        </mc:Fallback>
      </mc:AlternateContent>
      <p:sp>
        <p:nvSpPr>
          <p:cNvPr id="10" name="Rectangle 9"/>
          <p:cNvSpPr/>
          <p:nvPr/>
        </p:nvSpPr>
        <p:spPr>
          <a:xfrm>
            <a:off x="83340" y="2595564"/>
            <a:ext cx="8202161" cy="4401205"/>
          </a:xfrm>
          <a:prstGeom prst="rect">
            <a:avLst/>
          </a:prstGeom>
          <a:noFill/>
        </p:spPr>
        <p:txBody>
          <a:bodyPr wrap="square" lIns="91440" tIns="45720" rIns="91440" bIns="45720">
            <a:spAutoFit/>
          </a:bodyPr>
          <a:lstStyle/>
          <a:p>
            <a:r>
              <a:rPr lang="en-US" b="1" u="sng" dirty="0">
                <a:ln w="10541" cmpd="sng">
                  <a:solidFill>
                    <a:srgbClr val="7D7D7D">
                      <a:tint val="100000"/>
                      <a:shade val="100000"/>
                      <a:satMod val="110000"/>
                    </a:srgbClr>
                  </a:solidFill>
                  <a:prstDash val="solid"/>
                </a:ln>
              </a:rPr>
              <a:t>ADLS/Blob Account creation/management Commands</a:t>
            </a:r>
          </a:p>
          <a:p>
            <a:r>
              <a:rPr lang="en-US" sz="1400" dirty="0"/>
              <a:t>In Azure is to create a storage account, which is a higher-level resource that can contain multiple storage containers (buckets)</a:t>
            </a:r>
          </a:p>
          <a:p>
            <a:r>
              <a:rPr lang="en-IN" b="1" dirty="0"/>
              <a:t>1. First list available resource groups</a:t>
            </a:r>
            <a:endParaRPr lang="en-IN" dirty="0">
              <a:solidFill>
                <a:schemeClr val="accent1">
                  <a:lumMod val="75000"/>
                </a:schemeClr>
              </a:solidFill>
            </a:endParaRPr>
          </a:p>
          <a:p>
            <a:r>
              <a:rPr lang="en-IN" sz="1400" dirty="0" err="1">
                <a:solidFill>
                  <a:schemeClr val="accent1">
                    <a:lumMod val="75000"/>
                  </a:schemeClr>
                </a:solidFill>
              </a:rPr>
              <a:t>az</a:t>
            </a:r>
            <a:r>
              <a:rPr lang="en-IN" sz="1400" dirty="0">
                <a:solidFill>
                  <a:schemeClr val="accent1">
                    <a:lumMod val="75000"/>
                  </a:schemeClr>
                </a:solidFill>
              </a:rPr>
              <a:t> group list --output table</a:t>
            </a:r>
          </a:p>
          <a:p>
            <a:endParaRPr lang="en-IN" sz="1400" b="1" u="sng" dirty="0"/>
          </a:p>
          <a:p>
            <a:r>
              <a:rPr lang="en-IN" sz="1400" b="1" u="sng" dirty="0"/>
              <a:t>2. Setting Environment - Subscription Specific Container /Bucket creation (Project Specific in azure):</a:t>
            </a:r>
          </a:p>
          <a:p>
            <a:r>
              <a:rPr lang="en-US" sz="1400" dirty="0" err="1">
                <a:solidFill>
                  <a:srgbClr val="0070C0"/>
                </a:solidFill>
              </a:rPr>
              <a:t>az</a:t>
            </a:r>
            <a:r>
              <a:rPr lang="en-US" sz="1400" dirty="0">
                <a:solidFill>
                  <a:srgbClr val="0070C0"/>
                </a:solidFill>
              </a:rPr>
              <a:t> account list --output table</a:t>
            </a:r>
          </a:p>
          <a:p>
            <a:r>
              <a:rPr lang="en-US" sz="1400" dirty="0" err="1">
                <a:solidFill>
                  <a:srgbClr val="0070C0"/>
                </a:solidFill>
              </a:rPr>
              <a:t>az</a:t>
            </a:r>
            <a:r>
              <a:rPr lang="en-US" sz="1400" dirty="0">
                <a:solidFill>
                  <a:srgbClr val="0070C0"/>
                </a:solidFill>
              </a:rPr>
              <a:t> account set --subscription "</a:t>
            </a:r>
            <a:r>
              <a:rPr lang="en-IN" sz="1400" b="1" dirty="0">
                <a:solidFill>
                  <a:srgbClr val="0070C0"/>
                </a:solidFill>
              </a:rPr>
              <a:t>445b9ed0-3121-4340-bd7f-8935df4be9f0</a:t>
            </a:r>
            <a:r>
              <a:rPr lang="en-US" sz="1400" dirty="0">
                <a:solidFill>
                  <a:srgbClr val="0070C0"/>
                </a:solidFill>
              </a:rPr>
              <a:t>"</a:t>
            </a:r>
            <a:endParaRPr lang="en-IN" sz="1400" b="1" u="sng" dirty="0">
              <a:solidFill>
                <a:srgbClr val="0070C0"/>
              </a:solidFill>
            </a:endParaRPr>
          </a:p>
          <a:p>
            <a:endParaRPr lang="en-US" sz="1400" b="1" u="sng" dirty="0"/>
          </a:p>
          <a:p>
            <a:r>
              <a:rPr lang="en-US" sz="1600" b="1" u="sng" dirty="0"/>
              <a:t>2. Create a Storage Account (One level higher than the container/bucket)</a:t>
            </a:r>
          </a:p>
          <a:p>
            <a:r>
              <a:rPr lang="en-US" sz="1400" b="1" u="sng" dirty="0"/>
              <a:t>BLOB Storage Account Creation: (Check the account kind and hierarchical namespace)</a:t>
            </a:r>
          </a:p>
          <a:p>
            <a:r>
              <a:rPr lang="en-US" sz="1400" dirty="0" err="1">
                <a:solidFill>
                  <a:schemeClr val="accent1">
                    <a:lumMod val="75000"/>
                  </a:schemeClr>
                </a:solidFill>
              </a:rPr>
              <a:t>az</a:t>
            </a:r>
            <a:r>
              <a:rPr lang="en-US" sz="1400" dirty="0">
                <a:solidFill>
                  <a:schemeClr val="accent1">
                    <a:lumMod val="75000"/>
                  </a:schemeClr>
                </a:solidFill>
              </a:rPr>
              <a:t> storage account create \</a:t>
            </a:r>
          </a:p>
          <a:p>
            <a:r>
              <a:rPr lang="en-US" sz="1400" dirty="0">
                <a:solidFill>
                  <a:schemeClr val="accent1">
                    <a:lumMod val="75000"/>
                  </a:schemeClr>
                </a:solidFill>
              </a:rPr>
              <a:t>    --name </a:t>
            </a:r>
            <a:r>
              <a:rPr lang="en-US" sz="1400" b="1" dirty="0" err="1">
                <a:solidFill>
                  <a:schemeClr val="accent1">
                    <a:lumMod val="75000"/>
                  </a:schemeClr>
                </a:solidFill>
              </a:rPr>
              <a:t>izblobwe</a:t>
            </a:r>
            <a:r>
              <a:rPr lang="en-US" sz="1400" b="1" dirty="0">
                <a:solidFill>
                  <a:schemeClr val="accent1">
                    <a:lumMod val="75000"/>
                  </a:schemeClr>
                </a:solidFill>
              </a:rPr>
              <a:t> </a:t>
            </a:r>
            <a:r>
              <a:rPr lang="en-US" sz="1400" dirty="0">
                <a:solidFill>
                  <a:schemeClr val="accent1">
                    <a:lumMod val="75000"/>
                  </a:schemeClr>
                </a:solidFill>
              </a:rPr>
              <a:t>\</a:t>
            </a:r>
          </a:p>
          <a:p>
            <a:r>
              <a:rPr lang="en-US" sz="1400" dirty="0">
                <a:solidFill>
                  <a:schemeClr val="accent1">
                    <a:lumMod val="75000"/>
                  </a:schemeClr>
                </a:solidFill>
              </a:rPr>
              <a:t>    --resource-group </a:t>
            </a:r>
            <a:r>
              <a:rPr lang="en-US" sz="1400" b="1" dirty="0">
                <a:solidFill>
                  <a:schemeClr val="accent1">
                    <a:lumMod val="75000"/>
                  </a:schemeClr>
                </a:solidFill>
              </a:rPr>
              <a:t>we45-resourcegroup</a:t>
            </a:r>
            <a:r>
              <a:rPr lang="en-US" sz="1400" dirty="0">
                <a:solidFill>
                  <a:schemeClr val="accent1">
                    <a:lumMod val="75000"/>
                  </a:schemeClr>
                </a:solidFill>
              </a:rPr>
              <a:t> \</a:t>
            </a:r>
          </a:p>
          <a:p>
            <a:r>
              <a:rPr lang="en-US" sz="1400" dirty="0">
                <a:solidFill>
                  <a:schemeClr val="accent1">
                    <a:lumMod val="75000"/>
                  </a:schemeClr>
                </a:solidFill>
              </a:rPr>
              <a:t>    --location </a:t>
            </a:r>
            <a:r>
              <a:rPr lang="en-US" sz="1400" dirty="0" err="1">
                <a:solidFill>
                  <a:schemeClr val="accent1">
                    <a:lumMod val="75000"/>
                  </a:schemeClr>
                </a:solidFill>
              </a:rPr>
              <a:t>eastus</a:t>
            </a:r>
            <a:r>
              <a:rPr lang="en-US" sz="1400" dirty="0">
                <a:solidFill>
                  <a:schemeClr val="accent1">
                    <a:lumMod val="75000"/>
                  </a:schemeClr>
                </a:solidFill>
              </a:rPr>
              <a:t> \</a:t>
            </a:r>
          </a:p>
          <a:p>
            <a:r>
              <a:rPr lang="en-US" sz="1400" b="1" dirty="0">
                <a:solidFill>
                  <a:schemeClr val="accent1">
                    <a:lumMod val="75000"/>
                  </a:schemeClr>
                </a:solidFill>
              </a:rPr>
              <a:t>    --</a:t>
            </a:r>
            <a:r>
              <a:rPr lang="en-US" sz="1400" b="1" dirty="0" err="1">
                <a:solidFill>
                  <a:schemeClr val="accent1">
                    <a:lumMod val="75000"/>
                  </a:schemeClr>
                </a:solidFill>
              </a:rPr>
              <a:t>sku</a:t>
            </a:r>
            <a:r>
              <a:rPr lang="en-US" sz="1400" b="1" dirty="0">
                <a:solidFill>
                  <a:schemeClr val="accent1">
                    <a:lumMod val="75000"/>
                  </a:schemeClr>
                </a:solidFill>
              </a:rPr>
              <a:t> </a:t>
            </a:r>
            <a:r>
              <a:rPr lang="en-US" sz="1400" b="1" dirty="0" err="1">
                <a:solidFill>
                  <a:schemeClr val="accent1">
                    <a:lumMod val="75000"/>
                  </a:schemeClr>
                </a:solidFill>
              </a:rPr>
              <a:t>Standard_LRS</a:t>
            </a:r>
            <a:r>
              <a:rPr lang="en-US" sz="1400" b="1" dirty="0">
                <a:solidFill>
                  <a:schemeClr val="accent1">
                    <a:lumMod val="75000"/>
                  </a:schemeClr>
                </a:solidFill>
              </a:rPr>
              <a:t> \</a:t>
            </a:r>
          </a:p>
          <a:p>
            <a:r>
              <a:rPr lang="en-US" sz="1400" b="1" dirty="0">
                <a:solidFill>
                  <a:schemeClr val="accent1">
                    <a:lumMod val="75000"/>
                  </a:schemeClr>
                </a:solidFill>
              </a:rPr>
              <a:t>    --kind </a:t>
            </a:r>
            <a:r>
              <a:rPr lang="en-US" sz="1400" b="1" dirty="0" err="1">
                <a:solidFill>
                  <a:schemeClr val="accent1">
                    <a:lumMod val="75000"/>
                  </a:schemeClr>
                </a:solidFill>
              </a:rPr>
              <a:t>BlobStorage</a:t>
            </a:r>
            <a:r>
              <a:rPr lang="en-US" sz="1400" b="1" dirty="0">
                <a:solidFill>
                  <a:schemeClr val="accent1">
                    <a:lumMod val="75000"/>
                  </a:schemeClr>
                </a:solidFill>
              </a:rPr>
              <a:t> \</a:t>
            </a:r>
          </a:p>
          <a:p>
            <a:r>
              <a:rPr lang="en-US" sz="1400" b="1" dirty="0">
                <a:solidFill>
                  <a:schemeClr val="accent1">
                    <a:lumMod val="75000"/>
                  </a:schemeClr>
                </a:solidFill>
              </a:rPr>
              <a:t>    --access-tier Hot</a:t>
            </a:r>
          </a:p>
        </p:txBody>
      </p:sp>
      <p:sp>
        <p:nvSpPr>
          <p:cNvPr id="2" name="Rectangle 1"/>
          <p:cNvSpPr/>
          <p:nvPr/>
        </p:nvSpPr>
        <p:spPr>
          <a:xfrm>
            <a:off x="5895926" y="180929"/>
            <a:ext cx="2291012" cy="400110"/>
          </a:xfrm>
          <a:prstGeom prst="rect">
            <a:avLst/>
          </a:prstGeom>
        </p:spPr>
        <p:txBody>
          <a:bodyPr wrap="none">
            <a:spAutoFit/>
          </a:bodyPr>
          <a:lstStyle/>
          <a:p>
            <a:r>
              <a:rPr lang="en-US" sz="2000" i="1" u="sng" dirty="0">
                <a:effectLst>
                  <a:outerShdw blurRad="38100" dist="38100" dir="2700000" algn="tl">
                    <a:srgbClr val="000000">
                      <a:alpha val="43137"/>
                    </a:srgbClr>
                  </a:outerShdw>
                </a:effectLst>
              </a:rPr>
              <a:t>Classroom - Practice</a:t>
            </a:r>
            <a:endParaRPr lang="en-IN" sz="2000" dirty="0"/>
          </a:p>
        </p:txBody>
      </p:sp>
      <p:pic>
        <p:nvPicPr>
          <p:cNvPr id="14" name="Picture 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656658" y="6464867"/>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8064720" y="1294374"/>
            <a:ext cx="4078361" cy="3139321"/>
          </a:xfrm>
          <a:prstGeom prst="rect">
            <a:avLst/>
          </a:prstGeom>
          <a:noFill/>
        </p:spPr>
        <p:txBody>
          <a:bodyPr wrap="none" rtlCol="0">
            <a:spAutoFit/>
          </a:bodyPr>
          <a:lstStyle/>
          <a:p>
            <a:r>
              <a:rPr lang="en-US" sz="600" b="1" u="sng" dirty="0"/>
              <a:t>1. Create a Storage Account first</a:t>
            </a:r>
          </a:p>
          <a:p>
            <a:r>
              <a:rPr lang="en-US" sz="600" dirty="0" err="1">
                <a:solidFill>
                  <a:schemeClr val="accent1">
                    <a:lumMod val="75000"/>
                  </a:schemeClr>
                </a:solidFill>
              </a:rPr>
              <a:t>az</a:t>
            </a:r>
            <a:r>
              <a:rPr lang="en-US" sz="600" dirty="0">
                <a:solidFill>
                  <a:schemeClr val="accent1">
                    <a:lumMod val="75000"/>
                  </a:schemeClr>
                </a:solidFill>
              </a:rPr>
              <a:t> storage account create --name izdatalakegen2  --resource-group </a:t>
            </a:r>
            <a:r>
              <a:rPr lang="en-IN" sz="600" dirty="0">
                <a:solidFill>
                  <a:schemeClr val="accent1">
                    <a:lumMod val="75000"/>
                  </a:schemeClr>
                </a:solidFill>
              </a:rPr>
              <a:t>we45-resourcegroup</a:t>
            </a:r>
            <a:r>
              <a:rPr lang="en-US" sz="600" dirty="0">
                <a:solidFill>
                  <a:schemeClr val="accent1">
                    <a:lumMod val="75000"/>
                  </a:schemeClr>
                </a:solidFill>
              </a:rPr>
              <a:t>  --location </a:t>
            </a:r>
            <a:r>
              <a:rPr lang="en-US" sz="600" dirty="0" err="1">
                <a:solidFill>
                  <a:schemeClr val="accent1">
                    <a:lumMod val="75000"/>
                  </a:schemeClr>
                </a:solidFill>
              </a:rPr>
              <a:t>eastus</a:t>
            </a:r>
            <a:r>
              <a:rPr lang="en-US" sz="600" dirty="0">
                <a:solidFill>
                  <a:schemeClr val="accent1">
                    <a:lumMod val="75000"/>
                  </a:schemeClr>
                </a:solidFill>
              </a:rPr>
              <a:t>   --kind StorageV2</a:t>
            </a:r>
            <a:endParaRPr lang="en-IN" sz="600" dirty="0">
              <a:solidFill>
                <a:schemeClr val="accent1">
                  <a:lumMod val="75000"/>
                </a:schemeClr>
              </a:solidFill>
            </a:endParaRPr>
          </a:p>
          <a:p>
            <a:endParaRPr lang="en-IN" sz="600" b="1" u="sng" dirty="0"/>
          </a:p>
          <a:p>
            <a:r>
              <a:rPr lang="en-IN" sz="600" b="1" u="sng" dirty="0"/>
              <a:t>Make Bucket Commands:</a:t>
            </a:r>
          </a:p>
          <a:p>
            <a:r>
              <a:rPr lang="en-IN" sz="600" b="1" strike="sngStrike" dirty="0" err="1">
                <a:solidFill>
                  <a:srgbClr val="0070C0"/>
                </a:solidFill>
              </a:rPr>
              <a:t>gsutil</a:t>
            </a:r>
            <a:r>
              <a:rPr lang="en-IN" sz="600" b="1" strike="sngStrike" dirty="0">
                <a:solidFill>
                  <a:srgbClr val="0070C0"/>
                </a:solidFill>
              </a:rPr>
              <a:t> </a:t>
            </a:r>
            <a:r>
              <a:rPr lang="en-IN" sz="600" b="1" strike="sngStrike" dirty="0" err="1">
                <a:solidFill>
                  <a:srgbClr val="0070C0"/>
                </a:solidFill>
              </a:rPr>
              <a:t>mb</a:t>
            </a:r>
            <a:r>
              <a:rPr lang="en-IN" sz="600" b="1" strike="sngStrike" dirty="0">
                <a:solidFill>
                  <a:srgbClr val="0070C0"/>
                </a:solidFill>
              </a:rPr>
              <a:t> gs://com-inceptez-data-learn1-we43</a:t>
            </a:r>
          </a:p>
          <a:p>
            <a:endParaRPr lang="en-IN" sz="600" b="1" u="sng" dirty="0"/>
          </a:p>
          <a:p>
            <a:r>
              <a:rPr lang="en-IN" sz="600" b="1" u="sng" dirty="0"/>
              <a:t>Project Specific:</a:t>
            </a:r>
          </a:p>
          <a:p>
            <a:r>
              <a:rPr lang="en-IN" sz="600" b="1" strike="sngStrike" dirty="0" err="1">
                <a:solidFill>
                  <a:srgbClr val="0070C0"/>
                </a:solidFill>
              </a:rPr>
              <a:t>gsutil</a:t>
            </a:r>
            <a:r>
              <a:rPr lang="en-IN" sz="600" b="1" strike="sngStrike" dirty="0">
                <a:solidFill>
                  <a:srgbClr val="0070C0"/>
                </a:solidFill>
              </a:rPr>
              <a:t> </a:t>
            </a:r>
            <a:r>
              <a:rPr lang="en-IN" sz="600" b="1" strike="sngStrike" dirty="0" err="1">
                <a:solidFill>
                  <a:srgbClr val="0070C0"/>
                </a:solidFill>
              </a:rPr>
              <a:t>mb</a:t>
            </a:r>
            <a:r>
              <a:rPr lang="en-IN" sz="600" b="1" strike="sngStrike" dirty="0">
                <a:solidFill>
                  <a:srgbClr val="0070C0"/>
                </a:solidFill>
              </a:rPr>
              <a:t> -p </a:t>
            </a:r>
            <a:r>
              <a:rPr lang="en-IN" sz="600" b="1" strike="sngStrike" dirty="0">
                <a:solidFill>
                  <a:srgbClr val="C00000"/>
                </a:solidFill>
              </a:rPr>
              <a:t>singular-elixir-425117-q0</a:t>
            </a:r>
            <a:r>
              <a:rPr lang="en-IN" sz="600" b="1" strike="sngStrike" dirty="0">
                <a:solidFill>
                  <a:srgbClr val="0070C0"/>
                </a:solidFill>
              </a:rPr>
              <a:t> gs://com-inceptez-data-learn1-we43_proj</a:t>
            </a:r>
          </a:p>
          <a:p>
            <a:endParaRPr lang="en-IN" sz="600" dirty="0"/>
          </a:p>
          <a:p>
            <a:r>
              <a:rPr lang="en-IN" sz="600" b="1" u="sng" dirty="0"/>
              <a:t>Location Types (regional, dual, multi) – costing, usability(availability), performance</a:t>
            </a:r>
          </a:p>
          <a:p>
            <a:r>
              <a:rPr lang="en-IN" sz="600" b="1" i="1" dirty="0"/>
              <a:t>#regional (replicated across </a:t>
            </a:r>
            <a:r>
              <a:rPr lang="en-IN" sz="600" b="1" i="1" dirty="0" err="1"/>
              <a:t>upto</a:t>
            </a:r>
            <a:r>
              <a:rPr lang="en-IN" sz="600" b="1" i="1" dirty="0"/>
              <a:t> 3 zones-clusters) 99.999999999% availability</a:t>
            </a:r>
            <a:endParaRPr lang="en-IN" sz="600" b="1" i="1" u="sng" dirty="0"/>
          </a:p>
          <a:p>
            <a:r>
              <a:rPr lang="en-IN" sz="600" b="1" dirty="0" err="1">
                <a:solidFill>
                  <a:srgbClr val="0070C0"/>
                </a:solidFill>
              </a:rPr>
              <a:t>gsutil</a:t>
            </a:r>
            <a:r>
              <a:rPr lang="en-IN" sz="600" b="1" dirty="0">
                <a:solidFill>
                  <a:srgbClr val="0070C0"/>
                </a:solidFill>
              </a:rPr>
              <a:t> </a:t>
            </a:r>
            <a:r>
              <a:rPr lang="en-IN" sz="600" b="1" dirty="0" err="1">
                <a:solidFill>
                  <a:srgbClr val="0070C0"/>
                </a:solidFill>
              </a:rPr>
              <a:t>mb</a:t>
            </a:r>
            <a:r>
              <a:rPr lang="en-IN" sz="600" b="1" dirty="0">
                <a:solidFill>
                  <a:srgbClr val="0070C0"/>
                </a:solidFill>
              </a:rPr>
              <a:t> -l </a:t>
            </a:r>
            <a:r>
              <a:rPr lang="en-IN" sz="600" b="1" dirty="0">
                <a:solidFill>
                  <a:srgbClr val="C00000"/>
                </a:solidFill>
              </a:rPr>
              <a:t>us-east1</a:t>
            </a:r>
            <a:r>
              <a:rPr lang="en-IN" sz="600" b="1" dirty="0">
                <a:solidFill>
                  <a:srgbClr val="0070C0"/>
                </a:solidFill>
              </a:rPr>
              <a:t> gs://com-inceptez-data-learn1-we43_2</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mb</a:t>
            </a:r>
            <a:r>
              <a:rPr lang="en-IN" sz="600" b="1" dirty="0">
                <a:solidFill>
                  <a:srgbClr val="0070C0"/>
                </a:solidFill>
              </a:rPr>
              <a:t> -l </a:t>
            </a:r>
            <a:r>
              <a:rPr lang="en-IN" sz="600" b="1" dirty="0">
                <a:solidFill>
                  <a:srgbClr val="C00000"/>
                </a:solidFill>
              </a:rPr>
              <a:t>asia-south1</a:t>
            </a:r>
            <a:r>
              <a:rPr lang="en-IN" sz="600" b="1" dirty="0">
                <a:solidFill>
                  <a:srgbClr val="0070C0"/>
                </a:solidFill>
              </a:rPr>
              <a:t> gs://com-inceptez-data-learn1-we43_2</a:t>
            </a:r>
          </a:p>
          <a:p>
            <a:r>
              <a:rPr lang="en-IN" sz="600" b="1" i="1" dirty="0"/>
              <a:t>#dual region(replicated across </a:t>
            </a:r>
            <a:r>
              <a:rPr lang="en-IN" sz="600" b="1" i="1" dirty="0" err="1"/>
              <a:t>upto</a:t>
            </a:r>
            <a:r>
              <a:rPr lang="en-IN" sz="600" b="1" i="1" dirty="0"/>
              <a:t> 3+3 zones-clusters) – better availability, reachability and fault tolerance</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mb</a:t>
            </a:r>
            <a:r>
              <a:rPr lang="en-IN" sz="600" b="1" dirty="0">
                <a:solidFill>
                  <a:srgbClr val="0070C0"/>
                </a:solidFill>
              </a:rPr>
              <a:t> -l us --placement us-west1,us-west2 gs://com-inceptez-data-learn1-we43_3</a:t>
            </a:r>
          </a:p>
          <a:p>
            <a:r>
              <a:rPr lang="en-IN" sz="600" b="1" i="1" dirty="0"/>
              <a:t>#DEFAULT MULTI region - </a:t>
            </a:r>
            <a:r>
              <a:rPr lang="en-IN" sz="600" b="1" i="1" dirty="0" err="1"/>
              <a:t>accross</a:t>
            </a:r>
            <a:r>
              <a:rPr lang="en-IN" sz="600" b="1" i="1" dirty="0"/>
              <a:t> the country all/any regions</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mb</a:t>
            </a:r>
            <a:r>
              <a:rPr lang="en-IN" sz="600" b="1" dirty="0">
                <a:solidFill>
                  <a:srgbClr val="0070C0"/>
                </a:solidFill>
              </a:rPr>
              <a:t> -l </a:t>
            </a:r>
            <a:r>
              <a:rPr lang="en-IN" sz="600" b="1" dirty="0" err="1">
                <a:solidFill>
                  <a:srgbClr val="0070C0"/>
                </a:solidFill>
              </a:rPr>
              <a:t>asia</a:t>
            </a:r>
            <a:r>
              <a:rPr lang="en-IN" sz="600" b="1" dirty="0">
                <a:solidFill>
                  <a:srgbClr val="0070C0"/>
                </a:solidFill>
              </a:rPr>
              <a:t> gs://com-inceptez-data-learn1-we43_4</a:t>
            </a:r>
          </a:p>
          <a:p>
            <a:endParaRPr lang="en-IN" sz="600" dirty="0"/>
          </a:p>
          <a:p>
            <a:r>
              <a:rPr lang="en-IN" sz="600" b="1" u="sng" dirty="0"/>
              <a:t>Storage Classes – costing, usability(availability), performance</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mb</a:t>
            </a:r>
            <a:r>
              <a:rPr lang="en-IN" sz="600" b="1" dirty="0">
                <a:solidFill>
                  <a:srgbClr val="0070C0"/>
                </a:solidFill>
              </a:rPr>
              <a:t> </a:t>
            </a:r>
            <a:r>
              <a:rPr lang="en-IN" sz="600" b="1" dirty="0">
                <a:solidFill>
                  <a:srgbClr val="C00000"/>
                </a:solidFill>
              </a:rPr>
              <a:t>-c </a:t>
            </a:r>
            <a:r>
              <a:rPr lang="en-IN" sz="600" b="1" dirty="0" err="1">
                <a:solidFill>
                  <a:srgbClr val="C00000"/>
                </a:solidFill>
              </a:rPr>
              <a:t>nearline</a:t>
            </a:r>
            <a:r>
              <a:rPr lang="en-IN" sz="600" b="1" dirty="0">
                <a:solidFill>
                  <a:srgbClr val="C00000"/>
                </a:solidFill>
              </a:rPr>
              <a:t> </a:t>
            </a:r>
            <a:r>
              <a:rPr lang="en-IN" sz="600" b="1" dirty="0">
                <a:solidFill>
                  <a:srgbClr val="0070C0"/>
                </a:solidFill>
              </a:rPr>
              <a:t>gs://com-inceptez-data-learn1-we43_5</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mb</a:t>
            </a:r>
            <a:r>
              <a:rPr lang="en-IN" sz="600" b="1" dirty="0">
                <a:solidFill>
                  <a:srgbClr val="0070C0"/>
                </a:solidFill>
              </a:rPr>
              <a:t> -c </a:t>
            </a:r>
            <a:r>
              <a:rPr lang="en-IN" sz="600" b="1" dirty="0" err="1">
                <a:solidFill>
                  <a:srgbClr val="0070C0"/>
                </a:solidFill>
              </a:rPr>
              <a:t>coldline</a:t>
            </a:r>
            <a:r>
              <a:rPr lang="en-IN" sz="600" b="1" dirty="0">
                <a:solidFill>
                  <a:srgbClr val="0070C0"/>
                </a:solidFill>
              </a:rPr>
              <a:t> -l us-east1 gs://com-inceptez-data-learn1-we43_6</a:t>
            </a:r>
          </a:p>
          <a:p>
            <a:r>
              <a:rPr lang="en-IN" sz="600" b="1" i="1" dirty="0"/>
              <a:t>#depends upon the frequency of access and period of storage </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mb</a:t>
            </a:r>
            <a:r>
              <a:rPr lang="en-IN" sz="600" b="1" dirty="0">
                <a:solidFill>
                  <a:srgbClr val="0070C0"/>
                </a:solidFill>
              </a:rPr>
              <a:t> </a:t>
            </a:r>
            <a:r>
              <a:rPr lang="en-IN" sz="600" b="1" dirty="0">
                <a:solidFill>
                  <a:srgbClr val="C00000"/>
                </a:solidFill>
              </a:rPr>
              <a:t>--</a:t>
            </a:r>
            <a:r>
              <a:rPr lang="en-IN" sz="600" b="1" dirty="0" err="1">
                <a:solidFill>
                  <a:srgbClr val="C00000"/>
                </a:solidFill>
              </a:rPr>
              <a:t>autoclass</a:t>
            </a:r>
            <a:r>
              <a:rPr lang="en-IN" sz="600" b="1" dirty="0">
                <a:solidFill>
                  <a:srgbClr val="C00000"/>
                </a:solidFill>
              </a:rPr>
              <a:t> </a:t>
            </a:r>
            <a:r>
              <a:rPr lang="en-IN" sz="600" b="1" dirty="0">
                <a:solidFill>
                  <a:srgbClr val="0070C0"/>
                </a:solidFill>
              </a:rPr>
              <a:t>gs://com-inceptez-data-learn1-we43_7</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autoclass</a:t>
            </a:r>
            <a:r>
              <a:rPr lang="en-IN" sz="600" b="1" dirty="0">
                <a:solidFill>
                  <a:srgbClr val="0070C0"/>
                </a:solidFill>
              </a:rPr>
              <a:t> set on gs://com-inceptez-data-learn1-we43_7</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autoclass</a:t>
            </a:r>
            <a:r>
              <a:rPr lang="en-IN" sz="600" b="1" dirty="0">
                <a:solidFill>
                  <a:srgbClr val="0070C0"/>
                </a:solidFill>
              </a:rPr>
              <a:t> get gs://com-inceptez-data-learn1-we43_7</a:t>
            </a:r>
          </a:p>
          <a:p>
            <a:r>
              <a:rPr lang="en-US" sz="600" b="1" dirty="0" err="1">
                <a:solidFill>
                  <a:srgbClr val="0070C0"/>
                </a:solidFill>
              </a:rPr>
              <a:t>gsutil</a:t>
            </a:r>
            <a:r>
              <a:rPr lang="en-US" sz="600" b="1" dirty="0">
                <a:solidFill>
                  <a:srgbClr val="0070C0"/>
                </a:solidFill>
              </a:rPr>
              <a:t> </a:t>
            </a:r>
            <a:r>
              <a:rPr lang="en-US" sz="600" b="1" dirty="0" err="1">
                <a:solidFill>
                  <a:srgbClr val="C00000"/>
                </a:solidFill>
              </a:rPr>
              <a:t>defstorageclass</a:t>
            </a:r>
            <a:r>
              <a:rPr lang="en-US" sz="600" b="1" dirty="0">
                <a:solidFill>
                  <a:srgbClr val="C00000"/>
                </a:solidFill>
              </a:rPr>
              <a:t> </a:t>
            </a:r>
            <a:r>
              <a:rPr lang="en-US" sz="600" b="1" dirty="0">
                <a:solidFill>
                  <a:srgbClr val="0070C0"/>
                </a:solidFill>
              </a:rPr>
              <a:t>get gs://com-inceptez-data-learn1-we43_7</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defstorageclass</a:t>
            </a:r>
            <a:r>
              <a:rPr lang="en-IN" sz="600" b="1" dirty="0">
                <a:solidFill>
                  <a:srgbClr val="0070C0"/>
                </a:solidFill>
              </a:rPr>
              <a:t> get gs://com-inceptez-data-learn1-we43_5</a:t>
            </a:r>
            <a:r>
              <a:rPr lang="en-IN" sz="600" b="1" dirty="0"/>
              <a:t>#Getting the type of class used</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defstorageclass</a:t>
            </a:r>
            <a:r>
              <a:rPr lang="en-IN" sz="600" b="1" dirty="0">
                <a:solidFill>
                  <a:srgbClr val="0070C0"/>
                </a:solidFill>
              </a:rPr>
              <a:t> set archive gs://com-inceptez-data-learn1-we43_5</a:t>
            </a:r>
            <a:r>
              <a:rPr lang="en-IN" sz="600" b="1" dirty="0"/>
              <a:t>#Move from </a:t>
            </a:r>
            <a:r>
              <a:rPr lang="en-IN" sz="600" b="1" dirty="0" err="1"/>
              <a:t>nearline</a:t>
            </a:r>
            <a:r>
              <a:rPr lang="en-IN" sz="600" b="1" dirty="0"/>
              <a:t> class to archive manually</a:t>
            </a:r>
          </a:p>
          <a:p>
            <a:endParaRPr lang="en-IN" sz="600" b="1" dirty="0"/>
          </a:p>
          <a:p>
            <a:r>
              <a:rPr lang="en-IN" sz="600" b="1" i="1" dirty="0"/>
              <a:t>Retention Period (How long we are going to protect the data from deletion/overwriting)</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mb</a:t>
            </a:r>
            <a:r>
              <a:rPr lang="en-IN" sz="600" b="1" dirty="0">
                <a:solidFill>
                  <a:srgbClr val="0070C0"/>
                </a:solidFill>
              </a:rPr>
              <a:t> </a:t>
            </a:r>
            <a:r>
              <a:rPr lang="en-IN" sz="600" b="1" dirty="0">
                <a:solidFill>
                  <a:srgbClr val="C00000"/>
                </a:solidFill>
              </a:rPr>
              <a:t>--retention 60s</a:t>
            </a:r>
            <a:r>
              <a:rPr lang="en-IN" sz="600" b="1" dirty="0">
                <a:solidFill>
                  <a:srgbClr val="0070C0"/>
                </a:solidFill>
              </a:rPr>
              <a:t> gs://com-inceptez-data-learn1-we43_8</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cp</a:t>
            </a:r>
            <a:r>
              <a:rPr lang="en-IN" sz="600" b="1" dirty="0">
                <a:solidFill>
                  <a:srgbClr val="0070C0"/>
                </a:solidFill>
              </a:rPr>
              <a:t> samplefile.txt gs://com-inceptez-data-learn1-we43_8</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cp</a:t>
            </a:r>
            <a:r>
              <a:rPr lang="en-IN" sz="600" b="1" dirty="0">
                <a:solidFill>
                  <a:srgbClr val="0070C0"/>
                </a:solidFill>
              </a:rPr>
              <a:t> samplefile.txt gs://com-inceptez-data-learn1-we43_8</a:t>
            </a:r>
          </a:p>
        </p:txBody>
      </p:sp>
      <mc:AlternateContent xmlns:mc="http://schemas.openxmlformats.org/markup-compatibility/2006" xmlns:p14="http://schemas.microsoft.com/office/powerpoint/2010/main">
        <mc:Choice Requires="p14">
          <p:contentPart p14:bwMode="auto" r:id="rId11">
            <p14:nvContentPartPr>
              <p14:cNvPr id="4" name="Ink 3"/>
              <p14:cNvContentPartPr/>
              <p14:nvPr/>
            </p14:nvContentPartPr>
            <p14:xfrm>
              <a:off x="260280" y="2400120"/>
              <a:ext cx="25920" cy="1835640"/>
            </p14:xfrm>
          </p:contentPart>
        </mc:Choice>
        <mc:Fallback xmlns="">
          <p:pic>
            <p:nvPicPr>
              <p:cNvPr id="4" name="Ink 3"/>
              <p:cNvPicPr/>
              <p:nvPr/>
            </p:nvPicPr>
            <p:blipFill>
              <a:blip r:embed="rId15"/>
              <a:stretch>
                <a:fillRect/>
              </a:stretch>
            </p:blipFill>
            <p:spPr>
              <a:xfrm>
                <a:off x="250920" y="2390760"/>
                <a:ext cx="44640" cy="1854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Ink 6"/>
              <p14:cNvContentPartPr/>
              <p14:nvPr/>
            </p14:nvContentPartPr>
            <p14:xfrm>
              <a:off x="7759800" y="4838760"/>
              <a:ext cx="360" cy="360"/>
            </p14:xfrm>
          </p:contentPart>
        </mc:Choice>
        <mc:Fallback xmlns="">
          <p:pic>
            <p:nvPicPr>
              <p:cNvPr id="7" name="Ink 6"/>
              <p:cNvPicPr/>
              <p:nvPr/>
            </p:nvPicPr>
            <p:blipFill>
              <a:blip r:embed="rId17"/>
              <a:stretch>
                <a:fillRect/>
              </a:stretch>
            </p:blipFill>
            <p:spPr>
              <a:xfrm>
                <a:off x="7750440" y="4829400"/>
                <a:ext cx="19080" cy="19080"/>
              </a:xfrm>
              <a:prstGeom prst="rect">
                <a:avLst/>
              </a:prstGeom>
            </p:spPr>
          </p:pic>
        </mc:Fallback>
      </mc:AlternateContent>
      <p:pic>
        <p:nvPicPr>
          <p:cNvPr id="2050" name="Picture 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5987" y="937841"/>
            <a:ext cx="5275533" cy="17151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ectangle 12"/>
          <p:cNvSpPr/>
          <p:nvPr/>
        </p:nvSpPr>
        <p:spPr>
          <a:xfrm>
            <a:off x="59192" y="592894"/>
            <a:ext cx="5199308" cy="369332"/>
          </a:xfrm>
          <a:prstGeom prst="rect">
            <a:avLst/>
          </a:prstGeom>
        </p:spPr>
        <p:txBody>
          <a:bodyPr wrap="none">
            <a:spAutoFit/>
          </a:bodyPr>
          <a:lstStyle/>
          <a:p>
            <a:r>
              <a:rPr lang="en-US" b="1" u="sng" dirty="0">
                <a:ln w="10541" cmpd="sng">
                  <a:solidFill>
                    <a:srgbClr val="7D7D7D">
                      <a:tint val="100000"/>
                      <a:shade val="100000"/>
                      <a:satMod val="110000"/>
                    </a:srgbClr>
                  </a:solidFill>
                  <a:prstDash val="solid"/>
                </a:ln>
              </a:rPr>
              <a:t>Open Cloud Shell to practice </a:t>
            </a:r>
            <a:r>
              <a:rPr lang="en-US" b="1" u="sng" dirty="0" err="1">
                <a:ln w="10541" cmpd="sng">
                  <a:solidFill>
                    <a:srgbClr val="7D7D7D">
                      <a:tint val="100000"/>
                      <a:shade val="100000"/>
                      <a:satMod val="110000"/>
                    </a:srgbClr>
                  </a:solidFill>
                  <a:prstDash val="solid"/>
                </a:ln>
              </a:rPr>
              <a:t>az</a:t>
            </a:r>
            <a:r>
              <a:rPr lang="en-US" b="1" u="sng" dirty="0">
                <a:ln w="10541" cmpd="sng">
                  <a:solidFill>
                    <a:srgbClr val="7D7D7D">
                      <a:tint val="100000"/>
                      <a:shade val="100000"/>
                      <a:satMod val="110000"/>
                    </a:srgbClr>
                  </a:solidFill>
                  <a:prstDash val="solid"/>
                </a:ln>
              </a:rPr>
              <a:t> container commands</a:t>
            </a:r>
          </a:p>
        </p:txBody>
      </p:sp>
      <mc:AlternateContent xmlns:mc="http://schemas.openxmlformats.org/markup-compatibility/2006" xmlns:p14="http://schemas.microsoft.com/office/powerpoint/2010/main">
        <mc:Choice Requires="p14">
          <p:contentPart p14:bwMode="auto" r:id="rId19">
            <p14:nvContentPartPr>
              <p14:cNvPr id="9" name="Ink 8"/>
              <p14:cNvContentPartPr/>
              <p14:nvPr/>
            </p14:nvContentPartPr>
            <p14:xfrm>
              <a:off x="4133880" y="3397320"/>
              <a:ext cx="1365480" cy="235080"/>
            </p14:xfrm>
          </p:contentPart>
        </mc:Choice>
        <mc:Fallback xmlns="">
          <p:pic>
            <p:nvPicPr>
              <p:cNvPr id="9" name="Ink 8"/>
              <p:cNvPicPr/>
              <p:nvPr/>
            </p:nvPicPr>
            <p:blipFill>
              <a:blip r:embed="rId20"/>
              <a:stretch>
                <a:fillRect/>
              </a:stretch>
            </p:blipFill>
            <p:spPr>
              <a:xfrm>
                <a:off x="4124520" y="3387960"/>
                <a:ext cx="138420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8" name="Ink 7"/>
              <p14:cNvContentPartPr/>
              <p14:nvPr/>
            </p14:nvContentPartPr>
            <p14:xfrm>
              <a:off x="7397640" y="4971960"/>
              <a:ext cx="360" cy="360"/>
            </p14:xfrm>
          </p:contentPart>
        </mc:Choice>
        <mc:Fallback xmlns="">
          <p:pic>
            <p:nvPicPr>
              <p:cNvPr id="8" name="Ink 7"/>
              <p:cNvPicPr/>
              <p:nvPr/>
            </p:nvPicPr>
            <p:blipFill>
              <a:blip r:embed="rId22"/>
              <a:stretch>
                <a:fillRect/>
              </a:stretch>
            </p:blipFill>
            <p:spPr>
              <a:xfrm>
                <a:off x="7388280" y="4962600"/>
                <a:ext cx="19080" cy="19080"/>
              </a:xfrm>
              <a:prstGeom prst="rect">
                <a:avLst/>
              </a:prstGeom>
            </p:spPr>
          </p:pic>
        </mc:Fallback>
      </mc:AlternateContent>
    </p:spTree>
    <p:extLst>
      <p:ext uri="{BB962C8B-B14F-4D97-AF65-F5344CB8AC3E}">
        <p14:creationId xmlns:p14="http://schemas.microsoft.com/office/powerpoint/2010/main" val="243092751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367553" y="313765"/>
            <a:ext cx="10193816" cy="6401753"/>
          </a:xfrm>
          <a:prstGeom prst="rect">
            <a:avLst/>
          </a:prstGeom>
          <a:noFill/>
        </p:spPr>
        <p:txBody>
          <a:bodyPr wrap="none" rtlCol="0">
            <a:spAutoFit/>
          </a:bodyPr>
          <a:lstStyle/>
          <a:p>
            <a:r>
              <a:rPr lang="en-US" sz="1600" b="1" u="sng" dirty="0"/>
              <a:t>ADLS Gen2 Storage Account Creation:</a:t>
            </a:r>
          </a:p>
          <a:p>
            <a:r>
              <a:rPr lang="en-US" sz="1600" dirty="0"/>
              <a:t>Location Type (Regional/Dual/Multi) GCP = Location + SKU – Stock Keeping Unit (LRS/ZRS/GRS/GZRS)</a:t>
            </a:r>
          </a:p>
          <a:p>
            <a:r>
              <a:rPr lang="en-US" sz="1600" dirty="0" err="1">
                <a:solidFill>
                  <a:schemeClr val="accent1">
                    <a:lumMod val="75000"/>
                  </a:schemeClr>
                </a:solidFill>
              </a:rPr>
              <a:t>az</a:t>
            </a:r>
            <a:r>
              <a:rPr lang="en-US" sz="1600" dirty="0">
                <a:solidFill>
                  <a:schemeClr val="accent1">
                    <a:lumMod val="75000"/>
                  </a:schemeClr>
                </a:solidFill>
              </a:rPr>
              <a:t> storage account </a:t>
            </a:r>
            <a:r>
              <a:rPr lang="en-US" sz="1600" b="1" dirty="0">
                <a:solidFill>
                  <a:schemeClr val="accent1">
                    <a:lumMod val="75000"/>
                  </a:schemeClr>
                </a:solidFill>
              </a:rPr>
              <a:t>create</a:t>
            </a:r>
            <a:r>
              <a:rPr lang="en-US" sz="1600" dirty="0">
                <a:solidFill>
                  <a:schemeClr val="accent1">
                    <a:lumMod val="75000"/>
                  </a:schemeClr>
                </a:solidFill>
              </a:rPr>
              <a:t> --name </a:t>
            </a:r>
            <a:r>
              <a:rPr lang="en-US" sz="1600" b="1" dirty="0" err="1">
                <a:solidFill>
                  <a:schemeClr val="accent1">
                    <a:lumMod val="75000"/>
                  </a:schemeClr>
                </a:solidFill>
              </a:rPr>
              <a:t>izadlswe</a:t>
            </a:r>
            <a:r>
              <a:rPr lang="en-US" sz="1600" dirty="0">
                <a:solidFill>
                  <a:schemeClr val="accent1">
                    <a:lumMod val="75000"/>
                  </a:schemeClr>
                </a:solidFill>
              </a:rPr>
              <a:t> --resource-group </a:t>
            </a:r>
            <a:r>
              <a:rPr lang="en-US" sz="1600" b="1" dirty="0">
                <a:solidFill>
                  <a:schemeClr val="accent1">
                    <a:lumMod val="75000"/>
                  </a:schemeClr>
                </a:solidFill>
              </a:rPr>
              <a:t>we45-resourcegroup</a:t>
            </a:r>
            <a:r>
              <a:rPr lang="en-US" sz="1600" dirty="0">
                <a:solidFill>
                  <a:schemeClr val="accent1">
                    <a:lumMod val="75000"/>
                  </a:schemeClr>
                </a:solidFill>
              </a:rPr>
              <a:t> </a:t>
            </a:r>
            <a:r>
              <a:rPr lang="en-US" sz="1600" b="1" dirty="0">
                <a:solidFill>
                  <a:schemeClr val="accent1">
                    <a:lumMod val="75000"/>
                  </a:schemeClr>
                </a:solidFill>
              </a:rPr>
              <a:t>--location </a:t>
            </a:r>
            <a:r>
              <a:rPr lang="en-US" sz="1600" b="1" dirty="0" err="1">
                <a:solidFill>
                  <a:schemeClr val="accent1">
                    <a:lumMod val="75000"/>
                  </a:schemeClr>
                </a:solidFill>
              </a:rPr>
              <a:t>eastus</a:t>
            </a:r>
            <a:r>
              <a:rPr lang="en-US" sz="1600" dirty="0">
                <a:solidFill>
                  <a:schemeClr val="accent1">
                    <a:lumMod val="75000"/>
                  </a:schemeClr>
                </a:solidFill>
              </a:rPr>
              <a:t> --</a:t>
            </a:r>
            <a:r>
              <a:rPr lang="en-US" sz="1600" dirty="0" err="1">
                <a:solidFill>
                  <a:schemeClr val="accent1">
                    <a:lumMod val="75000"/>
                  </a:schemeClr>
                </a:solidFill>
              </a:rPr>
              <a:t>sku</a:t>
            </a:r>
            <a:r>
              <a:rPr lang="en-US" sz="1600" dirty="0">
                <a:solidFill>
                  <a:schemeClr val="accent1">
                    <a:lumMod val="75000"/>
                  </a:schemeClr>
                </a:solidFill>
              </a:rPr>
              <a:t> </a:t>
            </a:r>
            <a:r>
              <a:rPr lang="en-US" sz="1600" dirty="0" err="1">
                <a:solidFill>
                  <a:schemeClr val="accent1">
                    <a:lumMod val="75000"/>
                  </a:schemeClr>
                </a:solidFill>
              </a:rPr>
              <a:t>Standard_GRS</a:t>
            </a:r>
            <a:r>
              <a:rPr lang="en-US" sz="1600" dirty="0">
                <a:solidFill>
                  <a:schemeClr val="accent1">
                    <a:lumMod val="75000"/>
                  </a:schemeClr>
                </a:solidFill>
              </a:rPr>
              <a:t> \</a:t>
            </a:r>
          </a:p>
          <a:p>
            <a:r>
              <a:rPr lang="en-US" sz="1600" dirty="0">
                <a:solidFill>
                  <a:schemeClr val="accent1">
                    <a:lumMod val="75000"/>
                  </a:schemeClr>
                </a:solidFill>
              </a:rPr>
              <a:t>--access-tier Cool   </a:t>
            </a:r>
            <a:r>
              <a:rPr lang="en-US" sz="1600" b="1" dirty="0">
                <a:solidFill>
                  <a:srgbClr val="7030A0"/>
                </a:solidFill>
              </a:rPr>
              <a:t>--kind StorageV2 </a:t>
            </a:r>
            <a:r>
              <a:rPr lang="en-IN" sz="1600" b="1" dirty="0">
                <a:solidFill>
                  <a:srgbClr val="7030A0"/>
                </a:solidFill>
              </a:rPr>
              <a:t>--enable-hierarchical-namespace true</a:t>
            </a:r>
          </a:p>
          <a:p>
            <a:endParaRPr lang="en-US" sz="1600" b="1" u="sng" dirty="0"/>
          </a:p>
          <a:p>
            <a:r>
              <a:rPr lang="en-US" sz="1600" b="1" u="sng" dirty="0"/>
              <a:t>3. Check for the kind and hierarchical namespace enablement</a:t>
            </a:r>
          </a:p>
          <a:p>
            <a:r>
              <a:rPr lang="en-US" sz="1600" dirty="0" err="1">
                <a:solidFill>
                  <a:schemeClr val="accent1">
                    <a:lumMod val="75000"/>
                  </a:schemeClr>
                </a:solidFill>
              </a:rPr>
              <a:t>az</a:t>
            </a:r>
            <a:r>
              <a:rPr lang="en-US" sz="1600" dirty="0">
                <a:solidFill>
                  <a:schemeClr val="accent1">
                    <a:lumMod val="75000"/>
                  </a:schemeClr>
                </a:solidFill>
              </a:rPr>
              <a:t> storage account </a:t>
            </a:r>
            <a:r>
              <a:rPr lang="en-US" sz="1600" b="1" dirty="0">
                <a:solidFill>
                  <a:schemeClr val="accent1">
                    <a:lumMod val="75000"/>
                  </a:schemeClr>
                </a:solidFill>
              </a:rPr>
              <a:t>show</a:t>
            </a:r>
            <a:r>
              <a:rPr lang="en-US" sz="1600" dirty="0">
                <a:solidFill>
                  <a:schemeClr val="accent1">
                    <a:lumMod val="75000"/>
                  </a:schemeClr>
                </a:solidFill>
              </a:rPr>
              <a:t> --name </a:t>
            </a:r>
            <a:r>
              <a:rPr lang="en-US" sz="1600" b="1" dirty="0" err="1">
                <a:solidFill>
                  <a:schemeClr val="accent1">
                    <a:lumMod val="75000"/>
                  </a:schemeClr>
                </a:solidFill>
              </a:rPr>
              <a:t>izblobwe</a:t>
            </a:r>
            <a:r>
              <a:rPr lang="en-US" sz="1600" dirty="0">
                <a:solidFill>
                  <a:schemeClr val="accent1">
                    <a:lumMod val="75000"/>
                  </a:schemeClr>
                </a:solidFill>
              </a:rPr>
              <a:t> --resource-group </a:t>
            </a:r>
            <a:r>
              <a:rPr lang="en-US" sz="1600" b="1" dirty="0">
                <a:solidFill>
                  <a:schemeClr val="accent1">
                    <a:lumMod val="75000"/>
                  </a:schemeClr>
                </a:solidFill>
              </a:rPr>
              <a:t>we45-resourcegroup</a:t>
            </a:r>
            <a:r>
              <a:rPr lang="en-US" sz="1600" dirty="0">
                <a:solidFill>
                  <a:schemeClr val="accent1">
                    <a:lumMod val="75000"/>
                  </a:schemeClr>
                </a:solidFill>
              </a:rPr>
              <a:t> --output table</a:t>
            </a:r>
          </a:p>
          <a:p>
            <a:r>
              <a:rPr lang="en-US" sz="1600" dirty="0" err="1">
                <a:solidFill>
                  <a:schemeClr val="accent1">
                    <a:lumMod val="75000"/>
                  </a:schemeClr>
                </a:solidFill>
              </a:rPr>
              <a:t>az</a:t>
            </a:r>
            <a:r>
              <a:rPr lang="en-US" sz="1600" dirty="0">
                <a:solidFill>
                  <a:schemeClr val="accent1">
                    <a:lumMod val="75000"/>
                  </a:schemeClr>
                </a:solidFill>
              </a:rPr>
              <a:t> storage account show --name </a:t>
            </a:r>
            <a:r>
              <a:rPr lang="en-IN" sz="1600" dirty="0" err="1">
                <a:solidFill>
                  <a:schemeClr val="accent1">
                    <a:lumMod val="75000"/>
                  </a:schemeClr>
                </a:solidFill>
              </a:rPr>
              <a:t>izadlswe</a:t>
            </a:r>
            <a:r>
              <a:rPr lang="en-IN" sz="1600" dirty="0">
                <a:solidFill>
                  <a:schemeClr val="accent1">
                    <a:lumMod val="75000"/>
                  </a:schemeClr>
                </a:solidFill>
              </a:rPr>
              <a:t> </a:t>
            </a:r>
            <a:r>
              <a:rPr lang="en-US" sz="1600" dirty="0">
                <a:solidFill>
                  <a:schemeClr val="accent1">
                    <a:lumMod val="75000"/>
                  </a:schemeClr>
                </a:solidFill>
              </a:rPr>
              <a:t>--resource-group </a:t>
            </a:r>
            <a:r>
              <a:rPr lang="en-US" sz="1600" b="1" dirty="0">
                <a:solidFill>
                  <a:schemeClr val="accent1">
                    <a:lumMod val="75000"/>
                  </a:schemeClr>
                </a:solidFill>
              </a:rPr>
              <a:t>we45-resourcegroup</a:t>
            </a:r>
            <a:r>
              <a:rPr lang="en-US" sz="1600" dirty="0">
                <a:solidFill>
                  <a:schemeClr val="accent1">
                    <a:lumMod val="75000"/>
                  </a:schemeClr>
                </a:solidFill>
              </a:rPr>
              <a:t> --query "kind" --output table</a:t>
            </a:r>
          </a:p>
          <a:p>
            <a:endParaRPr lang="en-US" sz="1600" dirty="0">
              <a:solidFill>
                <a:schemeClr val="accent1">
                  <a:lumMod val="75000"/>
                </a:schemeClr>
              </a:solidFill>
            </a:endParaRPr>
          </a:p>
          <a:p>
            <a:r>
              <a:rPr lang="en-US" sz="1600" i="1" dirty="0"/>
              <a:t>#Check whether it is an blob or </a:t>
            </a:r>
            <a:r>
              <a:rPr lang="en-US" sz="1600" i="1" dirty="0" err="1"/>
              <a:t>adls</a:t>
            </a:r>
            <a:r>
              <a:rPr lang="en-US" sz="1600" i="1" dirty="0"/>
              <a:t> with hierarchical namespace enabled? </a:t>
            </a:r>
          </a:p>
          <a:p>
            <a:r>
              <a:rPr lang="en-US" sz="1600" dirty="0" err="1">
                <a:solidFill>
                  <a:schemeClr val="accent1">
                    <a:lumMod val="75000"/>
                  </a:schemeClr>
                </a:solidFill>
              </a:rPr>
              <a:t>az</a:t>
            </a:r>
            <a:r>
              <a:rPr lang="en-US" sz="1600" dirty="0">
                <a:solidFill>
                  <a:schemeClr val="accent1">
                    <a:lumMod val="75000"/>
                  </a:schemeClr>
                </a:solidFill>
              </a:rPr>
              <a:t> storage account show --name </a:t>
            </a:r>
            <a:r>
              <a:rPr lang="en-US" sz="1600" b="1" dirty="0" err="1">
                <a:solidFill>
                  <a:schemeClr val="accent1">
                    <a:lumMod val="75000"/>
                  </a:schemeClr>
                </a:solidFill>
              </a:rPr>
              <a:t>izblobwe</a:t>
            </a:r>
            <a:r>
              <a:rPr lang="en-US" sz="1600" dirty="0">
                <a:solidFill>
                  <a:schemeClr val="accent1">
                    <a:lumMod val="75000"/>
                  </a:schemeClr>
                </a:solidFill>
              </a:rPr>
              <a:t> --resource-group </a:t>
            </a:r>
            <a:r>
              <a:rPr lang="en-US" sz="1600" b="1" dirty="0">
                <a:solidFill>
                  <a:schemeClr val="accent1">
                    <a:lumMod val="75000"/>
                  </a:schemeClr>
                </a:solidFill>
              </a:rPr>
              <a:t>we45-resourcegroup</a:t>
            </a:r>
            <a:r>
              <a:rPr lang="en-US" sz="1600" dirty="0">
                <a:solidFill>
                  <a:schemeClr val="accent1">
                    <a:lumMod val="75000"/>
                  </a:schemeClr>
                </a:solidFill>
              </a:rPr>
              <a:t> \</a:t>
            </a:r>
          </a:p>
          <a:p>
            <a:r>
              <a:rPr lang="en-US" sz="1600" dirty="0">
                <a:solidFill>
                  <a:schemeClr val="accent1">
                    <a:lumMod val="75000"/>
                  </a:schemeClr>
                </a:solidFill>
              </a:rPr>
              <a:t>--query "</a:t>
            </a:r>
            <a:r>
              <a:rPr lang="en-IN" sz="1600" dirty="0">
                <a:solidFill>
                  <a:schemeClr val="accent1">
                    <a:lumMod val="75000"/>
                  </a:schemeClr>
                </a:solidFill>
              </a:rPr>
              <a:t>{kind: kind, </a:t>
            </a:r>
            <a:r>
              <a:rPr lang="en-IN" sz="1600" dirty="0" err="1">
                <a:solidFill>
                  <a:schemeClr val="accent1">
                    <a:lumMod val="75000"/>
                  </a:schemeClr>
                </a:solidFill>
              </a:rPr>
              <a:t>isHnsEnabled</a:t>
            </a:r>
            <a:r>
              <a:rPr lang="en-IN" sz="1600" dirty="0">
                <a:solidFill>
                  <a:schemeClr val="accent1">
                    <a:lumMod val="75000"/>
                  </a:schemeClr>
                </a:solidFill>
              </a:rPr>
              <a:t>: </a:t>
            </a:r>
            <a:r>
              <a:rPr lang="en-IN" sz="1600" dirty="0" err="1">
                <a:solidFill>
                  <a:schemeClr val="accent1">
                    <a:lumMod val="75000"/>
                  </a:schemeClr>
                </a:solidFill>
              </a:rPr>
              <a:t>isHnsEnabled</a:t>
            </a:r>
            <a:r>
              <a:rPr lang="en-IN" sz="1600" dirty="0">
                <a:solidFill>
                  <a:schemeClr val="accent1">
                    <a:lumMod val="75000"/>
                  </a:schemeClr>
                </a:solidFill>
              </a:rPr>
              <a:t>}</a:t>
            </a:r>
            <a:r>
              <a:rPr lang="en-US" sz="1600" dirty="0">
                <a:solidFill>
                  <a:schemeClr val="accent1">
                    <a:lumMod val="75000"/>
                  </a:schemeClr>
                </a:solidFill>
              </a:rPr>
              <a:t>" --output table</a:t>
            </a:r>
          </a:p>
          <a:p>
            <a:r>
              <a:rPr lang="en-US" sz="1600" dirty="0" err="1">
                <a:solidFill>
                  <a:schemeClr val="accent1">
                    <a:lumMod val="75000"/>
                  </a:schemeClr>
                </a:solidFill>
              </a:rPr>
              <a:t>az</a:t>
            </a:r>
            <a:r>
              <a:rPr lang="en-US" sz="1600" dirty="0">
                <a:solidFill>
                  <a:schemeClr val="accent1">
                    <a:lumMod val="75000"/>
                  </a:schemeClr>
                </a:solidFill>
              </a:rPr>
              <a:t> storage account show --name </a:t>
            </a:r>
            <a:r>
              <a:rPr lang="en-IN" sz="1600" dirty="0" err="1">
                <a:solidFill>
                  <a:schemeClr val="accent1">
                    <a:lumMod val="75000"/>
                  </a:schemeClr>
                </a:solidFill>
              </a:rPr>
              <a:t>izadlswe</a:t>
            </a:r>
            <a:r>
              <a:rPr lang="en-IN" sz="1600" dirty="0">
                <a:solidFill>
                  <a:schemeClr val="accent1">
                    <a:lumMod val="75000"/>
                  </a:schemeClr>
                </a:solidFill>
              </a:rPr>
              <a:t> </a:t>
            </a:r>
            <a:r>
              <a:rPr lang="en-US" sz="1600" dirty="0">
                <a:solidFill>
                  <a:schemeClr val="accent1">
                    <a:lumMod val="75000"/>
                  </a:schemeClr>
                </a:solidFill>
              </a:rPr>
              <a:t>--resource-group </a:t>
            </a:r>
            <a:r>
              <a:rPr lang="en-US" sz="1600" b="1" dirty="0">
                <a:solidFill>
                  <a:schemeClr val="accent1">
                    <a:lumMod val="75000"/>
                  </a:schemeClr>
                </a:solidFill>
              </a:rPr>
              <a:t>we45-resourcegroup</a:t>
            </a:r>
            <a:r>
              <a:rPr lang="en-US" sz="1600" dirty="0">
                <a:solidFill>
                  <a:schemeClr val="accent1">
                    <a:lumMod val="75000"/>
                  </a:schemeClr>
                </a:solidFill>
              </a:rPr>
              <a:t> \</a:t>
            </a:r>
          </a:p>
          <a:p>
            <a:r>
              <a:rPr lang="en-US" sz="1600" dirty="0">
                <a:solidFill>
                  <a:schemeClr val="accent1">
                    <a:lumMod val="75000"/>
                  </a:schemeClr>
                </a:solidFill>
              </a:rPr>
              <a:t>--query "</a:t>
            </a:r>
            <a:r>
              <a:rPr lang="en-IN" sz="1600" dirty="0">
                <a:solidFill>
                  <a:schemeClr val="accent1">
                    <a:lumMod val="75000"/>
                  </a:schemeClr>
                </a:solidFill>
              </a:rPr>
              <a:t>{kind: kind, </a:t>
            </a:r>
            <a:r>
              <a:rPr lang="en-IN" sz="1600" dirty="0" err="1">
                <a:solidFill>
                  <a:schemeClr val="accent1">
                    <a:lumMod val="75000"/>
                  </a:schemeClr>
                </a:solidFill>
              </a:rPr>
              <a:t>isHnsEnabled</a:t>
            </a:r>
            <a:r>
              <a:rPr lang="en-IN" sz="1600" dirty="0">
                <a:solidFill>
                  <a:schemeClr val="accent1">
                    <a:lumMod val="75000"/>
                  </a:schemeClr>
                </a:solidFill>
              </a:rPr>
              <a:t>: </a:t>
            </a:r>
            <a:r>
              <a:rPr lang="en-IN" sz="1600" dirty="0" err="1">
                <a:solidFill>
                  <a:schemeClr val="accent1">
                    <a:lumMod val="75000"/>
                  </a:schemeClr>
                </a:solidFill>
              </a:rPr>
              <a:t>isHnsEnabled</a:t>
            </a:r>
            <a:r>
              <a:rPr lang="en-IN" sz="1600" dirty="0">
                <a:solidFill>
                  <a:schemeClr val="accent1">
                    <a:lumMod val="75000"/>
                  </a:schemeClr>
                </a:solidFill>
              </a:rPr>
              <a:t>}</a:t>
            </a:r>
            <a:r>
              <a:rPr lang="en-US" sz="1600" dirty="0">
                <a:solidFill>
                  <a:schemeClr val="accent1">
                    <a:lumMod val="75000"/>
                  </a:schemeClr>
                </a:solidFill>
              </a:rPr>
              <a:t>" --output table</a:t>
            </a:r>
          </a:p>
          <a:p>
            <a:endParaRPr lang="en-US" sz="1600" b="1" u="sng" dirty="0"/>
          </a:p>
          <a:p>
            <a:r>
              <a:rPr lang="en-US" sz="1600" b="1" u="sng" dirty="0"/>
              <a:t>4. Delete the Storage Account</a:t>
            </a:r>
          </a:p>
          <a:p>
            <a:r>
              <a:rPr lang="en-US" sz="1600" strike="sngStrike" dirty="0" err="1">
                <a:solidFill>
                  <a:schemeClr val="accent1">
                    <a:lumMod val="75000"/>
                  </a:schemeClr>
                </a:solidFill>
              </a:rPr>
              <a:t>az</a:t>
            </a:r>
            <a:r>
              <a:rPr lang="en-US" sz="1600" strike="sngStrike" dirty="0">
                <a:solidFill>
                  <a:schemeClr val="accent1">
                    <a:lumMod val="75000"/>
                  </a:schemeClr>
                </a:solidFill>
              </a:rPr>
              <a:t> storage account </a:t>
            </a:r>
            <a:r>
              <a:rPr lang="en-US" sz="1600" b="1" strike="sngStrike" dirty="0">
                <a:solidFill>
                  <a:schemeClr val="accent1">
                    <a:lumMod val="75000"/>
                  </a:schemeClr>
                </a:solidFill>
              </a:rPr>
              <a:t>delete</a:t>
            </a:r>
            <a:r>
              <a:rPr lang="en-US" sz="1600" strike="sngStrike" dirty="0">
                <a:solidFill>
                  <a:schemeClr val="accent1">
                    <a:lumMod val="75000"/>
                  </a:schemeClr>
                </a:solidFill>
              </a:rPr>
              <a:t> --name izdatalakegen2 --resource-group </a:t>
            </a:r>
            <a:r>
              <a:rPr lang="en-IN" sz="1600" strike="sngStrike" dirty="0">
                <a:solidFill>
                  <a:schemeClr val="accent1">
                    <a:lumMod val="75000"/>
                  </a:schemeClr>
                </a:solidFill>
              </a:rPr>
              <a:t>we45-resourcegroup</a:t>
            </a:r>
            <a:r>
              <a:rPr lang="en-US" sz="1600" strike="sngStrike" dirty="0">
                <a:solidFill>
                  <a:schemeClr val="accent1">
                    <a:lumMod val="75000"/>
                  </a:schemeClr>
                </a:solidFill>
              </a:rPr>
              <a:t> --yes</a:t>
            </a:r>
          </a:p>
          <a:p>
            <a:endParaRPr lang="en-US" sz="1600" b="1" u="sng" dirty="0">
              <a:ln w="10541" cmpd="sng">
                <a:solidFill>
                  <a:srgbClr val="7D7D7D">
                    <a:tint val="100000"/>
                    <a:shade val="100000"/>
                    <a:satMod val="110000"/>
                  </a:srgbClr>
                </a:solidFill>
                <a:prstDash val="solid"/>
              </a:ln>
            </a:endParaRPr>
          </a:p>
          <a:p>
            <a:r>
              <a:rPr lang="en-US" sz="1600" b="1" u="sng" dirty="0"/>
              <a:t>Container creation/management Commands</a:t>
            </a:r>
          </a:p>
          <a:p>
            <a:endParaRPr lang="en-US" sz="1600" b="1" u="sng" dirty="0">
              <a:ln w="10541" cmpd="sng">
                <a:solidFill>
                  <a:srgbClr val="7D7D7D">
                    <a:tint val="100000"/>
                    <a:shade val="100000"/>
                    <a:satMod val="110000"/>
                  </a:srgbClr>
                </a:solidFill>
                <a:prstDash val="solid"/>
              </a:ln>
            </a:endParaRPr>
          </a:p>
          <a:p>
            <a:r>
              <a:rPr lang="en-IN" sz="1600" b="1" u="sng" dirty="0"/>
              <a:t>5. Create containers = Make Bucket Commands:</a:t>
            </a:r>
          </a:p>
          <a:p>
            <a:r>
              <a:rPr lang="en-US" sz="1600" dirty="0" err="1">
                <a:solidFill>
                  <a:schemeClr val="accent1">
                    <a:lumMod val="75000"/>
                  </a:schemeClr>
                </a:solidFill>
              </a:rPr>
              <a:t>az</a:t>
            </a:r>
            <a:r>
              <a:rPr lang="en-US" sz="1600" dirty="0">
                <a:solidFill>
                  <a:schemeClr val="accent1">
                    <a:lumMod val="75000"/>
                  </a:schemeClr>
                </a:solidFill>
              </a:rPr>
              <a:t> storage fs </a:t>
            </a:r>
            <a:r>
              <a:rPr lang="en-US" sz="1600" b="1" dirty="0">
                <a:solidFill>
                  <a:schemeClr val="accent1">
                    <a:lumMod val="75000"/>
                  </a:schemeClr>
                </a:solidFill>
              </a:rPr>
              <a:t>create --name container1 </a:t>
            </a:r>
            <a:r>
              <a:rPr lang="en-US" sz="1600" dirty="0">
                <a:solidFill>
                  <a:schemeClr val="accent1">
                    <a:lumMod val="75000"/>
                  </a:schemeClr>
                </a:solidFill>
              </a:rPr>
              <a:t>--account-name </a:t>
            </a:r>
            <a:r>
              <a:rPr lang="en-US" sz="1600" b="1" dirty="0" err="1">
                <a:solidFill>
                  <a:schemeClr val="accent1">
                    <a:lumMod val="75000"/>
                  </a:schemeClr>
                </a:solidFill>
              </a:rPr>
              <a:t>izblobwe</a:t>
            </a:r>
            <a:r>
              <a:rPr lang="en-US" sz="1600" dirty="0">
                <a:solidFill>
                  <a:schemeClr val="accent1">
                    <a:lumMod val="75000"/>
                  </a:schemeClr>
                </a:solidFill>
              </a:rPr>
              <a:t> </a:t>
            </a:r>
          </a:p>
          <a:p>
            <a:r>
              <a:rPr lang="en-US" sz="1600" dirty="0" err="1">
                <a:solidFill>
                  <a:schemeClr val="accent1">
                    <a:lumMod val="75000"/>
                  </a:schemeClr>
                </a:solidFill>
              </a:rPr>
              <a:t>az</a:t>
            </a:r>
            <a:r>
              <a:rPr lang="en-US" sz="1600" dirty="0">
                <a:solidFill>
                  <a:schemeClr val="accent1">
                    <a:lumMod val="75000"/>
                  </a:schemeClr>
                </a:solidFill>
              </a:rPr>
              <a:t> storage fs </a:t>
            </a:r>
            <a:r>
              <a:rPr lang="en-US" sz="1600" b="1" dirty="0">
                <a:solidFill>
                  <a:schemeClr val="accent1">
                    <a:lumMod val="75000"/>
                  </a:schemeClr>
                </a:solidFill>
              </a:rPr>
              <a:t>create --name container2 </a:t>
            </a:r>
            <a:r>
              <a:rPr lang="en-US" sz="1600" dirty="0">
                <a:solidFill>
                  <a:schemeClr val="accent1">
                    <a:lumMod val="75000"/>
                  </a:schemeClr>
                </a:solidFill>
              </a:rPr>
              <a:t>--account-name </a:t>
            </a:r>
            <a:r>
              <a:rPr lang="en-IN" sz="1600" b="1" dirty="0" err="1">
                <a:solidFill>
                  <a:schemeClr val="accent1">
                    <a:lumMod val="75000"/>
                  </a:schemeClr>
                </a:solidFill>
              </a:rPr>
              <a:t>izadlswe</a:t>
            </a:r>
            <a:endParaRPr lang="en-IN" sz="1600" b="1" dirty="0">
              <a:solidFill>
                <a:schemeClr val="accent1">
                  <a:lumMod val="75000"/>
                </a:schemeClr>
              </a:solidFill>
            </a:endParaRPr>
          </a:p>
          <a:p>
            <a:endParaRPr lang="en-US" sz="1400" dirty="0">
              <a:solidFill>
                <a:srgbClr val="0070C0"/>
              </a:solidFill>
            </a:endParaRPr>
          </a:p>
          <a:p>
            <a:r>
              <a:rPr lang="en-US" sz="1400" dirty="0" err="1">
                <a:solidFill>
                  <a:srgbClr val="0070C0"/>
                </a:solidFill>
              </a:rPr>
              <a:t>az</a:t>
            </a:r>
            <a:r>
              <a:rPr lang="en-US" sz="1400" dirty="0">
                <a:solidFill>
                  <a:srgbClr val="0070C0"/>
                </a:solidFill>
              </a:rPr>
              <a:t> storage account show --name </a:t>
            </a:r>
            <a:r>
              <a:rPr lang="en-US" sz="1400" b="1" dirty="0" err="1">
                <a:solidFill>
                  <a:schemeClr val="accent1">
                    <a:lumMod val="75000"/>
                  </a:schemeClr>
                </a:solidFill>
              </a:rPr>
              <a:t>izblobwe</a:t>
            </a:r>
            <a:r>
              <a:rPr lang="en-US" sz="1400" dirty="0">
                <a:solidFill>
                  <a:schemeClr val="accent1">
                    <a:lumMod val="75000"/>
                  </a:schemeClr>
                </a:solidFill>
              </a:rPr>
              <a:t> </a:t>
            </a:r>
            <a:r>
              <a:rPr lang="en-US" sz="1400" dirty="0">
                <a:solidFill>
                  <a:srgbClr val="0070C0"/>
                </a:solidFill>
              </a:rPr>
              <a:t>--resource-group we45-resourcegroup --output table</a:t>
            </a:r>
          </a:p>
          <a:p>
            <a:r>
              <a:rPr lang="en-US" sz="1400" dirty="0" err="1">
                <a:solidFill>
                  <a:srgbClr val="0070C0"/>
                </a:solidFill>
              </a:rPr>
              <a:t>az</a:t>
            </a:r>
            <a:r>
              <a:rPr lang="en-US" sz="1400" dirty="0">
                <a:solidFill>
                  <a:srgbClr val="0070C0"/>
                </a:solidFill>
              </a:rPr>
              <a:t> storage fs </a:t>
            </a:r>
            <a:r>
              <a:rPr lang="en-US" sz="1400" b="1" dirty="0">
                <a:solidFill>
                  <a:srgbClr val="0070C0"/>
                </a:solidFill>
              </a:rPr>
              <a:t>list</a:t>
            </a:r>
            <a:r>
              <a:rPr lang="en-US" sz="1400" dirty="0">
                <a:solidFill>
                  <a:srgbClr val="0070C0"/>
                </a:solidFill>
              </a:rPr>
              <a:t> --account-name </a:t>
            </a:r>
            <a:r>
              <a:rPr lang="en-IN" sz="1400" dirty="0" err="1">
                <a:hlinkClick r:id="rId3"/>
              </a:rPr>
              <a:t>izadlswe</a:t>
            </a:r>
            <a:r>
              <a:rPr lang="en-US" sz="1400" dirty="0">
                <a:solidFill>
                  <a:srgbClr val="0070C0"/>
                </a:solidFill>
              </a:rPr>
              <a:t> --output table</a:t>
            </a: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3168720" y="1816200"/>
              <a:ext cx="831960" cy="12960"/>
            </p14:xfrm>
          </p:contentPart>
        </mc:Choice>
        <mc:Fallback xmlns="">
          <p:pic>
            <p:nvPicPr>
              <p:cNvPr id="2" name="Ink 1"/>
              <p:cNvPicPr/>
              <p:nvPr/>
            </p:nvPicPr>
            <p:blipFill>
              <a:blip r:embed="rId5"/>
              <a:stretch>
                <a:fillRect/>
              </a:stretch>
            </p:blipFill>
            <p:spPr>
              <a:xfrm>
                <a:off x="3159360" y="1806840"/>
                <a:ext cx="850680" cy="31680"/>
              </a:xfrm>
              <a:prstGeom prst="rect">
                <a:avLst/>
              </a:prstGeom>
            </p:spPr>
          </p:pic>
        </mc:Fallback>
      </mc:AlternateContent>
    </p:spTree>
    <p:extLst>
      <p:ext uri="{BB962C8B-B14F-4D97-AF65-F5344CB8AC3E}">
        <p14:creationId xmlns:p14="http://schemas.microsoft.com/office/powerpoint/2010/main" val="2692320460"/>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a:t>AZ Storage Account &amp; Containers</a:t>
            </a:r>
          </a:p>
        </p:txBody>
      </p:sp>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7505640" y="882720"/>
              <a:ext cx="1118160" cy="1943280"/>
            </p14:xfrm>
          </p:contentPart>
        </mc:Choice>
        <mc:Fallback xmlns="">
          <p:pic>
            <p:nvPicPr>
              <p:cNvPr id="6" name="Ink 5"/>
              <p:cNvPicPr/>
              <p:nvPr/>
            </p:nvPicPr>
            <p:blipFill>
              <a:blip r:embed="rId9"/>
              <a:stretch>
                <a:fillRect/>
              </a:stretch>
            </p:blipFill>
            <p:spPr>
              <a:xfrm>
                <a:off x="7496280" y="873360"/>
                <a:ext cx="1136880" cy="1962000"/>
              </a:xfrm>
              <a:prstGeom prst="rect">
                <a:avLst/>
              </a:prstGeom>
            </p:spPr>
          </p:pic>
        </mc:Fallback>
      </mc:AlternateContent>
      <p:sp>
        <p:nvSpPr>
          <p:cNvPr id="10" name="Rectangle 9"/>
          <p:cNvSpPr/>
          <p:nvPr/>
        </p:nvSpPr>
        <p:spPr>
          <a:xfrm>
            <a:off x="0" y="551846"/>
            <a:ext cx="12066278" cy="6124754"/>
          </a:xfrm>
          <a:prstGeom prst="rect">
            <a:avLst/>
          </a:prstGeom>
          <a:noFill/>
        </p:spPr>
        <p:txBody>
          <a:bodyPr wrap="square" lIns="91440" tIns="45720" rIns="91440" bIns="45720">
            <a:spAutoFit/>
          </a:bodyPr>
          <a:lstStyle/>
          <a:p>
            <a:r>
              <a:rPr lang="en-IN" sz="1200" b="1" u="sng" dirty="0"/>
              <a:t># Create a Directory in Data Lake Storage Gen2</a:t>
            </a:r>
          </a:p>
          <a:p>
            <a:r>
              <a:rPr lang="en-US" sz="1200" b="1" i="1" u="sng" dirty="0" err="1"/>
              <a:t>Note:</a:t>
            </a:r>
            <a:r>
              <a:rPr lang="en-US" sz="1200" i="1" dirty="0" err="1"/>
              <a:t>In</a:t>
            </a:r>
            <a:r>
              <a:rPr lang="en-US" sz="1200" i="1" dirty="0"/>
              <a:t> the blob container the below directory will be created as an object of </a:t>
            </a:r>
            <a:r>
              <a:rPr lang="en-US" sz="1200" i="1" dirty="0" err="1"/>
              <a:t>zerobyte</a:t>
            </a:r>
            <a:r>
              <a:rPr lang="en-US" sz="1200" i="1" dirty="0"/>
              <a:t>, whereas in the </a:t>
            </a:r>
            <a:r>
              <a:rPr lang="en-US" sz="1200" i="1" dirty="0" err="1"/>
              <a:t>adls</a:t>
            </a:r>
            <a:r>
              <a:rPr lang="en-US" sz="1200" i="1" dirty="0"/>
              <a:t> it is literally created as directory since it is </a:t>
            </a:r>
            <a:r>
              <a:rPr lang="en-US" sz="1200" i="1" dirty="0" err="1"/>
              <a:t>adls</a:t>
            </a:r>
            <a:r>
              <a:rPr lang="en-US" sz="1200" i="1" dirty="0"/>
              <a:t> with hierarchical namespace enabled.</a:t>
            </a:r>
            <a:endParaRPr lang="en-IN" sz="1200" i="1" dirty="0"/>
          </a:p>
          <a:p>
            <a:r>
              <a:rPr lang="en-IN" sz="1200" dirty="0" err="1">
                <a:solidFill>
                  <a:srgbClr val="0070C0"/>
                </a:solidFill>
              </a:rPr>
              <a:t>az</a:t>
            </a:r>
            <a:r>
              <a:rPr lang="en-IN" sz="1200" dirty="0">
                <a:solidFill>
                  <a:srgbClr val="0070C0"/>
                </a:solidFill>
              </a:rPr>
              <a:t> storage fs </a:t>
            </a:r>
            <a:r>
              <a:rPr lang="en-IN" sz="1200" b="1" dirty="0">
                <a:solidFill>
                  <a:srgbClr val="0070C0"/>
                </a:solidFill>
              </a:rPr>
              <a:t>directory create </a:t>
            </a:r>
            <a:r>
              <a:rPr lang="en-IN" sz="1200" dirty="0">
                <a:solidFill>
                  <a:srgbClr val="0070C0"/>
                </a:solidFill>
              </a:rPr>
              <a:t>-n </a:t>
            </a:r>
            <a:r>
              <a:rPr lang="en-IN" sz="1200" dirty="0" err="1">
                <a:solidFill>
                  <a:srgbClr val="0070C0"/>
                </a:solidFill>
              </a:rPr>
              <a:t>sampledir</a:t>
            </a:r>
            <a:r>
              <a:rPr lang="en-IN" sz="1200" dirty="0">
                <a:solidFill>
                  <a:srgbClr val="0070C0"/>
                </a:solidFill>
              </a:rPr>
              <a:t> --file-system container1 --account-name </a:t>
            </a:r>
            <a:r>
              <a:rPr lang="en-US" sz="1200" b="1" dirty="0" err="1">
                <a:solidFill>
                  <a:schemeClr val="accent1">
                    <a:lumMod val="75000"/>
                  </a:schemeClr>
                </a:solidFill>
              </a:rPr>
              <a:t>izblobwe</a:t>
            </a:r>
            <a:endParaRPr lang="en-IN" sz="1200" dirty="0">
              <a:solidFill>
                <a:srgbClr val="0070C0"/>
              </a:solidFill>
            </a:endParaRPr>
          </a:p>
          <a:p>
            <a:r>
              <a:rPr lang="en-IN" sz="1200" dirty="0" err="1">
                <a:solidFill>
                  <a:srgbClr val="0070C0"/>
                </a:solidFill>
              </a:rPr>
              <a:t>az</a:t>
            </a:r>
            <a:r>
              <a:rPr lang="en-IN" sz="1200" dirty="0">
                <a:solidFill>
                  <a:srgbClr val="0070C0"/>
                </a:solidFill>
              </a:rPr>
              <a:t> storage fs </a:t>
            </a:r>
            <a:r>
              <a:rPr lang="en-IN" sz="1200" b="1" dirty="0">
                <a:solidFill>
                  <a:srgbClr val="0070C0"/>
                </a:solidFill>
              </a:rPr>
              <a:t>directory create </a:t>
            </a:r>
            <a:r>
              <a:rPr lang="en-IN" sz="1200" dirty="0">
                <a:solidFill>
                  <a:srgbClr val="0070C0"/>
                </a:solidFill>
              </a:rPr>
              <a:t>-n </a:t>
            </a:r>
            <a:r>
              <a:rPr lang="en-IN" sz="1200" dirty="0" err="1">
                <a:solidFill>
                  <a:srgbClr val="0070C0"/>
                </a:solidFill>
              </a:rPr>
              <a:t>sampledir</a:t>
            </a:r>
            <a:r>
              <a:rPr lang="en-IN" sz="1200" dirty="0">
                <a:solidFill>
                  <a:srgbClr val="0070C0"/>
                </a:solidFill>
              </a:rPr>
              <a:t> --file-system container2 --account-name </a:t>
            </a:r>
            <a:r>
              <a:rPr lang="en-IN" sz="1200" dirty="0" err="1">
                <a:solidFill>
                  <a:schemeClr val="accent1">
                    <a:lumMod val="75000"/>
                  </a:schemeClr>
                </a:solidFill>
              </a:rPr>
              <a:t>izadlswe</a:t>
            </a:r>
            <a:r>
              <a:rPr lang="en-IN" sz="1200" dirty="0">
                <a:solidFill>
                  <a:schemeClr val="accent1">
                    <a:lumMod val="75000"/>
                  </a:schemeClr>
                </a:solidFill>
              </a:rPr>
              <a:t> </a:t>
            </a:r>
            <a:endParaRPr lang="en-IN" sz="1200" dirty="0">
              <a:solidFill>
                <a:srgbClr val="0070C0"/>
              </a:solidFill>
            </a:endParaRPr>
          </a:p>
          <a:p>
            <a:endParaRPr lang="en-US" sz="1200" b="1" u="sng" dirty="0">
              <a:ln w="10541" cmpd="sng">
                <a:solidFill>
                  <a:srgbClr val="7D7D7D">
                    <a:tint val="100000"/>
                    <a:shade val="100000"/>
                    <a:satMod val="110000"/>
                  </a:srgbClr>
                </a:solidFill>
                <a:prstDash val="solid"/>
              </a:ln>
            </a:endParaRPr>
          </a:p>
          <a:p>
            <a:r>
              <a:rPr lang="en-US" sz="1200" dirty="0" err="1">
                <a:solidFill>
                  <a:srgbClr val="0070C0"/>
                </a:solidFill>
              </a:rPr>
              <a:t>az</a:t>
            </a:r>
            <a:r>
              <a:rPr lang="en-US" sz="1200" dirty="0">
                <a:solidFill>
                  <a:srgbClr val="0070C0"/>
                </a:solidFill>
              </a:rPr>
              <a:t> storage fs list --account-name </a:t>
            </a:r>
            <a:r>
              <a:rPr lang="en-IN" sz="1200" dirty="0" err="1">
                <a:solidFill>
                  <a:srgbClr val="0070C0"/>
                </a:solidFill>
              </a:rPr>
              <a:t>izblobwe</a:t>
            </a:r>
            <a:r>
              <a:rPr lang="en-US" sz="1200" dirty="0">
                <a:solidFill>
                  <a:srgbClr val="0070C0"/>
                </a:solidFill>
              </a:rPr>
              <a:t> --output table</a:t>
            </a:r>
          </a:p>
          <a:p>
            <a:r>
              <a:rPr lang="en-US" sz="1200" dirty="0" err="1">
                <a:solidFill>
                  <a:srgbClr val="0070C0"/>
                </a:solidFill>
              </a:rPr>
              <a:t>az</a:t>
            </a:r>
            <a:r>
              <a:rPr lang="en-US" sz="1200" dirty="0">
                <a:solidFill>
                  <a:srgbClr val="0070C0"/>
                </a:solidFill>
              </a:rPr>
              <a:t> storage fs </a:t>
            </a:r>
            <a:r>
              <a:rPr lang="en-US" sz="1200" b="1" dirty="0">
                <a:solidFill>
                  <a:srgbClr val="0070C0"/>
                </a:solidFill>
              </a:rPr>
              <a:t>list</a:t>
            </a:r>
            <a:r>
              <a:rPr lang="en-US" sz="1200" dirty="0">
                <a:solidFill>
                  <a:srgbClr val="0070C0"/>
                </a:solidFill>
              </a:rPr>
              <a:t> --account-name </a:t>
            </a:r>
            <a:r>
              <a:rPr lang="en-IN" sz="1200" dirty="0" err="1">
                <a:hlinkClick r:id="rId10"/>
              </a:rPr>
              <a:t>izadlswe</a:t>
            </a:r>
            <a:r>
              <a:rPr lang="en-US" sz="1200" dirty="0">
                <a:solidFill>
                  <a:srgbClr val="0070C0"/>
                </a:solidFill>
              </a:rPr>
              <a:t> --output table</a:t>
            </a:r>
          </a:p>
          <a:p>
            <a:endParaRPr lang="en-IN" sz="1200" b="1" u="sng" dirty="0"/>
          </a:p>
          <a:p>
            <a:r>
              <a:rPr lang="en-IN" sz="1200" b="1" u="sng" dirty="0"/>
              <a:t># Copy a Directory into Data Lake Storage Gen2 container</a:t>
            </a:r>
            <a:endParaRPr lang="en-US" sz="1200" b="1" u="sng" dirty="0">
              <a:ln w="10541" cmpd="sng">
                <a:solidFill>
                  <a:srgbClr val="7D7D7D">
                    <a:tint val="100000"/>
                    <a:shade val="100000"/>
                    <a:satMod val="110000"/>
                  </a:srgbClr>
                </a:solidFill>
                <a:prstDash val="solid"/>
              </a:ln>
            </a:endParaRPr>
          </a:p>
          <a:p>
            <a:r>
              <a:rPr lang="en-US" sz="1200" dirty="0" err="1">
                <a:solidFill>
                  <a:srgbClr val="0070C0"/>
                </a:solidFill>
              </a:rPr>
              <a:t>mkdir</a:t>
            </a:r>
            <a:r>
              <a:rPr lang="en-US" sz="1200" dirty="0">
                <a:solidFill>
                  <a:srgbClr val="0070C0"/>
                </a:solidFill>
              </a:rPr>
              <a:t> </a:t>
            </a:r>
            <a:r>
              <a:rPr lang="en-US" sz="1200" dirty="0" err="1">
                <a:solidFill>
                  <a:srgbClr val="0070C0"/>
                </a:solidFill>
              </a:rPr>
              <a:t>localdir</a:t>
            </a:r>
            <a:endParaRPr lang="en-US" sz="1200" dirty="0">
              <a:solidFill>
                <a:srgbClr val="0070C0"/>
              </a:solidFill>
            </a:endParaRPr>
          </a:p>
          <a:p>
            <a:r>
              <a:rPr lang="en-US" sz="1200" dirty="0">
                <a:solidFill>
                  <a:srgbClr val="0070C0"/>
                </a:solidFill>
              </a:rPr>
              <a:t>echo </a:t>
            </a:r>
            <a:r>
              <a:rPr lang="en-US" sz="1200" dirty="0" err="1">
                <a:solidFill>
                  <a:srgbClr val="0070C0"/>
                </a:solidFill>
              </a:rPr>
              <a:t>sampledata</a:t>
            </a:r>
            <a:r>
              <a:rPr lang="en-US" sz="1200" dirty="0">
                <a:solidFill>
                  <a:srgbClr val="0070C0"/>
                </a:solidFill>
              </a:rPr>
              <a:t>&gt;</a:t>
            </a:r>
            <a:r>
              <a:rPr lang="en-US" sz="1200" dirty="0" err="1">
                <a:solidFill>
                  <a:srgbClr val="0070C0"/>
                </a:solidFill>
              </a:rPr>
              <a:t>localdir</a:t>
            </a:r>
            <a:r>
              <a:rPr lang="en-US" sz="1200" dirty="0">
                <a:solidFill>
                  <a:srgbClr val="0070C0"/>
                </a:solidFill>
              </a:rPr>
              <a:t>/</a:t>
            </a:r>
            <a:r>
              <a:rPr lang="en-US" sz="1200" dirty="0" err="1">
                <a:solidFill>
                  <a:srgbClr val="0070C0"/>
                </a:solidFill>
              </a:rPr>
              <a:t>samplefile</a:t>
            </a:r>
            <a:endParaRPr lang="en-US" sz="1200" dirty="0">
              <a:solidFill>
                <a:srgbClr val="0070C0"/>
              </a:solidFill>
            </a:endParaRPr>
          </a:p>
          <a:p>
            <a:r>
              <a:rPr lang="en-US" sz="1200" b="1" dirty="0"/>
              <a:t>#copy file</a:t>
            </a:r>
            <a:endParaRPr lang="en-IN" sz="1200" b="1" dirty="0"/>
          </a:p>
          <a:p>
            <a:r>
              <a:rPr lang="en-IN" sz="1100" strike="sngStrike" dirty="0" err="1">
                <a:solidFill>
                  <a:srgbClr val="0070C0"/>
                </a:solidFill>
              </a:rPr>
              <a:t>az</a:t>
            </a:r>
            <a:r>
              <a:rPr lang="en-IN" sz="1100" strike="sngStrike" dirty="0">
                <a:solidFill>
                  <a:srgbClr val="0070C0"/>
                </a:solidFill>
              </a:rPr>
              <a:t> </a:t>
            </a:r>
            <a:r>
              <a:rPr lang="en-IN" sz="1100" b="1" strike="sngStrike" dirty="0">
                <a:solidFill>
                  <a:srgbClr val="0070C0"/>
                </a:solidFill>
              </a:rPr>
              <a:t>storage copy </a:t>
            </a:r>
            <a:r>
              <a:rPr lang="en-IN" sz="1100" strike="sngStrike" dirty="0">
                <a:solidFill>
                  <a:srgbClr val="0070C0"/>
                </a:solidFill>
              </a:rPr>
              <a:t>-s </a:t>
            </a:r>
            <a:r>
              <a:rPr lang="en-IN" sz="1100" strike="sngStrike" dirty="0" err="1">
                <a:solidFill>
                  <a:srgbClr val="0070C0"/>
                </a:solidFill>
              </a:rPr>
              <a:t>localdir</a:t>
            </a:r>
            <a:r>
              <a:rPr lang="en-IN" sz="1100" strike="sngStrike" dirty="0">
                <a:solidFill>
                  <a:srgbClr val="0070C0"/>
                </a:solidFill>
              </a:rPr>
              <a:t>/</a:t>
            </a:r>
            <a:r>
              <a:rPr lang="en-IN" sz="1100" strike="sngStrike" dirty="0" err="1">
                <a:solidFill>
                  <a:srgbClr val="0070C0"/>
                </a:solidFill>
              </a:rPr>
              <a:t>samplefile</a:t>
            </a:r>
            <a:r>
              <a:rPr lang="en-IN" sz="1100" strike="sngStrike" dirty="0">
                <a:solidFill>
                  <a:srgbClr val="0070C0"/>
                </a:solidFill>
              </a:rPr>
              <a:t> --account-name </a:t>
            </a:r>
            <a:r>
              <a:rPr lang="en-IN" sz="1100" strike="sngStrike" dirty="0" err="1">
                <a:solidFill>
                  <a:srgbClr val="0070C0"/>
                </a:solidFill>
              </a:rPr>
              <a:t>izblobwe</a:t>
            </a:r>
            <a:r>
              <a:rPr lang="en-US" sz="1100" strike="sngStrike" dirty="0">
                <a:solidFill>
                  <a:schemeClr val="accent1">
                    <a:lumMod val="75000"/>
                  </a:schemeClr>
                </a:solidFill>
              </a:rPr>
              <a:t> </a:t>
            </a:r>
            <a:r>
              <a:rPr lang="en-IN" sz="1100" strike="sngStrike" dirty="0">
                <a:solidFill>
                  <a:srgbClr val="0070C0"/>
                </a:solidFill>
              </a:rPr>
              <a:t>--destination-container container1/</a:t>
            </a:r>
            <a:r>
              <a:rPr lang="en-IN" sz="1100" strike="sngStrike" dirty="0" err="1">
                <a:solidFill>
                  <a:srgbClr val="0070C0"/>
                </a:solidFill>
              </a:rPr>
              <a:t>sampledir</a:t>
            </a:r>
            <a:r>
              <a:rPr lang="en-IN" sz="1100" strike="sngStrike" dirty="0">
                <a:solidFill>
                  <a:srgbClr val="0070C0"/>
                </a:solidFill>
              </a:rPr>
              <a:t>/</a:t>
            </a:r>
          </a:p>
          <a:p>
            <a:r>
              <a:rPr lang="en-IN" sz="1100" dirty="0" err="1">
                <a:solidFill>
                  <a:srgbClr val="0070C0"/>
                </a:solidFill>
              </a:rPr>
              <a:t>az</a:t>
            </a:r>
            <a:r>
              <a:rPr lang="en-IN" sz="1100" dirty="0">
                <a:solidFill>
                  <a:srgbClr val="0070C0"/>
                </a:solidFill>
              </a:rPr>
              <a:t> storage copy -s </a:t>
            </a:r>
            <a:r>
              <a:rPr lang="en-IN" sz="1100" dirty="0" err="1">
                <a:solidFill>
                  <a:srgbClr val="0070C0"/>
                </a:solidFill>
              </a:rPr>
              <a:t>localdir</a:t>
            </a:r>
            <a:r>
              <a:rPr lang="en-IN" sz="1100" dirty="0">
                <a:solidFill>
                  <a:srgbClr val="0070C0"/>
                </a:solidFill>
              </a:rPr>
              <a:t>/</a:t>
            </a:r>
            <a:r>
              <a:rPr lang="en-IN" sz="1100" dirty="0" err="1">
                <a:solidFill>
                  <a:srgbClr val="0070C0"/>
                </a:solidFill>
              </a:rPr>
              <a:t>samplefile</a:t>
            </a:r>
            <a:r>
              <a:rPr lang="en-IN" sz="1100" dirty="0">
                <a:solidFill>
                  <a:srgbClr val="0070C0"/>
                </a:solidFill>
              </a:rPr>
              <a:t> --account-name </a:t>
            </a:r>
            <a:r>
              <a:rPr lang="en-IN" sz="1100" dirty="0" err="1">
                <a:solidFill>
                  <a:srgbClr val="0070C0"/>
                </a:solidFill>
              </a:rPr>
              <a:t>izblobwe</a:t>
            </a:r>
            <a:r>
              <a:rPr lang="en-IN" sz="1100" dirty="0">
                <a:solidFill>
                  <a:srgbClr val="0070C0"/>
                </a:solidFill>
              </a:rPr>
              <a:t> --destination-container container1/dir1</a:t>
            </a:r>
          </a:p>
          <a:p>
            <a:r>
              <a:rPr lang="en-IN" sz="1100" dirty="0" err="1">
                <a:solidFill>
                  <a:srgbClr val="0070C0"/>
                </a:solidFill>
              </a:rPr>
              <a:t>az</a:t>
            </a:r>
            <a:r>
              <a:rPr lang="en-IN" sz="1100" dirty="0">
                <a:solidFill>
                  <a:srgbClr val="0070C0"/>
                </a:solidFill>
              </a:rPr>
              <a:t> </a:t>
            </a:r>
            <a:r>
              <a:rPr lang="en-IN" sz="1100" b="1" dirty="0">
                <a:solidFill>
                  <a:srgbClr val="0070C0"/>
                </a:solidFill>
              </a:rPr>
              <a:t>storage copy</a:t>
            </a:r>
            <a:r>
              <a:rPr lang="en-IN" sz="1100" dirty="0">
                <a:solidFill>
                  <a:srgbClr val="0070C0"/>
                </a:solidFill>
              </a:rPr>
              <a:t> -s </a:t>
            </a:r>
            <a:r>
              <a:rPr lang="en-IN" sz="1100" b="1" dirty="0" err="1">
                <a:solidFill>
                  <a:srgbClr val="0070C0"/>
                </a:solidFill>
              </a:rPr>
              <a:t>localdir</a:t>
            </a:r>
            <a:r>
              <a:rPr lang="en-IN" sz="1100" b="1" dirty="0">
                <a:solidFill>
                  <a:srgbClr val="0070C0"/>
                </a:solidFill>
              </a:rPr>
              <a:t>/</a:t>
            </a:r>
            <a:r>
              <a:rPr lang="en-IN" sz="1100" b="1" dirty="0" err="1">
                <a:solidFill>
                  <a:srgbClr val="0070C0"/>
                </a:solidFill>
              </a:rPr>
              <a:t>samplefile</a:t>
            </a:r>
            <a:r>
              <a:rPr lang="en-IN" sz="1100" dirty="0">
                <a:solidFill>
                  <a:srgbClr val="0070C0"/>
                </a:solidFill>
              </a:rPr>
              <a:t> --account-name </a:t>
            </a:r>
            <a:r>
              <a:rPr lang="en-IN" sz="1100" dirty="0" err="1">
                <a:hlinkClick r:id="rId10"/>
              </a:rPr>
              <a:t>izadlswe</a:t>
            </a:r>
            <a:r>
              <a:rPr lang="en-US" sz="1100" dirty="0">
                <a:solidFill>
                  <a:schemeClr val="accent1">
                    <a:lumMod val="75000"/>
                  </a:schemeClr>
                </a:solidFill>
              </a:rPr>
              <a:t> </a:t>
            </a:r>
            <a:r>
              <a:rPr lang="en-IN" sz="1100" dirty="0">
                <a:solidFill>
                  <a:srgbClr val="0070C0"/>
                </a:solidFill>
              </a:rPr>
              <a:t>--destination-container container2/</a:t>
            </a:r>
            <a:r>
              <a:rPr lang="en-IN" sz="1100" dirty="0" err="1">
                <a:solidFill>
                  <a:srgbClr val="0070C0"/>
                </a:solidFill>
              </a:rPr>
              <a:t>sampledir</a:t>
            </a:r>
            <a:r>
              <a:rPr lang="en-IN" sz="1100" dirty="0">
                <a:solidFill>
                  <a:srgbClr val="0070C0"/>
                </a:solidFill>
              </a:rPr>
              <a:t>/</a:t>
            </a:r>
          </a:p>
          <a:p>
            <a:endParaRPr lang="en-US" sz="1100" dirty="0">
              <a:solidFill>
                <a:srgbClr val="0070C0"/>
              </a:solidFill>
            </a:endParaRPr>
          </a:p>
          <a:p>
            <a:r>
              <a:rPr lang="en-US" sz="1200" b="1" dirty="0"/>
              <a:t>#Copy directory recursively</a:t>
            </a:r>
            <a:endParaRPr lang="en-IN" sz="1200" b="1" dirty="0"/>
          </a:p>
          <a:p>
            <a:r>
              <a:rPr lang="en-US" sz="1200" dirty="0">
                <a:solidFill>
                  <a:srgbClr val="0070C0"/>
                </a:solidFill>
              </a:rPr>
              <a:t>echo </a:t>
            </a:r>
            <a:r>
              <a:rPr lang="en-US" sz="1200" dirty="0" err="1">
                <a:solidFill>
                  <a:srgbClr val="0070C0"/>
                </a:solidFill>
              </a:rPr>
              <a:t>sampledata</a:t>
            </a:r>
            <a:r>
              <a:rPr lang="en-US" sz="1200" dirty="0">
                <a:solidFill>
                  <a:srgbClr val="0070C0"/>
                </a:solidFill>
              </a:rPr>
              <a:t>&gt;</a:t>
            </a:r>
            <a:r>
              <a:rPr lang="en-US" sz="1200" dirty="0" err="1">
                <a:solidFill>
                  <a:srgbClr val="0070C0"/>
                </a:solidFill>
              </a:rPr>
              <a:t>localdir</a:t>
            </a:r>
            <a:r>
              <a:rPr lang="en-US" sz="1200" dirty="0">
                <a:solidFill>
                  <a:srgbClr val="0070C0"/>
                </a:solidFill>
              </a:rPr>
              <a:t>/samplefile1</a:t>
            </a:r>
          </a:p>
          <a:p>
            <a:r>
              <a:rPr lang="en-IN" sz="1200" dirty="0" err="1">
                <a:solidFill>
                  <a:srgbClr val="0070C0"/>
                </a:solidFill>
              </a:rPr>
              <a:t>az</a:t>
            </a:r>
            <a:r>
              <a:rPr lang="en-IN" sz="1200" dirty="0">
                <a:solidFill>
                  <a:srgbClr val="0070C0"/>
                </a:solidFill>
              </a:rPr>
              <a:t> storage copy -s </a:t>
            </a:r>
            <a:r>
              <a:rPr lang="en-IN" sz="1200" dirty="0" err="1">
                <a:solidFill>
                  <a:srgbClr val="0070C0"/>
                </a:solidFill>
              </a:rPr>
              <a:t>localdir</a:t>
            </a:r>
            <a:r>
              <a:rPr lang="en-IN" sz="1200" dirty="0">
                <a:solidFill>
                  <a:srgbClr val="0070C0"/>
                </a:solidFill>
              </a:rPr>
              <a:t> -</a:t>
            </a:r>
            <a:r>
              <a:rPr lang="en-IN" sz="1100" dirty="0">
                <a:solidFill>
                  <a:srgbClr val="0070C0"/>
                </a:solidFill>
              </a:rPr>
              <a:t>-account-name </a:t>
            </a:r>
            <a:r>
              <a:rPr lang="en-IN" sz="1100" dirty="0" err="1">
                <a:solidFill>
                  <a:srgbClr val="0070C0"/>
                </a:solidFill>
              </a:rPr>
              <a:t>izblobwe</a:t>
            </a:r>
            <a:r>
              <a:rPr lang="en-US" sz="1100" dirty="0">
                <a:solidFill>
                  <a:srgbClr val="0070C0"/>
                </a:solidFill>
              </a:rPr>
              <a:t> </a:t>
            </a:r>
            <a:r>
              <a:rPr lang="en-IN" sz="1200" dirty="0">
                <a:solidFill>
                  <a:srgbClr val="0070C0"/>
                </a:solidFill>
              </a:rPr>
              <a:t>--destination-container container1/</a:t>
            </a:r>
            <a:r>
              <a:rPr lang="en-IN" sz="1200" dirty="0" err="1">
                <a:solidFill>
                  <a:srgbClr val="0070C0"/>
                </a:solidFill>
              </a:rPr>
              <a:t>sampledir</a:t>
            </a:r>
            <a:r>
              <a:rPr lang="en-IN" sz="1200" dirty="0">
                <a:solidFill>
                  <a:srgbClr val="0070C0"/>
                </a:solidFill>
              </a:rPr>
              <a:t>/ </a:t>
            </a:r>
            <a:r>
              <a:rPr lang="en-IN" sz="1200" b="1" dirty="0">
                <a:solidFill>
                  <a:srgbClr val="0070C0"/>
                </a:solidFill>
              </a:rPr>
              <a:t>--recursive</a:t>
            </a:r>
          </a:p>
          <a:p>
            <a:r>
              <a:rPr lang="en-IN" sz="1200" dirty="0" err="1">
                <a:solidFill>
                  <a:srgbClr val="0070C0"/>
                </a:solidFill>
              </a:rPr>
              <a:t>az</a:t>
            </a:r>
            <a:r>
              <a:rPr lang="en-IN" sz="1200" dirty="0">
                <a:solidFill>
                  <a:srgbClr val="0070C0"/>
                </a:solidFill>
              </a:rPr>
              <a:t> storage copy -s </a:t>
            </a:r>
            <a:r>
              <a:rPr lang="en-IN" sz="1200" b="1" dirty="0" err="1">
                <a:solidFill>
                  <a:srgbClr val="0070C0"/>
                </a:solidFill>
              </a:rPr>
              <a:t>localdir</a:t>
            </a:r>
            <a:r>
              <a:rPr lang="en-IN" sz="1200" dirty="0">
                <a:solidFill>
                  <a:srgbClr val="0070C0"/>
                </a:solidFill>
              </a:rPr>
              <a:t> --account-name </a:t>
            </a:r>
            <a:r>
              <a:rPr lang="en-IN" sz="1200" dirty="0" err="1">
                <a:hlinkClick r:id="rId10"/>
              </a:rPr>
              <a:t>izadlswe</a:t>
            </a:r>
            <a:r>
              <a:rPr lang="en-US" sz="1200" dirty="0">
                <a:solidFill>
                  <a:schemeClr val="accent1">
                    <a:lumMod val="75000"/>
                  </a:schemeClr>
                </a:solidFill>
              </a:rPr>
              <a:t> </a:t>
            </a:r>
            <a:r>
              <a:rPr lang="en-IN" sz="1200" dirty="0">
                <a:solidFill>
                  <a:srgbClr val="0070C0"/>
                </a:solidFill>
              </a:rPr>
              <a:t>--destination-container container2/</a:t>
            </a:r>
            <a:r>
              <a:rPr lang="en-IN" sz="1200" dirty="0" err="1">
                <a:solidFill>
                  <a:srgbClr val="0070C0"/>
                </a:solidFill>
              </a:rPr>
              <a:t>sampledir</a:t>
            </a:r>
            <a:r>
              <a:rPr lang="en-IN" sz="1200" dirty="0">
                <a:solidFill>
                  <a:srgbClr val="0070C0"/>
                </a:solidFill>
              </a:rPr>
              <a:t> </a:t>
            </a:r>
            <a:r>
              <a:rPr lang="en-IN" sz="1200" b="1" dirty="0">
                <a:solidFill>
                  <a:srgbClr val="0070C0"/>
                </a:solidFill>
              </a:rPr>
              <a:t>--recursive</a:t>
            </a:r>
          </a:p>
          <a:p>
            <a:endParaRPr lang="en-US" sz="1200" b="1" u="sng" dirty="0">
              <a:ln w="10541" cmpd="sng">
                <a:solidFill>
                  <a:srgbClr val="7D7D7D">
                    <a:tint val="100000"/>
                    <a:shade val="100000"/>
                    <a:satMod val="110000"/>
                  </a:srgbClr>
                </a:solidFill>
                <a:prstDash val="solid"/>
              </a:ln>
            </a:endParaRPr>
          </a:p>
          <a:p>
            <a:r>
              <a:rPr lang="en-IN" sz="1200" b="1" u="sng" dirty="0"/>
              <a:t># List the files and folders</a:t>
            </a:r>
            <a:endParaRPr lang="en-US" sz="1200" b="1" u="sng" dirty="0">
              <a:ln w="10541" cmpd="sng">
                <a:solidFill>
                  <a:srgbClr val="7D7D7D">
                    <a:tint val="100000"/>
                    <a:shade val="100000"/>
                    <a:satMod val="110000"/>
                  </a:srgbClr>
                </a:solidFill>
                <a:prstDash val="solid"/>
              </a:ln>
            </a:endParaRPr>
          </a:p>
          <a:p>
            <a:r>
              <a:rPr lang="en-US" sz="1200" dirty="0" err="1">
                <a:solidFill>
                  <a:srgbClr val="0070C0"/>
                </a:solidFill>
              </a:rPr>
              <a:t>az</a:t>
            </a:r>
            <a:r>
              <a:rPr lang="en-US" sz="1200" dirty="0">
                <a:solidFill>
                  <a:srgbClr val="0070C0"/>
                </a:solidFill>
              </a:rPr>
              <a:t> storage blob list --account-name </a:t>
            </a:r>
            <a:r>
              <a:rPr lang="en-IN" sz="1200" dirty="0" err="1">
                <a:hlinkClick r:id="rId10"/>
              </a:rPr>
              <a:t>izadlswe</a:t>
            </a:r>
            <a:r>
              <a:rPr lang="en-US" sz="1200" dirty="0">
                <a:solidFill>
                  <a:srgbClr val="0070C0"/>
                </a:solidFill>
              </a:rPr>
              <a:t> --container-name </a:t>
            </a:r>
            <a:r>
              <a:rPr lang="en-IN" sz="1200" dirty="0">
                <a:solidFill>
                  <a:srgbClr val="0070C0"/>
                </a:solidFill>
              </a:rPr>
              <a:t>container2 </a:t>
            </a:r>
            <a:r>
              <a:rPr lang="en-US" sz="1200" dirty="0">
                <a:solidFill>
                  <a:srgbClr val="0070C0"/>
                </a:solidFill>
              </a:rPr>
              <a:t>--prefix "</a:t>
            </a:r>
            <a:r>
              <a:rPr lang="en-US" sz="1200" dirty="0" err="1">
                <a:solidFill>
                  <a:srgbClr val="0070C0"/>
                </a:solidFill>
              </a:rPr>
              <a:t>sampledir</a:t>
            </a:r>
            <a:r>
              <a:rPr lang="en-US" sz="1200" dirty="0">
                <a:solidFill>
                  <a:srgbClr val="0070C0"/>
                </a:solidFill>
              </a:rPr>
              <a:t>/" --output table</a:t>
            </a:r>
          </a:p>
          <a:p>
            <a:r>
              <a:rPr lang="en-US" sz="1200" dirty="0" err="1">
                <a:solidFill>
                  <a:srgbClr val="0070C0"/>
                </a:solidFill>
              </a:rPr>
              <a:t>az</a:t>
            </a:r>
            <a:r>
              <a:rPr lang="en-US" sz="1200" dirty="0">
                <a:solidFill>
                  <a:srgbClr val="0070C0"/>
                </a:solidFill>
              </a:rPr>
              <a:t> storage blob list --account-name </a:t>
            </a:r>
            <a:r>
              <a:rPr lang="en-US" sz="1200" dirty="0" err="1">
                <a:solidFill>
                  <a:schemeClr val="accent1">
                    <a:lumMod val="75000"/>
                  </a:schemeClr>
                </a:solidFill>
              </a:rPr>
              <a:t>izblobwe</a:t>
            </a:r>
            <a:r>
              <a:rPr lang="en-US" sz="1200" dirty="0">
                <a:solidFill>
                  <a:srgbClr val="0070C0"/>
                </a:solidFill>
              </a:rPr>
              <a:t> --container-name </a:t>
            </a:r>
            <a:r>
              <a:rPr lang="en-IN" sz="1200" dirty="0">
                <a:solidFill>
                  <a:srgbClr val="0070C0"/>
                </a:solidFill>
              </a:rPr>
              <a:t>container1</a:t>
            </a:r>
            <a:r>
              <a:rPr lang="en-US" sz="1200" dirty="0">
                <a:solidFill>
                  <a:srgbClr val="0070C0"/>
                </a:solidFill>
              </a:rPr>
              <a:t> --prefix "</a:t>
            </a:r>
            <a:r>
              <a:rPr lang="en-US" sz="1200" dirty="0" err="1">
                <a:solidFill>
                  <a:srgbClr val="0070C0"/>
                </a:solidFill>
              </a:rPr>
              <a:t>sampledir</a:t>
            </a:r>
            <a:r>
              <a:rPr lang="en-US" sz="1200" dirty="0">
                <a:solidFill>
                  <a:srgbClr val="0070C0"/>
                </a:solidFill>
              </a:rPr>
              <a:t>/"  --output table</a:t>
            </a:r>
          </a:p>
          <a:p>
            <a:endParaRPr lang="en-US" sz="1200" b="1" u="sng" dirty="0">
              <a:ln w="10541" cmpd="sng">
                <a:solidFill>
                  <a:srgbClr val="7D7D7D">
                    <a:tint val="100000"/>
                    <a:shade val="100000"/>
                    <a:satMod val="110000"/>
                  </a:srgbClr>
                </a:solidFill>
                <a:prstDash val="solid"/>
              </a:ln>
            </a:endParaRPr>
          </a:p>
          <a:p>
            <a:r>
              <a:rPr lang="en-IN" sz="1200" b="1" u="sng" dirty="0"/>
              <a:t>Storage Tiers </a:t>
            </a:r>
            <a:r>
              <a:rPr lang="en-IN" sz="1200" b="1" u="sng" strike="sngStrike" dirty="0"/>
              <a:t>Classes</a:t>
            </a:r>
            <a:r>
              <a:rPr lang="en-IN" sz="1200" b="1" u="sng" dirty="0"/>
              <a:t> – costing, usability(availability), performance</a:t>
            </a:r>
            <a:endParaRPr lang="en-IN" sz="1200" b="1" u="sng" strike="sngStrike" dirty="0">
              <a:solidFill>
                <a:srgbClr val="0070C0"/>
              </a:solidFill>
            </a:endParaRPr>
          </a:p>
          <a:p>
            <a:endParaRPr lang="en-IN" sz="1200" b="1" dirty="0"/>
          </a:p>
          <a:p>
            <a:r>
              <a:rPr lang="en-IN" sz="1200" b="1" dirty="0"/>
              <a:t># Upload the blob/file with access tier to Hot (where as the storage account is in Cold tier)</a:t>
            </a:r>
          </a:p>
          <a:p>
            <a:r>
              <a:rPr lang="en-US" sz="1200" dirty="0" err="1">
                <a:solidFill>
                  <a:srgbClr val="0070C0"/>
                </a:solidFill>
              </a:rPr>
              <a:t>az</a:t>
            </a:r>
            <a:r>
              <a:rPr lang="en-US" sz="1200" dirty="0">
                <a:solidFill>
                  <a:srgbClr val="0070C0"/>
                </a:solidFill>
              </a:rPr>
              <a:t> storage </a:t>
            </a:r>
            <a:r>
              <a:rPr lang="en-US" sz="1200" b="1" dirty="0">
                <a:solidFill>
                  <a:srgbClr val="0070C0"/>
                </a:solidFill>
              </a:rPr>
              <a:t>blob upload</a:t>
            </a:r>
            <a:r>
              <a:rPr lang="en-US" sz="1200" dirty="0">
                <a:solidFill>
                  <a:srgbClr val="0070C0"/>
                </a:solidFill>
              </a:rPr>
              <a:t> --container-name container2 --file </a:t>
            </a:r>
            <a:r>
              <a:rPr lang="en-US" sz="1200" dirty="0" err="1">
                <a:solidFill>
                  <a:srgbClr val="0070C0"/>
                </a:solidFill>
              </a:rPr>
              <a:t>localdir</a:t>
            </a:r>
            <a:r>
              <a:rPr lang="en-US" sz="1200" dirty="0">
                <a:solidFill>
                  <a:srgbClr val="0070C0"/>
                </a:solidFill>
              </a:rPr>
              <a:t>/</a:t>
            </a:r>
            <a:r>
              <a:rPr lang="en-US" sz="1200" dirty="0" err="1">
                <a:solidFill>
                  <a:srgbClr val="0070C0"/>
                </a:solidFill>
              </a:rPr>
              <a:t>samplefile</a:t>
            </a:r>
            <a:r>
              <a:rPr lang="en-US" sz="1200" dirty="0">
                <a:solidFill>
                  <a:srgbClr val="0070C0"/>
                </a:solidFill>
              </a:rPr>
              <a:t> --name </a:t>
            </a:r>
            <a:r>
              <a:rPr lang="en-US" sz="1200" dirty="0" err="1">
                <a:solidFill>
                  <a:srgbClr val="0070C0"/>
                </a:solidFill>
              </a:rPr>
              <a:t>sampledir</a:t>
            </a:r>
            <a:r>
              <a:rPr lang="en-US" sz="1200" dirty="0">
                <a:solidFill>
                  <a:srgbClr val="0070C0"/>
                </a:solidFill>
              </a:rPr>
              <a:t>/</a:t>
            </a:r>
            <a:r>
              <a:rPr lang="en-US" sz="1200" dirty="0" err="1">
                <a:solidFill>
                  <a:srgbClr val="0070C0"/>
                </a:solidFill>
              </a:rPr>
              <a:t>localdir</a:t>
            </a:r>
            <a:r>
              <a:rPr lang="en-US" sz="1200" dirty="0">
                <a:solidFill>
                  <a:srgbClr val="0070C0"/>
                </a:solidFill>
              </a:rPr>
              <a:t>/</a:t>
            </a:r>
            <a:r>
              <a:rPr lang="en-US" sz="1200" b="1" dirty="0" err="1">
                <a:solidFill>
                  <a:srgbClr val="0070C0"/>
                </a:solidFill>
              </a:rPr>
              <a:t>samplefilehot</a:t>
            </a:r>
            <a:r>
              <a:rPr lang="en-US" sz="1200" dirty="0">
                <a:solidFill>
                  <a:srgbClr val="0070C0"/>
                </a:solidFill>
              </a:rPr>
              <a:t> --account-name </a:t>
            </a:r>
            <a:r>
              <a:rPr lang="en-US" sz="1200" dirty="0" err="1">
                <a:solidFill>
                  <a:srgbClr val="0070C0"/>
                </a:solidFill>
              </a:rPr>
              <a:t>izadlswe</a:t>
            </a:r>
            <a:r>
              <a:rPr lang="en-US" sz="1200" dirty="0">
                <a:solidFill>
                  <a:srgbClr val="0070C0"/>
                </a:solidFill>
              </a:rPr>
              <a:t>  </a:t>
            </a:r>
            <a:r>
              <a:rPr lang="en-US" sz="1200" b="1" dirty="0">
                <a:solidFill>
                  <a:srgbClr val="0070C0"/>
                </a:solidFill>
              </a:rPr>
              <a:t>--tier Hot</a:t>
            </a:r>
          </a:p>
          <a:p>
            <a:endParaRPr lang="en-IN" sz="1200" b="1" dirty="0"/>
          </a:p>
          <a:p>
            <a:r>
              <a:rPr lang="en-IN" sz="1200" b="1" dirty="0"/>
              <a:t># Change a blob access tier to Hot</a:t>
            </a:r>
            <a:endParaRPr lang="en-US" sz="1200" b="1" dirty="0"/>
          </a:p>
          <a:p>
            <a:r>
              <a:rPr lang="en-US" sz="1200" dirty="0" err="1">
                <a:solidFill>
                  <a:srgbClr val="0070C0"/>
                </a:solidFill>
              </a:rPr>
              <a:t>az</a:t>
            </a:r>
            <a:r>
              <a:rPr lang="en-US" sz="1200" dirty="0">
                <a:solidFill>
                  <a:srgbClr val="0070C0"/>
                </a:solidFill>
              </a:rPr>
              <a:t> storage </a:t>
            </a:r>
            <a:r>
              <a:rPr lang="en-US" sz="1200" b="1" dirty="0">
                <a:solidFill>
                  <a:srgbClr val="0070C0"/>
                </a:solidFill>
              </a:rPr>
              <a:t>blob set-tier </a:t>
            </a:r>
            <a:r>
              <a:rPr lang="en-US" sz="1200" dirty="0">
                <a:solidFill>
                  <a:srgbClr val="0070C0"/>
                </a:solidFill>
              </a:rPr>
              <a:t>--account-name </a:t>
            </a:r>
            <a:r>
              <a:rPr lang="en-US" sz="1200" dirty="0" err="1">
                <a:solidFill>
                  <a:srgbClr val="0070C0"/>
                </a:solidFill>
              </a:rPr>
              <a:t>izadlswe</a:t>
            </a:r>
            <a:r>
              <a:rPr lang="en-US" sz="1200" dirty="0">
                <a:solidFill>
                  <a:srgbClr val="0070C0"/>
                </a:solidFill>
              </a:rPr>
              <a:t> --container-name </a:t>
            </a:r>
            <a:r>
              <a:rPr lang="en-IN" sz="1200" dirty="0">
                <a:solidFill>
                  <a:srgbClr val="0070C0"/>
                </a:solidFill>
              </a:rPr>
              <a:t>container2</a:t>
            </a:r>
            <a:r>
              <a:rPr lang="en-US" sz="1200" dirty="0">
                <a:solidFill>
                  <a:srgbClr val="0070C0"/>
                </a:solidFill>
              </a:rPr>
              <a:t> --name </a:t>
            </a:r>
            <a:r>
              <a:rPr lang="en-US" sz="1200" dirty="0" err="1">
                <a:solidFill>
                  <a:srgbClr val="0070C0"/>
                </a:solidFill>
              </a:rPr>
              <a:t>sampledir</a:t>
            </a:r>
            <a:r>
              <a:rPr lang="en-US" sz="1200" dirty="0">
                <a:solidFill>
                  <a:srgbClr val="0070C0"/>
                </a:solidFill>
              </a:rPr>
              <a:t>/</a:t>
            </a:r>
            <a:r>
              <a:rPr lang="en-US" sz="1200" dirty="0" err="1">
                <a:solidFill>
                  <a:srgbClr val="0070C0"/>
                </a:solidFill>
              </a:rPr>
              <a:t>localdir</a:t>
            </a:r>
            <a:r>
              <a:rPr lang="en-US" sz="1200" dirty="0">
                <a:solidFill>
                  <a:srgbClr val="0070C0"/>
                </a:solidFill>
              </a:rPr>
              <a:t>/</a:t>
            </a:r>
            <a:r>
              <a:rPr lang="en-US" sz="1200" dirty="0" err="1">
                <a:solidFill>
                  <a:srgbClr val="0070C0"/>
                </a:solidFill>
              </a:rPr>
              <a:t>samplefile</a:t>
            </a:r>
            <a:r>
              <a:rPr lang="en-US" sz="1200" dirty="0">
                <a:solidFill>
                  <a:srgbClr val="0070C0"/>
                </a:solidFill>
              </a:rPr>
              <a:t> </a:t>
            </a:r>
            <a:r>
              <a:rPr lang="en-US" sz="1200" b="1" dirty="0">
                <a:solidFill>
                  <a:srgbClr val="0070C0"/>
                </a:solidFill>
              </a:rPr>
              <a:t>--tier Hot</a:t>
            </a:r>
          </a:p>
        </p:txBody>
      </p:sp>
      <p:sp>
        <p:nvSpPr>
          <p:cNvPr id="2" name="Rectangle 1"/>
          <p:cNvSpPr/>
          <p:nvPr/>
        </p:nvSpPr>
        <p:spPr>
          <a:xfrm>
            <a:off x="5895926" y="180929"/>
            <a:ext cx="2291012" cy="400110"/>
          </a:xfrm>
          <a:prstGeom prst="rect">
            <a:avLst/>
          </a:prstGeom>
        </p:spPr>
        <p:txBody>
          <a:bodyPr wrap="none">
            <a:spAutoFit/>
          </a:bodyPr>
          <a:lstStyle/>
          <a:p>
            <a:r>
              <a:rPr lang="en-US" sz="2000" i="1" u="sng" dirty="0">
                <a:effectLst>
                  <a:outerShdw blurRad="38100" dist="38100" dir="2700000" algn="tl">
                    <a:srgbClr val="000000">
                      <a:alpha val="43137"/>
                    </a:srgbClr>
                  </a:outerShdw>
                </a:effectLst>
              </a:rPr>
              <a:t>Classroom - Practice</a:t>
            </a:r>
            <a:endParaRPr lang="en-IN" sz="2000" dirty="0"/>
          </a:p>
        </p:txBody>
      </p:sp>
      <p:pic>
        <p:nvPicPr>
          <p:cNvPr id="14" name="Picture 2"/>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837050" y="5479723"/>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12">
            <p14:nvContentPartPr>
              <p14:cNvPr id="4" name="Ink 3"/>
              <p14:cNvContentPartPr/>
              <p14:nvPr/>
            </p14:nvContentPartPr>
            <p14:xfrm>
              <a:off x="260280" y="2400120"/>
              <a:ext cx="25920" cy="1835640"/>
            </p14:xfrm>
          </p:contentPart>
        </mc:Choice>
        <mc:Fallback xmlns="">
          <p:pic>
            <p:nvPicPr>
              <p:cNvPr id="4" name="Ink 3"/>
              <p:cNvPicPr/>
              <p:nvPr/>
            </p:nvPicPr>
            <p:blipFill>
              <a:blip r:embed="rId15"/>
              <a:stretch>
                <a:fillRect/>
              </a:stretch>
            </p:blipFill>
            <p:spPr>
              <a:xfrm>
                <a:off x="250920" y="2390760"/>
                <a:ext cx="44640" cy="1854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Ink 6"/>
              <p14:cNvContentPartPr/>
              <p14:nvPr/>
            </p14:nvContentPartPr>
            <p14:xfrm>
              <a:off x="7759800" y="4838760"/>
              <a:ext cx="360" cy="360"/>
            </p14:xfrm>
          </p:contentPart>
        </mc:Choice>
        <mc:Fallback xmlns="">
          <p:pic>
            <p:nvPicPr>
              <p:cNvPr id="7" name="Ink 6"/>
              <p:cNvPicPr/>
              <p:nvPr/>
            </p:nvPicPr>
            <p:blipFill>
              <a:blip r:embed="rId17"/>
              <a:stretch>
                <a:fillRect/>
              </a:stretch>
            </p:blipFill>
            <p:spPr>
              <a:xfrm>
                <a:off x="7750440" y="4829400"/>
                <a:ext cx="19080" cy="19080"/>
              </a:xfrm>
              <a:prstGeom prst="rect">
                <a:avLst/>
              </a:prstGeom>
            </p:spPr>
          </p:pic>
        </mc:Fallback>
      </mc:AlternateContent>
    </p:spTree>
    <p:extLst>
      <p:ext uri="{BB962C8B-B14F-4D97-AF65-F5344CB8AC3E}">
        <p14:creationId xmlns:p14="http://schemas.microsoft.com/office/powerpoint/2010/main" val="1284895476"/>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a:t>AZ Storage Account &amp; Containers</a:t>
            </a:r>
          </a:p>
        </p:txBody>
      </p:sp>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7505640" y="882720"/>
              <a:ext cx="1118160" cy="1943280"/>
            </p14:xfrm>
          </p:contentPart>
        </mc:Choice>
        <mc:Fallback xmlns="">
          <p:pic>
            <p:nvPicPr>
              <p:cNvPr id="6" name="Ink 5"/>
              <p:cNvPicPr/>
              <p:nvPr/>
            </p:nvPicPr>
            <p:blipFill>
              <a:blip r:embed="rId9"/>
              <a:stretch>
                <a:fillRect/>
              </a:stretch>
            </p:blipFill>
            <p:spPr>
              <a:xfrm>
                <a:off x="7496280" y="873360"/>
                <a:ext cx="1136880" cy="1962000"/>
              </a:xfrm>
              <a:prstGeom prst="rect">
                <a:avLst/>
              </a:prstGeom>
            </p:spPr>
          </p:pic>
        </mc:Fallback>
      </mc:AlternateContent>
      <p:sp>
        <p:nvSpPr>
          <p:cNvPr id="10" name="Rectangle 9"/>
          <p:cNvSpPr/>
          <p:nvPr/>
        </p:nvSpPr>
        <p:spPr>
          <a:xfrm>
            <a:off x="8965" y="578741"/>
            <a:ext cx="12066278" cy="2492990"/>
          </a:xfrm>
          <a:prstGeom prst="rect">
            <a:avLst/>
          </a:prstGeom>
          <a:noFill/>
        </p:spPr>
        <p:txBody>
          <a:bodyPr wrap="square" lIns="91440" tIns="45720" rIns="91440" bIns="45720">
            <a:spAutoFit/>
          </a:bodyPr>
          <a:lstStyle/>
          <a:p>
            <a:r>
              <a:rPr lang="en-US" sz="1200" b="1" i="1" u="sng" dirty="0"/>
              <a:t>#How to use access/account key to access the storage account/container/</a:t>
            </a:r>
            <a:r>
              <a:rPr lang="en-US" sz="1200" b="1" i="1" u="sng" dirty="0" err="1"/>
              <a:t>dirs</a:t>
            </a:r>
            <a:r>
              <a:rPr lang="en-US" sz="1200" b="1" i="1" u="sng" dirty="0"/>
              <a:t>/files</a:t>
            </a:r>
            <a:endParaRPr lang="en-IN" sz="1200" b="1" i="1" u="sng" dirty="0"/>
          </a:p>
          <a:p>
            <a:r>
              <a:rPr lang="en-IN" sz="1200" b="1" i="1" dirty="0"/>
              <a:t>#To collect the account key list for future need to access the given container</a:t>
            </a:r>
          </a:p>
          <a:p>
            <a:r>
              <a:rPr lang="en-IN" sz="1200" dirty="0" err="1">
                <a:solidFill>
                  <a:srgbClr val="0070C0"/>
                </a:solidFill>
              </a:rPr>
              <a:t>az</a:t>
            </a:r>
            <a:r>
              <a:rPr lang="en-IN" sz="1200" dirty="0">
                <a:solidFill>
                  <a:srgbClr val="0070C0"/>
                </a:solidFill>
              </a:rPr>
              <a:t> group list --output table</a:t>
            </a:r>
          </a:p>
          <a:p>
            <a:r>
              <a:rPr lang="en-US" sz="1200" dirty="0" err="1">
                <a:solidFill>
                  <a:srgbClr val="0070C0"/>
                </a:solidFill>
              </a:rPr>
              <a:t>az</a:t>
            </a:r>
            <a:r>
              <a:rPr lang="en-US" sz="1200" dirty="0">
                <a:solidFill>
                  <a:srgbClr val="0070C0"/>
                </a:solidFill>
              </a:rPr>
              <a:t> storage </a:t>
            </a:r>
            <a:r>
              <a:rPr lang="en-US" sz="1200" b="1" dirty="0">
                <a:solidFill>
                  <a:srgbClr val="0070C0"/>
                </a:solidFill>
              </a:rPr>
              <a:t>account keys list </a:t>
            </a:r>
            <a:r>
              <a:rPr lang="en-US" sz="1200" dirty="0">
                <a:solidFill>
                  <a:srgbClr val="0070C0"/>
                </a:solidFill>
              </a:rPr>
              <a:t>--resource-group we45-resourcegroup --account-name </a:t>
            </a:r>
            <a:r>
              <a:rPr lang="en-US" sz="1200" b="1" dirty="0" err="1">
                <a:solidFill>
                  <a:srgbClr val="0070C0"/>
                </a:solidFill>
              </a:rPr>
              <a:t>izadlswe</a:t>
            </a:r>
            <a:r>
              <a:rPr lang="en-US" sz="1200" dirty="0">
                <a:solidFill>
                  <a:srgbClr val="0070C0"/>
                </a:solidFill>
              </a:rPr>
              <a:t> --output table</a:t>
            </a:r>
          </a:p>
          <a:p>
            <a:endParaRPr lang="en-US" sz="1200" b="1" i="1" dirty="0"/>
          </a:p>
          <a:p>
            <a:r>
              <a:rPr lang="en-US" sz="1200" b="1" i="1" dirty="0"/>
              <a:t>#To use the account key to perform container operations</a:t>
            </a:r>
            <a:endParaRPr lang="en-IN" sz="1200" b="1" i="1" dirty="0"/>
          </a:p>
          <a:p>
            <a:r>
              <a:rPr lang="en-US" sz="1200" b="1" i="1" dirty="0"/>
              <a:t>#Upload files</a:t>
            </a:r>
          </a:p>
          <a:p>
            <a:r>
              <a:rPr lang="en-US" sz="1200" dirty="0" err="1">
                <a:solidFill>
                  <a:srgbClr val="0070C0"/>
                </a:solidFill>
              </a:rPr>
              <a:t>az</a:t>
            </a:r>
            <a:r>
              <a:rPr lang="en-US" sz="1200" dirty="0">
                <a:solidFill>
                  <a:srgbClr val="0070C0"/>
                </a:solidFill>
              </a:rPr>
              <a:t> storage blob upload --container-name container2 --file mobile_trans.csv </a:t>
            </a:r>
            <a:r>
              <a:rPr lang="en-US" sz="1200" b="1" dirty="0">
                <a:solidFill>
                  <a:srgbClr val="0070C0"/>
                </a:solidFill>
              </a:rPr>
              <a:t>--name </a:t>
            </a:r>
            <a:r>
              <a:rPr lang="en-US" sz="1200" b="1" dirty="0" err="1">
                <a:solidFill>
                  <a:srgbClr val="0070C0"/>
                </a:solidFill>
              </a:rPr>
              <a:t>sampledir</a:t>
            </a:r>
            <a:r>
              <a:rPr lang="en-US" sz="1200" b="1" dirty="0">
                <a:solidFill>
                  <a:srgbClr val="0070C0"/>
                </a:solidFill>
              </a:rPr>
              <a:t>/</a:t>
            </a:r>
            <a:r>
              <a:rPr lang="en-US" sz="1200" b="1" dirty="0" err="1">
                <a:solidFill>
                  <a:srgbClr val="0070C0"/>
                </a:solidFill>
              </a:rPr>
              <a:t>localdir</a:t>
            </a:r>
            <a:r>
              <a:rPr lang="en-US" sz="1200" b="1" dirty="0">
                <a:solidFill>
                  <a:srgbClr val="0070C0"/>
                </a:solidFill>
              </a:rPr>
              <a:t>/gcpfile.csv </a:t>
            </a:r>
            <a:r>
              <a:rPr lang="en-US" sz="1200" dirty="0">
                <a:solidFill>
                  <a:srgbClr val="0070C0"/>
                </a:solidFill>
              </a:rPr>
              <a:t>--account-name </a:t>
            </a:r>
            <a:r>
              <a:rPr lang="en-US" sz="1200" dirty="0" err="1">
                <a:solidFill>
                  <a:srgbClr val="0070C0"/>
                </a:solidFill>
              </a:rPr>
              <a:t>izadlswe</a:t>
            </a:r>
            <a:r>
              <a:rPr lang="en-US" sz="1200" dirty="0">
                <a:solidFill>
                  <a:srgbClr val="0070C0"/>
                </a:solidFill>
              </a:rPr>
              <a:t>  </a:t>
            </a:r>
            <a:r>
              <a:rPr lang="en-US" sz="1200" b="1" dirty="0">
                <a:solidFill>
                  <a:srgbClr val="0070C0"/>
                </a:solidFill>
              </a:rPr>
              <a:t>--tier Hot</a:t>
            </a:r>
            <a:r>
              <a:rPr lang="en-IN" sz="1200" dirty="0">
                <a:solidFill>
                  <a:srgbClr val="0070C0"/>
                </a:solidFill>
              </a:rPr>
              <a:t> --</a:t>
            </a:r>
            <a:r>
              <a:rPr lang="en-IN" sz="1200" b="1" dirty="0">
                <a:solidFill>
                  <a:srgbClr val="0070C0"/>
                </a:solidFill>
              </a:rPr>
              <a:t>overwrite</a:t>
            </a:r>
            <a:r>
              <a:rPr lang="en-IN" sz="1200" dirty="0">
                <a:solidFill>
                  <a:srgbClr val="0070C0"/>
                </a:solidFill>
              </a:rPr>
              <a:t> --</a:t>
            </a:r>
            <a:r>
              <a:rPr lang="en-IN" sz="1200" b="1" dirty="0">
                <a:solidFill>
                  <a:srgbClr val="0070C0"/>
                </a:solidFill>
              </a:rPr>
              <a:t>account-key</a:t>
            </a:r>
            <a:r>
              <a:rPr lang="en-IN" sz="1200" dirty="0">
                <a:solidFill>
                  <a:srgbClr val="0070C0"/>
                </a:solidFill>
              </a:rPr>
              <a:t> "2WRJhCS5de3FQkBuKYJFPufmwtH5aZBJ2DHgKLC9BAYwPm40WyOge4wq12Zyxneb9zBbs2ld47HF+ASteHVZDg=="</a:t>
            </a:r>
          </a:p>
          <a:p>
            <a:endParaRPr lang="en-US" sz="1200" dirty="0">
              <a:solidFill>
                <a:srgbClr val="0070C0"/>
              </a:solidFill>
            </a:endParaRPr>
          </a:p>
          <a:p>
            <a:r>
              <a:rPr lang="en-US" sz="1200" b="1" i="1" dirty="0"/>
              <a:t>#Download files</a:t>
            </a:r>
          </a:p>
          <a:p>
            <a:r>
              <a:rPr lang="en-US" sz="1200" dirty="0" err="1">
                <a:solidFill>
                  <a:srgbClr val="0070C0"/>
                </a:solidFill>
              </a:rPr>
              <a:t>az</a:t>
            </a:r>
            <a:r>
              <a:rPr lang="en-US" sz="1200" dirty="0">
                <a:solidFill>
                  <a:srgbClr val="0070C0"/>
                </a:solidFill>
              </a:rPr>
              <a:t> storage blob download --container-name container2 --name </a:t>
            </a:r>
            <a:r>
              <a:rPr lang="en-US" sz="1200" dirty="0" err="1">
                <a:solidFill>
                  <a:srgbClr val="0070C0"/>
                </a:solidFill>
              </a:rPr>
              <a:t>sampledir</a:t>
            </a:r>
            <a:r>
              <a:rPr lang="en-US" sz="1200" dirty="0">
                <a:solidFill>
                  <a:srgbClr val="0070C0"/>
                </a:solidFill>
              </a:rPr>
              <a:t>/</a:t>
            </a:r>
            <a:r>
              <a:rPr lang="en-US" sz="1200" dirty="0" err="1">
                <a:solidFill>
                  <a:srgbClr val="0070C0"/>
                </a:solidFill>
              </a:rPr>
              <a:t>localdir</a:t>
            </a:r>
            <a:r>
              <a:rPr lang="en-US" sz="1200" dirty="0">
                <a:solidFill>
                  <a:srgbClr val="0070C0"/>
                </a:solidFill>
              </a:rPr>
              <a:t>/samplefile1 --file </a:t>
            </a:r>
            <a:r>
              <a:rPr lang="en-IN" sz="1200" dirty="0">
                <a:solidFill>
                  <a:srgbClr val="0070C0"/>
                </a:solidFill>
              </a:rPr>
              <a:t>samplefile3</a:t>
            </a:r>
            <a:r>
              <a:rPr lang="en-US" sz="1200" dirty="0">
                <a:solidFill>
                  <a:srgbClr val="0070C0"/>
                </a:solidFill>
              </a:rPr>
              <a:t> --account-name </a:t>
            </a:r>
            <a:r>
              <a:rPr lang="en-US" sz="1200" dirty="0" err="1">
                <a:solidFill>
                  <a:srgbClr val="0070C0"/>
                </a:solidFill>
              </a:rPr>
              <a:t>izadlswe</a:t>
            </a:r>
            <a:r>
              <a:rPr lang="en-US" sz="1200" dirty="0">
                <a:solidFill>
                  <a:srgbClr val="0070C0"/>
                </a:solidFill>
              </a:rPr>
              <a:t> --account-key </a:t>
            </a:r>
            <a:r>
              <a:rPr lang="en-IN" sz="1200" dirty="0">
                <a:solidFill>
                  <a:srgbClr val="0070C0"/>
                </a:solidFill>
              </a:rPr>
              <a:t>"2WRJhCS5de3FQkBuKYJFPufmwtH5aZBJ2DHgKLC9BAYwPm40WyOge4wq12Zyxneb9zBbs2ld47HF+ASteHVZDg=="</a:t>
            </a:r>
            <a:endParaRPr lang="en-US" sz="1200" u="sng" dirty="0">
              <a:ln w="10541" cmpd="sng">
                <a:solidFill>
                  <a:srgbClr val="7D7D7D">
                    <a:tint val="100000"/>
                    <a:shade val="100000"/>
                    <a:satMod val="110000"/>
                  </a:srgbClr>
                </a:solidFill>
                <a:prstDash val="solid"/>
              </a:ln>
              <a:solidFill>
                <a:srgbClr val="0070C0"/>
              </a:solidFill>
            </a:endParaRPr>
          </a:p>
        </p:txBody>
      </p:sp>
      <p:sp>
        <p:nvSpPr>
          <p:cNvPr id="2" name="Rectangle 1"/>
          <p:cNvSpPr/>
          <p:nvPr/>
        </p:nvSpPr>
        <p:spPr>
          <a:xfrm>
            <a:off x="5895926" y="180929"/>
            <a:ext cx="2291012" cy="400110"/>
          </a:xfrm>
          <a:prstGeom prst="rect">
            <a:avLst/>
          </a:prstGeom>
        </p:spPr>
        <p:txBody>
          <a:bodyPr wrap="none">
            <a:spAutoFit/>
          </a:bodyPr>
          <a:lstStyle/>
          <a:p>
            <a:r>
              <a:rPr lang="en-US" sz="2000" i="1" u="sng" dirty="0">
                <a:effectLst>
                  <a:outerShdw blurRad="38100" dist="38100" dir="2700000" algn="tl">
                    <a:srgbClr val="000000">
                      <a:alpha val="43137"/>
                    </a:srgbClr>
                  </a:outerShdw>
                </a:effectLst>
              </a:rPr>
              <a:t>Classroom - Practice</a:t>
            </a:r>
            <a:endParaRPr lang="en-IN" sz="2000" dirty="0"/>
          </a:p>
        </p:txBody>
      </p:sp>
      <p:pic>
        <p:nvPicPr>
          <p:cNvPr id="14" name="Picture 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837050" y="6428554"/>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11">
            <p14:nvContentPartPr>
              <p14:cNvPr id="4" name="Ink 3"/>
              <p14:cNvContentPartPr/>
              <p14:nvPr/>
            </p14:nvContentPartPr>
            <p14:xfrm>
              <a:off x="260280" y="2400120"/>
              <a:ext cx="25920" cy="1835640"/>
            </p14:xfrm>
          </p:contentPart>
        </mc:Choice>
        <mc:Fallback xmlns="">
          <p:pic>
            <p:nvPicPr>
              <p:cNvPr id="4" name="Ink 3"/>
              <p:cNvPicPr/>
              <p:nvPr/>
            </p:nvPicPr>
            <p:blipFill>
              <a:blip r:embed="rId15"/>
              <a:stretch>
                <a:fillRect/>
              </a:stretch>
            </p:blipFill>
            <p:spPr>
              <a:xfrm>
                <a:off x="250920" y="2390760"/>
                <a:ext cx="44640" cy="1854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Ink 6"/>
              <p14:cNvContentPartPr/>
              <p14:nvPr/>
            </p14:nvContentPartPr>
            <p14:xfrm>
              <a:off x="7759800" y="4838760"/>
              <a:ext cx="360" cy="360"/>
            </p14:xfrm>
          </p:contentPart>
        </mc:Choice>
        <mc:Fallback xmlns="">
          <p:pic>
            <p:nvPicPr>
              <p:cNvPr id="7" name="Ink 6"/>
              <p:cNvPicPr/>
              <p:nvPr/>
            </p:nvPicPr>
            <p:blipFill>
              <a:blip r:embed="rId17"/>
              <a:stretch>
                <a:fillRect/>
              </a:stretch>
            </p:blipFill>
            <p:spPr>
              <a:xfrm>
                <a:off x="7750440" y="4829400"/>
                <a:ext cx="19080" cy="19080"/>
              </a:xfrm>
              <a:prstGeom prst="rect">
                <a:avLst/>
              </a:prstGeom>
            </p:spPr>
          </p:pic>
        </mc:Fallback>
      </mc:AlternateContent>
      <p:sp>
        <p:nvSpPr>
          <p:cNvPr id="3" name="Rectangle 2"/>
          <p:cNvSpPr/>
          <p:nvPr/>
        </p:nvSpPr>
        <p:spPr>
          <a:xfrm>
            <a:off x="-2567" y="3184961"/>
            <a:ext cx="4559197" cy="369332"/>
          </a:xfrm>
          <a:prstGeom prst="rect">
            <a:avLst/>
          </a:prstGeom>
        </p:spPr>
        <p:txBody>
          <a:bodyPr wrap="none">
            <a:spAutoFit/>
          </a:bodyPr>
          <a:lstStyle/>
          <a:p>
            <a:r>
              <a:rPr lang="en-US" b="1" u="sng" dirty="0">
                <a:ln w="10541" cmpd="sng">
                  <a:solidFill>
                    <a:srgbClr val="7D7D7D">
                      <a:tint val="100000"/>
                      <a:shade val="100000"/>
                      <a:satMod val="110000"/>
                    </a:srgbClr>
                  </a:solidFill>
                  <a:prstDash val="solid"/>
                </a:ln>
              </a:rPr>
              <a:t>Performance improvement &amp; </a:t>
            </a:r>
            <a:r>
              <a:rPr lang="en-US" b="1" u="sng" dirty="0" err="1">
                <a:ln w="10541" cmpd="sng">
                  <a:solidFill>
                    <a:srgbClr val="7D7D7D">
                      <a:tint val="100000"/>
                      <a:shade val="100000"/>
                      <a:satMod val="110000"/>
                    </a:srgbClr>
                  </a:solidFill>
                  <a:prstDash val="solid"/>
                </a:ln>
              </a:rPr>
              <a:t>misc</a:t>
            </a:r>
            <a:r>
              <a:rPr lang="en-US" b="1" u="sng" dirty="0">
                <a:ln w="10541" cmpd="sng">
                  <a:solidFill>
                    <a:srgbClr val="7D7D7D">
                      <a:tint val="100000"/>
                      <a:shade val="100000"/>
                      <a:satMod val="110000"/>
                    </a:srgbClr>
                  </a:solidFill>
                  <a:prstDash val="solid"/>
                </a:ln>
              </a:rPr>
              <a:t> commands</a:t>
            </a:r>
          </a:p>
        </p:txBody>
      </p:sp>
      <p:sp>
        <p:nvSpPr>
          <p:cNvPr id="8" name="Rectangle 7"/>
          <p:cNvSpPr/>
          <p:nvPr/>
        </p:nvSpPr>
        <p:spPr>
          <a:xfrm>
            <a:off x="15363" y="3464080"/>
            <a:ext cx="12176637" cy="3216265"/>
          </a:xfrm>
          <a:prstGeom prst="rect">
            <a:avLst/>
          </a:prstGeom>
        </p:spPr>
        <p:txBody>
          <a:bodyPr wrap="square">
            <a:spAutoFit/>
          </a:bodyPr>
          <a:lstStyle/>
          <a:p>
            <a:r>
              <a:rPr lang="en-IN" sz="1400" b="1" i="1" dirty="0"/>
              <a:t>Multi threaded &amp; recursive copy: </a:t>
            </a:r>
            <a:r>
              <a:rPr lang="en-IN" sz="1400" b="1" i="1" dirty="0">
                <a:solidFill>
                  <a:srgbClr val="C00000"/>
                </a:solidFill>
              </a:rPr>
              <a:t>– Performance factor</a:t>
            </a:r>
            <a:r>
              <a:rPr lang="en-IN" sz="1050" b="1" i="1" dirty="0">
                <a:solidFill>
                  <a:srgbClr val="C00000"/>
                </a:solidFill>
              </a:rPr>
              <a:t> </a:t>
            </a:r>
            <a:r>
              <a:rPr lang="en-IN" sz="1100" b="1" i="1" dirty="0">
                <a:solidFill>
                  <a:srgbClr val="C00000"/>
                </a:solidFill>
              </a:rPr>
              <a:t>  </a:t>
            </a:r>
            <a:r>
              <a:rPr lang="en-IN" sz="1200" b="1" strike="sngStrike" dirty="0" err="1">
                <a:solidFill>
                  <a:srgbClr val="0070C0"/>
                </a:solidFill>
              </a:rPr>
              <a:t>gsutil</a:t>
            </a:r>
            <a:r>
              <a:rPr lang="en-IN" sz="1200" b="1" strike="sngStrike" dirty="0">
                <a:solidFill>
                  <a:srgbClr val="0070C0"/>
                </a:solidFill>
              </a:rPr>
              <a:t> -m </a:t>
            </a:r>
            <a:r>
              <a:rPr lang="en-IN" sz="1200" b="1" strike="sngStrike" dirty="0" err="1">
                <a:solidFill>
                  <a:srgbClr val="0070C0"/>
                </a:solidFill>
              </a:rPr>
              <a:t>cp</a:t>
            </a:r>
            <a:r>
              <a:rPr lang="en-IN" sz="1200" b="1" strike="sngStrike" dirty="0">
                <a:solidFill>
                  <a:srgbClr val="0070C0"/>
                </a:solidFill>
              </a:rPr>
              <a:t> -r /home/</a:t>
            </a:r>
            <a:r>
              <a:rPr lang="en-IN" sz="1200" b="1" strike="sngStrike" dirty="0" err="1">
                <a:solidFill>
                  <a:srgbClr val="0070C0"/>
                </a:solidFill>
              </a:rPr>
              <a:t>hduser</a:t>
            </a:r>
            <a:r>
              <a:rPr lang="en-IN" sz="1200" b="1" strike="sngStrike" dirty="0">
                <a:solidFill>
                  <a:srgbClr val="0070C0"/>
                </a:solidFill>
              </a:rPr>
              <a:t>/hive/data/</a:t>
            </a:r>
            <a:r>
              <a:rPr lang="en-IN" sz="1200" b="1" strike="sngStrike" dirty="0" err="1">
                <a:solidFill>
                  <a:srgbClr val="0070C0"/>
                </a:solidFill>
              </a:rPr>
              <a:t>custs</a:t>
            </a:r>
            <a:r>
              <a:rPr lang="en-IN" sz="1200" b="1" strike="sngStrike" dirty="0">
                <a:solidFill>
                  <a:srgbClr val="0070C0"/>
                </a:solidFill>
              </a:rPr>
              <a:t> gs://source1-weblog-bucket-we43/datadir</a:t>
            </a:r>
          </a:p>
          <a:p>
            <a:r>
              <a:rPr lang="en-IN" sz="1200" dirty="0" err="1">
                <a:solidFill>
                  <a:srgbClr val="0070C0"/>
                </a:solidFill>
              </a:rPr>
              <a:t>az</a:t>
            </a:r>
            <a:r>
              <a:rPr lang="en-IN" sz="1200" dirty="0">
                <a:solidFill>
                  <a:srgbClr val="0070C0"/>
                </a:solidFill>
              </a:rPr>
              <a:t> storage blob </a:t>
            </a:r>
            <a:r>
              <a:rPr lang="en-IN" sz="1200" b="1" dirty="0">
                <a:solidFill>
                  <a:srgbClr val="0070C0"/>
                </a:solidFill>
              </a:rPr>
              <a:t>upload-batch</a:t>
            </a:r>
            <a:r>
              <a:rPr lang="en-IN" sz="1200" dirty="0">
                <a:solidFill>
                  <a:srgbClr val="0070C0"/>
                </a:solidFill>
              </a:rPr>
              <a:t> --source </a:t>
            </a:r>
            <a:r>
              <a:rPr lang="en-IN" sz="1200" dirty="0" err="1">
                <a:solidFill>
                  <a:srgbClr val="0070C0"/>
                </a:solidFill>
              </a:rPr>
              <a:t>localdir</a:t>
            </a:r>
            <a:r>
              <a:rPr lang="en-IN" sz="1200" dirty="0">
                <a:solidFill>
                  <a:srgbClr val="0070C0"/>
                </a:solidFill>
              </a:rPr>
              <a:t> --destination container2/</a:t>
            </a:r>
            <a:r>
              <a:rPr lang="en-IN" sz="1200" dirty="0" err="1">
                <a:solidFill>
                  <a:srgbClr val="0070C0"/>
                </a:solidFill>
              </a:rPr>
              <a:t>sampledir</a:t>
            </a:r>
            <a:r>
              <a:rPr lang="en-IN" sz="1200" dirty="0">
                <a:solidFill>
                  <a:srgbClr val="0070C0"/>
                </a:solidFill>
              </a:rPr>
              <a:t>/</a:t>
            </a:r>
            <a:r>
              <a:rPr lang="en-IN" sz="1200" dirty="0" err="1">
                <a:solidFill>
                  <a:srgbClr val="0070C0"/>
                </a:solidFill>
              </a:rPr>
              <a:t>localdir</a:t>
            </a:r>
            <a:r>
              <a:rPr lang="en-IN" sz="1200" dirty="0">
                <a:solidFill>
                  <a:srgbClr val="0070C0"/>
                </a:solidFill>
              </a:rPr>
              <a:t>/</a:t>
            </a:r>
            <a:r>
              <a:rPr lang="en-IN" sz="1200" dirty="0" err="1">
                <a:solidFill>
                  <a:srgbClr val="0070C0"/>
                </a:solidFill>
              </a:rPr>
              <a:t>targetdir</a:t>
            </a:r>
            <a:r>
              <a:rPr lang="en-IN" sz="1200" dirty="0">
                <a:solidFill>
                  <a:srgbClr val="0070C0"/>
                </a:solidFill>
              </a:rPr>
              <a:t> --account-name </a:t>
            </a:r>
            <a:r>
              <a:rPr lang="en-US" sz="1200" dirty="0" err="1">
                <a:solidFill>
                  <a:srgbClr val="0070C0"/>
                </a:solidFill>
              </a:rPr>
              <a:t>izadlswe</a:t>
            </a:r>
            <a:r>
              <a:rPr lang="en-IN" sz="1200" dirty="0">
                <a:solidFill>
                  <a:srgbClr val="0070C0"/>
                </a:solidFill>
              </a:rPr>
              <a:t>  --account-key "2WRJhCS5de3FQkBuKYJFPufmwtH5aZBJ2DHgKLC9BAYwPm40WyOge4wq12Zyxneb9zBbs2ld47HF+ASteHVZDg=="</a:t>
            </a:r>
            <a:endParaRPr lang="en-IN" sz="1100" dirty="0">
              <a:solidFill>
                <a:srgbClr val="0070C0"/>
              </a:solidFill>
            </a:endParaRPr>
          </a:p>
          <a:p>
            <a:endParaRPr lang="en-US" sz="1100" b="1" dirty="0"/>
          </a:p>
          <a:p>
            <a:r>
              <a:rPr lang="en-IN" sz="1100" b="1" i="1" dirty="0"/>
              <a:t>Remove Command</a:t>
            </a:r>
          </a:p>
          <a:p>
            <a:r>
              <a:rPr lang="en-US" sz="1200" b="1" i="1" dirty="0"/>
              <a:t>#Remove an object/file</a:t>
            </a:r>
          </a:p>
          <a:p>
            <a:r>
              <a:rPr lang="en-US" sz="1200" dirty="0" err="1">
                <a:solidFill>
                  <a:srgbClr val="0070C0"/>
                </a:solidFill>
              </a:rPr>
              <a:t>az</a:t>
            </a:r>
            <a:r>
              <a:rPr lang="en-US" sz="1200" dirty="0">
                <a:solidFill>
                  <a:srgbClr val="0070C0"/>
                </a:solidFill>
              </a:rPr>
              <a:t> storage blob delete --container-name container2 --name </a:t>
            </a:r>
            <a:r>
              <a:rPr lang="en-US" sz="1200" dirty="0" err="1">
                <a:solidFill>
                  <a:srgbClr val="0070C0"/>
                </a:solidFill>
              </a:rPr>
              <a:t>sampledir</a:t>
            </a:r>
            <a:r>
              <a:rPr lang="en-US" sz="1200" dirty="0">
                <a:solidFill>
                  <a:srgbClr val="0070C0"/>
                </a:solidFill>
              </a:rPr>
              <a:t>/</a:t>
            </a:r>
            <a:r>
              <a:rPr lang="en-US" sz="1200" dirty="0" err="1">
                <a:solidFill>
                  <a:srgbClr val="0070C0"/>
                </a:solidFill>
              </a:rPr>
              <a:t>localdir</a:t>
            </a:r>
            <a:r>
              <a:rPr lang="en-US" sz="1200" dirty="0">
                <a:solidFill>
                  <a:srgbClr val="0070C0"/>
                </a:solidFill>
              </a:rPr>
              <a:t>/samplefile1 --account-name </a:t>
            </a:r>
            <a:r>
              <a:rPr lang="en-US" sz="1200" dirty="0" err="1">
                <a:solidFill>
                  <a:srgbClr val="0070C0"/>
                </a:solidFill>
              </a:rPr>
              <a:t>izadlswe</a:t>
            </a:r>
            <a:r>
              <a:rPr lang="en-US" sz="1200" dirty="0">
                <a:solidFill>
                  <a:srgbClr val="0070C0"/>
                </a:solidFill>
              </a:rPr>
              <a:t> --account-key </a:t>
            </a:r>
            <a:r>
              <a:rPr lang="en-IN" sz="1200" dirty="0">
                <a:solidFill>
                  <a:srgbClr val="0070C0"/>
                </a:solidFill>
              </a:rPr>
              <a:t>"2WRJhCS5de3FQkBuKYJFPufmwtH5aZBJ2DHgKLC9BAYwPm40WyOge4wq12Zyxneb9zBbs2ld47HF+ASteHVZDg=="</a:t>
            </a:r>
            <a:endParaRPr lang="en-US" sz="1200" dirty="0">
              <a:solidFill>
                <a:srgbClr val="0070C0"/>
              </a:solidFill>
            </a:endParaRPr>
          </a:p>
          <a:p>
            <a:endParaRPr lang="en-US" sz="1200" b="1" dirty="0">
              <a:solidFill>
                <a:srgbClr val="0070C0"/>
              </a:solidFill>
            </a:endParaRPr>
          </a:p>
          <a:p>
            <a:r>
              <a:rPr lang="en-US" sz="1200" b="1" i="1" dirty="0"/>
              <a:t># List and delete all blobs in the container</a:t>
            </a:r>
            <a:r>
              <a:rPr lang="en-US" sz="1200" i="1" dirty="0"/>
              <a:t> </a:t>
            </a:r>
          </a:p>
          <a:p>
            <a:r>
              <a:rPr lang="en-US" sz="1200" dirty="0" err="1">
                <a:solidFill>
                  <a:srgbClr val="0070C0"/>
                </a:solidFill>
              </a:rPr>
              <a:t>az</a:t>
            </a:r>
            <a:r>
              <a:rPr lang="en-US" sz="1200" dirty="0">
                <a:solidFill>
                  <a:srgbClr val="0070C0"/>
                </a:solidFill>
              </a:rPr>
              <a:t> storage blob list --account-name </a:t>
            </a:r>
            <a:r>
              <a:rPr lang="en-US" sz="1200" dirty="0" err="1">
                <a:solidFill>
                  <a:srgbClr val="0070C0"/>
                </a:solidFill>
              </a:rPr>
              <a:t>izadlswe</a:t>
            </a:r>
            <a:r>
              <a:rPr lang="en-US" sz="1200" dirty="0">
                <a:solidFill>
                  <a:srgbClr val="0070C0"/>
                </a:solidFill>
              </a:rPr>
              <a:t> --container-name container2 --output table</a:t>
            </a:r>
            <a:endParaRPr lang="en-US" sz="1200" i="1" dirty="0"/>
          </a:p>
          <a:p>
            <a:r>
              <a:rPr lang="en-US" sz="1200" dirty="0" err="1">
                <a:solidFill>
                  <a:srgbClr val="0070C0"/>
                </a:solidFill>
              </a:rPr>
              <a:t>az</a:t>
            </a:r>
            <a:r>
              <a:rPr lang="en-US" sz="1200" dirty="0">
                <a:solidFill>
                  <a:srgbClr val="0070C0"/>
                </a:solidFill>
              </a:rPr>
              <a:t> storage blob </a:t>
            </a:r>
            <a:r>
              <a:rPr lang="en-US" sz="1200" b="1" dirty="0">
                <a:solidFill>
                  <a:srgbClr val="0070C0"/>
                </a:solidFill>
              </a:rPr>
              <a:t>delete-batch</a:t>
            </a:r>
            <a:r>
              <a:rPr lang="en-US" sz="1200" dirty="0">
                <a:solidFill>
                  <a:srgbClr val="0070C0"/>
                </a:solidFill>
              </a:rPr>
              <a:t> --source </a:t>
            </a:r>
            <a:r>
              <a:rPr lang="en-IN" sz="1200" dirty="0">
                <a:solidFill>
                  <a:srgbClr val="0070C0"/>
                </a:solidFill>
              </a:rPr>
              <a:t>container2 </a:t>
            </a:r>
            <a:r>
              <a:rPr lang="en-US" sz="1200" dirty="0">
                <a:solidFill>
                  <a:srgbClr val="0070C0"/>
                </a:solidFill>
              </a:rPr>
              <a:t>--account-name </a:t>
            </a:r>
            <a:r>
              <a:rPr lang="en-IN" sz="1200" dirty="0" err="1">
                <a:solidFill>
                  <a:srgbClr val="0070C0"/>
                </a:solidFill>
              </a:rPr>
              <a:t>izadlswe</a:t>
            </a:r>
            <a:r>
              <a:rPr lang="en-US" sz="1200" dirty="0">
                <a:solidFill>
                  <a:srgbClr val="0070C0"/>
                </a:solidFill>
              </a:rPr>
              <a:t>  --account-key </a:t>
            </a:r>
            <a:r>
              <a:rPr lang="en-IN" sz="1200" dirty="0">
                <a:solidFill>
                  <a:srgbClr val="0070C0"/>
                </a:solidFill>
              </a:rPr>
              <a:t>"2WRJhCS5de3FQkBuKYJFPufmwtH5aZBJ2DHgKLC9BAYwPm40WyOge4wq12Zyxneb9zBbs2ld47HF+ASteHVZDg=="</a:t>
            </a:r>
            <a:endParaRPr lang="en-US" sz="1100" dirty="0">
              <a:solidFill>
                <a:srgbClr val="0070C0"/>
              </a:solidFill>
            </a:endParaRPr>
          </a:p>
          <a:p>
            <a:endParaRPr lang="en-US" sz="1100" b="1" i="1" dirty="0"/>
          </a:p>
          <a:p>
            <a:r>
              <a:rPr lang="en-US" sz="1200" b="1" i="1" dirty="0"/>
              <a:t># Delete the container itself </a:t>
            </a:r>
          </a:p>
          <a:p>
            <a:r>
              <a:rPr lang="en-US" sz="1200" strike="sngStrike" dirty="0" err="1">
                <a:solidFill>
                  <a:srgbClr val="0070C0"/>
                </a:solidFill>
              </a:rPr>
              <a:t>az</a:t>
            </a:r>
            <a:r>
              <a:rPr lang="en-US" sz="1200" strike="sngStrike" dirty="0">
                <a:solidFill>
                  <a:srgbClr val="0070C0"/>
                </a:solidFill>
              </a:rPr>
              <a:t> storage container delete --name </a:t>
            </a:r>
            <a:r>
              <a:rPr lang="en-IN" sz="1200" strike="sngStrike" dirty="0">
                <a:solidFill>
                  <a:srgbClr val="0070C0"/>
                </a:solidFill>
              </a:rPr>
              <a:t>container1</a:t>
            </a:r>
            <a:r>
              <a:rPr lang="en-US" sz="1200" strike="sngStrike" dirty="0">
                <a:solidFill>
                  <a:srgbClr val="0070C0"/>
                </a:solidFill>
              </a:rPr>
              <a:t> --account-name </a:t>
            </a:r>
            <a:r>
              <a:rPr lang="en-IN" sz="1200" strike="sngStrike" dirty="0" err="1">
                <a:solidFill>
                  <a:srgbClr val="0070C0"/>
                </a:solidFill>
              </a:rPr>
              <a:t>izadlswe</a:t>
            </a:r>
            <a:r>
              <a:rPr lang="en-US" sz="1200" strike="sngStrike" dirty="0">
                <a:solidFill>
                  <a:srgbClr val="0070C0"/>
                </a:solidFill>
              </a:rPr>
              <a:t>  --account-key </a:t>
            </a:r>
            <a:r>
              <a:rPr lang="en-IN" sz="1200" strike="sngStrike" dirty="0">
                <a:solidFill>
                  <a:srgbClr val="0070C0"/>
                </a:solidFill>
              </a:rPr>
              <a:t>"9uKGi3d0CcRMw5WdHHUmoBGot2+VUICJBZFp4BqRwx/q8wUK38YyRru892602EUG7d2d9i+G7MEE+AStp4MmXA=="</a:t>
            </a:r>
            <a:endParaRPr lang="en-US" sz="1200" strike="sngStrike" dirty="0">
              <a:solidFill>
                <a:srgbClr val="0070C0"/>
              </a:solidFill>
            </a:endParaRPr>
          </a:p>
        </p:txBody>
      </p:sp>
    </p:spTree>
    <p:extLst>
      <p:ext uri="{BB962C8B-B14F-4D97-AF65-F5344CB8AC3E}">
        <p14:creationId xmlns:p14="http://schemas.microsoft.com/office/powerpoint/2010/main" val="3344433616"/>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200644" y="523156"/>
            <a:ext cx="11618462" cy="369332"/>
          </a:xfrm>
          <a:prstGeom prst="rect">
            <a:avLst/>
          </a:prstGeom>
          <a:noFill/>
        </p:spPr>
        <p:txBody>
          <a:bodyPr wrap="square" lIns="91440" tIns="45720" rIns="91440" bIns="45720">
            <a:spAutoFit/>
          </a:bodyPr>
          <a:lstStyle/>
          <a:p>
            <a:r>
              <a:rPr lang="en-US" b="1" u="sng" cap="none" spc="0" dirty="0">
                <a:ln w="10541" cmpd="sng">
                  <a:solidFill>
                    <a:srgbClr val="7D7D7D">
                      <a:tint val="100000"/>
                      <a:shade val="100000"/>
                      <a:satMod val="110000"/>
                    </a:srgbClr>
                  </a:solidFill>
                  <a:prstDash val="solid"/>
                </a:ln>
                <a:effectLst/>
              </a:rPr>
              <a:t>Security Commands (Access Controls) – </a:t>
            </a:r>
            <a:r>
              <a:rPr lang="en-US" sz="1200" cap="none" spc="0" dirty="0">
                <a:ln w="10541" cmpd="sng">
                  <a:solidFill>
                    <a:srgbClr val="7D7D7D">
                      <a:tint val="100000"/>
                      <a:shade val="100000"/>
                      <a:satMod val="110000"/>
                    </a:srgbClr>
                  </a:solidFill>
                  <a:prstDash val="solid"/>
                </a:ln>
                <a:effectLst/>
              </a:rPr>
              <a:t>Group</a:t>
            </a:r>
            <a:r>
              <a:rPr lang="en-US" sz="1200" b="1" cap="none" spc="0" dirty="0">
                <a:ln w="10541" cmpd="sng">
                  <a:solidFill>
                    <a:srgbClr val="7D7D7D">
                      <a:tint val="100000"/>
                      <a:shade val="100000"/>
                      <a:satMod val="110000"/>
                    </a:srgbClr>
                  </a:solidFill>
                  <a:prstDash val="solid"/>
                </a:ln>
                <a:effectLst/>
              </a:rPr>
              <a:t> </a:t>
            </a:r>
            <a:r>
              <a:rPr lang="en-US" sz="1200" cap="none" spc="0" dirty="0">
                <a:ln w="10541" cmpd="sng">
                  <a:solidFill>
                    <a:srgbClr val="7D7D7D">
                      <a:tint val="100000"/>
                      <a:shade val="100000"/>
                      <a:satMod val="110000"/>
                    </a:srgbClr>
                  </a:solidFill>
                  <a:prstDash val="solid"/>
                </a:ln>
                <a:effectLst/>
              </a:rPr>
              <a:t>-&gt; Users -&gt; Service P</a:t>
            </a:r>
            <a:r>
              <a:rPr lang="en-US" sz="1200" dirty="0">
                <a:ln w="10541" cmpd="sng">
                  <a:solidFill>
                    <a:srgbClr val="7D7D7D">
                      <a:tint val="100000"/>
                      <a:shade val="100000"/>
                      <a:satMod val="110000"/>
                    </a:srgbClr>
                  </a:solidFill>
                  <a:prstDash val="solid"/>
                </a:ln>
              </a:rPr>
              <a:t>rincipals -&gt; RBAC (IAM) -&gt; Open to internal resource </a:t>
            </a:r>
            <a:r>
              <a:rPr lang="en-US" sz="1200" cap="none" spc="0" dirty="0">
                <a:ln w="10541" cmpd="sng">
                  <a:solidFill>
                    <a:srgbClr val="7D7D7D">
                      <a:tint val="100000"/>
                      <a:shade val="100000"/>
                      <a:satMod val="110000"/>
                    </a:srgbClr>
                  </a:solidFill>
                  <a:prstDash val="solid"/>
                </a:ln>
                <a:effectLst/>
              </a:rPr>
              <a:t>Acct key/ Open to outside SAS(ACLs)</a:t>
            </a:r>
          </a:p>
        </p:txBody>
      </p:sp>
      <p:pic>
        <p:nvPicPr>
          <p:cNvPr id="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92940" y="6482640"/>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192235" y="864200"/>
            <a:ext cx="10544659" cy="4616648"/>
          </a:xfrm>
          <a:prstGeom prst="rect">
            <a:avLst/>
          </a:prstGeom>
          <a:noFill/>
        </p:spPr>
        <p:txBody>
          <a:bodyPr wrap="square" rtlCol="0">
            <a:spAutoFit/>
          </a:bodyPr>
          <a:lstStyle/>
          <a:p>
            <a:r>
              <a:rPr lang="en-IN" sz="1200" b="1" u="sng" dirty="0"/>
              <a:t>Access Controls:</a:t>
            </a:r>
          </a:p>
          <a:p>
            <a:r>
              <a:rPr lang="en-US" sz="1200" b="1" u="sng" dirty="0"/>
              <a:t>Create Shared Access Signature (</a:t>
            </a:r>
            <a:r>
              <a:rPr lang="en-US" sz="1200" b="1" dirty="0"/>
              <a:t>SAS) Tokens</a:t>
            </a:r>
            <a:r>
              <a:rPr lang="en-US" sz="1200" dirty="0"/>
              <a:t> (For granting temporary access directly on the directories/files for a time being for external users) </a:t>
            </a:r>
            <a:r>
              <a:rPr lang="en-US" sz="1200" b="1" i="1" dirty="0"/>
              <a:t>- ACLs</a:t>
            </a:r>
          </a:p>
          <a:p>
            <a:r>
              <a:rPr lang="en-IN" sz="1200" dirty="0" err="1">
                <a:solidFill>
                  <a:srgbClr val="0070C0"/>
                </a:solidFill>
              </a:rPr>
              <a:t>az</a:t>
            </a:r>
            <a:r>
              <a:rPr lang="en-IN" sz="1200" dirty="0">
                <a:solidFill>
                  <a:srgbClr val="0070C0"/>
                </a:solidFill>
              </a:rPr>
              <a:t> storage blob </a:t>
            </a:r>
            <a:r>
              <a:rPr lang="en-IN" sz="1200" b="1" dirty="0">
                <a:solidFill>
                  <a:srgbClr val="0070C0"/>
                </a:solidFill>
              </a:rPr>
              <a:t>generate-</a:t>
            </a:r>
            <a:r>
              <a:rPr lang="en-IN" sz="1200" b="1" dirty="0" err="1">
                <a:solidFill>
                  <a:srgbClr val="0070C0"/>
                </a:solidFill>
              </a:rPr>
              <a:t>sas</a:t>
            </a:r>
            <a:r>
              <a:rPr lang="en-IN" sz="1200" dirty="0">
                <a:solidFill>
                  <a:srgbClr val="0070C0"/>
                </a:solidFill>
              </a:rPr>
              <a:t>   --account-name </a:t>
            </a:r>
            <a:r>
              <a:rPr lang="en-IN" sz="1200" dirty="0" err="1">
                <a:solidFill>
                  <a:srgbClr val="0070C0"/>
                </a:solidFill>
              </a:rPr>
              <a:t>izadlswe</a:t>
            </a:r>
            <a:r>
              <a:rPr lang="en-IN" sz="1200" dirty="0">
                <a:solidFill>
                  <a:srgbClr val="0070C0"/>
                </a:solidFill>
              </a:rPr>
              <a:t>   --container-name container2   --name </a:t>
            </a:r>
            <a:r>
              <a:rPr lang="en-IN" sz="1200" dirty="0" err="1">
                <a:solidFill>
                  <a:srgbClr val="0070C0"/>
                </a:solidFill>
              </a:rPr>
              <a:t>sampledir</a:t>
            </a:r>
            <a:r>
              <a:rPr lang="en-IN" sz="1200" dirty="0">
                <a:solidFill>
                  <a:srgbClr val="0070C0"/>
                </a:solidFill>
              </a:rPr>
              <a:t>/samplefile1   --permissions r   --expiry 2025-08-31T23:59:59Z   --output table</a:t>
            </a:r>
          </a:p>
          <a:p>
            <a:r>
              <a:rPr lang="en-US" sz="1200" dirty="0">
                <a:solidFill>
                  <a:srgbClr val="0070C0"/>
                </a:solidFill>
              </a:rPr>
              <a:t>#se=2024-08-31T23%3A59%3A59Z&amp;sp=</a:t>
            </a:r>
            <a:r>
              <a:rPr lang="en-US" sz="1200" dirty="0" err="1">
                <a:solidFill>
                  <a:srgbClr val="0070C0"/>
                </a:solidFill>
              </a:rPr>
              <a:t>r&amp;sv</a:t>
            </a:r>
            <a:r>
              <a:rPr lang="en-US" sz="1200" dirty="0">
                <a:solidFill>
                  <a:srgbClr val="0070C0"/>
                </a:solidFill>
              </a:rPr>
              <a:t>=2022-11-02&amp;sr=</a:t>
            </a:r>
            <a:r>
              <a:rPr lang="en-US" sz="1200" dirty="0" err="1">
                <a:solidFill>
                  <a:srgbClr val="0070C0"/>
                </a:solidFill>
              </a:rPr>
              <a:t>b&amp;sig</a:t>
            </a:r>
            <a:r>
              <a:rPr lang="en-US" sz="1200" dirty="0">
                <a:solidFill>
                  <a:srgbClr val="0070C0"/>
                </a:solidFill>
              </a:rPr>
              <a:t>=cf6xI1y4pwBsnwt2ogwT7dQ%2FKB8SGk8wdAlHnTgTCug%3D</a:t>
            </a:r>
            <a:endParaRPr lang="en-IN" sz="1200" dirty="0">
              <a:solidFill>
                <a:srgbClr val="0070C0"/>
              </a:solidFill>
            </a:endParaRPr>
          </a:p>
          <a:p>
            <a:endParaRPr lang="en-US" sz="1200" b="1" i="1" dirty="0"/>
          </a:p>
          <a:p>
            <a:r>
              <a:rPr lang="en-US" sz="1200" b="1" u="sng" dirty="0"/>
              <a:t>Usage of </a:t>
            </a:r>
            <a:r>
              <a:rPr lang="en-US" sz="1200" b="1" dirty="0"/>
              <a:t>Access/Account keys </a:t>
            </a:r>
            <a:r>
              <a:rPr lang="en-US" sz="1200" dirty="0"/>
              <a:t>(For using </a:t>
            </a:r>
            <a:r>
              <a:rPr lang="en-US" sz="1200" b="1" i="1" dirty="0"/>
              <a:t>internally </a:t>
            </a:r>
            <a:r>
              <a:rPr lang="en-US" sz="1200" dirty="0"/>
              <a:t>in a closed project environment for nearly a month across the resources like </a:t>
            </a:r>
            <a:r>
              <a:rPr lang="en-US" sz="1200" dirty="0" err="1"/>
              <a:t>datafactory</a:t>
            </a:r>
            <a:r>
              <a:rPr lang="en-US" sz="1200" dirty="0"/>
              <a:t> -&gt; </a:t>
            </a:r>
            <a:r>
              <a:rPr lang="en-US" sz="1200" dirty="0" err="1"/>
              <a:t>adls</a:t>
            </a:r>
            <a:r>
              <a:rPr lang="en-US" sz="1200" dirty="0"/>
              <a:t> -&gt; Databricks) </a:t>
            </a:r>
          </a:p>
          <a:p>
            <a:r>
              <a:rPr lang="en-US" sz="1200" dirty="0" err="1">
                <a:solidFill>
                  <a:srgbClr val="0070C0"/>
                </a:solidFill>
              </a:rPr>
              <a:t>az</a:t>
            </a:r>
            <a:r>
              <a:rPr lang="en-US" sz="1200" dirty="0">
                <a:solidFill>
                  <a:srgbClr val="0070C0"/>
                </a:solidFill>
              </a:rPr>
              <a:t> storage </a:t>
            </a:r>
            <a:r>
              <a:rPr lang="en-US" sz="1200" b="1" dirty="0">
                <a:solidFill>
                  <a:srgbClr val="0070C0"/>
                </a:solidFill>
              </a:rPr>
              <a:t>account keys list </a:t>
            </a:r>
            <a:r>
              <a:rPr lang="en-US" sz="1200" dirty="0">
                <a:solidFill>
                  <a:srgbClr val="0070C0"/>
                </a:solidFill>
              </a:rPr>
              <a:t>--resource-group we45-resourcegroup --account-name </a:t>
            </a:r>
            <a:r>
              <a:rPr lang="en-US" sz="1200" dirty="0" err="1">
                <a:solidFill>
                  <a:srgbClr val="0070C0"/>
                </a:solidFill>
              </a:rPr>
              <a:t>izadlswe</a:t>
            </a:r>
            <a:r>
              <a:rPr lang="en-US" sz="1200" dirty="0">
                <a:solidFill>
                  <a:srgbClr val="0070C0"/>
                </a:solidFill>
              </a:rPr>
              <a:t> --output table</a:t>
            </a:r>
          </a:p>
          <a:p>
            <a:endParaRPr lang="en-IN" sz="1200" b="1" i="1" dirty="0"/>
          </a:p>
          <a:p>
            <a:r>
              <a:rPr lang="en-US" sz="1200" b="1" u="sng" dirty="0">
                <a:highlight>
                  <a:srgbClr val="FFFF00"/>
                </a:highlight>
              </a:rPr>
              <a:t>Preferred - </a:t>
            </a:r>
            <a:r>
              <a:rPr lang="en-US" sz="1200" b="1" dirty="0"/>
              <a:t>Create Azure AD and RBAC (IAM)</a:t>
            </a:r>
            <a:r>
              <a:rPr lang="en-US" sz="1200" dirty="0"/>
              <a:t> - </a:t>
            </a:r>
            <a:r>
              <a:rPr lang="en-US" sz="1200" b="1" i="1" dirty="0"/>
              <a:t>For more permanent and managed access control </a:t>
            </a:r>
            <a:r>
              <a:rPr lang="en-US" sz="1200" dirty="0"/>
              <a:t>at the </a:t>
            </a:r>
            <a:r>
              <a:rPr lang="en-US" sz="1200" b="1" i="1" dirty="0"/>
              <a:t>storage container level </a:t>
            </a:r>
            <a:r>
              <a:rPr lang="en-US" sz="1200" dirty="0"/>
              <a:t>(not at the </a:t>
            </a:r>
            <a:r>
              <a:rPr lang="en-US" sz="1200" dirty="0" err="1"/>
              <a:t>dir</a:t>
            </a:r>
            <a:r>
              <a:rPr lang="en-US" sz="1200" dirty="0"/>
              <a:t>/file level)</a:t>
            </a:r>
            <a:endParaRPr lang="en-IN" sz="1200" b="1" i="1" dirty="0"/>
          </a:p>
          <a:p>
            <a:r>
              <a:rPr lang="en-US" sz="1200" i="1" dirty="0" err="1">
                <a:solidFill>
                  <a:srgbClr val="0070C0"/>
                </a:solidFill>
              </a:rPr>
              <a:t>az</a:t>
            </a:r>
            <a:r>
              <a:rPr lang="en-US" sz="1200" i="1" dirty="0">
                <a:solidFill>
                  <a:srgbClr val="0070C0"/>
                </a:solidFill>
              </a:rPr>
              <a:t> role assignment create --assignee principal_</a:t>
            </a:r>
            <a:r>
              <a:rPr lang="en-US" sz="1200" i="1" dirty="0">
                <a:solidFill>
                  <a:srgbClr val="0070C0"/>
                </a:solidFill>
                <a:hlinkClick r:id="rId4"/>
              </a:rPr>
              <a:t>mailid@gmail.com</a:t>
            </a:r>
            <a:r>
              <a:rPr lang="en-US" sz="1200" i="1" dirty="0">
                <a:solidFill>
                  <a:srgbClr val="0070C0"/>
                </a:solidFill>
              </a:rPr>
              <a:t>/</a:t>
            </a:r>
            <a:r>
              <a:rPr lang="en-US" sz="1200" i="1" dirty="0" err="1">
                <a:solidFill>
                  <a:srgbClr val="0070C0"/>
                </a:solidFill>
              </a:rPr>
              <a:t>principalid</a:t>
            </a:r>
            <a:r>
              <a:rPr lang="en-US" sz="1200" i="1" dirty="0">
                <a:solidFill>
                  <a:srgbClr val="0070C0"/>
                </a:solidFill>
              </a:rPr>
              <a:t>  --role "Storage Blob Data Reader"  --scope /subscriptions/&lt;subscription-id&gt;/</a:t>
            </a:r>
            <a:r>
              <a:rPr lang="en-US" sz="1200" i="1" dirty="0" err="1">
                <a:solidFill>
                  <a:srgbClr val="0070C0"/>
                </a:solidFill>
              </a:rPr>
              <a:t>resourceGroups</a:t>
            </a:r>
            <a:r>
              <a:rPr lang="en-US" sz="1200" i="1" dirty="0">
                <a:solidFill>
                  <a:srgbClr val="0070C0"/>
                </a:solidFill>
              </a:rPr>
              <a:t>/&lt;resource-group&gt;/providers/</a:t>
            </a:r>
            <a:r>
              <a:rPr lang="en-US" sz="1200" i="1" dirty="0" err="1">
                <a:solidFill>
                  <a:srgbClr val="0070C0"/>
                </a:solidFill>
              </a:rPr>
              <a:t>Microsoft.Storage</a:t>
            </a:r>
            <a:r>
              <a:rPr lang="en-US" sz="1200" i="1" dirty="0">
                <a:solidFill>
                  <a:srgbClr val="0070C0"/>
                </a:solidFill>
              </a:rPr>
              <a:t>/</a:t>
            </a:r>
            <a:r>
              <a:rPr lang="en-US" sz="1200" i="1" dirty="0" err="1">
                <a:solidFill>
                  <a:srgbClr val="0070C0"/>
                </a:solidFill>
              </a:rPr>
              <a:t>storageAccounts</a:t>
            </a:r>
            <a:r>
              <a:rPr lang="en-US" sz="1200" i="1" dirty="0">
                <a:solidFill>
                  <a:srgbClr val="0070C0"/>
                </a:solidFill>
              </a:rPr>
              <a:t>/&lt;storage-account-name&gt;/</a:t>
            </a:r>
            <a:r>
              <a:rPr lang="en-US" sz="1200" i="1" dirty="0" err="1">
                <a:solidFill>
                  <a:srgbClr val="0070C0"/>
                </a:solidFill>
              </a:rPr>
              <a:t>blobServices</a:t>
            </a:r>
            <a:r>
              <a:rPr lang="en-US" sz="1200" i="1" dirty="0">
                <a:solidFill>
                  <a:srgbClr val="0070C0"/>
                </a:solidFill>
              </a:rPr>
              <a:t>/default/containers/&lt;container-name&gt;</a:t>
            </a:r>
          </a:p>
          <a:p>
            <a:endParaRPr lang="en-US" sz="1200" b="1" i="1" dirty="0"/>
          </a:p>
          <a:p>
            <a:r>
              <a:rPr lang="en-US" sz="1200" dirty="0" err="1">
                <a:solidFill>
                  <a:srgbClr val="0070C0"/>
                </a:solidFill>
              </a:rPr>
              <a:t>az</a:t>
            </a:r>
            <a:r>
              <a:rPr lang="en-US" sz="1200" dirty="0">
                <a:solidFill>
                  <a:srgbClr val="0070C0"/>
                </a:solidFill>
              </a:rPr>
              <a:t> account list --output table</a:t>
            </a:r>
          </a:p>
          <a:p>
            <a:endParaRPr lang="en-US" sz="1200" b="1" i="1" dirty="0">
              <a:solidFill>
                <a:srgbClr val="0070C0"/>
              </a:solidFill>
            </a:endParaRPr>
          </a:p>
          <a:p>
            <a:r>
              <a:rPr lang="en-US" sz="1200" b="1" i="1" dirty="0"/>
              <a:t>#Change the container IAM (RBAC) access (copy the </a:t>
            </a:r>
            <a:r>
              <a:rPr lang="en-US" sz="1200" b="1" i="1" dirty="0" err="1"/>
              <a:t>assigne</a:t>
            </a:r>
            <a:r>
              <a:rPr lang="en-US" sz="1200" b="1" i="1" dirty="0"/>
              <a:t> principal from the active </a:t>
            </a:r>
            <a:r>
              <a:rPr lang="en-US" sz="1200" b="1" i="1" dirty="0" err="1"/>
              <a:t>dir</a:t>
            </a:r>
            <a:r>
              <a:rPr lang="en-US" sz="1200" b="1" i="1" dirty="0"/>
              <a:t>) – SPECIFIC TO THE USER</a:t>
            </a:r>
          </a:p>
          <a:p>
            <a:r>
              <a:rPr lang="en-US" sz="1200" i="1" dirty="0" err="1">
                <a:solidFill>
                  <a:srgbClr val="0070C0"/>
                </a:solidFill>
              </a:rPr>
              <a:t>az</a:t>
            </a:r>
            <a:r>
              <a:rPr lang="en-US" sz="1200" i="1" dirty="0">
                <a:solidFill>
                  <a:srgbClr val="0070C0"/>
                </a:solidFill>
              </a:rPr>
              <a:t> role assignment create  --assignee </a:t>
            </a:r>
            <a:r>
              <a:rPr lang="en-US" dirty="0"/>
              <a:t>vjbalaece11_gmail.com#EXT#@inctech2015gmail.onmicrosoft.com</a:t>
            </a:r>
            <a:r>
              <a:rPr lang="en-IN" sz="1200" dirty="0"/>
              <a:t> </a:t>
            </a:r>
            <a:r>
              <a:rPr lang="en-US" sz="1200" i="1" dirty="0">
                <a:solidFill>
                  <a:srgbClr val="0070C0"/>
                </a:solidFill>
              </a:rPr>
              <a:t>--role "Storage Blob Data Contributor"   --scope /subscriptions/</a:t>
            </a:r>
            <a:r>
              <a:rPr lang="en-IN" sz="1200" b="1" dirty="0">
                <a:solidFill>
                  <a:srgbClr val="0070C0"/>
                </a:solidFill>
              </a:rPr>
              <a:t>445b9ed0-3121-4340-bd7f-8935df4be9f0</a:t>
            </a:r>
            <a:r>
              <a:rPr lang="en-US" sz="1200" i="1" dirty="0">
                <a:solidFill>
                  <a:srgbClr val="0070C0"/>
                </a:solidFill>
              </a:rPr>
              <a:t>/</a:t>
            </a:r>
            <a:r>
              <a:rPr lang="en-US" sz="1200" i="1" dirty="0" err="1">
                <a:solidFill>
                  <a:srgbClr val="0070C0"/>
                </a:solidFill>
              </a:rPr>
              <a:t>resourceGroups</a:t>
            </a:r>
            <a:r>
              <a:rPr lang="en-US" sz="1200" i="1" dirty="0">
                <a:solidFill>
                  <a:srgbClr val="0070C0"/>
                </a:solidFill>
              </a:rPr>
              <a:t>/we45-resourcegroup/providers/</a:t>
            </a:r>
            <a:r>
              <a:rPr lang="en-US" sz="1200" i="1" dirty="0" err="1">
                <a:solidFill>
                  <a:srgbClr val="0070C0"/>
                </a:solidFill>
              </a:rPr>
              <a:t>Microsoft.Storage</a:t>
            </a:r>
            <a:r>
              <a:rPr lang="en-US" sz="1200" i="1" dirty="0">
                <a:solidFill>
                  <a:srgbClr val="0070C0"/>
                </a:solidFill>
              </a:rPr>
              <a:t>/</a:t>
            </a:r>
            <a:r>
              <a:rPr lang="en-US" sz="1200" i="1" dirty="0" err="1">
                <a:solidFill>
                  <a:srgbClr val="0070C0"/>
                </a:solidFill>
              </a:rPr>
              <a:t>storageAccounts</a:t>
            </a:r>
            <a:r>
              <a:rPr lang="en-US" sz="1200" i="1" dirty="0">
                <a:solidFill>
                  <a:srgbClr val="0070C0"/>
                </a:solidFill>
              </a:rPr>
              <a:t>/</a:t>
            </a:r>
            <a:r>
              <a:rPr lang="en-IN" sz="1200" dirty="0" err="1">
                <a:solidFill>
                  <a:srgbClr val="0070C0"/>
                </a:solidFill>
              </a:rPr>
              <a:t>izadlswe</a:t>
            </a:r>
            <a:r>
              <a:rPr lang="en-US" sz="1200" i="1" dirty="0">
                <a:solidFill>
                  <a:srgbClr val="0070C0"/>
                </a:solidFill>
              </a:rPr>
              <a:t>/</a:t>
            </a:r>
            <a:r>
              <a:rPr lang="en-US" sz="1200" i="1" dirty="0" err="1">
                <a:solidFill>
                  <a:srgbClr val="0070C0"/>
                </a:solidFill>
              </a:rPr>
              <a:t>blobServices</a:t>
            </a:r>
            <a:r>
              <a:rPr lang="en-US" sz="1200" i="1" dirty="0">
                <a:solidFill>
                  <a:srgbClr val="0070C0"/>
                </a:solidFill>
              </a:rPr>
              <a:t>/default/containers/container2</a:t>
            </a:r>
          </a:p>
          <a:p>
            <a:endParaRPr lang="en-US" sz="1200" b="1" i="1" dirty="0"/>
          </a:p>
          <a:p>
            <a:r>
              <a:rPr lang="en-IN" sz="1200" b="1" i="1" dirty="0"/>
              <a:t>Public Access: </a:t>
            </a:r>
            <a:r>
              <a:rPr lang="en-US" sz="1200" b="1" i="1" dirty="0"/>
              <a:t>Check for PAP is on/off: </a:t>
            </a:r>
          </a:p>
          <a:p>
            <a:r>
              <a:rPr lang="en-US" sz="1200" dirty="0" err="1">
                <a:solidFill>
                  <a:srgbClr val="0070C0"/>
                </a:solidFill>
              </a:rPr>
              <a:t>az</a:t>
            </a:r>
            <a:r>
              <a:rPr lang="en-US" sz="1200" dirty="0">
                <a:solidFill>
                  <a:srgbClr val="0070C0"/>
                </a:solidFill>
              </a:rPr>
              <a:t> storage account show   --name </a:t>
            </a:r>
            <a:r>
              <a:rPr lang="en-US" sz="1200" dirty="0" err="1">
                <a:solidFill>
                  <a:srgbClr val="0070C0"/>
                </a:solidFill>
              </a:rPr>
              <a:t>izadlswe</a:t>
            </a:r>
            <a:r>
              <a:rPr lang="en-US" sz="1200" dirty="0">
                <a:solidFill>
                  <a:srgbClr val="0070C0"/>
                </a:solidFill>
              </a:rPr>
              <a:t>   --resource-group  we45-resourcegroup  --query "</a:t>
            </a:r>
            <a:r>
              <a:rPr lang="en-US" sz="1200" dirty="0" err="1">
                <a:solidFill>
                  <a:srgbClr val="0070C0"/>
                </a:solidFill>
              </a:rPr>
              <a:t>allowBlobPublicAccess</a:t>
            </a:r>
            <a:r>
              <a:rPr lang="en-US" sz="1200" dirty="0">
                <a:solidFill>
                  <a:srgbClr val="0070C0"/>
                </a:solidFill>
              </a:rPr>
              <a:t>"</a:t>
            </a:r>
          </a:p>
          <a:p>
            <a:r>
              <a:rPr lang="en-US" sz="1200" dirty="0" err="1">
                <a:solidFill>
                  <a:srgbClr val="0070C0"/>
                </a:solidFill>
              </a:rPr>
              <a:t>az</a:t>
            </a:r>
            <a:r>
              <a:rPr lang="en-US" sz="1200" dirty="0">
                <a:solidFill>
                  <a:srgbClr val="0070C0"/>
                </a:solidFill>
              </a:rPr>
              <a:t> storage account update  </a:t>
            </a:r>
            <a:r>
              <a:rPr lang="en-US" sz="1200" b="1" dirty="0">
                <a:solidFill>
                  <a:srgbClr val="0070C0"/>
                </a:solidFill>
              </a:rPr>
              <a:t>--name </a:t>
            </a:r>
            <a:r>
              <a:rPr lang="en-US" sz="1200" b="1" dirty="0" err="1">
                <a:solidFill>
                  <a:srgbClr val="0070C0"/>
                </a:solidFill>
              </a:rPr>
              <a:t>izadlswe</a:t>
            </a:r>
            <a:r>
              <a:rPr lang="en-US" sz="1200" b="1" dirty="0">
                <a:solidFill>
                  <a:srgbClr val="0070C0"/>
                </a:solidFill>
              </a:rPr>
              <a:t> </a:t>
            </a:r>
            <a:r>
              <a:rPr lang="en-US" sz="1200" dirty="0">
                <a:solidFill>
                  <a:srgbClr val="0070C0"/>
                </a:solidFill>
              </a:rPr>
              <a:t>--resource-group we45-resourcegroup </a:t>
            </a:r>
            <a:r>
              <a:rPr lang="en-US" sz="1200" b="1" dirty="0">
                <a:solidFill>
                  <a:srgbClr val="0070C0"/>
                </a:solidFill>
              </a:rPr>
              <a:t>--allow-blob-public-access true</a:t>
            </a:r>
          </a:p>
          <a:p>
            <a:r>
              <a:rPr lang="en-US" sz="1200" dirty="0" err="1">
                <a:solidFill>
                  <a:srgbClr val="0070C0"/>
                </a:solidFill>
              </a:rPr>
              <a:t>az</a:t>
            </a:r>
            <a:r>
              <a:rPr lang="en-US" sz="1200" dirty="0">
                <a:solidFill>
                  <a:srgbClr val="0070C0"/>
                </a:solidFill>
              </a:rPr>
              <a:t> storage </a:t>
            </a:r>
            <a:r>
              <a:rPr lang="en-US" sz="1200" b="1" dirty="0">
                <a:solidFill>
                  <a:srgbClr val="0070C0"/>
                </a:solidFill>
              </a:rPr>
              <a:t>container set-permission --name container2</a:t>
            </a:r>
            <a:r>
              <a:rPr lang="en-US" sz="1200" dirty="0">
                <a:solidFill>
                  <a:srgbClr val="0070C0"/>
                </a:solidFill>
              </a:rPr>
              <a:t> --account-name </a:t>
            </a:r>
            <a:r>
              <a:rPr lang="en-US" sz="1200" dirty="0" err="1">
                <a:solidFill>
                  <a:srgbClr val="0070C0"/>
                </a:solidFill>
              </a:rPr>
              <a:t>izadlswe</a:t>
            </a:r>
            <a:r>
              <a:rPr lang="en-US" sz="1200" dirty="0">
                <a:solidFill>
                  <a:srgbClr val="0070C0"/>
                </a:solidFill>
              </a:rPr>
              <a:t> </a:t>
            </a:r>
            <a:r>
              <a:rPr lang="en-US" sz="1200" b="1" dirty="0">
                <a:solidFill>
                  <a:srgbClr val="0070C0"/>
                </a:solidFill>
              </a:rPr>
              <a:t>--public-access blob</a:t>
            </a:r>
            <a:endParaRPr lang="en-IN" sz="1200" b="1" dirty="0">
              <a:solidFill>
                <a:srgbClr val="0070C0"/>
              </a:solidFill>
            </a:endParaRPr>
          </a:p>
        </p:txBody>
      </p:sp>
      <p:sp>
        <p:nvSpPr>
          <p:cNvPr id="9"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a:t>Azure Cloud Storage (Security)</a:t>
            </a:r>
            <a:r>
              <a:rPr lang="en-US" sz="2000" dirty="0"/>
              <a:t>  (</a:t>
            </a:r>
            <a:r>
              <a:rPr lang="en-US" sz="2000" dirty="0" err="1"/>
              <a:t>gsutil</a:t>
            </a:r>
            <a:r>
              <a:rPr lang="en-US" sz="2000" dirty="0"/>
              <a:t> commands)</a:t>
            </a:r>
            <a:endParaRPr lang="en-US" sz="3200" dirty="0"/>
          </a:p>
        </p:txBody>
      </p:sp>
      <p:sp>
        <p:nvSpPr>
          <p:cNvPr id="11" name="Rectangle 10"/>
          <p:cNvSpPr/>
          <p:nvPr/>
        </p:nvSpPr>
        <p:spPr>
          <a:xfrm>
            <a:off x="9242241" y="173245"/>
            <a:ext cx="2291012" cy="400110"/>
          </a:xfrm>
          <a:prstGeom prst="rect">
            <a:avLst/>
          </a:prstGeom>
        </p:spPr>
        <p:txBody>
          <a:bodyPr wrap="none">
            <a:spAutoFit/>
          </a:bodyPr>
          <a:lstStyle/>
          <a:p>
            <a:r>
              <a:rPr lang="en-US" sz="2000" i="1" u="sng" dirty="0">
                <a:effectLst>
                  <a:outerShdw blurRad="38100" dist="38100" dir="2700000" algn="tl">
                    <a:srgbClr val="000000">
                      <a:alpha val="43137"/>
                    </a:srgbClr>
                  </a:outerShdw>
                </a:effectLst>
              </a:rPr>
              <a:t>Classroom - Practice</a:t>
            </a:r>
            <a:endParaRPr lang="en-IN" sz="2000" dirty="0"/>
          </a:p>
        </p:txBody>
      </p:sp>
      <p:grpSp>
        <p:nvGrpSpPr>
          <p:cNvPr id="13" name="Group 12"/>
          <p:cNvGrpSpPr/>
          <p:nvPr/>
        </p:nvGrpSpPr>
        <p:grpSpPr>
          <a:xfrm>
            <a:off x="10674337" y="1195399"/>
            <a:ext cx="1392157" cy="1474784"/>
            <a:chOff x="8622919" y="-50014"/>
            <a:chExt cx="1457840" cy="1544366"/>
          </a:xfrm>
        </p:grpSpPr>
        <p:pic>
          <p:nvPicPr>
            <p:cNvPr id="15" name="Picture 14"/>
            <p:cNvPicPr>
              <a:picLocks noChangeAspect="1" noChangeArrowheads="1"/>
            </p:cNvPicPr>
            <p:nvPr/>
          </p:nvPicPr>
          <p:blipFill>
            <a:blip r:embed="rId5">
              <a:extLst>
                <a:ext uri="{BEBA8EAE-BF5A-486C-A8C5-ECC9F3942E4B}">
                  <a14:imgProps xmlns:a14="http://schemas.microsoft.com/office/drawing/2010/main">
                    <a14:imgLayer r:embed="rId6">
                      <a14:imgEffect>
                        <a14:brightnessContrast bright="60000" contrast="80000"/>
                      </a14:imgEffect>
                    </a14:imgLayer>
                  </a14:imgProps>
                </a:ext>
                <a:ext uri="{28A0092B-C50C-407E-A947-70E740481C1C}">
                  <a14:useLocalDpi xmlns:a14="http://schemas.microsoft.com/office/drawing/2010/main" val="0"/>
                </a:ext>
              </a:extLst>
            </a:blip>
            <a:srcRect/>
            <a:stretch>
              <a:fillRect/>
            </a:stretch>
          </p:blipFill>
          <p:spPr bwMode="auto">
            <a:xfrm>
              <a:off x="8688429" y="-50014"/>
              <a:ext cx="1251285" cy="12512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6" name="TextBox 15"/>
            <p:cNvSpPr txBox="1"/>
            <p:nvPr/>
          </p:nvSpPr>
          <p:spPr>
            <a:xfrm>
              <a:off x="8622919" y="1204284"/>
              <a:ext cx="1457840" cy="290068"/>
            </a:xfrm>
            <a:prstGeom prst="rect">
              <a:avLst/>
            </a:prstGeom>
            <a:noFill/>
          </p:spPr>
          <p:txBody>
            <a:bodyPr wrap="square" rtlCol="0">
              <a:spAutoFit/>
            </a:bodyPr>
            <a:lstStyle/>
            <a:p>
              <a:r>
                <a:rPr lang="en-US" sz="1200" b="1" dirty="0">
                  <a:effectLst>
                    <a:outerShdw blurRad="38100" dist="38100" dir="2700000" algn="tl">
                      <a:srgbClr val="000000">
                        <a:alpha val="43137"/>
                      </a:srgbClr>
                    </a:outerShdw>
                  </a:effectLst>
                </a:rPr>
                <a:t>Cloud Admin Role</a:t>
              </a:r>
              <a:endParaRPr lang="en-IN" sz="1200" b="1" dirty="0">
                <a:effectLst>
                  <a:outerShdw blurRad="38100" dist="38100" dir="2700000" algn="tl">
                    <a:srgbClr val="000000">
                      <a:alpha val="43137"/>
                    </a:srgbClr>
                  </a:outerShdw>
                </a:effectLst>
              </a:endParaRPr>
            </a:p>
          </p:txBody>
        </p:sp>
      </p:grpSp>
      <p:graphicFrame>
        <p:nvGraphicFramePr>
          <p:cNvPr id="4" name="Table 3">
            <a:extLst>
              <a:ext uri="{FF2B5EF4-FFF2-40B4-BE49-F238E27FC236}">
                <a16:creationId xmlns:a16="http://schemas.microsoft.com/office/drawing/2014/main" xmlns="" id="{F4FE0DDB-7305-34BA-07FA-890381EB3660}"/>
              </a:ext>
            </a:extLst>
          </p:cNvPr>
          <p:cNvGraphicFramePr>
            <a:graphicFrameLocks noGrp="1"/>
          </p:cNvGraphicFramePr>
          <p:nvPr>
            <p:extLst>
              <p:ext uri="{D42A27DB-BD31-4B8C-83A1-F6EECF244321}">
                <p14:modId xmlns:p14="http://schemas.microsoft.com/office/powerpoint/2010/main" val="3432808528"/>
              </p:ext>
            </p:extLst>
          </p:nvPr>
        </p:nvGraphicFramePr>
        <p:xfrm>
          <a:off x="1102586" y="5404595"/>
          <a:ext cx="9504455" cy="1440180"/>
        </p:xfrm>
        <a:graphic>
          <a:graphicData uri="http://schemas.openxmlformats.org/drawingml/2006/table">
            <a:tbl>
              <a:tblPr>
                <a:tableStyleId>{5C22544A-7EE6-4342-B048-85BDC9FD1C3A}</a:tableStyleId>
              </a:tblPr>
              <a:tblGrid>
                <a:gridCol w="2379382">
                  <a:extLst>
                    <a:ext uri="{9D8B030D-6E8A-4147-A177-3AD203B41FA5}">
                      <a16:colId xmlns:a16="http://schemas.microsoft.com/office/drawing/2014/main" xmlns="" val="4108656277"/>
                    </a:ext>
                  </a:extLst>
                </a:gridCol>
                <a:gridCol w="2000250">
                  <a:extLst>
                    <a:ext uri="{9D8B030D-6E8A-4147-A177-3AD203B41FA5}">
                      <a16:colId xmlns:a16="http://schemas.microsoft.com/office/drawing/2014/main" xmlns="" val="1965770568"/>
                    </a:ext>
                  </a:extLst>
                </a:gridCol>
                <a:gridCol w="1281206">
                  <a:extLst>
                    <a:ext uri="{9D8B030D-6E8A-4147-A177-3AD203B41FA5}">
                      <a16:colId xmlns:a16="http://schemas.microsoft.com/office/drawing/2014/main" xmlns="" val="3051764061"/>
                    </a:ext>
                  </a:extLst>
                </a:gridCol>
                <a:gridCol w="3843617">
                  <a:extLst>
                    <a:ext uri="{9D8B030D-6E8A-4147-A177-3AD203B41FA5}">
                      <a16:colId xmlns:a16="http://schemas.microsoft.com/office/drawing/2014/main" xmlns="" val="2342782371"/>
                    </a:ext>
                  </a:extLst>
                </a:gridCol>
              </a:tblGrid>
              <a:tr h="182880">
                <a:tc>
                  <a:txBody>
                    <a:bodyPr/>
                    <a:lstStyle/>
                    <a:p>
                      <a:pPr algn="ctr" fontAlgn="ctr">
                        <a:buNone/>
                      </a:pPr>
                      <a:r>
                        <a:rPr lang="en-US" sz="1100" b="1" u="none" strike="noStrike" dirty="0">
                          <a:effectLst/>
                        </a:rPr>
                        <a:t>Security Model</a:t>
                      </a:r>
                      <a:endParaRPr lang="en-US" sz="11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100" b="1" u="none" strike="noStrike">
                          <a:effectLst/>
                        </a:rPr>
                        <a:t>Azure Blob Storage</a:t>
                      </a:r>
                      <a:endParaRPr lang="en-US"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100" b="1" u="none" strike="noStrike">
                          <a:effectLst/>
                        </a:rPr>
                        <a:t>ADLS Gen2</a:t>
                      </a:r>
                      <a:endParaRPr lang="en-US"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100" b="1" u="none" strike="noStrike" dirty="0">
                          <a:effectLst/>
                        </a:rPr>
                        <a:t>When to Use</a:t>
                      </a:r>
                      <a:endParaRPr lang="en-US" sz="1100" b="1"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971743348"/>
                  </a:ext>
                </a:extLst>
              </a:tr>
              <a:tr h="182880">
                <a:tc>
                  <a:txBody>
                    <a:bodyPr/>
                    <a:lstStyle/>
                    <a:p>
                      <a:pPr algn="l" fontAlgn="ctr">
                        <a:buNone/>
                      </a:pPr>
                      <a:r>
                        <a:rPr lang="en-US" sz="1100" b="1" u="none" strike="noStrike" dirty="0">
                          <a:effectLst/>
                        </a:rPr>
                        <a:t>Account Keys (Shared Key)</a:t>
                      </a:r>
                      <a:endParaRPr lang="en-US" sz="11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 Supported</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 Supported</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Legacy/testing, internal connection between other resources (</a:t>
                      </a:r>
                      <a:r>
                        <a:rPr lang="en-US" sz="1100" u="none" strike="noStrike" dirty="0" err="1">
                          <a:effectLst/>
                        </a:rPr>
                        <a:t>datafactory</a:t>
                      </a:r>
                      <a:r>
                        <a:rPr lang="en-US" sz="1100" u="none" strike="noStrike" dirty="0">
                          <a:effectLst/>
                        </a:rPr>
                        <a:t>/</a:t>
                      </a:r>
                      <a:r>
                        <a:rPr lang="en-US" sz="1100" u="none" strike="noStrike" dirty="0" err="1">
                          <a:effectLst/>
                        </a:rPr>
                        <a:t>databricks</a:t>
                      </a:r>
                      <a:r>
                        <a:rPr lang="en-US" sz="1100" u="none" strike="noStrike" dirty="0">
                          <a:effectLst/>
                        </a:rPr>
                        <a:t>), avoid in production (too much privilege).</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3671382034"/>
                  </a:ext>
                </a:extLst>
              </a:tr>
              <a:tr h="365760">
                <a:tc>
                  <a:txBody>
                    <a:bodyPr/>
                    <a:lstStyle/>
                    <a:p>
                      <a:pPr algn="l" fontAlgn="ctr">
                        <a:buNone/>
                      </a:pPr>
                      <a:r>
                        <a:rPr lang="en-US" sz="1100" u="none" strike="noStrike" dirty="0">
                          <a:effectLst/>
                        </a:rPr>
                        <a:t>SAS Tokens (Shared Access Signature)</a:t>
                      </a:r>
                      <a:endParaRPr lang="en-US" sz="11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 Supported (Service SAS, Account SAS, User Delegation SAS)</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 Supported</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Fine grained access for Temporary, limited access (read/list/delete) for apps/users; external sharing.</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2638810857"/>
                  </a:ext>
                </a:extLst>
              </a:tr>
              <a:tr h="365760">
                <a:tc>
                  <a:txBody>
                    <a:bodyPr/>
                    <a:lstStyle/>
                    <a:p>
                      <a:pPr algn="l" fontAlgn="ctr">
                        <a:buNone/>
                      </a:pPr>
                      <a:r>
                        <a:rPr lang="en-US" sz="1100" b="1" u="none" strike="noStrike" dirty="0">
                          <a:effectLst/>
                        </a:rPr>
                        <a:t>RBAC (Role-Based Access Control)</a:t>
                      </a:r>
                      <a:endParaRPr lang="en-US" sz="11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 Supported (at storage account/container level)</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 Supported</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Important access control used widely - High-level access control (e.g., Blob Data Reader).</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591696785"/>
                  </a:ext>
                </a:extLst>
              </a:tr>
              <a:tr h="182880">
                <a:tc>
                  <a:txBody>
                    <a:bodyPr/>
                    <a:lstStyle/>
                    <a:p>
                      <a:pPr algn="l" fontAlgn="ctr">
                        <a:buNone/>
                      </a:pPr>
                      <a:r>
                        <a:rPr lang="en-US" sz="1100" u="none" strike="noStrike" dirty="0">
                          <a:effectLst/>
                        </a:rPr>
                        <a:t>ACLs (SAS)</a:t>
                      </a:r>
                      <a:endParaRPr lang="en-US" sz="11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 Not supported</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 Supported</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Fine-grained, folder/file-level control in data lake scenarios.</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1692349964"/>
                  </a:ext>
                </a:extLst>
              </a:tr>
            </a:tbl>
          </a:graphicData>
        </a:graphic>
      </p:graphicFrame>
    </p:spTree>
    <p:extLst>
      <p:ext uri="{BB962C8B-B14F-4D97-AF65-F5344CB8AC3E}">
        <p14:creationId xmlns:p14="http://schemas.microsoft.com/office/powerpoint/2010/main" val="1794766679"/>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52518" y="82458"/>
            <a:ext cx="5577450" cy="40334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a:latin typeface="+mn-lt"/>
              </a:rPr>
              <a:t>Azure Cloud Storage - </a:t>
            </a:r>
            <a:r>
              <a:rPr lang="en-US" sz="3200" dirty="0" err="1">
                <a:latin typeface="+mn-lt"/>
              </a:rPr>
              <a:t>Handson</a:t>
            </a:r>
            <a:endParaRPr lang="en-US" sz="3200" dirty="0">
              <a:latin typeface="+mn-lt"/>
            </a:endParaRPr>
          </a:p>
        </p:txBody>
      </p:sp>
      <p:graphicFrame>
        <p:nvGraphicFramePr>
          <p:cNvPr id="4" name="Diagram 3"/>
          <p:cNvGraphicFramePr/>
          <p:nvPr>
            <p:extLst>
              <p:ext uri="{D42A27DB-BD31-4B8C-83A1-F6EECF244321}">
                <p14:modId xmlns:p14="http://schemas.microsoft.com/office/powerpoint/2010/main" val="4118757409"/>
              </p:ext>
            </p:extLst>
          </p:nvPr>
        </p:nvGraphicFramePr>
        <p:xfrm>
          <a:off x="592667" y="882720"/>
          <a:ext cx="10845799"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p14="http://schemas.microsoft.com/office/powerpoint/2010/main">
        <mc:Choice Requires="p14">
          <p:contentPart p14:bwMode="auto" r:id="rId8">
            <p14:nvContentPartPr>
              <p14:cNvPr id="6" name="Ink 5"/>
              <p14:cNvContentPartPr/>
              <p14:nvPr/>
            </p14:nvContentPartPr>
            <p14:xfrm>
              <a:off x="7505640" y="882720"/>
              <a:ext cx="1118160" cy="1943280"/>
            </p14:xfrm>
          </p:contentPart>
        </mc:Choice>
        <mc:Fallback xmlns="">
          <p:pic>
            <p:nvPicPr>
              <p:cNvPr id="6" name="Ink 5"/>
              <p:cNvPicPr/>
              <p:nvPr/>
            </p:nvPicPr>
            <p:blipFill>
              <a:blip r:embed="rId9"/>
              <a:stretch>
                <a:fillRect/>
              </a:stretch>
            </p:blipFill>
            <p:spPr>
              <a:xfrm>
                <a:off x="7496280" y="873360"/>
                <a:ext cx="1136880" cy="1962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 name="Ink 1"/>
              <p14:cNvContentPartPr/>
              <p14:nvPr/>
            </p14:nvContentPartPr>
            <p14:xfrm>
              <a:off x="3333600" y="1581120"/>
              <a:ext cx="648360" cy="4089960"/>
            </p14:xfrm>
          </p:contentPart>
        </mc:Choice>
        <mc:Fallback xmlns="">
          <p:pic>
            <p:nvPicPr>
              <p:cNvPr id="2" name="Ink 1"/>
              <p:cNvPicPr/>
              <p:nvPr/>
            </p:nvPicPr>
            <p:blipFill>
              <a:blip r:embed="rId11"/>
              <a:stretch>
                <a:fillRect/>
              </a:stretch>
            </p:blipFill>
            <p:spPr>
              <a:xfrm>
                <a:off x="3324240" y="1571760"/>
                <a:ext cx="667080" cy="4108680"/>
              </a:xfrm>
              <a:prstGeom prst="rect">
                <a:avLst/>
              </a:prstGeom>
            </p:spPr>
          </p:pic>
        </mc:Fallback>
      </mc:AlternateContent>
      <p:pic>
        <p:nvPicPr>
          <p:cNvPr id="7" name="Picture 2"/>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69893971"/>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8423" y="1272510"/>
            <a:ext cx="5845324" cy="1796071"/>
          </a:xfrm>
        </p:spPr>
        <p:txBody>
          <a:bodyPr>
            <a:normAutofit fontScale="90000"/>
          </a:bodyPr>
          <a:lstStyle/>
          <a:p>
            <a:pPr algn="ctr"/>
            <a:r>
              <a:rPr lang="en-US" b="1" dirty="0">
                <a:solidFill>
                  <a:srgbClr val="C00000"/>
                </a:solidFill>
              </a:rPr>
              <a:t>Azure </a:t>
            </a:r>
            <a:r>
              <a:rPr lang="en-US" b="1" dirty="0" smtClean="0">
                <a:solidFill>
                  <a:srgbClr val="C00000"/>
                </a:solidFill>
              </a:rPr>
              <a:t/>
            </a:r>
            <a:br>
              <a:rPr lang="en-US" b="1" dirty="0" smtClean="0">
                <a:solidFill>
                  <a:srgbClr val="C00000"/>
                </a:solidFill>
              </a:rPr>
            </a:br>
            <a:r>
              <a:rPr lang="en-US" b="1" dirty="0" smtClean="0">
                <a:solidFill>
                  <a:srgbClr val="C00000"/>
                </a:solidFill>
              </a:rPr>
              <a:t>Virtual (</a:t>
            </a:r>
            <a:r>
              <a:rPr lang="en-US" b="1" dirty="0" err="1" smtClean="0">
                <a:solidFill>
                  <a:srgbClr val="C00000"/>
                </a:solidFill>
              </a:rPr>
              <a:t>Pvt</a:t>
            </a:r>
            <a:r>
              <a:rPr lang="en-US" b="1" dirty="0" smtClean="0">
                <a:solidFill>
                  <a:srgbClr val="C00000"/>
                </a:solidFill>
              </a:rPr>
              <a:t>) Network </a:t>
            </a:r>
            <a:br>
              <a:rPr lang="en-US" b="1" dirty="0" smtClean="0">
                <a:solidFill>
                  <a:srgbClr val="C00000"/>
                </a:solidFill>
              </a:rPr>
            </a:br>
            <a:r>
              <a:rPr lang="en-US" b="1" dirty="0" smtClean="0">
                <a:solidFill>
                  <a:srgbClr val="C00000"/>
                </a:solidFill>
              </a:rPr>
              <a:t>(</a:t>
            </a:r>
            <a:r>
              <a:rPr lang="en-US" b="1" dirty="0">
                <a:solidFill>
                  <a:srgbClr val="C00000"/>
                </a:solidFill>
              </a:rPr>
              <a:t>GCP - VPC)</a:t>
            </a:r>
            <a:endParaRPr lang="en-IN" b="1" dirty="0">
              <a:solidFill>
                <a:srgbClr val="C00000"/>
              </a:solidFill>
            </a:endParaRPr>
          </a:p>
        </p:txBody>
      </p:sp>
      <p:pic>
        <p:nvPicPr>
          <p:cNvPr id="3" name="Picture 4" descr="C:\Users\moham\Downloads\datacenter11.jpeg"/>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25000"/>
                    </a14:imgEffect>
                    <a14:imgEffect>
                      <a14:brightnessContrast bright="8000" contrast="16000"/>
                    </a14:imgEffect>
                  </a14:imgLayer>
                </a14:imgProps>
              </a:ext>
              <a:ext uri="{28A0092B-C50C-407E-A947-70E740481C1C}">
                <a14:useLocalDpi xmlns:a14="http://schemas.microsoft.com/office/drawing/2010/main" val="0"/>
              </a:ext>
            </a:extLst>
          </a:blip>
          <a:srcRect/>
          <a:stretch>
            <a:fillRect/>
          </a:stretch>
        </p:blipFill>
        <p:spPr bwMode="auto">
          <a:xfrm>
            <a:off x="712623" y="1438710"/>
            <a:ext cx="2935819" cy="464190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9494378" y="393107"/>
            <a:ext cx="2281727" cy="923330"/>
          </a:xfrm>
          <a:prstGeom prst="rect">
            <a:avLst/>
          </a:prstGeom>
          <a:noFill/>
        </p:spPr>
        <p:txBody>
          <a:bodyPr wrap="square" rtlCol="0">
            <a:spAutoFit/>
          </a:bodyPr>
          <a:lstStyle/>
          <a:p>
            <a:r>
              <a:rPr lang="en-IN" dirty="0" smtClean="0"/>
              <a:t>Virtual Network (</a:t>
            </a:r>
            <a:r>
              <a:rPr lang="en-IN" dirty="0" err="1" smtClean="0"/>
              <a:t>Ips</a:t>
            </a:r>
            <a:r>
              <a:rPr lang="en-IN" dirty="0" smtClean="0"/>
              <a:t>)</a:t>
            </a:r>
          </a:p>
          <a:p>
            <a:pPr marL="342900" indent="-342900">
              <a:buAutoNum type="arabicPeriod"/>
            </a:pPr>
            <a:r>
              <a:rPr lang="en-IN" dirty="0" smtClean="0"/>
              <a:t>Subnetwork (</a:t>
            </a:r>
            <a:r>
              <a:rPr lang="en-IN" dirty="0" err="1" smtClean="0"/>
              <a:t>Ips</a:t>
            </a:r>
            <a:r>
              <a:rPr lang="en-IN" dirty="0" smtClean="0"/>
              <a:t>)</a:t>
            </a:r>
          </a:p>
          <a:p>
            <a:pPr marL="342900" indent="-342900">
              <a:buAutoNum type="arabicPeriod"/>
            </a:pPr>
            <a:r>
              <a:rPr lang="en-IN" dirty="0" smtClean="0"/>
              <a:t>NSG</a:t>
            </a:r>
          </a:p>
        </p:txBody>
      </p:sp>
    </p:spTree>
    <p:extLst>
      <p:ext uri="{BB962C8B-B14F-4D97-AF65-F5344CB8AC3E}">
        <p14:creationId xmlns:p14="http://schemas.microsoft.com/office/powerpoint/2010/main" val="6182261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267200" y="2667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solidFill>
                  <a:prstClr val="black">
                    <a:tint val="75000"/>
                  </a:prstClr>
                </a:solidFill>
              </a:rPr>
              <a:pPr/>
              <a:t>48</a:t>
            </a:fld>
            <a:endParaRPr lang="en-US">
              <a:solidFill>
                <a:prstClr val="black">
                  <a:tint val="75000"/>
                </a:prstClr>
              </a:solidFill>
            </a:endParaRPr>
          </a:p>
        </p:txBody>
      </p:sp>
      <p:sp>
        <p:nvSpPr>
          <p:cNvPr id="11" name="Text Box 5"/>
          <p:cNvSpPr txBox="1">
            <a:spLocks noChangeArrowheads="1"/>
          </p:cNvSpPr>
          <p:nvPr/>
        </p:nvSpPr>
        <p:spPr bwMode="auto">
          <a:xfrm>
            <a:off x="4267200" y="3048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2" name="AutoShape 4" descr="Google Cloud Regions &amp; Zones - Beginner's Guid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sp>
        <p:nvSpPr>
          <p:cNvPr id="3" name="AutoShape 2" descr="VPC network example (click to enlarg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sp>
        <p:nvSpPr>
          <p:cNvPr id="4" name="AutoShape 4" descr="VPC network example (click to enlarge)"/>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sp>
        <p:nvSpPr>
          <p:cNvPr id="12" name="Title 1"/>
          <p:cNvSpPr>
            <a:spLocks noGrp="1"/>
          </p:cNvSpPr>
          <p:nvPr>
            <p:ph type="title"/>
          </p:nvPr>
        </p:nvSpPr>
        <p:spPr>
          <a:xfrm>
            <a:off x="-59269" y="-398230"/>
            <a:ext cx="10972800" cy="1143000"/>
          </a:xfrm>
        </p:spPr>
        <p:txBody>
          <a:bodyPr vert="horz" lIns="91440" tIns="45720" rIns="91440" bIns="45720" rtlCol="0" anchor="ctr">
            <a:normAutofit fontScale="90000"/>
          </a:bodyPr>
          <a:lstStyle/>
          <a:p>
            <a:r>
              <a:rPr lang="en-US" sz="2800" b="1" dirty="0">
                <a:solidFill>
                  <a:srgbClr val="FF0000"/>
                </a:solidFill>
              </a:rPr>
              <a:t/>
            </a:r>
            <a:br>
              <a:rPr lang="en-US" sz="2800" b="1" dirty="0">
                <a:solidFill>
                  <a:srgbClr val="FF0000"/>
                </a:solidFill>
              </a:rPr>
            </a:br>
            <a:r>
              <a:rPr lang="en-US" sz="2800" b="1" dirty="0" smtClean="0">
                <a:solidFill>
                  <a:srgbClr val="FF0000"/>
                </a:solidFill>
              </a:rPr>
              <a:t>Azure </a:t>
            </a:r>
            <a:r>
              <a:rPr lang="en-US" sz="2800" b="1" dirty="0">
                <a:solidFill>
                  <a:srgbClr val="FF0000"/>
                </a:solidFill>
              </a:rPr>
              <a:t>– Infra &amp; Network</a:t>
            </a:r>
            <a:br>
              <a:rPr lang="en-US" sz="2800" b="1" dirty="0">
                <a:solidFill>
                  <a:srgbClr val="FF0000"/>
                </a:solidFill>
              </a:rPr>
            </a:br>
            <a:r>
              <a:rPr lang="en-US" sz="2800" b="1" dirty="0">
                <a:solidFill>
                  <a:srgbClr val="FF0000"/>
                </a:solidFill>
              </a:rPr>
              <a:t>Hierarchy</a:t>
            </a:r>
          </a:p>
        </p:txBody>
      </p:sp>
      <p:grpSp>
        <p:nvGrpSpPr>
          <p:cNvPr id="7" name="Group 6"/>
          <p:cNvGrpSpPr/>
          <p:nvPr/>
        </p:nvGrpSpPr>
        <p:grpSpPr>
          <a:xfrm>
            <a:off x="1126803" y="1424054"/>
            <a:ext cx="7568623" cy="5279542"/>
            <a:chOff x="-49441" y="750331"/>
            <a:chExt cx="8134395" cy="6209005"/>
          </a:xfrm>
        </p:grpSpPr>
        <p:sp>
          <p:nvSpPr>
            <p:cNvPr id="5" name="Rectangle 4"/>
            <p:cNvSpPr/>
            <p:nvPr/>
          </p:nvSpPr>
          <p:spPr>
            <a:xfrm>
              <a:off x="-49441" y="750331"/>
              <a:ext cx="8134395" cy="6209005"/>
            </a:xfrm>
            <a:prstGeom prst="rect">
              <a:avLst/>
            </a:prstGeom>
            <a:solidFill>
              <a:schemeClr val="accent1">
                <a:lumMod val="20000"/>
                <a:lumOff val="8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7" name="Rectangle 16"/>
            <p:cNvSpPr/>
            <p:nvPr/>
          </p:nvSpPr>
          <p:spPr>
            <a:xfrm>
              <a:off x="560329" y="1159558"/>
              <a:ext cx="7394904" cy="5644550"/>
            </a:xfrm>
            <a:prstGeom prst="rect">
              <a:avLst/>
            </a:prstGeom>
            <a:solidFill>
              <a:schemeClr val="accent3">
                <a:lumMod val="20000"/>
                <a:lumOff val="8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sp>
          <p:nvSpPr>
            <p:cNvPr id="18" name="Rectangle 17"/>
            <p:cNvSpPr/>
            <p:nvPr/>
          </p:nvSpPr>
          <p:spPr>
            <a:xfrm>
              <a:off x="995109" y="1576995"/>
              <a:ext cx="6722641" cy="5131409"/>
            </a:xfrm>
            <a:prstGeom prst="rect">
              <a:avLst/>
            </a:prstGeom>
            <a:solidFill>
              <a:schemeClr val="accent2">
                <a:lumMod val="20000"/>
                <a:lumOff val="8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sp>
          <p:nvSpPr>
            <p:cNvPr id="19" name="Rectangle 18"/>
            <p:cNvSpPr/>
            <p:nvPr/>
          </p:nvSpPr>
          <p:spPr>
            <a:xfrm>
              <a:off x="1481089" y="2034740"/>
              <a:ext cx="6111492" cy="3855303"/>
            </a:xfrm>
            <a:prstGeom prst="rect">
              <a:avLst/>
            </a:prstGeom>
            <a:solidFill>
              <a:schemeClr val="accent4">
                <a:lumMod val="20000"/>
                <a:lumOff val="8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1" name="Rectangle 20"/>
            <p:cNvSpPr/>
            <p:nvPr/>
          </p:nvSpPr>
          <p:spPr>
            <a:xfrm>
              <a:off x="2337322" y="2625608"/>
              <a:ext cx="2232336" cy="3115774"/>
            </a:xfrm>
            <a:prstGeom prst="rect">
              <a:avLst/>
            </a:prstGeom>
            <a:solidFill>
              <a:srgbClr val="FFFFFF"/>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sp>
        <p:nvSpPr>
          <p:cNvPr id="9" name="TextBox 8"/>
          <p:cNvSpPr txBox="1"/>
          <p:nvPr/>
        </p:nvSpPr>
        <p:spPr>
          <a:xfrm>
            <a:off x="3073512" y="2126969"/>
            <a:ext cx="1715341" cy="369332"/>
          </a:xfrm>
          <a:prstGeom prst="rect">
            <a:avLst/>
          </a:prstGeom>
          <a:noFill/>
        </p:spPr>
        <p:txBody>
          <a:bodyPr wrap="none" rtlCol="0">
            <a:spAutoFit/>
          </a:bodyPr>
          <a:lstStyle/>
          <a:p>
            <a:r>
              <a:rPr lang="en-IN" b="1" dirty="0">
                <a:solidFill>
                  <a:srgbClr val="7030A0"/>
                </a:solidFill>
              </a:rPr>
              <a:t>Region</a:t>
            </a:r>
            <a:r>
              <a:rPr lang="en-IN" dirty="0">
                <a:solidFill>
                  <a:srgbClr val="7030A0"/>
                </a:solidFill>
              </a:rPr>
              <a:t> </a:t>
            </a:r>
            <a:r>
              <a:rPr lang="en-IN" dirty="0" smtClean="0">
                <a:solidFill>
                  <a:srgbClr val="7030A0"/>
                </a:solidFill>
              </a:rPr>
              <a:t>US-East1</a:t>
            </a:r>
            <a:endParaRPr lang="en-IN" dirty="0">
              <a:solidFill>
                <a:srgbClr val="7030A0"/>
              </a:solidFill>
            </a:endParaRPr>
          </a:p>
        </p:txBody>
      </p:sp>
      <p:sp>
        <p:nvSpPr>
          <p:cNvPr id="28" name="TextBox 27"/>
          <p:cNvSpPr txBox="1"/>
          <p:nvPr/>
        </p:nvSpPr>
        <p:spPr>
          <a:xfrm>
            <a:off x="1905091" y="1424571"/>
            <a:ext cx="2538324" cy="369332"/>
          </a:xfrm>
          <a:prstGeom prst="rect">
            <a:avLst/>
          </a:prstGeom>
          <a:noFill/>
        </p:spPr>
        <p:txBody>
          <a:bodyPr wrap="none" rtlCol="0">
            <a:spAutoFit/>
          </a:bodyPr>
          <a:lstStyle/>
          <a:p>
            <a:r>
              <a:rPr lang="en-IN" b="1" dirty="0" smtClean="0">
                <a:solidFill>
                  <a:srgbClr val="C00000"/>
                </a:solidFill>
              </a:rPr>
              <a:t>Azure Subscription -&gt; RG</a:t>
            </a:r>
            <a:endParaRPr lang="en-IN" dirty="0">
              <a:solidFill>
                <a:srgbClr val="C00000"/>
              </a:solidFill>
            </a:endParaRPr>
          </a:p>
        </p:txBody>
      </p:sp>
      <p:sp>
        <p:nvSpPr>
          <p:cNvPr id="29" name="TextBox 28"/>
          <p:cNvSpPr txBox="1"/>
          <p:nvPr/>
        </p:nvSpPr>
        <p:spPr>
          <a:xfrm>
            <a:off x="2483518" y="1793903"/>
            <a:ext cx="2969403" cy="369332"/>
          </a:xfrm>
          <a:prstGeom prst="rect">
            <a:avLst/>
          </a:prstGeom>
          <a:noFill/>
        </p:spPr>
        <p:txBody>
          <a:bodyPr wrap="none" rtlCol="0">
            <a:spAutoFit/>
          </a:bodyPr>
          <a:lstStyle/>
          <a:p>
            <a:r>
              <a:rPr lang="en-IN" b="1" dirty="0" smtClean="0">
                <a:solidFill>
                  <a:srgbClr val="C00000"/>
                </a:solidFill>
              </a:rPr>
              <a:t>Virtual Network </a:t>
            </a:r>
            <a:r>
              <a:rPr lang="en-IN" sz="1200" b="1" dirty="0" smtClean="0">
                <a:solidFill>
                  <a:srgbClr val="C00000"/>
                </a:solidFill>
              </a:rPr>
              <a:t>(Broader Network)</a:t>
            </a:r>
            <a:endParaRPr lang="en-IN" dirty="0">
              <a:solidFill>
                <a:srgbClr val="C00000"/>
              </a:solidFill>
            </a:endParaRPr>
          </a:p>
        </p:txBody>
      </p:sp>
      <p:sp>
        <p:nvSpPr>
          <p:cNvPr id="30" name="TextBox 29"/>
          <p:cNvSpPr txBox="1"/>
          <p:nvPr/>
        </p:nvSpPr>
        <p:spPr>
          <a:xfrm>
            <a:off x="3240502" y="2491943"/>
            <a:ext cx="1888659" cy="584775"/>
          </a:xfrm>
          <a:prstGeom prst="rect">
            <a:avLst/>
          </a:prstGeom>
          <a:noFill/>
        </p:spPr>
        <p:txBody>
          <a:bodyPr wrap="none" rtlCol="0">
            <a:spAutoFit/>
          </a:bodyPr>
          <a:lstStyle/>
          <a:p>
            <a:r>
              <a:rPr lang="en-IN" b="1" dirty="0">
                <a:solidFill>
                  <a:srgbClr val="C00000"/>
                </a:solidFill>
              </a:rPr>
              <a:t>Subnet1 </a:t>
            </a:r>
            <a:r>
              <a:rPr lang="en-IN" sz="1400" b="1" dirty="0">
                <a:solidFill>
                  <a:srgbClr val="C00000"/>
                </a:solidFill>
              </a:rPr>
              <a:t>10.0.0.0/28</a:t>
            </a:r>
          </a:p>
          <a:p>
            <a:r>
              <a:rPr lang="en-IN" sz="1400" b="1" dirty="0">
                <a:solidFill>
                  <a:srgbClr val="C00000"/>
                </a:solidFill>
              </a:rPr>
              <a:t>10.0.0.0 -&gt; 10.0.0.16</a:t>
            </a:r>
            <a:endParaRPr lang="en-IN" dirty="0">
              <a:solidFill>
                <a:srgbClr val="C00000"/>
              </a:solidFill>
            </a:endParaRPr>
          </a:p>
        </p:txBody>
      </p:sp>
      <p:sp>
        <p:nvSpPr>
          <p:cNvPr id="49" name="TextBox 48"/>
          <p:cNvSpPr txBox="1"/>
          <p:nvPr/>
        </p:nvSpPr>
        <p:spPr>
          <a:xfrm>
            <a:off x="3286599" y="-8009"/>
            <a:ext cx="8617951" cy="1277273"/>
          </a:xfrm>
          <a:prstGeom prst="rect">
            <a:avLst/>
          </a:prstGeom>
          <a:solidFill>
            <a:schemeClr val="bg1">
              <a:lumMod val="95000"/>
            </a:schemeClr>
          </a:solidFill>
          <a:ln w="3175">
            <a:solidFill>
              <a:schemeClr val="tx1"/>
            </a:solidFill>
          </a:ln>
        </p:spPr>
        <p:txBody>
          <a:bodyPr wrap="square" rtlCol="0">
            <a:spAutoFit/>
          </a:bodyPr>
          <a:lstStyle/>
          <a:p>
            <a:r>
              <a:rPr lang="en-IN" sz="1100" b="1" dirty="0" smtClean="0">
                <a:solidFill>
                  <a:prstClr val="black"/>
                </a:solidFill>
              </a:rPr>
              <a:t>Subscription</a:t>
            </a:r>
            <a:r>
              <a:rPr lang="en-IN" sz="1100" dirty="0" smtClean="0">
                <a:solidFill>
                  <a:prstClr val="black"/>
                </a:solidFill>
              </a:rPr>
              <a:t>– </a:t>
            </a:r>
            <a:r>
              <a:rPr lang="en-US" sz="1100" dirty="0" smtClean="0">
                <a:solidFill>
                  <a:srgbClr val="44546A"/>
                </a:solidFill>
              </a:rPr>
              <a:t>Billing Management for </a:t>
            </a:r>
            <a:r>
              <a:rPr lang="en-US" sz="1100" dirty="0">
                <a:solidFill>
                  <a:srgbClr val="44546A"/>
                </a:solidFill>
              </a:rPr>
              <a:t>Resources</a:t>
            </a:r>
          </a:p>
          <a:p>
            <a:r>
              <a:rPr lang="en-IN" sz="1100" b="1" dirty="0" err="1" smtClean="0">
                <a:solidFill>
                  <a:prstClr val="black"/>
                </a:solidFill>
              </a:rPr>
              <a:t>VNet</a:t>
            </a:r>
            <a:r>
              <a:rPr lang="en-IN" sz="1100" dirty="0" smtClean="0">
                <a:solidFill>
                  <a:prstClr val="black"/>
                </a:solidFill>
              </a:rPr>
              <a:t> </a:t>
            </a:r>
            <a:r>
              <a:rPr lang="en-IN" sz="1100" b="1" dirty="0">
                <a:solidFill>
                  <a:prstClr val="black"/>
                </a:solidFill>
              </a:rPr>
              <a:t>(Log)</a:t>
            </a:r>
            <a:r>
              <a:rPr lang="en-IN" sz="1100" dirty="0">
                <a:solidFill>
                  <a:prstClr val="black"/>
                </a:solidFill>
              </a:rPr>
              <a:t>– </a:t>
            </a:r>
            <a:r>
              <a:rPr lang="en-IN" sz="1100" dirty="0">
                <a:solidFill>
                  <a:srgbClr val="44546A"/>
                </a:solidFill>
              </a:rPr>
              <a:t>Virtual </a:t>
            </a:r>
            <a:r>
              <a:rPr lang="en-IN" sz="1100" dirty="0" smtClean="0">
                <a:solidFill>
                  <a:srgbClr val="44546A"/>
                </a:solidFill>
              </a:rPr>
              <a:t>Network is </a:t>
            </a:r>
            <a:r>
              <a:rPr lang="en-IN" sz="1100" dirty="0">
                <a:solidFill>
                  <a:srgbClr val="44546A"/>
                </a:solidFill>
              </a:rPr>
              <a:t>the </a:t>
            </a:r>
            <a:r>
              <a:rPr lang="en-IN" sz="1100" b="1" i="1" dirty="0">
                <a:solidFill>
                  <a:srgbClr val="44546A"/>
                </a:solidFill>
              </a:rPr>
              <a:t>private isolated networking partition </a:t>
            </a:r>
            <a:r>
              <a:rPr lang="en-IN" sz="1100" dirty="0">
                <a:solidFill>
                  <a:srgbClr val="44546A"/>
                </a:solidFill>
              </a:rPr>
              <a:t>(Global)</a:t>
            </a:r>
            <a:r>
              <a:rPr lang="en-IN" sz="1100" b="1" dirty="0">
                <a:solidFill>
                  <a:srgbClr val="44546A"/>
                </a:solidFill>
              </a:rPr>
              <a:t> - NW</a:t>
            </a:r>
          </a:p>
          <a:p>
            <a:r>
              <a:rPr lang="en-IN" sz="1100" b="1" dirty="0">
                <a:solidFill>
                  <a:prstClr val="black"/>
                </a:solidFill>
              </a:rPr>
              <a:t>Region(</a:t>
            </a:r>
            <a:r>
              <a:rPr lang="en-IN" sz="1100" b="1" dirty="0" err="1">
                <a:solidFill>
                  <a:prstClr val="black"/>
                </a:solidFill>
              </a:rPr>
              <a:t>Phy</a:t>
            </a:r>
            <a:r>
              <a:rPr lang="en-IN" sz="1100" b="1" dirty="0">
                <a:solidFill>
                  <a:prstClr val="black"/>
                </a:solidFill>
              </a:rPr>
              <a:t>)</a:t>
            </a:r>
            <a:r>
              <a:rPr lang="en-IN" sz="1100" dirty="0">
                <a:solidFill>
                  <a:prstClr val="black"/>
                </a:solidFill>
              </a:rPr>
              <a:t> – </a:t>
            </a:r>
            <a:r>
              <a:rPr lang="en-IN" sz="1100" dirty="0">
                <a:solidFill>
                  <a:srgbClr val="44546A"/>
                </a:solidFill>
              </a:rPr>
              <a:t>Geo location identifier that comprised of zones - </a:t>
            </a:r>
            <a:r>
              <a:rPr lang="en-IN" sz="1100" b="1" dirty="0">
                <a:solidFill>
                  <a:srgbClr val="44546A"/>
                </a:solidFill>
              </a:rPr>
              <a:t>Infra</a:t>
            </a:r>
          </a:p>
          <a:p>
            <a:r>
              <a:rPr lang="en-IN" sz="1100" b="1" dirty="0">
                <a:solidFill>
                  <a:prstClr val="black"/>
                </a:solidFill>
              </a:rPr>
              <a:t>Subnet(Log)</a:t>
            </a:r>
            <a:r>
              <a:rPr lang="en-IN" sz="1100" dirty="0">
                <a:solidFill>
                  <a:prstClr val="black"/>
                </a:solidFill>
              </a:rPr>
              <a:t> –  </a:t>
            </a:r>
            <a:r>
              <a:rPr lang="en-IN" sz="1100" dirty="0">
                <a:solidFill>
                  <a:srgbClr val="44546A"/>
                </a:solidFill>
              </a:rPr>
              <a:t>Subnetwork with the range of IP addresses to isolate the cloud resources GCEs (Regional) inside </a:t>
            </a:r>
            <a:r>
              <a:rPr lang="en-IN" sz="1100" dirty="0" smtClean="0">
                <a:solidFill>
                  <a:srgbClr val="44546A"/>
                </a:solidFill>
              </a:rPr>
              <a:t>VPN- </a:t>
            </a:r>
            <a:r>
              <a:rPr lang="en-IN" sz="1100" dirty="0">
                <a:solidFill>
                  <a:srgbClr val="44546A"/>
                </a:solidFill>
              </a:rPr>
              <a:t>NW</a:t>
            </a:r>
          </a:p>
          <a:p>
            <a:r>
              <a:rPr lang="en-IN" sz="1100" b="1" dirty="0" smtClean="0">
                <a:solidFill>
                  <a:prstClr val="black"/>
                </a:solidFill>
              </a:rPr>
              <a:t>Availability Zone(</a:t>
            </a:r>
            <a:r>
              <a:rPr lang="en-IN" sz="1100" b="1" dirty="0" err="1" smtClean="0">
                <a:solidFill>
                  <a:prstClr val="black"/>
                </a:solidFill>
              </a:rPr>
              <a:t>Phy</a:t>
            </a:r>
            <a:r>
              <a:rPr lang="en-IN" sz="1100" b="1" dirty="0">
                <a:solidFill>
                  <a:prstClr val="black"/>
                </a:solidFill>
              </a:rPr>
              <a:t>)</a:t>
            </a:r>
            <a:r>
              <a:rPr lang="en-IN" sz="1100" dirty="0">
                <a:solidFill>
                  <a:prstClr val="black"/>
                </a:solidFill>
              </a:rPr>
              <a:t>–  </a:t>
            </a:r>
            <a:r>
              <a:rPr lang="en-IN" sz="1100" dirty="0">
                <a:solidFill>
                  <a:srgbClr val="44546A"/>
                </a:solidFill>
              </a:rPr>
              <a:t>Deployment area of </a:t>
            </a:r>
            <a:r>
              <a:rPr lang="en-IN" sz="1100" dirty="0" err="1" smtClean="0">
                <a:solidFill>
                  <a:srgbClr val="44546A"/>
                </a:solidFill>
              </a:rPr>
              <a:t>Az</a:t>
            </a:r>
            <a:r>
              <a:rPr lang="en-IN" sz="1100" dirty="0" smtClean="0">
                <a:solidFill>
                  <a:srgbClr val="44546A"/>
                </a:solidFill>
              </a:rPr>
              <a:t> </a:t>
            </a:r>
            <a:r>
              <a:rPr lang="en-IN" sz="1100" dirty="0">
                <a:solidFill>
                  <a:srgbClr val="44546A"/>
                </a:solidFill>
              </a:rPr>
              <a:t>resources that provides high availability (spread across </a:t>
            </a:r>
            <a:r>
              <a:rPr lang="en-IN" sz="1100" dirty="0" smtClean="0">
                <a:solidFill>
                  <a:srgbClr val="44546A"/>
                </a:solidFill>
              </a:rPr>
              <a:t>Few KMs </a:t>
            </a:r>
            <a:r>
              <a:rPr lang="en-IN" sz="1100" dirty="0">
                <a:solidFill>
                  <a:srgbClr val="44546A"/>
                </a:solidFill>
              </a:rPr>
              <a:t>radius) - </a:t>
            </a:r>
            <a:r>
              <a:rPr lang="en-IN" sz="1100" b="1" dirty="0">
                <a:solidFill>
                  <a:srgbClr val="44546A"/>
                </a:solidFill>
              </a:rPr>
              <a:t>Infra</a:t>
            </a:r>
          </a:p>
          <a:p>
            <a:r>
              <a:rPr lang="en-IN" sz="1100" b="1" dirty="0" smtClean="0">
                <a:solidFill>
                  <a:prstClr val="black"/>
                </a:solidFill>
              </a:rPr>
              <a:t>Scaled Units(</a:t>
            </a:r>
            <a:r>
              <a:rPr lang="en-IN" sz="1100" b="1" dirty="0" err="1" smtClean="0">
                <a:solidFill>
                  <a:prstClr val="black"/>
                </a:solidFill>
              </a:rPr>
              <a:t>Phy</a:t>
            </a:r>
            <a:r>
              <a:rPr lang="en-IN" sz="1100" b="1" dirty="0">
                <a:solidFill>
                  <a:prstClr val="black"/>
                </a:solidFill>
              </a:rPr>
              <a:t>)</a:t>
            </a:r>
            <a:r>
              <a:rPr lang="en-IN" sz="1100" dirty="0">
                <a:solidFill>
                  <a:prstClr val="black"/>
                </a:solidFill>
              </a:rPr>
              <a:t>–  </a:t>
            </a:r>
            <a:r>
              <a:rPr lang="en-US" sz="1100" dirty="0">
                <a:solidFill>
                  <a:srgbClr val="44546A"/>
                </a:solidFill>
              </a:rPr>
              <a:t>A </a:t>
            </a:r>
            <a:r>
              <a:rPr lang="en-US" sz="1100" dirty="0" err="1" smtClean="0">
                <a:solidFill>
                  <a:srgbClr val="44546A"/>
                </a:solidFill>
              </a:rPr>
              <a:t>Scaledunits</a:t>
            </a:r>
            <a:r>
              <a:rPr lang="en-US" sz="1100" dirty="0" smtClean="0">
                <a:solidFill>
                  <a:srgbClr val="44546A"/>
                </a:solidFill>
              </a:rPr>
              <a:t> </a:t>
            </a:r>
            <a:r>
              <a:rPr lang="en-US" sz="1100" dirty="0">
                <a:solidFill>
                  <a:srgbClr val="44546A"/>
                </a:solidFill>
              </a:rPr>
              <a:t>represents a distinct physical infrastructure </a:t>
            </a:r>
            <a:r>
              <a:rPr lang="en-US" sz="1100" dirty="0" err="1">
                <a:solidFill>
                  <a:srgbClr val="44546A"/>
                </a:solidFill>
              </a:rPr>
              <a:t>ie</a:t>
            </a:r>
            <a:r>
              <a:rPr lang="en-US" sz="1100" dirty="0">
                <a:solidFill>
                  <a:srgbClr val="44546A"/>
                </a:solidFill>
              </a:rPr>
              <a:t> data center.  Each zone is hosted in one or more clusters  - </a:t>
            </a:r>
            <a:r>
              <a:rPr lang="en-US" sz="1100" b="1" dirty="0">
                <a:solidFill>
                  <a:srgbClr val="44546A"/>
                </a:solidFill>
              </a:rPr>
              <a:t>Infra</a:t>
            </a:r>
          </a:p>
          <a:p>
            <a:r>
              <a:rPr lang="en-US" sz="1100" b="1" dirty="0" smtClean="0">
                <a:solidFill>
                  <a:srgbClr val="44546A"/>
                </a:solidFill>
              </a:rPr>
              <a:t>Resources </a:t>
            </a:r>
            <a:r>
              <a:rPr lang="en-US" sz="1100" dirty="0" smtClean="0">
                <a:solidFill>
                  <a:srgbClr val="44546A"/>
                </a:solidFill>
              </a:rPr>
              <a:t>(</a:t>
            </a:r>
            <a:r>
              <a:rPr lang="en-US" sz="1100" dirty="0" err="1">
                <a:solidFill>
                  <a:srgbClr val="44546A"/>
                </a:solidFill>
              </a:rPr>
              <a:t>Phy</a:t>
            </a:r>
            <a:r>
              <a:rPr lang="en-US" sz="1100" dirty="0">
                <a:solidFill>
                  <a:srgbClr val="44546A"/>
                </a:solidFill>
              </a:rPr>
              <a:t>/Log) – Any cloud resources like </a:t>
            </a:r>
            <a:r>
              <a:rPr lang="en-US" sz="1100" dirty="0" smtClean="0">
                <a:solidFill>
                  <a:srgbClr val="44546A"/>
                </a:solidFill>
              </a:rPr>
              <a:t>VM, Storage, VPN…</a:t>
            </a:r>
            <a:endParaRPr lang="en-US" sz="1100" dirty="0">
              <a:solidFill>
                <a:srgbClr val="44546A"/>
              </a:solidFill>
            </a:endParaRPr>
          </a:p>
        </p:txBody>
      </p:sp>
      <p:pic>
        <p:nvPicPr>
          <p:cNvPr id="3087"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526" y="3556867"/>
            <a:ext cx="757028" cy="8161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8"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65" y="2574724"/>
            <a:ext cx="622595" cy="6225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AutoShape 18" descr="Increase adoption and consumption of your APIs"/>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pic>
        <p:nvPicPr>
          <p:cNvPr id="3091" name="Picture 1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04622" y="3745827"/>
            <a:ext cx="638981" cy="4259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92" name="Picture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796" y="1655306"/>
            <a:ext cx="910798" cy="943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93"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3881" y="4776962"/>
            <a:ext cx="676594" cy="8327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TextBox 21"/>
          <p:cNvSpPr txBox="1"/>
          <p:nvPr/>
        </p:nvSpPr>
        <p:spPr>
          <a:xfrm>
            <a:off x="1057321" y="4120305"/>
            <a:ext cx="1446230" cy="261610"/>
          </a:xfrm>
          <a:prstGeom prst="rect">
            <a:avLst/>
          </a:prstGeom>
          <a:noFill/>
        </p:spPr>
        <p:txBody>
          <a:bodyPr wrap="none" rtlCol="0">
            <a:spAutoFit/>
          </a:bodyPr>
          <a:lstStyle/>
          <a:p>
            <a:r>
              <a:rPr lang="en-IN" sz="1100" dirty="0" err="1" smtClean="0">
                <a:solidFill>
                  <a:prstClr val="black"/>
                </a:solidFill>
              </a:rPr>
              <a:t>Az</a:t>
            </a:r>
            <a:r>
              <a:rPr lang="en-IN" sz="1100" dirty="0" smtClean="0">
                <a:solidFill>
                  <a:prstClr val="black"/>
                </a:solidFill>
              </a:rPr>
              <a:t> (Internet) </a:t>
            </a:r>
            <a:r>
              <a:rPr lang="en-IN" sz="1100" dirty="0">
                <a:solidFill>
                  <a:prstClr val="black"/>
                </a:solidFill>
              </a:rPr>
              <a:t>Gateway</a:t>
            </a:r>
          </a:p>
        </p:txBody>
      </p:sp>
      <p:cxnSp>
        <p:nvCxnSpPr>
          <p:cNvPr id="64" name="Straight Arrow Connector 63"/>
          <p:cNvCxnSpPr>
            <a:stCxn id="1026" idx="0"/>
          </p:cNvCxnSpPr>
          <p:nvPr/>
        </p:nvCxnSpPr>
        <p:spPr>
          <a:xfrm flipH="1" flipV="1">
            <a:off x="1543399" y="4284450"/>
            <a:ext cx="191285" cy="515807"/>
          </a:xfrm>
          <a:prstGeom prst="straightConnector1">
            <a:avLst/>
          </a:prstGeom>
          <a:ln w="38100">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70" name="Straight Arrow Connector 69"/>
          <p:cNvCxnSpPr>
            <a:stCxn id="3091" idx="1"/>
            <a:endCxn id="3087" idx="3"/>
          </p:cNvCxnSpPr>
          <p:nvPr/>
        </p:nvCxnSpPr>
        <p:spPr>
          <a:xfrm flipH="1">
            <a:off x="896554" y="3958820"/>
            <a:ext cx="308068" cy="6132"/>
          </a:xfrm>
          <a:prstGeom prst="straightConnector1">
            <a:avLst/>
          </a:prstGeom>
          <a:ln w="38100">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73" name="Straight Arrow Connector 72"/>
          <p:cNvCxnSpPr>
            <a:stCxn id="3087" idx="0"/>
            <a:endCxn id="3088" idx="2"/>
          </p:cNvCxnSpPr>
          <p:nvPr/>
        </p:nvCxnSpPr>
        <p:spPr>
          <a:xfrm flipH="1" flipV="1">
            <a:off x="509163" y="3197319"/>
            <a:ext cx="8877" cy="359548"/>
          </a:xfrm>
          <a:prstGeom prst="straightConnector1">
            <a:avLst/>
          </a:prstGeom>
          <a:ln w="38100">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76" name="TextBox 75"/>
          <p:cNvSpPr txBox="1"/>
          <p:nvPr/>
        </p:nvSpPr>
        <p:spPr>
          <a:xfrm rot="20817543">
            <a:off x="2801237" y="5119764"/>
            <a:ext cx="726737" cy="646331"/>
          </a:xfrm>
          <a:prstGeom prst="rect">
            <a:avLst/>
          </a:prstGeom>
          <a:noFill/>
        </p:spPr>
        <p:txBody>
          <a:bodyPr wrap="none" rtlCol="0">
            <a:spAutoFit/>
          </a:bodyPr>
          <a:lstStyle/>
          <a:p>
            <a:r>
              <a:rPr lang="en-IN" sz="1200" dirty="0" smtClean="0">
                <a:solidFill>
                  <a:prstClr val="black"/>
                </a:solidFill>
              </a:rPr>
              <a:t>UDR</a:t>
            </a:r>
          </a:p>
          <a:p>
            <a:r>
              <a:rPr lang="en-IN" sz="1200" dirty="0" smtClean="0">
                <a:solidFill>
                  <a:prstClr val="black"/>
                </a:solidFill>
              </a:rPr>
              <a:t>User Def</a:t>
            </a:r>
          </a:p>
          <a:p>
            <a:r>
              <a:rPr lang="en-IN" sz="1200" dirty="0" smtClean="0">
                <a:solidFill>
                  <a:prstClr val="black"/>
                </a:solidFill>
              </a:rPr>
              <a:t>Routes</a:t>
            </a:r>
            <a:endParaRPr lang="en-IN" sz="1200" dirty="0">
              <a:solidFill>
                <a:prstClr val="black"/>
              </a:solidFill>
            </a:endParaRPr>
          </a:p>
        </p:txBody>
      </p:sp>
      <p:grpSp>
        <p:nvGrpSpPr>
          <p:cNvPr id="31" name="Group 30"/>
          <p:cNvGrpSpPr/>
          <p:nvPr/>
        </p:nvGrpSpPr>
        <p:grpSpPr>
          <a:xfrm>
            <a:off x="5633533" y="3014154"/>
            <a:ext cx="2531783" cy="2729088"/>
            <a:chOff x="8126447" y="2996902"/>
            <a:chExt cx="2531783" cy="2729088"/>
          </a:xfrm>
        </p:grpSpPr>
        <p:sp>
          <p:nvSpPr>
            <p:cNvPr id="34" name="Rectangle 33"/>
            <p:cNvSpPr/>
            <p:nvPr/>
          </p:nvSpPr>
          <p:spPr>
            <a:xfrm>
              <a:off x="8154575" y="2996902"/>
              <a:ext cx="2267891" cy="2649355"/>
            </a:xfrm>
            <a:prstGeom prst="rect">
              <a:avLst/>
            </a:prstGeom>
            <a:solidFill>
              <a:srgbClr val="FFFFFF"/>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52" name="TextBox 51"/>
            <p:cNvSpPr txBox="1"/>
            <p:nvPr/>
          </p:nvSpPr>
          <p:spPr>
            <a:xfrm>
              <a:off x="8126447" y="3031319"/>
              <a:ext cx="2531783" cy="369332"/>
            </a:xfrm>
            <a:prstGeom prst="rect">
              <a:avLst/>
            </a:prstGeom>
            <a:noFill/>
          </p:spPr>
          <p:txBody>
            <a:bodyPr wrap="none" rtlCol="0">
              <a:spAutoFit/>
            </a:bodyPr>
            <a:lstStyle/>
            <a:p>
              <a:r>
                <a:rPr lang="en-IN" b="1" dirty="0" err="1" smtClean="0">
                  <a:solidFill>
                    <a:srgbClr val="7030A0"/>
                  </a:solidFill>
                </a:rPr>
                <a:t>Avl</a:t>
              </a:r>
              <a:r>
                <a:rPr lang="en-IN" b="1" dirty="0" smtClean="0">
                  <a:solidFill>
                    <a:srgbClr val="7030A0"/>
                  </a:solidFill>
                </a:rPr>
                <a:t> Zone</a:t>
              </a:r>
              <a:r>
                <a:rPr lang="en-IN" dirty="0" smtClean="0">
                  <a:solidFill>
                    <a:srgbClr val="7030A0"/>
                  </a:solidFill>
                </a:rPr>
                <a:t> Chen-Velachery</a:t>
              </a:r>
              <a:endParaRPr lang="en-IN" sz="1700" dirty="0">
                <a:solidFill>
                  <a:srgbClr val="7030A0"/>
                </a:solidFill>
              </a:endParaRPr>
            </a:p>
          </p:txBody>
        </p:sp>
        <p:sp>
          <p:nvSpPr>
            <p:cNvPr id="80" name="Rectangle 79"/>
            <p:cNvSpPr/>
            <p:nvPr/>
          </p:nvSpPr>
          <p:spPr>
            <a:xfrm>
              <a:off x="8362206" y="3407531"/>
              <a:ext cx="1874291" cy="1123585"/>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solidFill>
                  <a:prstClr val="black"/>
                </a:solidFill>
              </a:endParaRPr>
            </a:p>
          </p:txBody>
        </p:sp>
        <p:sp>
          <p:nvSpPr>
            <p:cNvPr id="81" name="TextBox 80"/>
            <p:cNvSpPr txBox="1"/>
            <p:nvPr/>
          </p:nvSpPr>
          <p:spPr>
            <a:xfrm>
              <a:off x="8417071" y="3386327"/>
              <a:ext cx="1512209" cy="369332"/>
            </a:xfrm>
            <a:prstGeom prst="rect">
              <a:avLst/>
            </a:prstGeom>
            <a:noFill/>
          </p:spPr>
          <p:txBody>
            <a:bodyPr wrap="none" rtlCol="0">
              <a:spAutoFit/>
            </a:bodyPr>
            <a:lstStyle/>
            <a:p>
              <a:r>
                <a:rPr lang="en-IN" b="1" dirty="0" err="1">
                  <a:solidFill>
                    <a:srgbClr val="7030A0"/>
                  </a:solidFill>
                </a:rPr>
                <a:t>Az</a:t>
              </a:r>
              <a:r>
                <a:rPr lang="en-IN" b="1" dirty="0">
                  <a:solidFill>
                    <a:srgbClr val="7030A0"/>
                  </a:solidFill>
                </a:rPr>
                <a:t> Scale </a:t>
              </a:r>
              <a:r>
                <a:rPr lang="en-IN" b="1" dirty="0" smtClean="0">
                  <a:solidFill>
                    <a:srgbClr val="7030A0"/>
                  </a:solidFill>
                </a:rPr>
                <a:t>Units</a:t>
              </a:r>
              <a:endParaRPr lang="en-IN" sz="1700" dirty="0">
                <a:solidFill>
                  <a:srgbClr val="7030A0"/>
                </a:solidFill>
              </a:endParaRPr>
            </a:p>
          </p:txBody>
        </p:sp>
        <p:pic>
          <p:nvPicPr>
            <p:cNvPr id="3085"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72803" y="3768157"/>
              <a:ext cx="1653099" cy="6297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4" name="Rectangle 83"/>
            <p:cNvSpPr/>
            <p:nvPr/>
          </p:nvSpPr>
          <p:spPr>
            <a:xfrm>
              <a:off x="8378023" y="4602405"/>
              <a:ext cx="1874291" cy="1123585"/>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solidFill>
                  <a:prstClr val="black"/>
                </a:solidFill>
              </a:endParaRPr>
            </a:p>
          </p:txBody>
        </p:sp>
        <p:sp>
          <p:nvSpPr>
            <p:cNvPr id="85" name="TextBox 84"/>
            <p:cNvSpPr txBox="1"/>
            <p:nvPr/>
          </p:nvSpPr>
          <p:spPr>
            <a:xfrm>
              <a:off x="8415396" y="4624331"/>
              <a:ext cx="849335" cy="369332"/>
            </a:xfrm>
            <a:prstGeom prst="rect">
              <a:avLst/>
            </a:prstGeom>
            <a:noFill/>
          </p:spPr>
          <p:txBody>
            <a:bodyPr wrap="none" rtlCol="0">
              <a:spAutoFit/>
            </a:bodyPr>
            <a:lstStyle/>
            <a:p>
              <a:r>
                <a:rPr lang="en-IN" b="1" dirty="0">
                  <a:solidFill>
                    <a:srgbClr val="7030A0"/>
                  </a:solidFill>
                </a:rPr>
                <a:t>Cluster</a:t>
              </a:r>
              <a:endParaRPr lang="en-IN" sz="1700" dirty="0">
                <a:solidFill>
                  <a:srgbClr val="7030A0"/>
                </a:solidFill>
              </a:endParaRPr>
            </a:p>
          </p:txBody>
        </p:sp>
        <p:pic>
          <p:nvPicPr>
            <p:cNvPr id="86"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95775" y="4993663"/>
              <a:ext cx="1638786" cy="6082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33" name="Group 32"/>
          <p:cNvGrpSpPr/>
          <p:nvPr/>
        </p:nvGrpSpPr>
        <p:grpSpPr>
          <a:xfrm>
            <a:off x="3308728" y="3026812"/>
            <a:ext cx="2130569" cy="2582203"/>
            <a:chOff x="4524630" y="3069695"/>
            <a:chExt cx="2130569" cy="2582203"/>
          </a:xfrm>
        </p:grpSpPr>
        <p:sp>
          <p:nvSpPr>
            <p:cNvPr id="27" name="TextBox 26"/>
            <p:cNvSpPr txBox="1"/>
            <p:nvPr/>
          </p:nvSpPr>
          <p:spPr>
            <a:xfrm>
              <a:off x="4524630" y="3069695"/>
              <a:ext cx="2123338" cy="369332"/>
            </a:xfrm>
            <a:prstGeom prst="rect">
              <a:avLst/>
            </a:prstGeom>
            <a:noFill/>
          </p:spPr>
          <p:txBody>
            <a:bodyPr wrap="none" rtlCol="0">
              <a:spAutoFit/>
            </a:bodyPr>
            <a:lstStyle/>
            <a:p>
              <a:r>
                <a:rPr lang="en-IN" b="1" dirty="0" err="1" smtClean="0">
                  <a:solidFill>
                    <a:srgbClr val="7030A0"/>
                  </a:solidFill>
                </a:rPr>
                <a:t>Avl</a:t>
              </a:r>
              <a:r>
                <a:rPr lang="en-IN" b="1" dirty="0" smtClean="0">
                  <a:solidFill>
                    <a:srgbClr val="7030A0"/>
                  </a:solidFill>
                </a:rPr>
                <a:t> Zone</a:t>
              </a:r>
              <a:r>
                <a:rPr lang="en-IN" dirty="0" smtClean="0">
                  <a:solidFill>
                    <a:srgbClr val="7030A0"/>
                  </a:solidFill>
                </a:rPr>
                <a:t> Chen-</a:t>
              </a:r>
              <a:r>
                <a:rPr lang="en-IN" dirty="0" err="1" smtClean="0">
                  <a:solidFill>
                    <a:srgbClr val="7030A0"/>
                  </a:solidFill>
                </a:rPr>
                <a:t>Tamb</a:t>
              </a:r>
              <a:endParaRPr lang="en-IN" sz="1700" dirty="0">
                <a:solidFill>
                  <a:srgbClr val="7030A0"/>
                </a:solidFill>
              </a:endParaRPr>
            </a:p>
          </p:txBody>
        </p:sp>
        <p:sp>
          <p:nvSpPr>
            <p:cNvPr id="77" name="Rectangle 76"/>
            <p:cNvSpPr/>
            <p:nvPr/>
          </p:nvSpPr>
          <p:spPr>
            <a:xfrm>
              <a:off x="4640746" y="3403727"/>
              <a:ext cx="1874291" cy="2189550"/>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solidFill>
                  <a:prstClr val="black"/>
                </a:solidFill>
              </a:endParaRPr>
            </a:p>
          </p:txBody>
        </p:sp>
        <p:pic>
          <p:nvPicPr>
            <p:cNvPr id="3083"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01248" y="3973889"/>
              <a:ext cx="1153285" cy="467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4"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12614" y="4524195"/>
              <a:ext cx="1147369" cy="467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9" name="TextBox 78"/>
            <p:cNvSpPr txBox="1"/>
            <p:nvPr/>
          </p:nvSpPr>
          <p:spPr>
            <a:xfrm>
              <a:off x="4678119" y="3420722"/>
              <a:ext cx="1977080" cy="369332"/>
            </a:xfrm>
            <a:prstGeom prst="rect">
              <a:avLst/>
            </a:prstGeom>
            <a:noFill/>
          </p:spPr>
          <p:txBody>
            <a:bodyPr wrap="none" rtlCol="0">
              <a:spAutoFit/>
            </a:bodyPr>
            <a:lstStyle/>
            <a:p>
              <a:r>
                <a:rPr lang="en-IN" b="1" dirty="0" err="1" smtClean="0">
                  <a:solidFill>
                    <a:srgbClr val="7030A0"/>
                  </a:solidFill>
                </a:rPr>
                <a:t>Az</a:t>
              </a:r>
              <a:r>
                <a:rPr lang="en-IN" b="1" dirty="0" smtClean="0">
                  <a:solidFill>
                    <a:srgbClr val="7030A0"/>
                  </a:solidFill>
                </a:rPr>
                <a:t> Scale Units (DC)</a:t>
              </a:r>
              <a:endParaRPr lang="en-IN" sz="1700" dirty="0">
                <a:solidFill>
                  <a:srgbClr val="7030A0"/>
                </a:solidFill>
              </a:endParaRPr>
            </a:p>
          </p:txBody>
        </p:sp>
        <p:sp>
          <p:nvSpPr>
            <p:cNvPr id="50" name="TextBox 49"/>
            <p:cNvSpPr txBox="1"/>
            <p:nvPr/>
          </p:nvSpPr>
          <p:spPr>
            <a:xfrm>
              <a:off x="4704734" y="5282566"/>
              <a:ext cx="1715534" cy="369332"/>
            </a:xfrm>
            <a:prstGeom prst="rect">
              <a:avLst/>
            </a:prstGeom>
            <a:noFill/>
          </p:spPr>
          <p:txBody>
            <a:bodyPr wrap="none" rtlCol="0">
              <a:spAutoFit/>
            </a:bodyPr>
            <a:lstStyle/>
            <a:p>
              <a:r>
                <a:rPr lang="en-IN" b="1" dirty="0" smtClean="0">
                  <a:solidFill>
                    <a:srgbClr val="7030A0"/>
                  </a:solidFill>
                </a:rPr>
                <a:t>Virtual Machine</a:t>
              </a:r>
              <a:endParaRPr lang="en-IN" sz="1700" dirty="0">
                <a:solidFill>
                  <a:srgbClr val="7030A0"/>
                </a:solidFill>
              </a:endParaRPr>
            </a:p>
          </p:txBody>
        </p:sp>
      </p:grpSp>
      <p:cxnSp>
        <p:nvCxnSpPr>
          <p:cNvPr id="24" name="Straight Arrow Connector 23"/>
          <p:cNvCxnSpPr>
            <a:stCxn id="3084" idx="1"/>
            <a:endCxn id="3093" idx="3"/>
          </p:cNvCxnSpPr>
          <p:nvPr/>
        </p:nvCxnSpPr>
        <p:spPr>
          <a:xfrm flipH="1">
            <a:off x="2910475" y="4714926"/>
            <a:ext cx="886237" cy="478402"/>
          </a:xfrm>
          <a:prstGeom prst="straightConnector1">
            <a:avLst/>
          </a:prstGeom>
          <a:ln w="38100">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pic>
        <p:nvPicPr>
          <p:cNvPr id="1026"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61922" y="4800257"/>
            <a:ext cx="545523" cy="8052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3" name="Straight Arrow Connector 52"/>
          <p:cNvCxnSpPr>
            <a:endCxn id="3093" idx="1"/>
          </p:cNvCxnSpPr>
          <p:nvPr/>
        </p:nvCxnSpPr>
        <p:spPr>
          <a:xfrm>
            <a:off x="2007445" y="5065040"/>
            <a:ext cx="226436" cy="128288"/>
          </a:xfrm>
          <a:prstGeom prst="straightConnector1">
            <a:avLst/>
          </a:prstGeom>
          <a:ln w="38100">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55" name="TextBox 54"/>
          <p:cNvSpPr txBox="1"/>
          <p:nvPr/>
        </p:nvSpPr>
        <p:spPr>
          <a:xfrm>
            <a:off x="6401372" y="1749508"/>
            <a:ext cx="1793889" cy="369332"/>
          </a:xfrm>
          <a:prstGeom prst="rect">
            <a:avLst/>
          </a:prstGeom>
          <a:noFill/>
        </p:spPr>
        <p:txBody>
          <a:bodyPr wrap="none" rtlCol="0">
            <a:spAutoFit/>
          </a:bodyPr>
          <a:lstStyle/>
          <a:p>
            <a:r>
              <a:rPr lang="en-IN" b="1" dirty="0">
                <a:solidFill>
                  <a:srgbClr val="7030A0"/>
                </a:solidFill>
              </a:rPr>
              <a:t>Region</a:t>
            </a:r>
            <a:r>
              <a:rPr lang="en-IN" dirty="0">
                <a:solidFill>
                  <a:srgbClr val="7030A0"/>
                </a:solidFill>
              </a:rPr>
              <a:t> </a:t>
            </a:r>
            <a:r>
              <a:rPr lang="en-IN" dirty="0" smtClean="0">
                <a:solidFill>
                  <a:srgbClr val="7030A0"/>
                </a:solidFill>
              </a:rPr>
              <a:t>South </a:t>
            </a:r>
            <a:r>
              <a:rPr lang="en-IN" dirty="0" err="1" smtClean="0">
                <a:solidFill>
                  <a:srgbClr val="7030A0"/>
                </a:solidFill>
              </a:rPr>
              <a:t>Ind</a:t>
            </a:r>
            <a:endParaRPr lang="en-IN" dirty="0">
              <a:solidFill>
                <a:srgbClr val="7030A0"/>
              </a:solidFill>
            </a:endParaRPr>
          </a:p>
        </p:txBody>
      </p:sp>
      <p:sp>
        <p:nvSpPr>
          <p:cNvPr id="14" name="AutoShape 2" descr="data:image/png;base64,iVBORw0KGgoAAAANSUhEUgAAAZQAAAGYCAYAAABlBxTbAAAAAXNSR0IArs4c6QAABIl0RVh0bXhmaWxlACUzQ214R3JhcGhNb2RlbCUzRSUzQ3Jvb3QlM0UlM0NteENlbGwlMjBpZCUzRCUyMjAlMjIlMkYlM0UlM0NteENlbGwlMjBpZCUzRCUyMjElMjIlMjBwYXJlbnQlM0QlMjIwJTIyJTJGJTNFJTNDbXhDZWxsJTIwaWQlM0QlMjIyJTIyJTIwdmFsdWUlM0QlMjIlMjIlMjBzdHlsZSUzRCUyMnN0cm9rZUNvbG9yJTNEJTIzZGRkZGRkJTNCZmlsbENvbG9yJTNEJTIzZmZmZmZmJTNCc2hhZG93JTNEMSUzQnN0cm9rZVdpZHRoJTNEMSUzQnJvdW5kZWQlM0QxJTNCYWJzb2x1dGVBcmNTaXplJTNEMSUzQmFyY1NpemUlM0QyJTNCbGFiZWxQb3NpdGlvbiUzRGNlbnRlciUzQnZlcnRpY2FsTGFiZWxQb3NpdGlvbiUzRG1pZGRsZSUzQmFsaWduJTNEY2VudGVyJTNCdmVydGljYWxBbGlnbiUzRGJvdHRvbSUzQnNwYWNpbmdMZWZ0JTNEMCUzQmZvbnRDb2xvciUzRCUyMzk5OTk5OSUzQmZvbnRTaXplJTNEMTIlM0J3aGl0ZVNwYWNlJTNEd3JhcCUzQnNwYWNpbmdCb3R0b20lM0QyJTNCaHRtbCUzRDElM0IlMjIlMjB2ZXJ0ZXglM0QlMjIxJTIyJTIwcGFyZW50JTNEJTIyMSUyMiUzRSUzQ214R2VvbWV0cnklMjB4JTNEJTIyMTMwJTIyJTIweSUzRCUyMjI2OCUyMiUyMHdpZHRoJTNEJTIyNzAlMjIlMjBoZWlnaHQlM0QlMjI3MCUyMiUyMGFzJTNEJTIyZ2VvbWV0cnklMjIlMkYlM0UlM0MlMkZteENlbGwlM0UlM0NteENlbGwlMjBpZCUzRCUyMjMlMjIlMjB2YWx1ZSUzRCUyMiUyMiUyMHN0eWxlJTNEJTIyZGFzaGVkJTNEMCUzQmNvbm5lY3RhYmxlJTNEMCUzQmh0bWwlM0QxJTNCZmlsbENvbG9yJTNEJTIzNzU3NTc1JTNCc3Ryb2tlQ29sb3IlM0Rub25lJTNCc2hhcGUlM0RteGdyYXBoLmdjcDIuYmVhY29uJTNCcGFydCUzRDElM0IlMjIlMjB2ZXJ0ZXglM0QlMjIxJTIyJTIwcGFyZW50JTNEJTIyMiUyMiUzRSUzQ214R2VvbWV0cnklMjB4JTNEJTIyMC41JTIyJTIwd2lkdGglM0QlMjIzNi41JTIyJTIwaGVpZ2h0JTNEJTIyNTAlMjIlMjByZWxhdGl2ZSUzRCUyMjElMjIlMjBhcyUzRCUyMmdlb21ldHJ5JTIyJTNFJTNDbXhQb2ludCUyMHglM0QlMjItMTguMjUlMjIlMjB5JTNEJTIyMTAlMjIlMjBhcyUzRCUyMm9mZnNldCUyMiUyRiUzRSUzQyUyRm14R2VvbWV0cnklM0UlM0MlMkZteENlbGwlM0UlM0MlMkZyb290JTNFJTNDJTJGbXhHcmFwaE1vZGVsJTNFYiqomwAAIABJREFUeF7tnXusFdXd9xccQRRQ5KJVERREURRRoQhasF5qvKCCqVHSB5NW/2n/aNKk/zxvmv7zpmnTPm/SvG3SNJhY2ypVY720CsRSqddaS6ViReRUwWpFEAQUFIHz5DsydBhm9p599pq91+Uzyc65zV6z1md+ez5n3QcYDghAAAIQgIAFAgMspEESEIAABCAAAYNQCAIIQAACELBCAKFYwUgiEIAABCCAUIgBCEAAAhCwQgChWMFIIhCAAAQggFCIAQhAAAIQsEIAoVjBSCIQgAAEIIBQiAEIQAACELBCAKFYwUgiEIAABCCAUIgBCEAAAhCwQgChWMFIIhCAAAQggFCIAQhAAAIQsEIAoVjBSCIQgAAEIIBQiAEIQAACELBCAKFYwUgiEIAABCCAUIgBCEAAAhCwQgChWMFIIhCAAAQggFCIAQhAAAIQsEIAoVjBSCIQgAAEIIBQiAEIQAACELBCAKFYwUgiEIAABCCAUIgBCEAAAhCwQgChWMFIIhCAAAQggFCIAQhAAAIQsEIAoVjBSCIQgAAEIIBQiAEIQAACELBCAKFYwUgiEIAABCCAUIgBCEAAAhCwQgChWMFIIhCAAAQggFCIAQhAAAIQsEIAoVjBSCIQgAAEIIBQiAEIQAACELBCAKFYwUgiEIAABCCAUIgBCEAAAhCwQgChWMFIIhCAAAQggFCIAQhAAAIQsEIAoVjBSCIQgAAEIIBQiAEIQAACELBCAKFYwUgiEIAABCCAUIgBCEAAAhCwQgChWMFIIhCAAAQggFCIAQhAAAIQsEIAoVjBSCIQgAAEIIBQiAEIQAACELBCAKFYwUgiEIAABCCAUIgBCEAAAhCwQgChWMFIIhCAAAQggFCaxwCMmjPiDAhA4DMCfTGD4GHZ+O7DJ+ZPB2WHQP8IRCsVHpjGwKB/HxreBQEItE4gaNnE/jCNvfytfxx4BwQg0C6BYKUS0wO13bK2+/52g5D3QwAC7hJoVxLtvt8JMjE9JKuWtep5TtxAMgEBCDhNoKooqp7ndGFjeHhWKWOjc6q83+mbTOYgAIGOEWgkhirSqHJOxwrT6oVieFi2KotmTJr9vdV7wPkQgIC/BJoJoOjv7UrHWVohPxwPK9u6deu+3dPTc7Mx5lxjzGBn7woZgwAEXCewp6+vb83evXvvmzx58v8UZDYvjSjEEoVQXnnllYlDhgxZYoy50PUoJX8QgIBfBPr6+la9++67Cy+55JJ/ZnKeFUgzubQqG2cBhSiUw8rU29v7F2TibAySMQh4T0BSOf3002dVEEqZaMqawZo1qTnFLnihHGjm+oFT1MkMBCAQHIGPP/74v6dMmfL/CqSSSqFIJo1qMkoKoXQpUgrlmK+dDB8+3IwcOdL09PR0KZtcFgIQ8J3Avn37zNatW83OnTsPFmX//v1/mzRp0sUZCeRF0uznRgLxQiwh1VCKyjKgt7d3d7YDfvz48cjE908z+YeAAwQklQ0bNmRzsmfixIkjDwilSB6NfpeVibd9KiELJSlbb2/vvuwdnzBhggOhSBYgAIEQCPzzn9l+eGMmTpw4/EC5JIWsQPLfl/0txdKsI99JfKEIJV+Ogz8jFCfjjkxBIAgCBUIZkamhFEkl/V0j4XgrlRCEUtjUdeCOqMlrLzWUID67FAICzhEoEEq2ySsvj7Kf0+ausj6WbLmd7ksJUShpmdImL4Ti3MeQDEEgDAIFQhldUEPJi2R/k1pMo/4UhFJT6JTJMCsU1VA+pYZS0x0gWQhETqBAKCdkZJEXR/bnIqk061dxvqbicw2lYVNXpskLoUT+oaf4EKiLQIFQTszVPlJx5L9KHmVS8bbpK2ShpE1eCKWuTxPpQiByAgVCGXtAKEUiqSqXsj4Vaig1xlvpyC7z2ba+yau3t3cPTV413gWShkDEBAqEMi7X5JWViL7P/1ylppLtU0lpO9mXElIN5ZDOeIQS8aecokOgQwQKhHJapoZSJJNUKnm5FInFu875UIWSraF8Qg2lQ58uLgOByAgUCGViiVA0wTovkyKpFA0tpobSgbjKyrCwdnKgyQuhdOBmcAkIxEigQChnZMQhORSJJP+7tHbSaDhxXio0eVkOuCpCGdjb2/sxNRTL5EkOAhBICBQIZXKDmkhWJGVSyTd9lTV7IRTLMVgmlIPNXQdqKAjFMniSgwAEPiNQIJSzS4SSCiT/tahPpUqzF0KxGIRlI7wOkQlCsUicpCAAgcMIFAjlnJxQykSSr600avbKz0tJ8+GcVHzslG82oTErFTV5afn6gwerDfNUgAAEbBEoEMrUA0Ipat7S75rVVMqGEWebvrLZd0oqIQnlkCVXDgwbRii2PjmkAwEIVKmhnJepoRTJo0gqavZKz200fLhIHgilzbgsq6HkhTLwQJMXNZQ2gfN2CECgmEBBDWVaQZNXViypUBr1pZR1zCOUGgKxilASmSCUGuiTJAQgcJBAgVDOLxFKvmZSVlMpWkAybe5CKDXEXiOhpH9LhaImr130odRwF0gSAhAoGuV1QUmTV7Zm0qgvJVs7kVyyMkEoNcRcsxFeuiRCqQE8SUIAAocSKKihXJgTSllzV77pq2xJlnztJC8V+lDaDMpmQsmP8qKG0iZw3g4BCFTuQ5meG+VVVDOp2o+Sn4+SyiWbGYTSZnAilDYB8nYIQMAOgYIaSiqUdORWtoai3WPzgsmO8MrWUqpMbiwSjJ2C9TOVEIYNFw0XTmsp9KH0MzB4GwQg0JxAgVBmlMw1yYokFUteOgilOXLrZ1BDsY6UBCEAgf4QKBFKttbRrMkr20GPUPpzE9p8T1WhpPNQ6ENpEzhvhwAEKvehqIbSqlDyzV6tzJanD6XN4EQobQLk7RCAgB0CDWoo2easZrUUhGLndvQrFYTSL2y8CQIQsE0AoRxKNOROeZq8bH96SA8CEDiEQIFQPl/SKV80wqtstjxNXh2MM2ooHYTNpSAAgXICJUIpGjIseZRJhSavLgYZQukifC4NAQj8h0CLQimTCkLpYlAhlC7C59IQgABCKYsB+lD4dEAAAhDoJwFqKHTK9zN0eBsEIACBQwkgFITCZwICEICAFQIIBaFYCSQSgQAEIIBQEAqfAggcJLB//36zb98+09d36AoWAwcONAMGDDDpV5BBoIgAQkEofDIiIfDpp5+azZs3m507d5rdu3ebHTt2HHzpd3v27DE6RzKRPLJH9mdJpaenxxxxxBFmyJAhyWvw4MHmyCOPTF7Dhg0zI0aMMGPGjDGjRo2KhC7FFAGEglD4JAREQDL48MMPE2mkwvj3v/+dfP/RRx8lIkn/Xmexjz32WDN06NDkNXz4cHPccceZY445JpGNftZL30tAHOEQQCgIJZxojrAkap5SzUKyePvtt82bb75pNm3aZP71r3+Zjz/+2Ekiqu2ceOKJ5oQTTjAnnXSSGTt2bPK9ajmDBg06rHbkZCHIVCEBhIJQ+Gh4SECyWLdunXnttdfM+vXrzbZt2zwsxX+yLJGceuqp5vTTTzcTJ05MBEPtxb9bilAQin9RG2mOt27dav7+97+bf/zjH2bDhg2HdZyHhEWC+dznPmcmTJhgpkyZksiGw30CCAWhuB+lEeewt7fX6LV27Vrz/vvvJ81Y+RFYoeORXNREdtZZZ5kzzjgjaSbToAAO9wggFITiXlRGnCP1iagT/dVXXzWvv/662bJlS9I/EptEykJAHfvHH3+8mTZtmjnttNOSkWQc7hBAKAjFnWiMOCcaeaUO9ZdeeikZeqmfORoTGD16dNLfopqLvtLn0v2IQSgIpftRGHEONLx31apV5tlnn/W+Y72bt1HNYLNmzTLnn39+MlqMozsEEApC6U7kRX5VdbCvWLHC/O1vf0smE3LYIaC5LZdccom5+OKLqbHYQdpSKggFobQUMJzcHoG33nrLPP3008loLfWXcNRDQGKZMWOGueCCC5IhyBydIYBQEEpnIi3yq2jJkz/96U/m5ZdfNrt27YqcRueKrxn5n//8583UqVOTkWIc9RJAKAil3giLPHV1rkskqpGomYujOwS0FIzE8oUvfCFZe4yjHgIIBaHUE1mRp7p3795kFvtjjz2WLMjI4QYBdd5fccUV5uyzz05WTuawSwChIBS7EUVqyTpav//975MJiRxuEtBQ4/nz5yerInPYI4BQEIq9aIo8Jc1kX7ZsWdJPQoe7+8GgjvvZs2ebuXPnJotScrRPAKEglPajKPIU1Lyl4b/Lly8327dvj5yGX8XXyscaBTZv3rxkYcr8PjB+lab7uUUoCKX7UehxDt577z2zcuVK85e//MXjUpB1ddRrmLE67WkG6388IBSE0v/oifydWiZFTVxq6vLtSHdc1KxyvfSzHqrahVHfp39Pv+r36d4rqpHpe730vSZmfvLJJ0bbB+ur9mfR3/Szb4f2Zrn++utZ3bifNw6hIJR+hk68b9NCjUuXLjV//OMfvYEgMWj3RK1/pSYePTjHjRtnRo4cabX/QHNstLilJnBqwy+NcJNwJRlfFrjU6K8bb7zRXHTRRd7cX1cyilAQiiux6EU+1MT129/+1vkRXFooUX0C2k/klFNOObgjovoI0lfdwCUQvVRT0Zpl7777bjICTg+djRs3Or3kjBhpXbDrrrsu2aqYoxoBhIJQqkUKZ5nVq1cnNRMXm7i0Z3u6na4koprHUUcd5dxCidlmMdVe3nnnnaRGk351Lcy0yZc67CdNmuRa1pzMD0JBKE4GpkuZUn/Ak08+mcx43717txNZU7OMpKENp7QviJqyUok4kcEWMqHmMK0o8MEHHyRDrjV/R7UZV46jjz7aXHbZZcmik0yGbHxXEApCceVz62Q+1MmsJi4NC3ahD0DzJVQbUfv+5MmTE5GEduzYscOsX7/erFmzJvmqXSpdOObMmWOuvfZahhY3uBkIBaG48Fl1Mg/aKfHnP/950iTT7UM7FZ5zzjmJSNQME8uxadOmZB205557zolNx84880yzaNEiqwMZQrqXCAWhhBTP1sqi9v3Fixd3fdMrPcC0t4eatmJubtHQZG2J/NRTT3V9QIQGOdx2221Gkuc4lABCQSh8JnIE1Mxy//33d00mEodqIzNnzky2to1ZJPngVH+WRoppIukrr7xiVIvsxqFh1zfddJM5+eSTu3F5Z6+JUBCKs8HZjYxpJNdDDz3UlQeVRmVpqK9qJPovmPWlGkeAhnCrb+uvf/1r0qHf6UOj6m644YZkUATHZwQQCkLhs3CAgEYY/eY3v0km4XXy0Cx0TTK88sorzfjx45PZ6hzVCaiPS/fumWee6fgovDFjxiSrFusfAQ6Eko+BAR4GRT7P6c/6mn1p84cBvb29h2wXqDkLHCZ5IC1ZsqTjk+1UE7nqqquSPhKO9gioxvK73/3OrFu3rqPLvmjzrq9+9avsCEkN5bAARijtfaa9fPef//xn8+ijj3a0ZqJlUDRhTnuec9gjoKHda9euTZott23bZi/hJilNnz496VPREjcxHzR50eQVc/wnZdfIIe2s2Ik9TNQvoq1oL7/8cpb0qDHyNAFVE1GfffbZ2pvBpkyZYr7yla9ELxPdToSCUGr8WPuRtEYKaUkV1VTqPLR8h5ZH14REjvoJqLaiWopqnxoRVseh0Xi33norAygOwEUoCKWOz5l3aWqV3EceecSsWrXKet61UOOXvvQlc+GFFxot48HRWQJaP0xS0T8MWm7f1qHRXQsXLjTqQ+H4jABCQSh8Fg4QUDPJr371q2QCna1DS6PcfPPN7K9hC2gb6aiW8vDDD1sZYqwhw5LJ8ccf30aOwnsrQkEo4UV1GyXSf7B33XVXMlKo3WPatGnJvhrUStolae/92qL53nvvPew/6VauoB0dv/GNb1AzKYCGUBBKK5+lKM5VTeWBBx5IhhL359AOiNr1T01cPo36kUzzuzFqYcb09yqLmu80T0Zf090cNdDAt73YtTna448/3vLt1cKct99+u9H8E47DCSAUhMLnooCAVrxV80irUlETiDppXV6SQ/+la2a59nXRa8uWLWbr1q0Ht/FVn0O6MZa+lyzSzbLSzbkkE32fbhes7YO1aOWoUaOSlx68Wk5f4nH1UH+ZpCIeVQ6VR/dWk085igkgFITCZ6OEgB66Wrr+1VdfrcRIEtGigWoSceVQbUuj2PTQ1CZWeqlc+lkiqePQ2mPaZliLJ+ohrM5rSUY/u9aB/eabbyb/OGi74kaH7qlmxJ911ll1IAsmTYSCUIIJ5joKogfvr3/9a6MHT9mh/9TVvKUHjgvrb0kiWo5EeU53QtTqyd081Ewm4eqlZWZOPfXURC4uNAlqhr36Vcqkoj4w9YWpT4yjMQGEglD4jDQhoCHF2hdFD+f8IZloJz9tvNTtVYFV43jxxRfNCy+84MTeIY2wipvWv5o1a5bREv3dFrHu8d13331YZ72Ed8stt5jzzjuPz0kFAggFoVQIE07ZuXNnMqT4jTfeOATGNddcY7STX7dkotqIVtyVSLSsu4/HsGHDkv/+tQyNloXv1qEBCNq2IO03k/TUZ0LNpPodQSgIpXq0RH6magAa/aUPjZpwrrvuumQHxW7IRHuuqyaiuRXqE3Fhe+J2w0O1FO3/MmPGjGQ/mG6MHJOg//CHP5jXXnstqT3Nnj273WJF9X6EglCiCvh2C6stafUg14RFyaTTDz31haRb4mokWoiHRoZpJJVqLFqmptPzeLR9gf550ORFjtYIIBSE0lrEcHZXCOghp2GuWvCwrtFZXSlYg4uq5qcOfIlbo6u0ARmH2wQQCkJxO0LJXbIG1cqVK6MRSdEtV21BI600OozDXQIIBaG4G52R52zDhg3JooYbN26MnMRnxVfzojrINaJOc1o43COAUBCKe1EZeY40a11Lg7z00kvJ7HWOQwmoT+WLX/xi0hTm8kz8GO8bQkEoMca9k2XWMifqcNcoI3X+czQmoH6VK664wmgbZQ43CCAUhOJGJEaeC9VEnnjiCfPMM89Y3bMjdKxa2uWqq64y559/fuhF9aJ8CAWheBGoIWdSa209+OCDLS9EGTKTVsqm2eyXXXZZUlvp9DDuVvIZw7kIBaHEEOfOllFb1N55551G60lxtEdAS7lob/dOz1tpL9dhvRuhIJSwItqj0ujDp4UntawLhx0CJ554ornpppuS+SscnSeAUBBK56OOKyZL4i9ZssRoqQ8OuwS0VL6WxZkyZYrdhEmtKQGEglCaBgkn2COwb9++ZOmWRx55xOh71w71QQwdOjRZ/TfdPEvrluml/GrGvr7qpZ0cP/zwQ9eKkORHC05KKlq+haNzBBAKQulctEV+JT2An3rqKbN06VInFnPU0iYShZY00Q6L2m0y3RhLP+slsegcnathzRKKRqSpz0e1KwlFi1PqpaY7/V6r9rogS23FfMMNNySLTXJ0hgBCQSidiTSuksx6f/rpp7sqE9VAJArtoqh9SLQIo3YjtDU6SiLRvjGaT6OVkLu97phEuHDhQjN16lQisAMEEApC6UCYcQn9B/+zn/0s2bu904dqGFq1Vw9VrYWlZUvSveHrzItqNBKK+ou0x0g3lpDRPJVvfetbRrUVjvoJIBSEUn+UcYWEgGon6jvp1KEFFTWbXOtf6cHazV0R1Tym2f9r164169evTzYDk3DqPNQXdNttt7GgZJ2Qc2kjFITSwXCL+1J6gC5btixZp6vOQ/0g6ozW7HE1Z7l2qK9FtRatoqzmsTr6W9Qpr+HDjPTq7N1HKAilsxEX+dUkFXXKP/nkk1ZJqAlLItH+9mraGjJkiNX060hMgxS0ffHzzz9v3nrrLWuX0MTG66+/nhFe1ohWTwihIJTq0cKZ1gjcd999yT7wNg6tuKsl3TWaSUN9fTy0jtny5cvbzrr6ShYsWIBM2ibZvwQQCkLpX+TwrrYJ3Hvvvcl/6O0catq6+uqrzbHHHttOMk68V/u/PPbYY+aNN97oV35US/vyl79spk+f3q/386b2CSAUhNJ+FJFCvwloUUg1+bR6qG/kmmuuMeecc04yTySUQ/0p6lt5+OGHWxpeLZnMmzfPXHzxxdaGQIfCtJPlQCgIpZPxxrVyBDQJ8P77729ppWHt/3Hrrbea0aNHB8tzzZo1ybwdLZ7Z7FAz36WXXmquvPLKZAImR/cIIBSE0r3o48oJgR07dhj1qaxbt64hEf0Xfu655ybNOjHsVLh58+akpvL666+X1lYkkNmzZye1E1uTMwnL/hNAKAil/9HDO60R0J4od911l1E/QtGhZi3t+XH55ZdH9eBUE9iKFSuSV9Hw4lmzZiXLq1AzsRaKbSWEUBBKWwHEm+0RkFQWL15s3n777UMSlUxuueWWqJcPUT+TaitZqcycOTORSUh9SPaiqTspIRSE0p3I46qFBN5//31zzz33HJyXoaYtNXGxFpUxq1atSqSiWfeSiZq5WFLFrQ8SQkEobkUkuUlmj2tGvTqk58yZwzDYTExoyRbN39EIN2Ti3ocFoSAU96KSHBl1SGtByUmTJkEDAt4QQCgIxZtgJaMQgIDbBBAKQnE7QskdBCDgDQGEglC8CVYyCgEIuE0AoSAUtyOU3EEAAt4QQCgIxZtgJaMQgIDbBBAKQnE7QskdBCDgDQGEglC8CVYyCgEIuE0AoSAUtyOU3EEAAt4QQCgIxZtgJaMQgIDbBBAKQnE7QskdBCDgDQGEglC8CVYyCgEIuE0AoSAUtyOU3EEAAt4QQCgIxZtgJaMQgIDbBBAKQnE7QskdBCDgDQGEglC8CVYyeiiBnTt3Gu3y2NfXFwyaQYMGmdGjRwdTntgKglAQSmwx72V59+/fbz788EPz7rvvmjfeeCPZfEsy0e937dplduzY4WW50kxrT/gxY8Yk2/keffTRZsSIEeaEE04wEyZMMMOHD2fPeE/uLkJBKJ6EarzZlERWrlxpVq9ebfbu3RsViCFDhpjJkyebuXPnmpNPPjmqsvtYWISCUHyM22jy/Pzzz5sHH3wwmvKWFVQ1l8suu8xcccUV0bNwGQBCQSgux2fUeXviiSfM8uXLo2aQLXxPT4+ZM2eOufrqq2HiKAGEglAcDc24s/Xcc8+Zhx56KKgOdxt3VDWVm2++2UybNs1GcqRhmQBCQSiWQ4rk2iWwadMms3jxYrN9+/Z2kwry/UcddZT59re/bYYNGxZk+XwuFEJBKD7Hb5B5f+CBB8wLL7wQZNlsFWrWrFnmhhtuYPSXLaCW0kEoCMVSKJGMDQIa0fWTn/zE7Nmzx0Zywaah0V/f/OY3zahRo4Ito48FQygIxce4DTbPK1asMMuWLaPvpMIdvummm8zMmTMrnMkpnSKAUBBKp2KN61QgoL6TdevWVTiTU2bPnm1uvPFGQDhEAKEgFIfCMe6saAmVH/3oR2bz5s1xg6hY+rPPPtssWrSIfpSKvDpxGkJBKJ2IM65RgYCWUfn+979vPvjggwpnc8ppp51mFixYkCzRwuEGAYSCUNyIRHJh9u3bZ773ve8ZLfrI0ZzA2LFjE6HoK4cbBBAKQnEjEskFQmkxBjTS6/bbbzfjxo1r8Z2cXhcBhIJQ6oot0m2RADWU1oANHjzY3HHHHWb8+PGtvZGzayOAUBBKbcFFwq0RQCit8UIorfHqxNkIBaF0Is64RgUCCKUCpMwpCKU1Xp04G6EglE7EGdeoQAChVICEUFqD1OGzEQpC6XDIcbkyAlWF8rWvfS0KiI8++qh57733SstKDcW9MEAoCMW9qIw0R1WF8t3vftcMHTo0eEqa5IlQ/LrNCAWh+BWxAecWoRx6cxGKf8GOUBCKf1EbaI4RCkLxPbQRCkLxPYaDyT9CQSi+BzNCQSi+x3Aw+UcoCMX3YEYoCMX3GA4m/wgFofgezAgFofgew8HkH6EgFN+DGaEgFN9jOJj8IxSE4nswIxSE4nsMB5N/hIJQfA9mhIJQfI/hYPKPUBCK78GMUBCK7zEcTP4RCkLxPZgRCkLxPYaDyT9CQSi+BzNCQSi+x3Aw+UcoCMX3YEYoCMX3GA4m/wgFofgezAgFofgew8HkH6EgFN+DGaEgFN9jOJj8IxSE4nswIxSE4nsMB5N/hIJQfA9mhIJQfI/hYPKPUBCK78GMUBCK7zEcTP4RCkLxPZgRCkLxPYaDyT9CQSi+BzNCQSi+x3Aw+UcoCMX3YEYoCMX3GA4m/wgFofgezAgFofgew8HkH6EgFN+DGaEgFN9jOJj8IxSE4nswIxSE4nsMB5N/hIJQfA9mhIJQfI/hYPKPUBCK78GMUBCK7zEcTP4RCkLxPZgRCkLxPYaDyT9CQSi+BzNCQSi+x3Aw+UcoCMX3YEYoCMX3GA4m/wgFofgezAgFofgew8HkH6EgFN+DGaEgFN9jOJj8IxSE4nswIxSE4nsMB5N/hIJQfA9mhIJQfI/hYPKPUBCK78GMUBCK7zEcTP4RCkLxPZgRCkLxPYaDyT9CQSi+BzNCQSi+x3Aw+UcoCMX3YEYoCMX3GA4m/wgFofgezAgFofgew8HkH6EgFN+DGaEgFN9jOJj8IxSE4nswIxSE4nsMB5N/hIJQfA9mhIJQfI/hYPKPUBCK78GMUBCK7zEcTP4RCkLxPZgRCkLxPYaDyT9CQSi+BzNCQSi+x3Aw+UcoCMX3YEYoCMX3GA4m/wgFofgezAgFofgew8HkH6EgFN+DGaEgFN9jOJj8IxSE4nswIxSE4nsMB5N/hIJQfA9mhIJQfI/hYPKPUBCK78GMUBCK7zEcTP4RCkLxPZgRCkLxPYaDyT9CQSi+BzNCQSi+x3Aw+UcoCMX3YEYoCMX3GA4m/wgFofgezAgFofgew8HkH6EgFN+DGaEgFN9jOJj8IxSE4nswIxSE4nsMB5N/hIJQfA9mhIJQfI/hYPKPUBCK78GMUBCK7zEcTP4RCkLxPZgRCkLxPYaDyT9CQSi+BzNCQSi+x3Aw+UcoCMX3YEYoCMXtLpejAAAOhUlEQVT3GA4m/wgFofgezAgFofgew8HkH6EgFN+DGaEgFN9jOJj8IxSE4nswIxSE4nsMB5N/hIJQfA9mhIJQfI/hYPKPUBCK78GMUBCK7zEcTP4RCkLxPZgRCkLxPYaDyT9CQSi+BzNCQSi+x3Aw+UcoCMX3YEYoCMX3GA4m/wgFofgezAgFofgew8HkH6EgFN+DGaEgFN9jOJj8IxSE4nswIxSE4nsMB5N/hIJQfA9mhIJQfI/hYPKPUBCK78GMUBCK7zEcTP4RCkLxPZgRCkLxPYaDyT9CQSi+BzNCQSi+x3Aw+a8qlEWLFgVT5kYFWbp0qXnvvfdKTxk8eLC54447zPjx46Pg4UMhEQpC8SFOo8hjVaFEAaNCIRFKBUgdPgWhIJQOhxyXKyOAUFqLDYTSGq9OnI1QEEon4oxrVCCAUCpAypyCUFrj1YmzEQpC6USccY0KBBBKBUgIpTVIHT4boSCUDoccl6PJy04MUEOxw9FmKggFodiMJ9JqgwA1lNbgDRkyxNx+++1m3Lhxrb2Rs2sjgFAQSm3BRcKtEdi/f7/5wQ9+YLZt29baGyM9W8OF58+fb0466aRICbhXbISCUNyLykhz1NfXZ3784x+bd955J1ICrRX7zDPPNAsWLDDHHXdca2/k7NoIIBSEUltwkXDrBO6++26zZs2a1t8Y4TsuuOACc8stt0RYcneLjFAQirvRGWHOVq5caR5//HGj5i+OxgSuvfZaM3fuXDA5RAChIBSHwpGsbNmyxfz0pz81H330ETAaEDjiiCPM17/+dTN27Fg4OUQAoSAUh8KRrIjAkiVLzKpVq4DRgMC5555rFi5caHp6euDkEAGEglAcCkeyIgLqlL/zzjvNzp07AVJAQPNPvvOd75gjjzwSPo4RQCgIxbGQJDsi8OKLL5r77rsPGDkCAwYMSIYKX3TRRbBxkABCQSgOhiVZUqf8k08+abSEO8dnBNRvMmPGjEQoHG4SQCgIxc3IJFdG81LUl/LII4+Y3bt3R01kxIgR5tJLLzWzZs0yqqVwuEkAoSAUNyOTXB0koJnzksqrr74a5XDi8847z8ybN88cc8wxRIXjBBAKQnE8RMleSmD79u1m7dq1ZuPGjUbDizdt2mT27t0bFKCBAwcmM981HPiUU04xZ5xxhhk5cmRQZQy5MAgFoYQc30GW7dNPPzWffPJJ8pJQ1DQWyqF+Eo3e0sKPgwYNCqVY0ZQDoSCUaIKdgkIAAvUSQCgIpd4II3UIQCAaAggFoUQT7BQUAhColwBCQSj1RhipQwAC0RBAKAglmmCnoBCAQL0EEApCqTfCSB0CEIiGAEJBKNEEOwWFAATqJYBQEEq9EUbqEIBANAQQCkKJJtgpKAQgUC8BhIJQ6o0wUocABKIhgFAQSjTBTkEhAIF6CSAUhFJvhJE6BCAQDQGEglCiCXYKCgEI1EsAoSCUeiOM1CEAgWgIIBSEEk2wU1AIQKBeAggFodQbYaQOAQhEQwChIJRogp2CQgAC9RJAKAil3ggjdQhAIBoCCAWhRBPsFBQCEKiXAEJBKPVGGKlDAALREEAoCCWaYKegEIBAvQQQCkKpN8JIHQIQiIYAQkEo0QQ7BYUABOolgFAQSr0RRuoQgEA0BBAKQokm2CkoBCBQLwGEglDqjTBShwAEoiGAUBBKNMFOQSEAgXoJIBSEUm+EkToEIBANAYSCUKIJdgoKAQjUSwChIJR6I4zUIQCBaAggFIQSTbBTUAhAoF4CLQplrzFmX8Fr/4Hf6atefZmv+j59qTD6Pnvkf663wE1SH9DVq/fv4vk8pz/ra/Y1UD/39vbuyl5mwoQJ/bsq74IABCCQI1AiFEkjKwn9XCaT/LkIpcNRhlA6DJzLQQACxQQKhDLjgExSoRTVSPK/o4bSxQBDKF2Ez6UhAIH/EEAoh0YDTV58OiAAAQj0k0ADoWSbsprVUqih9JO/jbdVraHovIG9vb0fGGMGpxceP3686enpsZEP0oAABCImsG/fPrNhw4aDBPr6+j49/fTTZxf0nzQTSiqftFM+7UfJdsinne90yluOuZaE8vrrrz8zcODA89M8DB8+3IwcORKpWL4pJAeBmAhIJlu3bjU7d+48WOyPPvpo7dSpU/8rM2KrrJaSdtBn+1myMkEoHQymloSyevXqbw0bNuz/djB/XAoCEIiQwMsvv/z/b7zxxl8UdMqn4iga6ZVv7soOHaaG0oE4akkoavZat27d0z09PdM6kDcuAQEIREjgQO1kUU4mVUZ6IZQux0szoSh7yRyUA18H3nPPPROnT5/+C6TS5TvH5SEQIAHJ5Ic//OH/+eUvf7kxI5R8c1ajfpR8c1d2LoqIMbGxxrgpGpmWndCYF0oqlp4XX3zxm8OHD1/Q09Nz9oABAwbVmEeShgAEAiagDvhdu3b19vb2PjF//vxfZma3Z+XQbKRXfvJjflKjfs4KpWhWPDPl24yzRkJR0qlAUsmotpK+NLxL3+tr+sr/nJ6TfV9a48nPxi+rLbVZRN4OAQg4RKBoZFW+fyNdLiVf2yibxJj+vqjJK007FUy+lpJFg1DaDJQqQslKJS+GIqnkf5d/T5lQUoFli+Tj3J42bwlvh0CwBMqG6bYqlKL+lEb9J9mRXgilxvCqKpS8VLI1j0Y1lbTGkpVKvtaTXT8sLSoiqfGmkzQEukwgK5bsnJB8baKsySsvlLxM0uaxooUhEUqNN79MKGlt4bAFIjNNXllZFNVKiqRTJJP0Go1kgmBqDAKShkDNBJr1V5TVUFIhZCcr5vtSivpOssOFi+ahpFLJF5smLwuB0GykV14qaZNVWS2lSDRpDaWZUBoJzkJRSQICEOgSgUZSaSaUVBBFKw8X1U6yfTBFaRcJxSmZFLX/d+m+9euy2Qd5tgmqqOO8qE8kW0MpaubKN3k16pBvVBuhptKv28ubINAVAo0e0vlmr6r9KEU1kqLlVspmyBctu+KcTEIVSrbpKzsf5eC8lMxIr/zor7LO+KJO+Tw/xNGVzz8XhUBHCDTrQ8n2fRTNKynrMylq6irqkM/XUBCK5dteVkMp60s5ZLJjgVSycsnKJzv8OF8T8l3Klm8JyUEgeAL5Dvn0QZ+VQFYSRTWR/O8aNXdlRVIkNaeA+/xfdSv9KI2GEedrKXmZNKud0IfiVEiTGQhYI9CsDyV92GebvrKTE7PflzVx5Sczett/4vt/142Ekq+lNGr6KprAmO2QL+o7KRo2nEaxz5K29kkkIQgEQqCZVIoEkK9xlDWBFc2Mz6ZXVjvJN385g9rnh1+ZUIqavPLNVvkRXEU/59/TanOXz2ydCVAyAoEuEajSOZ8+/LM1lbKmr6xUioRTJqa0+Pn80IdiOTAaNTWlMsjKJdt0VVZjyTeN5Wsn2fSq1EiQiuWbTnIQ6ACBKjLJSqRZ01eZQPLyKRJUWW0EoVgOhGZCqVJTKRJIo3W7ipq6kIblG0tyEHCYQJXRXmV9KtmRYPnv8zWURs1dNHnVECBlD/Kypql8baOoxlLUzFWlqQup1HCDSRICjhEoa3YqqlkUCaOsRlLUb5IdTVaEgRpKTcFRtXO+qMbSrDaSlVD6/uzXKs1eNRWbZCEAgQ4TaCSUomavRh32ZTWSvEi86DsJ6UHYStNXo2awstFc+WauRoMBOhzfXA4CEOgwAVtSqVIraTTCrMPFrna5UJpqmo34yoqkkVSK/lZWMwmFXbVI4SwIQCBLoKwvpaim0qj2kv1b+n16Ha9qJ0VNNz6HTDtSKRNOkUya9d34zJC8QwACxQTK+izKmqgajdiqMprLO5mELpRGNYuiZqxGv8uzonbCYwcCECiqpZTVOPISyZ+XrZ1419SVhkJID8YqNYey/pBmvy+Sb0jseDRAAAKtEWhUg2hUaykSR5mYyprYWstpB88O8aHYqJO+Ua2l2d+ytyVEbh0MOy4FgSAINKtJNBqxVTQsuFl6zkML8cHYSk2lUVNWf0dzhcjU+UAmgxCoiUDV+R5VaizZ2kmj772rmYTY5JWPp2Y1lWbNWFXeX1MMkywEIOARgWY1i2Yd7M3e7w2KkP+bblS2KrKoUtPx5kaTUQhAoBYCzUZ/pRdtVRpVa0a1FKq/iYYslCq1sCpiqVLz6S9/3gcBCPhNoNmDPwqRVHnY+n2b/5P7KtJstTYTChvKAQEI2CXQSDDN5KOcVDnHbo4tplblYWvxcl1NqmpZq57X1cJwcQhAwAsCVQVR9TynCx3Tw7Pdsrb7fqcDgcxBAAJtEWhXCO2+v63M23pz7A/J2MtvK45IBwIQqE4gCHkUFZcHqjEwqP5B4EwIQKA9AsHKRFh4mDYODvi09+Hh3RCIkUDQ0mh0Q3lgNg93GDVnxBkQgMBnBKKVCTUUPgIQgAAEIGCNAP99W0NJQhCAAATiJoBQ4r7/lB4CEICANQIIxRpKEoIABCAQNwGEEvf9p/QQgAAErBFAKNZQkhAEIACBuAkglLjvP6WHAAQgYI0AQrGGkoQgAAEIxE0AocR9/yk9BCAAAWsEEIo1lCQEAQhAIG4CCCXu+0/pIQABCFgjgFCsoSQhCEAAAnETQChx339KDwEIQMAaAYRiDSUJQQACEIibAEKJ+/5TeghAAALWCCAUayhJCAIQgEDcBBBK3Pef0kMAAhCwRgChWENJQhCAAATiJoBQ4r7/lB4CEICANQIIxRpKEoIABCAQNwGEEvf9p/QQgAAErBFAKNZQkhAEIACBuAkglLjvP6WHAAQgYI0AQrGGkoQgAAEIxE0AocR9/yk9BCAAAWsEEIo1lCQEAQhAIG4CCCXu+0/pIQABCFgjgFCsoSQhCEAAAnETQChx339KDwEIQMAaAYRiDSUJQQACEIibAEKJ+/5TeghAAALWCCAUayhJCAIQgEDcBBBK3Pef0kMAAhCwRgChWENJQhCAAATiJoBQ4r7/lB4CEICANQIIxRpKEoIABCAQN4H/BTIAG2nPd2DMAAAAAElFTkSuQmCC"/>
          <p:cNvSpPr>
            <a:spLocks noChangeAspect="1" noChangeArrowheads="1"/>
          </p:cNvSpPr>
          <p:nvPr/>
        </p:nvSpPr>
        <p:spPr bwMode="auto">
          <a:xfrm>
            <a:off x="63500" y="-136525"/>
            <a:ext cx="962025" cy="9715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solidFill>
                <a:prstClr val="black"/>
              </a:solidFill>
            </a:endParaRPr>
          </a:p>
        </p:txBody>
      </p:sp>
      <mc:AlternateContent xmlns:mc="http://schemas.openxmlformats.org/markup-compatibility/2006" xmlns:p14="http://schemas.microsoft.com/office/powerpoint/2010/main">
        <mc:Choice Requires="p14">
          <p:contentPart p14:bwMode="auto" r:id="rId12">
            <p14:nvContentPartPr>
              <p14:cNvPr id="20" name="Ink 19"/>
              <p14:cNvContentPartPr/>
              <p14:nvPr/>
            </p14:nvContentPartPr>
            <p14:xfrm>
              <a:off x="8407440" y="3676680"/>
              <a:ext cx="360" cy="360"/>
            </p14:xfrm>
          </p:contentPart>
        </mc:Choice>
        <mc:Fallback xmlns="">
          <p:pic>
            <p:nvPicPr>
              <p:cNvPr id="20" name="Ink 19"/>
              <p:cNvPicPr/>
              <p:nvPr/>
            </p:nvPicPr>
            <p:blipFill>
              <a:blip r:embed="rId22"/>
              <a:stretch>
                <a:fillRect/>
              </a:stretch>
            </p:blipFill>
            <p:spPr>
              <a:xfrm>
                <a:off x="8398080" y="3667320"/>
                <a:ext cx="19080" cy="19080"/>
              </a:xfrm>
              <a:prstGeom prst="rect">
                <a:avLst/>
              </a:prstGeom>
            </p:spPr>
          </p:pic>
        </mc:Fallback>
      </mc:AlternateContent>
      <p:sp>
        <p:nvSpPr>
          <p:cNvPr id="13" name="TextBox 12">
            <a:extLst>
              <a:ext uri="{FF2B5EF4-FFF2-40B4-BE49-F238E27FC236}">
                <a16:creationId xmlns:a16="http://schemas.microsoft.com/office/drawing/2014/main" xmlns="" id="{916118F9-9480-1EC3-E467-EC7D70C950B2}"/>
              </a:ext>
            </a:extLst>
          </p:cNvPr>
          <p:cNvSpPr txBox="1"/>
          <p:nvPr/>
        </p:nvSpPr>
        <p:spPr>
          <a:xfrm>
            <a:off x="5635891" y="2488351"/>
            <a:ext cx="1888659" cy="553998"/>
          </a:xfrm>
          <a:prstGeom prst="rect">
            <a:avLst/>
          </a:prstGeom>
          <a:noFill/>
        </p:spPr>
        <p:txBody>
          <a:bodyPr wrap="none" rtlCol="0">
            <a:spAutoFit/>
          </a:bodyPr>
          <a:lstStyle/>
          <a:p>
            <a:r>
              <a:rPr lang="en-IN" b="1" dirty="0">
                <a:solidFill>
                  <a:srgbClr val="C00000"/>
                </a:solidFill>
              </a:rPr>
              <a:t>Subnet2 </a:t>
            </a:r>
            <a:r>
              <a:rPr lang="en-IN" sz="1400" b="1" dirty="0">
                <a:solidFill>
                  <a:srgbClr val="C00000"/>
                </a:solidFill>
              </a:rPr>
              <a:t>10.0.1.0/28</a:t>
            </a:r>
          </a:p>
          <a:p>
            <a:r>
              <a:rPr lang="en-IN" sz="1200" b="1" dirty="0">
                <a:solidFill>
                  <a:srgbClr val="C00000"/>
                </a:solidFill>
              </a:rPr>
              <a:t>10.0.1.0 -&gt; 10.0.1.16</a:t>
            </a:r>
            <a:endParaRPr lang="en-IN" sz="1200" dirty="0">
              <a:solidFill>
                <a:srgbClr val="C00000"/>
              </a:solidFill>
            </a:endParaRPr>
          </a:p>
        </p:txBody>
      </p:sp>
      <p:sp>
        <p:nvSpPr>
          <p:cNvPr id="15" name="TextBox 14">
            <a:extLst>
              <a:ext uri="{FF2B5EF4-FFF2-40B4-BE49-F238E27FC236}">
                <a16:creationId xmlns:a16="http://schemas.microsoft.com/office/drawing/2014/main" xmlns="" id="{63892543-A298-ADD9-FEFB-297F52B87E05}"/>
              </a:ext>
            </a:extLst>
          </p:cNvPr>
          <p:cNvSpPr txBox="1"/>
          <p:nvPr/>
        </p:nvSpPr>
        <p:spPr>
          <a:xfrm>
            <a:off x="6406871" y="2020865"/>
            <a:ext cx="1888659" cy="553998"/>
          </a:xfrm>
          <a:prstGeom prst="rect">
            <a:avLst/>
          </a:prstGeom>
          <a:noFill/>
        </p:spPr>
        <p:txBody>
          <a:bodyPr wrap="none" rtlCol="0">
            <a:spAutoFit/>
          </a:bodyPr>
          <a:lstStyle/>
          <a:p>
            <a:r>
              <a:rPr lang="en-IN" b="1" dirty="0">
                <a:solidFill>
                  <a:srgbClr val="C00000"/>
                </a:solidFill>
              </a:rPr>
              <a:t>Subnet3 </a:t>
            </a:r>
            <a:r>
              <a:rPr lang="en-IN" sz="1400" b="1" dirty="0">
                <a:solidFill>
                  <a:srgbClr val="C00000"/>
                </a:solidFill>
              </a:rPr>
              <a:t>10.0.2.0/27</a:t>
            </a:r>
          </a:p>
          <a:p>
            <a:r>
              <a:rPr lang="en-IN" sz="1200" b="1" dirty="0">
                <a:solidFill>
                  <a:srgbClr val="C00000"/>
                </a:solidFill>
              </a:rPr>
              <a:t>10.0.2.0 -&gt; 10.0.2.32</a:t>
            </a:r>
            <a:endParaRPr lang="en-IN" sz="1200" dirty="0">
              <a:solidFill>
                <a:srgbClr val="C00000"/>
              </a:solidFill>
            </a:endParaRPr>
          </a:p>
        </p:txBody>
      </p:sp>
      <p:pic>
        <p:nvPicPr>
          <p:cNvPr id="8" name="Picture 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78829" y="822796"/>
            <a:ext cx="1257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Rectangle 22"/>
          <p:cNvSpPr/>
          <p:nvPr/>
        </p:nvSpPr>
        <p:spPr>
          <a:xfrm>
            <a:off x="1242541" y="1143159"/>
            <a:ext cx="1620187" cy="369332"/>
          </a:xfrm>
          <a:prstGeom prst="rect">
            <a:avLst/>
          </a:prstGeom>
        </p:spPr>
        <p:txBody>
          <a:bodyPr wrap="none">
            <a:spAutoFit/>
          </a:bodyPr>
          <a:lstStyle/>
          <a:p>
            <a:r>
              <a:rPr lang="en-IN" b="1" dirty="0" smtClean="0">
                <a:solidFill>
                  <a:prstClr val="black"/>
                </a:solidFill>
              </a:rPr>
              <a:t>Cloud Platform</a:t>
            </a:r>
            <a:endParaRPr lang="en-IN" dirty="0"/>
          </a:p>
        </p:txBody>
      </p:sp>
      <p:pic>
        <p:nvPicPr>
          <p:cNvPr id="60" name="Picture 4" descr="C:\Users\moham\Downloads\datacenter11.jpeg"/>
          <p:cNvPicPr>
            <a:picLocks noChangeAspect="1" noChangeArrowheads="1"/>
          </p:cNvPicPr>
          <p:nvPr/>
        </p:nvPicPr>
        <p:blipFill>
          <a:blip r:embed="rId24" cstate="print">
            <a:extLst>
              <a:ext uri="{BEBA8EAE-BF5A-486C-A8C5-ECC9F3942E4B}">
                <a14:imgProps xmlns:a14="http://schemas.microsoft.com/office/drawing/2010/main">
                  <a14:imgLayer r:embed="rId25">
                    <a14:imgEffect>
                      <a14:sharpenSoften amount="25000"/>
                    </a14:imgEffect>
                    <a14:imgEffect>
                      <a14:brightnessContrast bright="8000" contrast="16000"/>
                    </a14:imgEffect>
                  </a14:imgLayer>
                </a14:imgProps>
              </a:ext>
              <a:ext uri="{28A0092B-C50C-407E-A947-70E740481C1C}">
                <a14:useLocalDpi xmlns:a14="http://schemas.microsoft.com/office/drawing/2010/main" val="0"/>
              </a:ext>
            </a:extLst>
          </a:blip>
          <a:srcRect/>
          <a:stretch>
            <a:fillRect/>
          </a:stretch>
        </p:blipFill>
        <p:spPr bwMode="auto">
          <a:xfrm>
            <a:off x="6223200" y="3795461"/>
            <a:ext cx="1144811" cy="1810091"/>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p:cNvSpPr/>
          <p:nvPr/>
        </p:nvSpPr>
        <p:spPr>
          <a:xfrm>
            <a:off x="8883486" y="2031469"/>
            <a:ext cx="1907868" cy="281622"/>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Physical (Infra)</a:t>
            </a:r>
            <a:endParaRPr lang="en-IN" dirty="0"/>
          </a:p>
        </p:txBody>
      </p:sp>
      <p:sp>
        <p:nvSpPr>
          <p:cNvPr id="62" name="Rectangle 61"/>
          <p:cNvSpPr/>
          <p:nvPr/>
        </p:nvSpPr>
        <p:spPr>
          <a:xfrm>
            <a:off x="8883486" y="2347540"/>
            <a:ext cx="1907868" cy="281622"/>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Logical (Network)</a:t>
            </a:r>
            <a:endParaRPr lang="en-IN" dirty="0"/>
          </a:p>
        </p:txBody>
      </p:sp>
      <p:sp>
        <p:nvSpPr>
          <p:cNvPr id="66" name="Rectangle 65"/>
          <p:cNvSpPr/>
          <p:nvPr/>
        </p:nvSpPr>
        <p:spPr>
          <a:xfrm>
            <a:off x="8883486" y="2664170"/>
            <a:ext cx="1907868" cy="281622"/>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Security</a:t>
            </a:r>
            <a:endParaRPr lang="en-IN" dirty="0"/>
          </a:p>
        </p:txBody>
      </p:sp>
      <p:pic>
        <p:nvPicPr>
          <p:cNvPr id="67" name="Picture 21"/>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2936027" y="2738610"/>
            <a:ext cx="372701" cy="4587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 name="Rectangle 31"/>
          <p:cNvSpPr/>
          <p:nvPr/>
        </p:nvSpPr>
        <p:spPr>
          <a:xfrm>
            <a:off x="3591524" y="3738727"/>
            <a:ext cx="1612842" cy="1542146"/>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Rectangle 64"/>
          <p:cNvSpPr/>
          <p:nvPr/>
        </p:nvSpPr>
        <p:spPr>
          <a:xfrm>
            <a:off x="3769562" y="3795461"/>
            <a:ext cx="1194707" cy="685851"/>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TextBox 67"/>
          <p:cNvSpPr txBox="1"/>
          <p:nvPr/>
        </p:nvSpPr>
        <p:spPr>
          <a:xfrm>
            <a:off x="3688968" y="3709576"/>
            <a:ext cx="477888" cy="276999"/>
          </a:xfrm>
          <a:prstGeom prst="rect">
            <a:avLst/>
          </a:prstGeom>
          <a:noFill/>
        </p:spPr>
        <p:txBody>
          <a:bodyPr wrap="none" rtlCol="0">
            <a:spAutoFit/>
          </a:bodyPr>
          <a:lstStyle/>
          <a:p>
            <a:r>
              <a:rPr lang="en-IN" sz="1200" b="1" dirty="0" smtClean="0">
                <a:solidFill>
                  <a:srgbClr val="7030A0"/>
                </a:solidFill>
              </a:rPr>
              <a:t>Host</a:t>
            </a:r>
            <a:endParaRPr lang="en-IN" sz="1200" dirty="0">
              <a:solidFill>
                <a:srgbClr val="7030A0"/>
              </a:solidFill>
            </a:endParaRPr>
          </a:p>
        </p:txBody>
      </p:sp>
      <p:sp>
        <p:nvSpPr>
          <p:cNvPr id="69" name="TextBox 68"/>
          <p:cNvSpPr txBox="1"/>
          <p:nvPr/>
        </p:nvSpPr>
        <p:spPr>
          <a:xfrm>
            <a:off x="3151635" y="3681821"/>
            <a:ext cx="484428" cy="276999"/>
          </a:xfrm>
          <a:prstGeom prst="rect">
            <a:avLst/>
          </a:prstGeom>
          <a:noFill/>
        </p:spPr>
        <p:txBody>
          <a:bodyPr wrap="none" rtlCol="0">
            <a:spAutoFit/>
          </a:bodyPr>
          <a:lstStyle/>
          <a:p>
            <a:r>
              <a:rPr lang="en-IN" sz="1200" b="1" dirty="0" smtClean="0">
                <a:solidFill>
                  <a:srgbClr val="7030A0"/>
                </a:solidFill>
              </a:rPr>
              <a:t>Rack</a:t>
            </a:r>
            <a:endParaRPr lang="en-IN" sz="1200" dirty="0">
              <a:solidFill>
                <a:srgbClr val="7030A0"/>
              </a:solidFill>
            </a:endParaRPr>
          </a:p>
        </p:txBody>
      </p:sp>
      <p:sp>
        <p:nvSpPr>
          <p:cNvPr id="35" name="Rectangle 34"/>
          <p:cNvSpPr/>
          <p:nvPr/>
        </p:nvSpPr>
        <p:spPr>
          <a:xfrm>
            <a:off x="3688968" y="4197249"/>
            <a:ext cx="1042273" cy="276999"/>
          </a:xfrm>
          <a:prstGeom prst="rect">
            <a:avLst/>
          </a:prstGeom>
        </p:spPr>
        <p:txBody>
          <a:bodyPr wrap="none">
            <a:spAutoFit/>
          </a:bodyPr>
          <a:lstStyle/>
          <a:p>
            <a:r>
              <a:rPr lang="en-IN" sz="1200" b="1" dirty="0" smtClean="0">
                <a:solidFill>
                  <a:srgbClr val="C00000"/>
                </a:solidFill>
              </a:rPr>
              <a:t>VM1 10.0.0.5</a:t>
            </a:r>
            <a:endParaRPr lang="en-IN" sz="1200" dirty="0"/>
          </a:p>
        </p:txBody>
      </p:sp>
      <p:sp>
        <p:nvSpPr>
          <p:cNvPr id="71" name="Rectangle 70"/>
          <p:cNvSpPr/>
          <p:nvPr/>
        </p:nvSpPr>
        <p:spPr>
          <a:xfrm>
            <a:off x="3699577" y="4736946"/>
            <a:ext cx="1042273" cy="276999"/>
          </a:xfrm>
          <a:prstGeom prst="rect">
            <a:avLst/>
          </a:prstGeom>
        </p:spPr>
        <p:txBody>
          <a:bodyPr wrap="none">
            <a:spAutoFit/>
          </a:bodyPr>
          <a:lstStyle/>
          <a:p>
            <a:r>
              <a:rPr lang="en-IN" sz="1200" b="1" dirty="0" smtClean="0">
                <a:solidFill>
                  <a:srgbClr val="C00000"/>
                </a:solidFill>
              </a:rPr>
              <a:t>VM1 10.0.0.6</a:t>
            </a:r>
            <a:endParaRPr lang="en-IN" sz="1200" dirty="0"/>
          </a:p>
        </p:txBody>
      </p:sp>
      <p:sp>
        <p:nvSpPr>
          <p:cNvPr id="36" name="Rectangle 35"/>
          <p:cNvSpPr/>
          <p:nvPr/>
        </p:nvSpPr>
        <p:spPr>
          <a:xfrm>
            <a:off x="2803450" y="3081089"/>
            <a:ext cx="593432" cy="369332"/>
          </a:xfrm>
          <a:prstGeom prst="rect">
            <a:avLst/>
          </a:prstGeom>
        </p:spPr>
        <p:txBody>
          <a:bodyPr wrap="none">
            <a:spAutoFit/>
          </a:bodyPr>
          <a:lstStyle/>
          <a:p>
            <a:r>
              <a:rPr lang="en-IN" b="1" dirty="0" smtClean="0">
                <a:solidFill>
                  <a:srgbClr val="C00000"/>
                </a:solidFill>
              </a:rPr>
              <a:t>NSG</a:t>
            </a:r>
            <a:endParaRPr lang="en-IN" dirty="0">
              <a:solidFill>
                <a:srgbClr val="C00000"/>
              </a:solidFill>
            </a:endParaRPr>
          </a:p>
        </p:txBody>
      </p:sp>
    </p:spTree>
    <p:extLst>
      <p:ext uri="{BB962C8B-B14F-4D97-AF65-F5344CB8AC3E}">
        <p14:creationId xmlns:p14="http://schemas.microsoft.com/office/powerpoint/2010/main" val="17779627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AutoShape 2" descr="Azure cloud infrastructure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8" name="Picture 4" descr="C:\Users\moham\Downloads\network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5356" y="724609"/>
            <a:ext cx="6941057" cy="4627372"/>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2"/>
          <p:cNvSpPr txBox="1">
            <a:spLocks noChangeArrowheads="1"/>
          </p:cNvSpPr>
          <p:nvPr/>
        </p:nvSpPr>
        <p:spPr>
          <a:xfrm>
            <a:off x="52518" y="82458"/>
            <a:ext cx="5577450" cy="40334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a:latin typeface="+mn-lt"/>
              </a:rPr>
              <a:t>Azure </a:t>
            </a:r>
            <a:r>
              <a:rPr lang="en-US" sz="3200" dirty="0" smtClean="0">
                <a:latin typeface="+mn-lt"/>
              </a:rPr>
              <a:t>Virtual Network</a:t>
            </a:r>
            <a:endParaRPr lang="en-US" sz="3200" dirty="0">
              <a:latin typeface="+mn-lt"/>
            </a:endParaRPr>
          </a:p>
        </p:txBody>
      </p:sp>
      <p:sp>
        <p:nvSpPr>
          <p:cNvPr id="2" name="TextBox 1"/>
          <p:cNvSpPr txBox="1"/>
          <p:nvPr/>
        </p:nvSpPr>
        <p:spPr>
          <a:xfrm>
            <a:off x="7375021" y="3828515"/>
            <a:ext cx="1351909" cy="369332"/>
          </a:xfrm>
          <a:prstGeom prst="rect">
            <a:avLst/>
          </a:prstGeom>
          <a:noFill/>
        </p:spPr>
        <p:txBody>
          <a:bodyPr wrap="none" rtlCol="0">
            <a:spAutoFit/>
          </a:bodyPr>
          <a:lstStyle/>
          <a:p>
            <a:r>
              <a:rPr lang="en-IN" b="1" dirty="0" smtClean="0"/>
              <a:t>Scaled Units</a:t>
            </a:r>
            <a:endParaRPr lang="en-IN" b="1" dirty="0"/>
          </a:p>
        </p:txBody>
      </p:sp>
    </p:spTree>
    <p:extLst>
      <p:ext uri="{BB962C8B-B14F-4D97-AF65-F5344CB8AC3E}">
        <p14:creationId xmlns:p14="http://schemas.microsoft.com/office/powerpoint/2010/main" val="28305414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47" y="929954"/>
            <a:ext cx="4365326" cy="41554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7591" y="920412"/>
            <a:ext cx="3573366" cy="416495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39066" y="110615"/>
            <a:ext cx="3626771" cy="27078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2181" y="2928681"/>
            <a:ext cx="2042791" cy="37993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8" name="Rectangle 2"/>
          <p:cNvSpPr txBox="1">
            <a:spLocks noChangeArrowheads="1"/>
          </p:cNvSpPr>
          <p:nvPr/>
        </p:nvSpPr>
        <p:spPr>
          <a:xfrm>
            <a:off x="52518" y="82458"/>
            <a:ext cx="5577450" cy="40334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a:latin typeface="+mn-lt"/>
              </a:rPr>
              <a:t>Azure Virtual Network</a:t>
            </a:r>
          </a:p>
        </p:txBody>
      </p:sp>
    </p:spTree>
    <p:extLst>
      <p:ext uri="{BB962C8B-B14F-4D97-AF65-F5344CB8AC3E}">
        <p14:creationId xmlns:p14="http://schemas.microsoft.com/office/powerpoint/2010/main" val="11289931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9700" y="3073133"/>
            <a:ext cx="2517351" cy="748246"/>
          </a:xfrm>
        </p:spPr>
        <p:txBody>
          <a:bodyPr>
            <a:normAutofit/>
          </a:bodyPr>
          <a:lstStyle/>
          <a:p>
            <a:pPr algn="ctr"/>
            <a:r>
              <a:rPr lang="en-US" b="1" dirty="0">
                <a:solidFill>
                  <a:srgbClr val="C00000"/>
                </a:solidFill>
              </a:rPr>
              <a:t>Azure VM</a:t>
            </a:r>
            <a:endParaRPr lang="en-IN" b="1" dirty="0">
              <a:solidFill>
                <a:srgbClr val="C00000"/>
              </a:solidFill>
            </a:endParaRPr>
          </a:p>
        </p:txBody>
      </p:sp>
    </p:spTree>
    <p:extLst>
      <p:ext uri="{BB962C8B-B14F-4D97-AF65-F5344CB8AC3E}">
        <p14:creationId xmlns:p14="http://schemas.microsoft.com/office/powerpoint/2010/main" val="15076353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smtClean="0"/>
              <a:t>Azure VNs, </a:t>
            </a:r>
            <a:r>
              <a:rPr lang="en-US" sz="3200" dirty="0"/>
              <a:t>Subnet &amp; Compute Engine - </a:t>
            </a:r>
            <a:r>
              <a:rPr lang="en-US" sz="3200" dirty="0" err="1"/>
              <a:t>Handson</a:t>
            </a:r>
            <a:endParaRPr lang="en-US" sz="3200" dirty="0"/>
          </a:p>
        </p:txBody>
      </p:sp>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7505640" y="882720"/>
              <a:ext cx="1118160" cy="1943280"/>
            </p14:xfrm>
          </p:contentPart>
        </mc:Choice>
        <mc:Fallback xmlns="">
          <p:pic>
            <p:nvPicPr>
              <p:cNvPr id="6" name="Ink 5"/>
              <p:cNvPicPr/>
              <p:nvPr/>
            </p:nvPicPr>
            <p:blipFill>
              <a:blip r:embed="rId4"/>
              <a:stretch>
                <a:fillRect/>
              </a:stretch>
            </p:blipFill>
            <p:spPr>
              <a:xfrm>
                <a:off x="7496280" y="873360"/>
                <a:ext cx="1136880" cy="1962000"/>
              </a:xfrm>
              <a:prstGeom prst="rect">
                <a:avLst/>
              </a:prstGeom>
            </p:spPr>
          </p:pic>
        </mc:Fallback>
      </mc:AlternateContent>
      <p:graphicFrame>
        <p:nvGraphicFramePr>
          <p:cNvPr id="2" name="Diagram 1"/>
          <p:cNvGraphicFramePr/>
          <p:nvPr>
            <p:extLst>
              <p:ext uri="{D42A27DB-BD31-4B8C-83A1-F6EECF244321}">
                <p14:modId xmlns:p14="http://schemas.microsoft.com/office/powerpoint/2010/main" val="2517611540"/>
              </p:ext>
            </p:extLst>
          </p:nvPr>
        </p:nvGraphicFramePr>
        <p:xfrm>
          <a:off x="310479" y="810113"/>
          <a:ext cx="11235426" cy="88345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7" name="Diagram 6"/>
          <p:cNvGraphicFramePr/>
          <p:nvPr>
            <p:extLst>
              <p:ext uri="{D42A27DB-BD31-4B8C-83A1-F6EECF244321}">
                <p14:modId xmlns:p14="http://schemas.microsoft.com/office/powerpoint/2010/main" val="838865711"/>
              </p:ext>
            </p:extLst>
          </p:nvPr>
        </p:nvGraphicFramePr>
        <p:xfrm>
          <a:off x="379487" y="1747750"/>
          <a:ext cx="11235426" cy="883458"/>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8" name="TextBox 7"/>
          <p:cNvSpPr txBox="1"/>
          <p:nvPr/>
        </p:nvSpPr>
        <p:spPr>
          <a:xfrm>
            <a:off x="258225" y="2942896"/>
            <a:ext cx="11532260" cy="3154710"/>
          </a:xfrm>
          <a:prstGeom prst="rect">
            <a:avLst/>
          </a:prstGeom>
          <a:noFill/>
        </p:spPr>
        <p:txBody>
          <a:bodyPr wrap="none" rtlCol="0">
            <a:spAutoFit/>
          </a:bodyPr>
          <a:lstStyle/>
          <a:p>
            <a:pPr marL="285750" indent="-285750">
              <a:spcBef>
                <a:spcPts val="600"/>
              </a:spcBef>
              <a:buFont typeface="Wingdings" panose="05000000000000000000" pitchFamily="2" charset="2"/>
              <a:buChar char="ü"/>
            </a:pPr>
            <a:r>
              <a:rPr lang="en-US" sz="1200" b="1" dirty="0">
                <a:solidFill>
                  <a:prstClr val="black"/>
                </a:solidFill>
              </a:rPr>
              <a:t>A Region in Microsoft Azure is a specific geographical area that contains one or more datacenters where Azure resources are hosted. </a:t>
            </a:r>
            <a:endParaRPr lang="en-US" sz="1200" b="1" dirty="0" smtClean="0">
              <a:solidFill>
                <a:prstClr val="black"/>
              </a:solidFill>
            </a:endParaRPr>
          </a:p>
          <a:p>
            <a:pPr marL="285750" indent="-285750">
              <a:spcBef>
                <a:spcPts val="600"/>
              </a:spcBef>
              <a:buFont typeface="Wingdings" panose="05000000000000000000" pitchFamily="2" charset="2"/>
              <a:buChar char="ü"/>
            </a:pPr>
            <a:r>
              <a:rPr lang="en-US" sz="1200" b="1" dirty="0" smtClean="0">
                <a:solidFill>
                  <a:prstClr val="black"/>
                </a:solidFill>
              </a:rPr>
              <a:t>Each </a:t>
            </a:r>
            <a:r>
              <a:rPr lang="en-US" sz="1200" b="1" dirty="0">
                <a:solidFill>
                  <a:prstClr val="black"/>
                </a:solidFill>
              </a:rPr>
              <a:t>region is made up of multiple availability zones for high availability and disaster recovery.</a:t>
            </a:r>
          </a:p>
          <a:p>
            <a:pPr marL="285750" indent="-285750">
              <a:spcBef>
                <a:spcPts val="600"/>
              </a:spcBef>
              <a:buFont typeface="Wingdings" panose="05000000000000000000" pitchFamily="2" charset="2"/>
              <a:buChar char="ü"/>
            </a:pPr>
            <a:r>
              <a:rPr lang="en-US" sz="1200" b="1" dirty="0">
                <a:solidFill>
                  <a:prstClr val="black"/>
                </a:solidFill>
              </a:rPr>
              <a:t>A Virtual Network (</a:t>
            </a:r>
            <a:r>
              <a:rPr lang="en-US" sz="1200" b="1" dirty="0" err="1">
                <a:solidFill>
                  <a:prstClr val="black"/>
                </a:solidFill>
              </a:rPr>
              <a:t>VNet</a:t>
            </a:r>
            <a:r>
              <a:rPr lang="en-US" sz="1200" b="1" dirty="0">
                <a:solidFill>
                  <a:prstClr val="black"/>
                </a:solidFill>
              </a:rPr>
              <a:t>) in Azure </a:t>
            </a:r>
            <a:r>
              <a:rPr lang="en-US" sz="1200" b="1" dirty="0" smtClean="0">
                <a:solidFill>
                  <a:prstClr val="black"/>
                </a:solidFill>
              </a:rPr>
              <a:t>is </a:t>
            </a:r>
            <a:r>
              <a:rPr lang="en-US" sz="1200" b="1" dirty="0">
                <a:solidFill>
                  <a:prstClr val="black"/>
                </a:solidFill>
              </a:rPr>
              <a:t>a logically isolated network within Azure that allows Azure resources such as virtual machines to securely communicate with each other, </a:t>
            </a:r>
            <a:endParaRPr lang="en-US" sz="1200" b="1" dirty="0" smtClean="0">
              <a:solidFill>
                <a:prstClr val="black"/>
              </a:solidFill>
            </a:endParaRPr>
          </a:p>
          <a:p>
            <a:pPr>
              <a:spcBef>
                <a:spcPts val="600"/>
              </a:spcBef>
            </a:pPr>
            <a:r>
              <a:rPr lang="en-US" sz="1200" b="1" dirty="0" smtClean="0">
                <a:solidFill>
                  <a:prstClr val="black"/>
                </a:solidFill>
              </a:rPr>
              <a:t>the </a:t>
            </a:r>
            <a:r>
              <a:rPr lang="en-US" sz="1200" b="1" dirty="0">
                <a:solidFill>
                  <a:prstClr val="black"/>
                </a:solidFill>
              </a:rPr>
              <a:t>internet, and on-premises networks.</a:t>
            </a:r>
          </a:p>
          <a:p>
            <a:pPr marL="285750" indent="-285750">
              <a:spcBef>
                <a:spcPts val="600"/>
              </a:spcBef>
              <a:buFont typeface="Wingdings" panose="05000000000000000000" pitchFamily="2" charset="2"/>
              <a:buChar char="ü"/>
            </a:pPr>
            <a:r>
              <a:rPr lang="en-US" sz="1200" b="1" dirty="0">
                <a:solidFill>
                  <a:prstClr val="black"/>
                </a:solidFill>
              </a:rPr>
              <a:t>An Availability Zone in Azure is a physically separate datacenter within a region. </a:t>
            </a:r>
          </a:p>
          <a:p>
            <a:pPr marL="285750" indent="-285750">
              <a:spcBef>
                <a:spcPts val="600"/>
              </a:spcBef>
              <a:buFont typeface="Wingdings" panose="05000000000000000000" pitchFamily="2" charset="2"/>
              <a:buChar char="ü"/>
            </a:pPr>
            <a:r>
              <a:rPr lang="en-US" sz="1200" b="1" dirty="0">
                <a:solidFill>
                  <a:prstClr val="black"/>
                </a:solidFill>
              </a:rPr>
              <a:t>A Subnet is a segmented IP address range within an Azure </a:t>
            </a:r>
            <a:r>
              <a:rPr lang="en-US" sz="1200" b="1" dirty="0" err="1">
                <a:solidFill>
                  <a:prstClr val="black"/>
                </a:solidFill>
              </a:rPr>
              <a:t>VNet</a:t>
            </a:r>
            <a:r>
              <a:rPr lang="en-US" sz="1200" b="1" dirty="0">
                <a:solidFill>
                  <a:prstClr val="black"/>
                </a:solidFill>
              </a:rPr>
              <a:t>. </a:t>
            </a:r>
            <a:endParaRPr lang="en-US" sz="1200" b="1" dirty="0" smtClean="0">
              <a:solidFill>
                <a:prstClr val="black"/>
              </a:solidFill>
            </a:endParaRPr>
          </a:p>
          <a:p>
            <a:pPr marL="285750" indent="-285750">
              <a:spcBef>
                <a:spcPts val="600"/>
              </a:spcBef>
              <a:buFont typeface="Wingdings" panose="05000000000000000000" pitchFamily="2" charset="2"/>
              <a:buChar char="ü"/>
            </a:pPr>
            <a:r>
              <a:rPr lang="en-US" sz="1200" b="1" dirty="0" smtClean="0">
                <a:solidFill>
                  <a:prstClr val="black"/>
                </a:solidFill>
              </a:rPr>
              <a:t>A </a:t>
            </a:r>
            <a:r>
              <a:rPr lang="en-US" sz="1200" b="1" dirty="0">
                <a:solidFill>
                  <a:prstClr val="black"/>
                </a:solidFill>
              </a:rPr>
              <a:t>Cluster in Azure generally refers to a group of servers or nodes working </a:t>
            </a:r>
            <a:r>
              <a:rPr lang="en-US" sz="1200" b="1" dirty="0" smtClean="0">
                <a:solidFill>
                  <a:prstClr val="black"/>
                </a:solidFill>
              </a:rPr>
              <a:t>together</a:t>
            </a:r>
          </a:p>
          <a:p>
            <a:pPr marL="285750" indent="-285750">
              <a:spcBef>
                <a:spcPts val="600"/>
              </a:spcBef>
              <a:buFont typeface="Wingdings" panose="05000000000000000000" pitchFamily="2" charset="2"/>
              <a:buChar char="ü"/>
            </a:pPr>
            <a:r>
              <a:rPr lang="en-US" sz="1200" b="1" dirty="0" smtClean="0">
                <a:solidFill>
                  <a:prstClr val="black"/>
                </a:solidFill>
              </a:rPr>
              <a:t>CIDR </a:t>
            </a:r>
            <a:r>
              <a:rPr lang="en-US" sz="1200" b="1" dirty="0">
                <a:solidFill>
                  <a:prstClr val="black"/>
                </a:solidFill>
              </a:rPr>
              <a:t>stands for Classless Inter-Domain Routing. It is used in Azure to define IP address ranges for </a:t>
            </a:r>
            <a:r>
              <a:rPr lang="en-US" sz="1200" b="1" dirty="0" err="1">
                <a:solidFill>
                  <a:prstClr val="black"/>
                </a:solidFill>
              </a:rPr>
              <a:t>VNets</a:t>
            </a:r>
            <a:r>
              <a:rPr lang="en-US" sz="1200" b="1" dirty="0">
                <a:solidFill>
                  <a:prstClr val="black"/>
                </a:solidFill>
              </a:rPr>
              <a:t> and subnets, such as 10.0.0.0/16 or 10.0.1.0/24.</a:t>
            </a:r>
          </a:p>
          <a:p>
            <a:pPr marL="285750" indent="-285750">
              <a:spcBef>
                <a:spcPts val="600"/>
              </a:spcBef>
              <a:buFont typeface="Wingdings" panose="05000000000000000000" pitchFamily="2" charset="2"/>
              <a:buChar char="ü"/>
            </a:pPr>
            <a:r>
              <a:rPr lang="en-US" sz="1200" b="1" dirty="0">
                <a:solidFill>
                  <a:prstClr val="black"/>
                </a:solidFill>
              </a:rPr>
              <a:t>Network Security Groups (NSGs) in Azure act like firewall </a:t>
            </a:r>
            <a:r>
              <a:rPr lang="en-US" sz="1200" b="1" dirty="0" smtClean="0">
                <a:solidFill>
                  <a:prstClr val="black"/>
                </a:solidFill>
              </a:rPr>
              <a:t>rules will allow </a:t>
            </a:r>
            <a:r>
              <a:rPr lang="en-US" sz="1200" b="1" dirty="0">
                <a:solidFill>
                  <a:prstClr val="black"/>
                </a:solidFill>
              </a:rPr>
              <a:t>or deny inbound (ingress) and outbound (egress) traffic to Azure resources such as </a:t>
            </a:r>
            <a:endParaRPr lang="en-US" sz="1200" b="1" dirty="0" smtClean="0">
              <a:solidFill>
                <a:prstClr val="black"/>
              </a:solidFill>
            </a:endParaRPr>
          </a:p>
          <a:p>
            <a:pPr>
              <a:spcBef>
                <a:spcPts val="600"/>
              </a:spcBef>
            </a:pPr>
            <a:r>
              <a:rPr lang="en-US" sz="1200" b="1" dirty="0" smtClean="0">
                <a:solidFill>
                  <a:prstClr val="black"/>
                </a:solidFill>
              </a:rPr>
              <a:t>virtual </a:t>
            </a:r>
            <a:r>
              <a:rPr lang="en-US" sz="1200" b="1" dirty="0">
                <a:solidFill>
                  <a:prstClr val="black"/>
                </a:solidFill>
              </a:rPr>
              <a:t>machines and subnets.</a:t>
            </a:r>
          </a:p>
          <a:p>
            <a:pPr marL="285750" indent="-285750">
              <a:spcBef>
                <a:spcPts val="600"/>
              </a:spcBef>
              <a:buFont typeface="Wingdings" panose="05000000000000000000" pitchFamily="2" charset="2"/>
              <a:buChar char="ü"/>
            </a:pPr>
            <a:r>
              <a:rPr lang="en-US" sz="1200" b="1" dirty="0">
                <a:solidFill>
                  <a:prstClr val="black"/>
                </a:solidFill>
              </a:rPr>
              <a:t>Route Tables in Azure define how network traffic is directed between subnets, </a:t>
            </a:r>
            <a:r>
              <a:rPr lang="en-US" sz="1200" b="1" dirty="0" err="1">
                <a:solidFill>
                  <a:prstClr val="black"/>
                </a:solidFill>
              </a:rPr>
              <a:t>VNets</a:t>
            </a:r>
            <a:r>
              <a:rPr lang="en-US" sz="1200" b="1" dirty="0">
                <a:solidFill>
                  <a:prstClr val="black"/>
                </a:solidFill>
              </a:rPr>
              <a:t>, on-premises networks, and the internet.</a:t>
            </a:r>
          </a:p>
          <a:p>
            <a:pPr marL="285750" indent="-285750">
              <a:spcBef>
                <a:spcPts val="600"/>
              </a:spcBef>
              <a:buFont typeface="Wingdings" panose="05000000000000000000" pitchFamily="2" charset="2"/>
              <a:buChar char="ü"/>
            </a:pPr>
            <a:r>
              <a:rPr lang="en-US" sz="1200" b="1" dirty="0">
                <a:solidFill>
                  <a:prstClr val="black"/>
                </a:solidFill>
              </a:rPr>
              <a:t>An Internet Gateway equivalent in Azure is provided through the default system route that allows </a:t>
            </a:r>
            <a:r>
              <a:rPr lang="en-US" sz="1200" b="1" dirty="0" smtClean="0">
                <a:solidFill>
                  <a:prstClr val="black"/>
                </a:solidFill>
              </a:rPr>
              <a:t>Azure </a:t>
            </a:r>
            <a:r>
              <a:rPr lang="en-US" sz="1200" b="1" dirty="0">
                <a:solidFill>
                  <a:prstClr val="black"/>
                </a:solidFill>
              </a:rPr>
              <a:t>resources with public IPs to communicate with the </a:t>
            </a:r>
            <a:r>
              <a:rPr lang="en-US" sz="1200" b="1" dirty="0" smtClean="0">
                <a:solidFill>
                  <a:prstClr val="black"/>
                </a:solidFill>
              </a:rPr>
              <a:t>internet.</a:t>
            </a:r>
            <a:endParaRPr lang="en-US" sz="1200" b="1" dirty="0">
              <a:solidFill>
                <a:prstClr val="black"/>
              </a:solidFill>
            </a:endParaRPr>
          </a:p>
        </p:txBody>
      </p:sp>
    </p:spTree>
    <p:extLst>
      <p:ext uri="{BB962C8B-B14F-4D97-AF65-F5344CB8AC3E}">
        <p14:creationId xmlns:p14="http://schemas.microsoft.com/office/powerpoint/2010/main" val="324841269"/>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267200" y="2667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solidFill>
                  <a:prstClr val="black">
                    <a:tint val="75000"/>
                  </a:prstClr>
                </a:solidFill>
              </a:rPr>
              <a:pPr/>
              <a:t>53</a:t>
            </a:fld>
            <a:endParaRPr lang="en-US">
              <a:solidFill>
                <a:prstClr val="black">
                  <a:tint val="75000"/>
                </a:prstClr>
              </a:solidFill>
            </a:endParaRPr>
          </a:p>
        </p:txBody>
      </p:sp>
      <p:sp>
        <p:nvSpPr>
          <p:cNvPr id="11" name="Text Box 5"/>
          <p:cNvSpPr txBox="1">
            <a:spLocks noChangeArrowheads="1"/>
          </p:cNvSpPr>
          <p:nvPr/>
        </p:nvSpPr>
        <p:spPr bwMode="auto">
          <a:xfrm>
            <a:off x="4267200" y="3048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2" name="Title 1"/>
          <p:cNvSpPr>
            <a:spLocks noGrp="1"/>
          </p:cNvSpPr>
          <p:nvPr>
            <p:ph type="title"/>
          </p:nvPr>
        </p:nvSpPr>
        <p:spPr>
          <a:xfrm>
            <a:off x="0" y="0"/>
            <a:ext cx="10972800" cy="592311"/>
          </a:xfrm>
        </p:spPr>
        <p:txBody>
          <a:bodyPr vert="horz" lIns="91440" tIns="45720" rIns="91440" bIns="45720" rtlCol="0" anchor="ctr">
            <a:normAutofit/>
          </a:bodyPr>
          <a:lstStyle/>
          <a:p>
            <a:r>
              <a:rPr lang="en-US" sz="2800" b="1" dirty="0" smtClean="0">
                <a:solidFill>
                  <a:srgbClr val="FF0000"/>
                </a:solidFill>
              </a:rPr>
              <a:t>Virtual Machine</a:t>
            </a:r>
            <a:endParaRPr lang="en-US" sz="2800" b="1" dirty="0">
              <a:solidFill>
                <a:srgbClr val="FF0000"/>
              </a:solidFill>
            </a:endParaRPr>
          </a:p>
        </p:txBody>
      </p:sp>
      <p:sp>
        <p:nvSpPr>
          <p:cNvPr id="2" name="Rectangle 1"/>
          <p:cNvSpPr/>
          <p:nvPr/>
        </p:nvSpPr>
        <p:spPr>
          <a:xfrm>
            <a:off x="-3461" y="759362"/>
            <a:ext cx="5337295" cy="4616648"/>
          </a:xfrm>
          <a:prstGeom prst="rect">
            <a:avLst/>
          </a:prstGeom>
        </p:spPr>
        <p:txBody>
          <a:bodyPr wrap="square">
            <a:spAutoFit/>
          </a:bodyPr>
          <a:lstStyle/>
          <a:p>
            <a:pPr marL="342900" indent="-342900">
              <a:buFont typeface="Wingdings" pitchFamily="2" charset="2"/>
              <a:buChar char="ü"/>
            </a:pPr>
            <a:r>
              <a:rPr lang="en-IN" sz="1100" b="1" dirty="0"/>
              <a:t>Azure Virtual Machine</a:t>
            </a:r>
            <a:r>
              <a:rPr lang="en-US" sz="1100" dirty="0">
                <a:solidFill>
                  <a:prstClr val="black"/>
                </a:solidFill>
              </a:rPr>
              <a:t> is a virtual machine (</a:t>
            </a:r>
            <a:r>
              <a:rPr lang="en-US" sz="1100" b="1" dirty="0">
                <a:solidFill>
                  <a:prstClr val="black"/>
                </a:solidFill>
              </a:rPr>
              <a:t>VM</a:t>
            </a:r>
            <a:r>
              <a:rPr lang="en-US" sz="1100" dirty="0">
                <a:solidFill>
                  <a:prstClr val="black"/>
                </a:solidFill>
              </a:rPr>
              <a:t>) service that allows users to create and run VMS on </a:t>
            </a:r>
            <a:r>
              <a:rPr lang="en-US" sz="1100" dirty="0" smtClean="0">
                <a:solidFill>
                  <a:prstClr val="black"/>
                </a:solidFill>
              </a:rPr>
              <a:t>Azure </a:t>
            </a:r>
            <a:r>
              <a:rPr lang="en-US" sz="1100" dirty="0">
                <a:solidFill>
                  <a:prstClr val="black"/>
                </a:solidFill>
              </a:rPr>
              <a:t>infrastructure (IAAS -&gt; PAAS)</a:t>
            </a:r>
          </a:p>
          <a:p>
            <a:pPr marL="342900" indent="-342900">
              <a:buFont typeface="Wingdings" pitchFamily="2" charset="2"/>
              <a:buChar char="ü"/>
            </a:pPr>
            <a:endParaRPr lang="en-US" sz="1100" dirty="0">
              <a:solidFill>
                <a:prstClr val="black"/>
              </a:solidFill>
            </a:endParaRPr>
          </a:p>
          <a:p>
            <a:pPr marL="342900" indent="-342900">
              <a:buFont typeface="Wingdings" pitchFamily="2" charset="2"/>
              <a:buChar char="ü"/>
            </a:pPr>
            <a:r>
              <a:rPr lang="en-US" sz="1100" b="1" dirty="0" smtClean="0">
                <a:solidFill>
                  <a:prstClr val="black"/>
                </a:solidFill>
              </a:rPr>
              <a:t>Azure VMs</a:t>
            </a:r>
            <a:r>
              <a:rPr lang="en-US" sz="1100" dirty="0" smtClean="0">
                <a:solidFill>
                  <a:prstClr val="black"/>
                </a:solidFill>
              </a:rPr>
              <a:t> </a:t>
            </a:r>
            <a:r>
              <a:rPr lang="en-US" sz="1100" dirty="0">
                <a:solidFill>
                  <a:prstClr val="black"/>
                </a:solidFill>
              </a:rPr>
              <a:t>can be understood as a </a:t>
            </a:r>
            <a:r>
              <a:rPr lang="en-US" sz="1100" b="1" dirty="0">
                <a:solidFill>
                  <a:prstClr val="black"/>
                </a:solidFill>
              </a:rPr>
              <a:t>digital</a:t>
            </a:r>
            <a:r>
              <a:rPr lang="en-US" sz="1100" dirty="0">
                <a:solidFill>
                  <a:prstClr val="black"/>
                </a:solidFill>
              </a:rPr>
              <a:t> version of the physical computer. </a:t>
            </a:r>
          </a:p>
          <a:p>
            <a:endParaRPr lang="en-US" sz="1100" dirty="0">
              <a:solidFill>
                <a:prstClr val="black"/>
              </a:solidFill>
            </a:endParaRPr>
          </a:p>
          <a:p>
            <a:pPr marL="342900" indent="-342900">
              <a:buFont typeface="Wingdings" pitchFamily="2" charset="2"/>
              <a:buChar char="ü"/>
            </a:pPr>
            <a:r>
              <a:rPr lang="en-US" sz="1100" dirty="0">
                <a:solidFill>
                  <a:prstClr val="black"/>
                </a:solidFill>
              </a:rPr>
              <a:t>Each virtual machine consists of a complete </a:t>
            </a:r>
            <a:r>
              <a:rPr lang="en-US" sz="1100" b="1" dirty="0">
                <a:solidFill>
                  <a:prstClr val="black"/>
                </a:solidFill>
              </a:rPr>
              <a:t>operating system</a:t>
            </a:r>
            <a:r>
              <a:rPr lang="en-US" sz="1100" dirty="0">
                <a:solidFill>
                  <a:prstClr val="black"/>
                </a:solidFill>
              </a:rPr>
              <a:t> and a set of </a:t>
            </a:r>
            <a:r>
              <a:rPr lang="en-US" sz="1100" b="1" dirty="0">
                <a:solidFill>
                  <a:prstClr val="black"/>
                </a:solidFill>
              </a:rPr>
              <a:t>virtualized</a:t>
            </a:r>
            <a:r>
              <a:rPr lang="en-US" sz="1100" dirty="0">
                <a:solidFill>
                  <a:prstClr val="black"/>
                </a:solidFill>
              </a:rPr>
              <a:t> hardware resources, including </a:t>
            </a:r>
            <a:r>
              <a:rPr lang="en-US" sz="1100" b="1" dirty="0">
                <a:solidFill>
                  <a:prstClr val="black"/>
                </a:solidFill>
              </a:rPr>
              <a:t>CPU</a:t>
            </a:r>
            <a:r>
              <a:rPr lang="en-US" sz="1100" dirty="0">
                <a:solidFill>
                  <a:prstClr val="black"/>
                </a:solidFill>
              </a:rPr>
              <a:t>, </a:t>
            </a:r>
            <a:r>
              <a:rPr lang="en-US" sz="1100" b="1" dirty="0">
                <a:solidFill>
                  <a:prstClr val="black"/>
                </a:solidFill>
              </a:rPr>
              <a:t>memory</a:t>
            </a:r>
            <a:r>
              <a:rPr lang="en-US" sz="1100" dirty="0">
                <a:solidFill>
                  <a:prstClr val="black"/>
                </a:solidFill>
              </a:rPr>
              <a:t>, </a:t>
            </a:r>
            <a:r>
              <a:rPr lang="en-US" sz="1100" b="1" dirty="0">
                <a:solidFill>
                  <a:prstClr val="black"/>
                </a:solidFill>
              </a:rPr>
              <a:t>storage</a:t>
            </a:r>
            <a:r>
              <a:rPr lang="en-US" sz="1100" dirty="0">
                <a:solidFill>
                  <a:prstClr val="black"/>
                </a:solidFill>
              </a:rPr>
              <a:t>, and </a:t>
            </a:r>
            <a:r>
              <a:rPr lang="en-US" sz="1100" b="1" dirty="0">
                <a:solidFill>
                  <a:prstClr val="black"/>
                </a:solidFill>
              </a:rPr>
              <a:t>network</a:t>
            </a:r>
            <a:r>
              <a:rPr lang="en-US" sz="1100" dirty="0">
                <a:solidFill>
                  <a:prstClr val="black"/>
                </a:solidFill>
              </a:rPr>
              <a:t> interfaces. The </a:t>
            </a:r>
            <a:r>
              <a:rPr lang="en-US" sz="1100" b="1" dirty="0">
                <a:solidFill>
                  <a:prstClr val="black"/>
                </a:solidFill>
              </a:rPr>
              <a:t>operating</a:t>
            </a:r>
            <a:r>
              <a:rPr lang="en-US" sz="1100" dirty="0">
                <a:solidFill>
                  <a:prstClr val="black"/>
                </a:solidFill>
              </a:rPr>
              <a:t> </a:t>
            </a:r>
            <a:r>
              <a:rPr lang="en-US" sz="1100" b="1" dirty="0">
                <a:solidFill>
                  <a:prstClr val="black"/>
                </a:solidFill>
              </a:rPr>
              <a:t>system</a:t>
            </a:r>
            <a:r>
              <a:rPr lang="en-US" sz="1100" dirty="0">
                <a:solidFill>
                  <a:prstClr val="black"/>
                </a:solidFill>
              </a:rPr>
              <a:t> running inside the </a:t>
            </a:r>
            <a:r>
              <a:rPr lang="en-US" sz="1100" b="1" dirty="0">
                <a:solidFill>
                  <a:prstClr val="black"/>
                </a:solidFill>
              </a:rPr>
              <a:t>virtual</a:t>
            </a:r>
            <a:r>
              <a:rPr lang="en-US" sz="1100" dirty="0">
                <a:solidFill>
                  <a:prstClr val="black"/>
                </a:solidFill>
              </a:rPr>
              <a:t> </a:t>
            </a:r>
            <a:r>
              <a:rPr lang="en-US" sz="1100" b="1" dirty="0">
                <a:solidFill>
                  <a:prstClr val="black"/>
                </a:solidFill>
              </a:rPr>
              <a:t>machine</a:t>
            </a:r>
            <a:r>
              <a:rPr lang="en-US" sz="1100" dirty="0">
                <a:solidFill>
                  <a:prstClr val="black"/>
                </a:solidFill>
              </a:rPr>
              <a:t> is </a:t>
            </a:r>
            <a:r>
              <a:rPr lang="en-US" sz="1100" b="1" dirty="0">
                <a:solidFill>
                  <a:prstClr val="black"/>
                </a:solidFill>
              </a:rPr>
              <a:t>isolated</a:t>
            </a:r>
            <a:r>
              <a:rPr lang="en-US" sz="1100" dirty="0">
                <a:solidFill>
                  <a:prstClr val="black"/>
                </a:solidFill>
              </a:rPr>
              <a:t> from the </a:t>
            </a:r>
            <a:r>
              <a:rPr lang="en-US" sz="1100" b="1" dirty="0">
                <a:solidFill>
                  <a:prstClr val="black"/>
                </a:solidFill>
              </a:rPr>
              <a:t>host</a:t>
            </a:r>
            <a:r>
              <a:rPr lang="en-US" sz="1100" dirty="0">
                <a:solidFill>
                  <a:prstClr val="black"/>
                </a:solidFill>
              </a:rPr>
              <a:t> </a:t>
            </a:r>
            <a:r>
              <a:rPr lang="en-US" sz="1100" b="1" dirty="0">
                <a:solidFill>
                  <a:prstClr val="black"/>
                </a:solidFill>
              </a:rPr>
              <a:t>operating</a:t>
            </a:r>
            <a:r>
              <a:rPr lang="en-US" sz="1100" dirty="0">
                <a:solidFill>
                  <a:prstClr val="black"/>
                </a:solidFill>
              </a:rPr>
              <a:t> </a:t>
            </a:r>
            <a:r>
              <a:rPr lang="en-US" sz="1100" b="1" dirty="0" smtClean="0">
                <a:solidFill>
                  <a:prstClr val="black"/>
                </a:solidFill>
              </a:rPr>
              <a:t>system/hypervisor</a:t>
            </a:r>
            <a:r>
              <a:rPr lang="en-US" sz="1100" dirty="0" smtClean="0">
                <a:solidFill>
                  <a:prstClr val="black"/>
                </a:solidFill>
              </a:rPr>
              <a:t> </a:t>
            </a:r>
            <a:r>
              <a:rPr lang="en-US" sz="1100" dirty="0">
                <a:solidFill>
                  <a:prstClr val="black"/>
                </a:solidFill>
              </a:rPr>
              <a:t>and other virtual machines running on the same physical machine. </a:t>
            </a:r>
          </a:p>
          <a:p>
            <a:pPr marL="342900" indent="-342900">
              <a:buFont typeface="Wingdings" pitchFamily="2" charset="2"/>
              <a:buChar char="ü"/>
            </a:pPr>
            <a:endParaRPr lang="en-US" sz="1100" dirty="0">
              <a:solidFill>
                <a:prstClr val="black"/>
              </a:solidFill>
            </a:endParaRPr>
          </a:p>
          <a:p>
            <a:pPr marL="342900" indent="-342900">
              <a:buFont typeface="Wingdings" pitchFamily="2" charset="2"/>
              <a:buChar char="ü"/>
            </a:pPr>
            <a:r>
              <a:rPr lang="en-US" sz="1100" dirty="0">
                <a:solidFill>
                  <a:prstClr val="black"/>
                </a:solidFill>
              </a:rPr>
              <a:t>Virtual machines run on a physical </a:t>
            </a:r>
            <a:r>
              <a:rPr lang="en-US" sz="1100" dirty="0" smtClean="0">
                <a:solidFill>
                  <a:prstClr val="black"/>
                </a:solidFill>
              </a:rPr>
              <a:t>machine controlled by a </a:t>
            </a:r>
            <a:r>
              <a:rPr lang="en-US" sz="1100" dirty="0">
                <a:solidFill>
                  <a:prstClr val="black"/>
                </a:solidFill>
              </a:rPr>
              <a:t>software which is known as a </a:t>
            </a:r>
            <a:r>
              <a:rPr lang="en-US" sz="1100" b="1" dirty="0">
                <a:solidFill>
                  <a:prstClr val="black"/>
                </a:solidFill>
              </a:rPr>
              <a:t>hypervisor</a:t>
            </a:r>
            <a:r>
              <a:rPr lang="en-US" sz="1100" dirty="0">
                <a:solidFill>
                  <a:prstClr val="black"/>
                </a:solidFill>
              </a:rPr>
              <a:t>. </a:t>
            </a:r>
          </a:p>
          <a:p>
            <a:pPr marL="342900" indent="-342900">
              <a:buFont typeface="Wingdings" pitchFamily="2" charset="2"/>
              <a:buChar char="ü"/>
            </a:pPr>
            <a:endParaRPr lang="en-US" sz="1100" dirty="0">
              <a:solidFill>
                <a:prstClr val="black"/>
              </a:solidFill>
            </a:endParaRPr>
          </a:p>
          <a:p>
            <a:pPr marL="342900" indent="-342900">
              <a:buFont typeface="Wingdings" pitchFamily="2" charset="2"/>
              <a:buChar char="ü"/>
            </a:pPr>
            <a:r>
              <a:rPr lang="en-US" sz="1100" b="1" dirty="0">
                <a:solidFill>
                  <a:prstClr val="black"/>
                </a:solidFill>
              </a:rPr>
              <a:t>Placement types </a:t>
            </a:r>
            <a:r>
              <a:rPr lang="en-US" sz="1100" dirty="0">
                <a:solidFill>
                  <a:prstClr val="black"/>
                </a:solidFill>
              </a:rPr>
              <a:t>– Standard/spot – </a:t>
            </a:r>
          </a:p>
          <a:p>
            <a:r>
              <a:rPr lang="en-US" sz="1000" dirty="0" smtClean="0">
                <a:solidFill>
                  <a:prstClr val="black"/>
                </a:solidFill>
              </a:rPr>
              <a:t>Standard </a:t>
            </a:r>
            <a:r>
              <a:rPr lang="en-US" sz="1000" dirty="0">
                <a:solidFill>
                  <a:prstClr val="black"/>
                </a:solidFill>
              </a:rPr>
              <a:t>Whether we need the VM for a long time </a:t>
            </a:r>
            <a:r>
              <a:rPr lang="en-US" sz="1000" dirty="0" smtClean="0">
                <a:solidFill>
                  <a:prstClr val="black"/>
                </a:solidFill>
              </a:rPr>
              <a:t>(Azure </a:t>
            </a:r>
            <a:r>
              <a:rPr lang="en-US" sz="1000" dirty="0">
                <a:solidFill>
                  <a:prstClr val="black"/>
                </a:solidFill>
              </a:rPr>
              <a:t>can’t take this VM out)</a:t>
            </a:r>
          </a:p>
          <a:p>
            <a:r>
              <a:rPr lang="en-US" sz="1000" dirty="0" err="1">
                <a:solidFill>
                  <a:prstClr val="black"/>
                </a:solidFill>
              </a:rPr>
              <a:t>Preemtable</a:t>
            </a:r>
            <a:r>
              <a:rPr lang="en-US" sz="1000" dirty="0">
                <a:solidFill>
                  <a:prstClr val="black"/>
                </a:solidFill>
              </a:rPr>
              <a:t>/spot instances - Whether we need the VM for a short </a:t>
            </a:r>
            <a:r>
              <a:rPr lang="en-US" sz="1000" dirty="0" smtClean="0">
                <a:solidFill>
                  <a:prstClr val="black"/>
                </a:solidFill>
              </a:rPr>
              <a:t>time</a:t>
            </a:r>
            <a:endParaRPr lang="en-US" sz="1000" dirty="0">
              <a:solidFill>
                <a:prstClr val="black"/>
              </a:solidFill>
            </a:endParaRPr>
          </a:p>
          <a:p>
            <a:endParaRPr lang="en-US" sz="1000" dirty="0">
              <a:solidFill>
                <a:prstClr val="black"/>
              </a:solidFill>
            </a:endParaRPr>
          </a:p>
          <a:p>
            <a:pPr marL="342900" indent="-342900">
              <a:buFont typeface="Wingdings" pitchFamily="2" charset="2"/>
              <a:buChar char="ü"/>
            </a:pPr>
            <a:r>
              <a:rPr lang="en-US" sz="1100" dirty="0">
                <a:solidFill>
                  <a:prstClr val="black"/>
                </a:solidFill>
              </a:rPr>
              <a:t>Committed Use </a:t>
            </a:r>
            <a:r>
              <a:rPr lang="en-US" sz="1100" dirty="0" smtClean="0">
                <a:solidFill>
                  <a:prstClr val="black"/>
                </a:solidFill>
              </a:rPr>
              <a:t>Discounts (Reservations) </a:t>
            </a:r>
            <a:r>
              <a:rPr lang="en-US" sz="1100" dirty="0">
                <a:solidFill>
                  <a:prstClr val="black"/>
                </a:solidFill>
              </a:rPr>
              <a:t>: Commitments provide discounts for VMs and software licensing in return for 1-3 year purchase agreements. Can be a good option if your workloads have predictable resource needs.</a:t>
            </a:r>
          </a:p>
          <a:p>
            <a:pPr marL="342900" indent="-342900">
              <a:buFont typeface="Wingdings" pitchFamily="2" charset="2"/>
              <a:buChar char="ü"/>
            </a:pPr>
            <a:endParaRPr lang="en-US" sz="1100" dirty="0">
              <a:solidFill>
                <a:prstClr val="black"/>
              </a:solidFill>
            </a:endParaRPr>
          </a:p>
          <a:p>
            <a:pPr marL="342900" indent="-342900">
              <a:buFont typeface="Wingdings" pitchFamily="2" charset="2"/>
              <a:buChar char="ü"/>
            </a:pPr>
            <a:r>
              <a:rPr lang="en-US" sz="1100" dirty="0" smtClean="0">
                <a:solidFill>
                  <a:prstClr val="black"/>
                </a:solidFill>
              </a:rPr>
              <a:t>Capacity Reservation: </a:t>
            </a:r>
            <a:r>
              <a:rPr lang="en-US" sz="1100" dirty="0">
                <a:solidFill>
                  <a:prstClr val="black"/>
                </a:solidFill>
              </a:rPr>
              <a:t>To make sure that Compute Engine resources are available when you need them, use reservations. Reservations provide a very high level of assurance in obtaining capacity for Compute Engine zonal resources. </a:t>
            </a:r>
            <a:endParaRPr lang="en-US" sz="1100" dirty="0" smtClean="0">
              <a:solidFill>
                <a:prstClr val="black"/>
              </a:solidFill>
            </a:endParaRPr>
          </a:p>
          <a:p>
            <a:pPr marL="342900" indent="-342900">
              <a:buFont typeface="Wingdings" pitchFamily="2" charset="2"/>
              <a:buChar char="ü"/>
            </a:pPr>
            <a:r>
              <a:rPr lang="en-US" sz="1100" dirty="0" smtClean="0">
                <a:solidFill>
                  <a:prstClr val="black"/>
                </a:solidFill>
              </a:rPr>
              <a:t>Fleets:</a:t>
            </a:r>
          </a:p>
          <a:p>
            <a:pPr marL="342900" indent="-342900">
              <a:buFont typeface="Wingdings" pitchFamily="2" charset="2"/>
              <a:buChar char="ü"/>
            </a:pPr>
            <a:r>
              <a:rPr lang="en-US" sz="1100" dirty="0" smtClean="0">
                <a:solidFill>
                  <a:prstClr val="black"/>
                </a:solidFill>
              </a:rPr>
              <a:t>Proximity Services:</a:t>
            </a:r>
            <a:endParaRPr lang="en-US" sz="1100" dirty="0">
              <a:solidFill>
                <a:prstClr val="black"/>
              </a:solidFill>
            </a:endParaRPr>
          </a:p>
        </p:txBody>
      </p:sp>
      <p:grpSp>
        <p:nvGrpSpPr>
          <p:cNvPr id="5" name="Group 4"/>
          <p:cNvGrpSpPr/>
          <p:nvPr/>
        </p:nvGrpSpPr>
        <p:grpSpPr>
          <a:xfrm>
            <a:off x="5333835" y="222978"/>
            <a:ext cx="6476427" cy="6275244"/>
            <a:chOff x="5333837" y="362220"/>
            <a:chExt cx="6476427" cy="6275244"/>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3837" y="4826927"/>
              <a:ext cx="6476427" cy="1810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7893754" y="362220"/>
              <a:ext cx="1200778" cy="369332"/>
            </a:xfrm>
            <a:prstGeom prst="rect">
              <a:avLst/>
            </a:prstGeom>
            <a:noFill/>
          </p:spPr>
          <p:txBody>
            <a:bodyPr wrap="none" rtlCol="0">
              <a:spAutoFit/>
            </a:bodyPr>
            <a:lstStyle/>
            <a:p>
              <a:r>
                <a:rPr lang="en-IN" dirty="0">
                  <a:solidFill>
                    <a:prstClr val="black"/>
                  </a:solidFill>
                </a:rPr>
                <a:t>Host Types</a:t>
              </a:r>
            </a:p>
          </p:txBody>
        </p:sp>
        <p:sp>
          <p:nvSpPr>
            <p:cNvPr id="13" name="TextBox 12"/>
            <p:cNvSpPr txBox="1"/>
            <p:nvPr/>
          </p:nvSpPr>
          <p:spPr>
            <a:xfrm>
              <a:off x="6716747" y="4517977"/>
              <a:ext cx="3614003" cy="369332"/>
            </a:xfrm>
            <a:prstGeom prst="rect">
              <a:avLst/>
            </a:prstGeom>
            <a:noFill/>
          </p:spPr>
          <p:txBody>
            <a:bodyPr wrap="none" rtlCol="0">
              <a:spAutoFit/>
            </a:bodyPr>
            <a:lstStyle/>
            <a:p>
              <a:r>
                <a:rPr lang="en-IN" dirty="0">
                  <a:solidFill>
                    <a:prstClr val="black"/>
                  </a:solidFill>
                </a:rPr>
                <a:t>Machine Types (Predefined/Custom)</a:t>
              </a:r>
            </a:p>
          </p:txBody>
        </p:sp>
      </p:gr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8924" y="572462"/>
            <a:ext cx="6502977" cy="36627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4">
            <p14:nvContentPartPr>
              <p14:cNvPr id="9" name="Ink 8"/>
              <p14:cNvContentPartPr/>
              <p14:nvPr/>
            </p14:nvContentPartPr>
            <p14:xfrm>
              <a:off x="9728280" y="870120"/>
              <a:ext cx="360" cy="360"/>
            </p14:xfrm>
          </p:contentPart>
        </mc:Choice>
        <mc:Fallback xmlns="">
          <p:pic>
            <p:nvPicPr>
              <p:cNvPr id="9" name="Ink 8"/>
              <p:cNvPicPr/>
              <p:nvPr/>
            </p:nvPicPr>
            <p:blipFill>
              <a:blip r:embed="rId5"/>
              <a:stretch>
                <a:fillRect/>
              </a:stretch>
            </p:blipFill>
            <p:spPr>
              <a:xfrm>
                <a:off x="9718920" y="860760"/>
                <a:ext cx="19080" cy="19080"/>
              </a:xfrm>
              <a:prstGeom prst="rect">
                <a:avLst/>
              </a:prstGeom>
            </p:spPr>
          </p:pic>
        </mc:Fallback>
      </mc:AlternateContent>
      <p:sp>
        <p:nvSpPr>
          <p:cNvPr id="3" name="Rectangle 2">
            <a:extLst>
              <a:ext uri="{FF2B5EF4-FFF2-40B4-BE49-F238E27FC236}">
                <a16:creationId xmlns:a16="http://schemas.microsoft.com/office/drawing/2014/main" xmlns="" id="{FF90DDCF-DA64-E3A0-0C96-DF8B4B776CD2}"/>
              </a:ext>
            </a:extLst>
          </p:cNvPr>
          <p:cNvSpPr/>
          <p:nvPr/>
        </p:nvSpPr>
        <p:spPr>
          <a:xfrm>
            <a:off x="5328924" y="592311"/>
            <a:ext cx="3221329" cy="3642226"/>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7" name="Rectangle 6">
            <a:extLst>
              <a:ext uri="{FF2B5EF4-FFF2-40B4-BE49-F238E27FC236}">
                <a16:creationId xmlns:a16="http://schemas.microsoft.com/office/drawing/2014/main" xmlns="" id="{B21C2BF4-7E38-35C4-B074-627718E09129}"/>
              </a:ext>
            </a:extLst>
          </p:cNvPr>
          <p:cNvSpPr/>
          <p:nvPr/>
        </p:nvSpPr>
        <p:spPr>
          <a:xfrm>
            <a:off x="8651919" y="582034"/>
            <a:ext cx="3221329" cy="3642226"/>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15" name="Picture 4" descr="C:\Users\moham\Downloads\datacenter11.jpeg"/>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25000"/>
                    </a14:imgEffect>
                    <a14:imgEffect>
                      <a14:brightnessContrast bright="8000" contrast="16000"/>
                    </a14:imgEffect>
                  </a14:imgLayer>
                </a14:imgProps>
              </a:ext>
              <a:ext uri="{28A0092B-C50C-407E-A947-70E740481C1C}">
                <a14:useLocalDpi xmlns:a14="http://schemas.microsoft.com/office/drawing/2010/main" val="0"/>
              </a:ext>
            </a:extLst>
          </a:blip>
          <a:srcRect/>
          <a:stretch>
            <a:fillRect/>
          </a:stretch>
        </p:blipFill>
        <p:spPr bwMode="auto">
          <a:xfrm>
            <a:off x="8769471" y="870480"/>
            <a:ext cx="1657194" cy="262023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10495245" y="1672590"/>
            <a:ext cx="481222" cy="830997"/>
          </a:xfrm>
          <a:prstGeom prst="rect">
            <a:avLst/>
          </a:prstGeom>
          <a:noFill/>
        </p:spPr>
        <p:txBody>
          <a:bodyPr wrap="none" rtlCol="0">
            <a:spAutoFit/>
          </a:bodyPr>
          <a:lstStyle/>
          <a:p>
            <a:r>
              <a:rPr lang="en-IN" sz="600" dirty="0" smtClean="0"/>
              <a:t>24cores</a:t>
            </a:r>
          </a:p>
          <a:p>
            <a:r>
              <a:rPr lang="en-IN" sz="600" dirty="0" smtClean="0"/>
              <a:t>48gb ram</a:t>
            </a:r>
          </a:p>
          <a:p>
            <a:r>
              <a:rPr lang="en-IN" sz="600" dirty="0" smtClean="0"/>
              <a:t>96gb </a:t>
            </a:r>
            <a:r>
              <a:rPr lang="en-IN" sz="600" dirty="0" err="1" smtClean="0"/>
              <a:t>hdd</a:t>
            </a:r>
            <a:endParaRPr lang="en-IN" sz="600" dirty="0" smtClean="0"/>
          </a:p>
          <a:p>
            <a:endParaRPr lang="en-IN" sz="600" dirty="0"/>
          </a:p>
          <a:p>
            <a:r>
              <a:rPr lang="en-IN" sz="600" dirty="0" smtClean="0"/>
              <a:t>VMs(12)</a:t>
            </a:r>
          </a:p>
          <a:p>
            <a:r>
              <a:rPr lang="en-IN" sz="600" dirty="0" smtClean="0"/>
              <a:t>2cores</a:t>
            </a:r>
          </a:p>
          <a:p>
            <a:r>
              <a:rPr lang="en-IN" sz="600" dirty="0" smtClean="0"/>
              <a:t>4gb ram</a:t>
            </a:r>
          </a:p>
          <a:p>
            <a:r>
              <a:rPr lang="en-IN" sz="600" dirty="0" smtClean="0"/>
              <a:t>8gb </a:t>
            </a:r>
            <a:r>
              <a:rPr lang="en-IN" sz="600" dirty="0" err="1" smtClean="0"/>
              <a:t>hdd</a:t>
            </a:r>
            <a:endParaRPr lang="en-IN" sz="600" dirty="0" smtClean="0"/>
          </a:p>
        </p:txBody>
      </p:sp>
    </p:spTree>
    <p:extLst>
      <p:ext uri="{BB962C8B-B14F-4D97-AF65-F5344CB8AC3E}">
        <p14:creationId xmlns:p14="http://schemas.microsoft.com/office/powerpoint/2010/main" val="396787068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52518" y="82458"/>
            <a:ext cx="5577450" cy="40334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a:latin typeface="+mn-lt"/>
              </a:rPr>
              <a:t>Azure Virtual Machine</a:t>
            </a:r>
          </a:p>
        </p:txBody>
      </p:sp>
      <p:sp>
        <p:nvSpPr>
          <p:cNvPr id="2" name="TextBox 1"/>
          <p:cNvSpPr txBox="1"/>
          <p:nvPr/>
        </p:nvSpPr>
        <p:spPr>
          <a:xfrm>
            <a:off x="152400" y="618565"/>
            <a:ext cx="11520654" cy="6463308"/>
          </a:xfrm>
          <a:prstGeom prst="rect">
            <a:avLst/>
          </a:prstGeom>
          <a:solidFill>
            <a:schemeClr val="accent3">
              <a:lumMod val="20000"/>
              <a:lumOff val="80000"/>
            </a:schemeClr>
          </a:solidFill>
        </p:spPr>
        <p:txBody>
          <a:bodyPr wrap="none" rtlCol="0">
            <a:spAutoFit/>
          </a:bodyPr>
          <a:lstStyle/>
          <a:p>
            <a:r>
              <a:rPr lang="en-IN" dirty="0" err="1">
                <a:solidFill>
                  <a:srgbClr val="0070C0"/>
                </a:solidFill>
              </a:rPr>
              <a:t>az</a:t>
            </a:r>
            <a:r>
              <a:rPr lang="en-IN" dirty="0">
                <a:solidFill>
                  <a:srgbClr val="0070C0"/>
                </a:solidFill>
              </a:rPr>
              <a:t> </a:t>
            </a:r>
            <a:r>
              <a:rPr lang="en-IN" dirty="0" err="1">
                <a:solidFill>
                  <a:srgbClr val="0070C0"/>
                </a:solidFill>
              </a:rPr>
              <a:t>vm</a:t>
            </a:r>
            <a:r>
              <a:rPr lang="en-IN" dirty="0">
                <a:solidFill>
                  <a:srgbClr val="0070C0"/>
                </a:solidFill>
              </a:rPr>
              <a:t> create \</a:t>
            </a:r>
          </a:p>
          <a:p>
            <a:r>
              <a:rPr lang="en-IN" dirty="0">
                <a:solidFill>
                  <a:srgbClr val="0070C0"/>
                </a:solidFill>
              </a:rPr>
              <a:t>  --resource-group wd36-rg1 \</a:t>
            </a:r>
          </a:p>
          <a:p>
            <a:r>
              <a:rPr lang="en-IN" dirty="0">
                <a:solidFill>
                  <a:srgbClr val="0070C0"/>
                </a:solidFill>
              </a:rPr>
              <a:t>  --name </a:t>
            </a:r>
            <a:r>
              <a:rPr lang="en-IN" dirty="0" err="1">
                <a:solidFill>
                  <a:srgbClr val="0070C0"/>
                </a:solidFill>
              </a:rPr>
              <a:t>MyUbuntuVM</a:t>
            </a:r>
            <a:r>
              <a:rPr lang="en-IN" dirty="0">
                <a:solidFill>
                  <a:srgbClr val="0070C0"/>
                </a:solidFill>
              </a:rPr>
              <a:t> \</a:t>
            </a:r>
          </a:p>
          <a:p>
            <a:r>
              <a:rPr lang="en-IN" dirty="0">
                <a:solidFill>
                  <a:srgbClr val="0070C0"/>
                </a:solidFill>
              </a:rPr>
              <a:t>  --image Ubuntu2204 \</a:t>
            </a:r>
          </a:p>
          <a:p>
            <a:r>
              <a:rPr lang="en-IN" dirty="0">
                <a:solidFill>
                  <a:srgbClr val="0070C0"/>
                </a:solidFill>
              </a:rPr>
              <a:t>  --size Standard_L2aos_v4 \</a:t>
            </a:r>
          </a:p>
          <a:p>
            <a:r>
              <a:rPr lang="en-IN" dirty="0">
                <a:solidFill>
                  <a:srgbClr val="0070C0"/>
                </a:solidFill>
              </a:rPr>
              <a:t>  --admin-username </a:t>
            </a:r>
            <a:r>
              <a:rPr lang="en-IN" dirty="0" err="1">
                <a:solidFill>
                  <a:srgbClr val="0070C0"/>
                </a:solidFill>
              </a:rPr>
              <a:t>azureuser</a:t>
            </a:r>
            <a:r>
              <a:rPr lang="en-IN" dirty="0">
                <a:solidFill>
                  <a:srgbClr val="0070C0"/>
                </a:solidFill>
              </a:rPr>
              <a:t> \</a:t>
            </a:r>
          </a:p>
          <a:p>
            <a:r>
              <a:rPr lang="en-IN" dirty="0">
                <a:solidFill>
                  <a:srgbClr val="0070C0"/>
                </a:solidFill>
              </a:rPr>
              <a:t>  --generate-</a:t>
            </a:r>
            <a:r>
              <a:rPr lang="en-IN" dirty="0" err="1">
                <a:solidFill>
                  <a:srgbClr val="0070C0"/>
                </a:solidFill>
              </a:rPr>
              <a:t>ssh</a:t>
            </a:r>
            <a:r>
              <a:rPr lang="en-IN" dirty="0">
                <a:solidFill>
                  <a:srgbClr val="0070C0"/>
                </a:solidFill>
              </a:rPr>
              <a:t>-keys \</a:t>
            </a:r>
          </a:p>
          <a:p>
            <a:r>
              <a:rPr lang="en-IN" dirty="0">
                <a:solidFill>
                  <a:srgbClr val="0070C0"/>
                </a:solidFill>
              </a:rPr>
              <a:t>  --</a:t>
            </a:r>
            <a:r>
              <a:rPr lang="en-IN" dirty="0" err="1">
                <a:solidFill>
                  <a:srgbClr val="0070C0"/>
                </a:solidFill>
              </a:rPr>
              <a:t>vnet</a:t>
            </a:r>
            <a:r>
              <a:rPr lang="en-IN" dirty="0">
                <a:solidFill>
                  <a:srgbClr val="0070C0"/>
                </a:solidFill>
              </a:rPr>
              <a:t>-name wd36_vn \</a:t>
            </a:r>
          </a:p>
          <a:p>
            <a:r>
              <a:rPr lang="en-IN" dirty="0">
                <a:solidFill>
                  <a:srgbClr val="0070C0"/>
                </a:solidFill>
              </a:rPr>
              <a:t>  --subnet wd36_sn1 \</a:t>
            </a:r>
          </a:p>
          <a:p>
            <a:r>
              <a:rPr lang="en-IN" dirty="0">
                <a:solidFill>
                  <a:srgbClr val="0070C0"/>
                </a:solidFill>
              </a:rPr>
              <a:t>  --</a:t>
            </a:r>
            <a:r>
              <a:rPr lang="en-IN" dirty="0" err="1">
                <a:solidFill>
                  <a:srgbClr val="0070C0"/>
                </a:solidFill>
              </a:rPr>
              <a:t>nsg</a:t>
            </a:r>
            <a:r>
              <a:rPr lang="en-IN" dirty="0">
                <a:solidFill>
                  <a:srgbClr val="0070C0"/>
                </a:solidFill>
              </a:rPr>
              <a:t> wd36_nsg1 \</a:t>
            </a:r>
          </a:p>
          <a:p>
            <a:r>
              <a:rPr lang="en-IN" dirty="0">
                <a:solidFill>
                  <a:srgbClr val="0070C0"/>
                </a:solidFill>
              </a:rPr>
              <a:t>  --public-</a:t>
            </a:r>
            <a:r>
              <a:rPr lang="en-IN" dirty="0" err="1">
                <a:solidFill>
                  <a:srgbClr val="0070C0"/>
                </a:solidFill>
              </a:rPr>
              <a:t>ip</a:t>
            </a:r>
            <a:r>
              <a:rPr lang="en-IN" dirty="0">
                <a:solidFill>
                  <a:srgbClr val="0070C0"/>
                </a:solidFill>
              </a:rPr>
              <a:t>-</a:t>
            </a:r>
            <a:r>
              <a:rPr lang="en-IN" dirty="0" err="1">
                <a:solidFill>
                  <a:srgbClr val="0070C0"/>
                </a:solidFill>
              </a:rPr>
              <a:t>sku</a:t>
            </a:r>
            <a:r>
              <a:rPr lang="en-IN" dirty="0">
                <a:solidFill>
                  <a:srgbClr val="0070C0"/>
                </a:solidFill>
              </a:rPr>
              <a:t> Standard</a:t>
            </a:r>
          </a:p>
          <a:p>
            <a:endParaRPr lang="en-IN" dirty="0">
              <a:solidFill>
                <a:srgbClr val="0070C0"/>
              </a:solidFill>
            </a:endParaRPr>
          </a:p>
          <a:p>
            <a:r>
              <a:rPr lang="en-IN" dirty="0" err="1">
                <a:solidFill>
                  <a:srgbClr val="0070C0"/>
                </a:solidFill>
              </a:rPr>
              <a:t>az</a:t>
            </a:r>
            <a:r>
              <a:rPr lang="en-IN" dirty="0">
                <a:solidFill>
                  <a:srgbClr val="0070C0"/>
                </a:solidFill>
              </a:rPr>
              <a:t> </a:t>
            </a:r>
            <a:r>
              <a:rPr lang="en-IN" dirty="0" err="1">
                <a:solidFill>
                  <a:srgbClr val="0070C0"/>
                </a:solidFill>
              </a:rPr>
              <a:t>vm</a:t>
            </a:r>
            <a:r>
              <a:rPr lang="en-IN" dirty="0">
                <a:solidFill>
                  <a:srgbClr val="0070C0"/>
                </a:solidFill>
              </a:rPr>
              <a:t> list --output table</a:t>
            </a:r>
          </a:p>
          <a:p>
            <a:endParaRPr lang="en-IN" dirty="0">
              <a:solidFill>
                <a:srgbClr val="0070C0"/>
              </a:solidFill>
            </a:endParaRPr>
          </a:p>
          <a:p>
            <a:r>
              <a:rPr lang="en-IN" dirty="0" err="1">
                <a:solidFill>
                  <a:srgbClr val="0070C0"/>
                </a:solidFill>
              </a:rPr>
              <a:t>az</a:t>
            </a:r>
            <a:r>
              <a:rPr lang="en-IN" dirty="0">
                <a:solidFill>
                  <a:srgbClr val="0070C0"/>
                </a:solidFill>
              </a:rPr>
              <a:t> </a:t>
            </a:r>
            <a:r>
              <a:rPr lang="en-IN" dirty="0" err="1">
                <a:solidFill>
                  <a:srgbClr val="0070C0"/>
                </a:solidFill>
              </a:rPr>
              <a:t>vm</a:t>
            </a:r>
            <a:r>
              <a:rPr lang="en-IN" dirty="0">
                <a:solidFill>
                  <a:srgbClr val="0070C0"/>
                </a:solidFill>
              </a:rPr>
              <a:t> stop --resource-group wd36-rg1 --name </a:t>
            </a:r>
            <a:r>
              <a:rPr lang="en-IN" dirty="0" err="1">
                <a:solidFill>
                  <a:srgbClr val="0070C0"/>
                </a:solidFill>
              </a:rPr>
              <a:t>MyUbuntuVM</a:t>
            </a:r>
            <a:endParaRPr lang="en-IN" dirty="0">
              <a:solidFill>
                <a:srgbClr val="0070C0"/>
              </a:solidFill>
            </a:endParaRPr>
          </a:p>
          <a:p>
            <a:endParaRPr lang="en-IN" dirty="0">
              <a:solidFill>
                <a:srgbClr val="0070C0"/>
              </a:solidFill>
            </a:endParaRPr>
          </a:p>
          <a:p>
            <a:r>
              <a:rPr lang="en-IN" dirty="0" err="1">
                <a:solidFill>
                  <a:srgbClr val="0070C0"/>
                </a:solidFill>
              </a:rPr>
              <a:t>az</a:t>
            </a:r>
            <a:r>
              <a:rPr lang="en-IN" dirty="0">
                <a:solidFill>
                  <a:srgbClr val="0070C0"/>
                </a:solidFill>
              </a:rPr>
              <a:t> </a:t>
            </a:r>
            <a:r>
              <a:rPr lang="en-IN" dirty="0" err="1">
                <a:solidFill>
                  <a:srgbClr val="0070C0"/>
                </a:solidFill>
              </a:rPr>
              <a:t>vm</a:t>
            </a:r>
            <a:r>
              <a:rPr lang="en-IN" dirty="0">
                <a:solidFill>
                  <a:srgbClr val="0070C0"/>
                </a:solidFill>
              </a:rPr>
              <a:t> start --resource-group wd36-rg1 --name </a:t>
            </a:r>
            <a:r>
              <a:rPr lang="en-IN" dirty="0" err="1">
                <a:solidFill>
                  <a:srgbClr val="0070C0"/>
                </a:solidFill>
              </a:rPr>
              <a:t>MyUbuntuVM</a:t>
            </a:r>
            <a:endParaRPr lang="en-IN" dirty="0">
              <a:solidFill>
                <a:srgbClr val="0070C0"/>
              </a:solidFill>
            </a:endParaRPr>
          </a:p>
          <a:p>
            <a:endParaRPr lang="en-IN" dirty="0">
              <a:solidFill>
                <a:srgbClr val="0070C0"/>
              </a:solidFill>
            </a:endParaRPr>
          </a:p>
          <a:p>
            <a:r>
              <a:rPr lang="en-IN" dirty="0" err="1">
                <a:solidFill>
                  <a:srgbClr val="0070C0"/>
                </a:solidFill>
              </a:rPr>
              <a:t>az</a:t>
            </a:r>
            <a:r>
              <a:rPr lang="en-IN" dirty="0">
                <a:solidFill>
                  <a:srgbClr val="0070C0"/>
                </a:solidFill>
              </a:rPr>
              <a:t> </a:t>
            </a:r>
            <a:r>
              <a:rPr lang="en-IN" dirty="0" err="1">
                <a:solidFill>
                  <a:srgbClr val="0070C0"/>
                </a:solidFill>
              </a:rPr>
              <a:t>vm</a:t>
            </a:r>
            <a:r>
              <a:rPr lang="en-IN" dirty="0">
                <a:solidFill>
                  <a:srgbClr val="0070C0"/>
                </a:solidFill>
              </a:rPr>
              <a:t> restart  --resource-group wd36-rg1 --name </a:t>
            </a:r>
            <a:r>
              <a:rPr lang="en-IN" dirty="0" err="1">
                <a:solidFill>
                  <a:srgbClr val="0070C0"/>
                </a:solidFill>
              </a:rPr>
              <a:t>MyUbuntuVM</a:t>
            </a:r>
            <a:endParaRPr lang="en-IN" dirty="0">
              <a:solidFill>
                <a:srgbClr val="0070C0"/>
              </a:solidFill>
            </a:endParaRPr>
          </a:p>
          <a:p>
            <a:endParaRPr lang="en-IN" dirty="0">
              <a:solidFill>
                <a:srgbClr val="0070C0"/>
              </a:solidFill>
            </a:endParaRPr>
          </a:p>
          <a:p>
            <a:r>
              <a:rPr lang="en-IN" dirty="0" err="1">
                <a:solidFill>
                  <a:srgbClr val="0070C0"/>
                </a:solidFill>
              </a:rPr>
              <a:t>az</a:t>
            </a:r>
            <a:r>
              <a:rPr lang="en-IN" dirty="0">
                <a:solidFill>
                  <a:srgbClr val="0070C0"/>
                </a:solidFill>
              </a:rPr>
              <a:t> </a:t>
            </a:r>
            <a:r>
              <a:rPr lang="en-IN" dirty="0" err="1">
                <a:solidFill>
                  <a:srgbClr val="0070C0"/>
                </a:solidFill>
              </a:rPr>
              <a:t>vm</a:t>
            </a:r>
            <a:r>
              <a:rPr lang="en-IN" dirty="0">
                <a:solidFill>
                  <a:srgbClr val="0070C0"/>
                </a:solidFill>
              </a:rPr>
              <a:t> delete --resource-group </a:t>
            </a:r>
            <a:r>
              <a:rPr lang="en-IN" dirty="0" smtClean="0">
                <a:solidFill>
                  <a:srgbClr val="0070C0"/>
                </a:solidFill>
              </a:rPr>
              <a:t>wd36-rg1 </a:t>
            </a:r>
            <a:r>
              <a:rPr lang="en-IN" dirty="0">
                <a:solidFill>
                  <a:srgbClr val="0070C0"/>
                </a:solidFill>
              </a:rPr>
              <a:t>--name </a:t>
            </a:r>
            <a:r>
              <a:rPr lang="en-IN" dirty="0" err="1">
                <a:solidFill>
                  <a:srgbClr val="0070C0"/>
                </a:solidFill>
              </a:rPr>
              <a:t>MyUbuntuVM</a:t>
            </a:r>
            <a:r>
              <a:rPr lang="en-IN" dirty="0">
                <a:solidFill>
                  <a:srgbClr val="0070C0"/>
                </a:solidFill>
              </a:rPr>
              <a:t> --yes</a:t>
            </a:r>
          </a:p>
          <a:p>
            <a:endParaRPr lang="en-US" dirty="0">
              <a:solidFill>
                <a:srgbClr val="0070C0"/>
              </a:solidFill>
            </a:endParaRPr>
          </a:p>
          <a:p>
            <a:r>
              <a:rPr lang="en-US" dirty="0" err="1">
                <a:solidFill>
                  <a:srgbClr val="0070C0"/>
                </a:solidFill>
              </a:rPr>
              <a:t>az</a:t>
            </a:r>
            <a:r>
              <a:rPr lang="en-US" dirty="0">
                <a:solidFill>
                  <a:srgbClr val="0070C0"/>
                </a:solidFill>
              </a:rPr>
              <a:t> ssh </a:t>
            </a:r>
            <a:r>
              <a:rPr lang="en-US" dirty="0" err="1">
                <a:solidFill>
                  <a:srgbClr val="0070C0"/>
                </a:solidFill>
              </a:rPr>
              <a:t>vm</a:t>
            </a:r>
            <a:r>
              <a:rPr lang="en-US" dirty="0">
                <a:solidFill>
                  <a:srgbClr val="0070C0"/>
                </a:solidFill>
              </a:rPr>
              <a:t> --resource-group we45-resourcegroup --</a:t>
            </a:r>
            <a:r>
              <a:rPr lang="en-US" dirty="0" err="1">
                <a:solidFill>
                  <a:srgbClr val="0070C0"/>
                </a:solidFill>
              </a:rPr>
              <a:t>vm</a:t>
            </a:r>
            <a:r>
              <a:rPr lang="en-US" dirty="0">
                <a:solidFill>
                  <a:srgbClr val="0070C0"/>
                </a:solidFill>
              </a:rPr>
              <a:t>-name vm2 --subscription b9f2b1ae-1c93-4be7-a4bc-7c233e4cc3c4</a:t>
            </a:r>
            <a:endParaRPr lang="en-IN" dirty="0">
              <a:solidFill>
                <a:srgbClr val="0070C0"/>
              </a:solidFill>
            </a:endParaRPr>
          </a:p>
        </p:txBody>
      </p:sp>
    </p:spTree>
    <p:extLst>
      <p:ext uri="{BB962C8B-B14F-4D97-AF65-F5344CB8AC3E}">
        <p14:creationId xmlns:p14="http://schemas.microsoft.com/office/powerpoint/2010/main" val="6715698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822" y="1894924"/>
            <a:ext cx="7709618" cy="1280076"/>
          </a:xfrm>
        </p:spPr>
        <p:txBody>
          <a:bodyPr>
            <a:noAutofit/>
          </a:bodyPr>
          <a:lstStyle/>
          <a:p>
            <a:pPr algn="ctr"/>
            <a:r>
              <a:rPr lang="en-US" sz="8800" b="1" dirty="0" smtClean="0">
                <a:solidFill>
                  <a:srgbClr val="C00000"/>
                </a:solidFill>
              </a:rPr>
              <a:t>Azure Databricks</a:t>
            </a:r>
            <a:endParaRPr lang="en-IN" sz="8800" b="1" dirty="0">
              <a:solidFill>
                <a:srgbClr val="C00000"/>
              </a:solidFill>
            </a:endParaRPr>
          </a:p>
        </p:txBody>
      </p:sp>
      <p:pic>
        <p:nvPicPr>
          <p:cNvPr id="4" name="object 4"/>
          <p:cNvPicPr/>
          <p:nvPr/>
        </p:nvPicPr>
        <p:blipFill>
          <a:blip r:embed="rId2" cstate="print"/>
          <a:stretch>
            <a:fillRect/>
          </a:stretch>
        </p:blipFill>
        <p:spPr>
          <a:xfrm>
            <a:off x="6576642" y="4269625"/>
            <a:ext cx="1478279" cy="1591056"/>
          </a:xfrm>
          <a:prstGeom prst="rect">
            <a:avLst/>
          </a:prstGeom>
        </p:spPr>
      </p:pic>
      <p:pic>
        <p:nvPicPr>
          <p:cNvPr id="6" name="object 3"/>
          <p:cNvPicPr/>
          <p:nvPr/>
        </p:nvPicPr>
        <p:blipFill>
          <a:blip r:embed="rId3" cstate="print"/>
          <a:stretch>
            <a:fillRect/>
          </a:stretch>
        </p:blipFill>
        <p:spPr>
          <a:xfrm>
            <a:off x="3152731" y="3992257"/>
            <a:ext cx="2301240" cy="2145792"/>
          </a:xfrm>
          <a:prstGeom prst="rect">
            <a:avLst/>
          </a:prstGeom>
        </p:spPr>
      </p:pic>
      <p:sp>
        <p:nvSpPr>
          <p:cNvPr id="7" name="Rectangle 6"/>
          <p:cNvSpPr/>
          <p:nvPr/>
        </p:nvSpPr>
        <p:spPr>
          <a:xfrm>
            <a:off x="5453971" y="4341878"/>
            <a:ext cx="747320" cy="1446550"/>
          </a:xfrm>
          <a:prstGeom prst="rect">
            <a:avLst/>
          </a:prstGeom>
          <a:noFill/>
        </p:spPr>
        <p:txBody>
          <a:bodyPr wrap="non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8800" b="1" cap="all" spc="0"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a:t>
            </a:r>
          </a:p>
        </p:txBody>
      </p:sp>
      <p:sp>
        <p:nvSpPr>
          <p:cNvPr id="8" name="Rectangle 7"/>
          <p:cNvSpPr/>
          <p:nvPr/>
        </p:nvSpPr>
        <p:spPr>
          <a:xfrm>
            <a:off x="121907" y="4141089"/>
            <a:ext cx="2902718" cy="2031325"/>
          </a:xfrm>
          <a:prstGeom prst="rect">
            <a:avLst/>
          </a:prstGeom>
        </p:spPr>
        <p:txBody>
          <a:bodyPr wrap="none">
            <a:spAutoFit/>
          </a:bodyPr>
          <a:lstStyle/>
          <a:p>
            <a:r>
              <a:rPr lang="en-IN" b="1" u="sng" dirty="0" smtClean="0"/>
              <a:t>MS Fabric (Unified platform)</a:t>
            </a:r>
          </a:p>
          <a:p>
            <a:r>
              <a:rPr lang="en-IN" dirty="0" smtClean="0"/>
              <a:t>ADLS Gen2</a:t>
            </a:r>
          </a:p>
          <a:p>
            <a:r>
              <a:rPr lang="en-IN" dirty="0" smtClean="0"/>
              <a:t>ADF</a:t>
            </a:r>
          </a:p>
          <a:p>
            <a:r>
              <a:rPr lang="en-IN" dirty="0" smtClean="0"/>
              <a:t>HDInsight</a:t>
            </a:r>
          </a:p>
          <a:p>
            <a:r>
              <a:rPr lang="en-IN" dirty="0" smtClean="0"/>
              <a:t>Synapse</a:t>
            </a:r>
          </a:p>
          <a:p>
            <a:r>
              <a:rPr lang="en-IN" dirty="0" err="1" smtClean="0"/>
              <a:t>PowerBI</a:t>
            </a:r>
            <a:endParaRPr lang="en-IN" dirty="0" smtClean="0"/>
          </a:p>
          <a:p>
            <a:r>
              <a:rPr lang="en-IN" dirty="0" err="1" smtClean="0"/>
              <a:t>OpenAI</a:t>
            </a:r>
            <a:r>
              <a:rPr lang="en-IN" dirty="0" smtClean="0"/>
              <a:t>/Foundry</a:t>
            </a:r>
            <a:endParaRPr lang="en-IN" dirty="0"/>
          </a:p>
        </p:txBody>
      </p:sp>
      <p:sp>
        <p:nvSpPr>
          <p:cNvPr id="9" name="Rectangle 8"/>
          <p:cNvSpPr/>
          <p:nvPr/>
        </p:nvSpPr>
        <p:spPr>
          <a:xfrm>
            <a:off x="9031944" y="4106724"/>
            <a:ext cx="2974853" cy="2031325"/>
          </a:xfrm>
          <a:prstGeom prst="rect">
            <a:avLst/>
          </a:prstGeom>
        </p:spPr>
        <p:txBody>
          <a:bodyPr wrap="none">
            <a:spAutoFit/>
          </a:bodyPr>
          <a:lstStyle/>
          <a:p>
            <a:r>
              <a:rPr lang="en-IN" b="1" u="sng" dirty="0" err="1" smtClean="0"/>
              <a:t>Databricks</a:t>
            </a:r>
            <a:r>
              <a:rPr lang="en-IN" b="1" u="sng" dirty="0" smtClean="0"/>
              <a:t> (Unified platform)</a:t>
            </a:r>
          </a:p>
          <a:p>
            <a:r>
              <a:rPr lang="en-IN" b="1" dirty="0" smtClean="0"/>
              <a:t>DBFS</a:t>
            </a:r>
          </a:p>
          <a:p>
            <a:r>
              <a:rPr lang="en-IN" b="1" dirty="0" err="1" smtClean="0"/>
              <a:t>Lakeflow</a:t>
            </a:r>
            <a:r>
              <a:rPr lang="en-IN" b="1" dirty="0" smtClean="0"/>
              <a:t> services</a:t>
            </a:r>
          </a:p>
          <a:p>
            <a:r>
              <a:rPr lang="en-IN" b="1" dirty="0" smtClean="0"/>
              <a:t>Spark</a:t>
            </a:r>
          </a:p>
          <a:p>
            <a:r>
              <a:rPr lang="en-IN" b="1" dirty="0" smtClean="0"/>
              <a:t>Delta tables (</a:t>
            </a:r>
            <a:r>
              <a:rPr lang="en-IN" b="1" dirty="0"/>
              <a:t>SQL </a:t>
            </a:r>
            <a:r>
              <a:rPr lang="en-IN" b="1" dirty="0" err="1"/>
              <a:t>serverless</a:t>
            </a:r>
            <a:r>
              <a:rPr lang="en-IN" b="1" dirty="0" smtClean="0"/>
              <a:t>)</a:t>
            </a:r>
          </a:p>
          <a:p>
            <a:r>
              <a:rPr lang="en-IN" b="1" dirty="0" smtClean="0"/>
              <a:t>Dashboard &amp; Genie</a:t>
            </a:r>
          </a:p>
          <a:p>
            <a:r>
              <a:rPr lang="en-IN" b="1" dirty="0" smtClean="0"/>
              <a:t>AI/ML </a:t>
            </a:r>
            <a:r>
              <a:rPr lang="en-IN" dirty="0" smtClean="0"/>
              <a:t>services</a:t>
            </a:r>
            <a:endParaRPr lang="en-IN" dirty="0"/>
          </a:p>
        </p:txBody>
      </p:sp>
      <p:sp>
        <p:nvSpPr>
          <p:cNvPr id="10" name="Rectangle 9"/>
          <p:cNvSpPr/>
          <p:nvPr/>
        </p:nvSpPr>
        <p:spPr>
          <a:xfrm>
            <a:off x="372533" y="321733"/>
            <a:ext cx="1507067" cy="28532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372532" y="461432"/>
            <a:ext cx="1507067" cy="7704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Creamy</a:t>
            </a:r>
          </a:p>
          <a:p>
            <a:pPr algn="ctr"/>
            <a:r>
              <a:rPr lang="en-IN" sz="1200" dirty="0" err="1" smtClean="0"/>
              <a:t>Databricks</a:t>
            </a:r>
            <a:r>
              <a:rPr lang="en-IN" sz="1200" dirty="0" smtClean="0"/>
              <a:t> &amp; ADLS &amp; Core Cloud</a:t>
            </a:r>
            <a:endParaRPr lang="en-IN" sz="1200" dirty="0"/>
          </a:p>
        </p:txBody>
      </p:sp>
      <p:sp>
        <p:nvSpPr>
          <p:cNvPr id="12" name="Rectangle 11"/>
          <p:cNvSpPr/>
          <p:nvPr/>
        </p:nvSpPr>
        <p:spPr>
          <a:xfrm>
            <a:off x="372533" y="1384299"/>
            <a:ext cx="1507067" cy="7704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Rectangle 12"/>
          <p:cNvSpPr/>
          <p:nvPr/>
        </p:nvSpPr>
        <p:spPr>
          <a:xfrm>
            <a:off x="372533" y="2273298"/>
            <a:ext cx="1507067" cy="7704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372532" y="1363132"/>
            <a:ext cx="1507067" cy="770467"/>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Mid Creamy</a:t>
            </a:r>
          </a:p>
          <a:p>
            <a:pPr algn="ctr"/>
            <a:r>
              <a:rPr lang="en-IN" sz="1200" dirty="0" smtClean="0"/>
              <a:t>Creamy + ADF + Synapse + </a:t>
            </a:r>
            <a:r>
              <a:rPr lang="en-IN" sz="1200" dirty="0" err="1" smtClean="0"/>
              <a:t>PowerBI</a:t>
            </a:r>
            <a:r>
              <a:rPr lang="en-IN" sz="1200" dirty="0" smtClean="0"/>
              <a:t> + AI</a:t>
            </a:r>
            <a:endParaRPr lang="en-IN" sz="1200" dirty="0"/>
          </a:p>
        </p:txBody>
      </p:sp>
      <p:sp>
        <p:nvSpPr>
          <p:cNvPr id="15" name="Rectangle 14"/>
          <p:cNvSpPr/>
          <p:nvPr/>
        </p:nvSpPr>
        <p:spPr>
          <a:xfrm>
            <a:off x="372533" y="2273297"/>
            <a:ext cx="1507067" cy="770467"/>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Complete</a:t>
            </a:r>
          </a:p>
          <a:p>
            <a:pPr algn="ctr"/>
            <a:r>
              <a:rPr lang="en-IN" sz="1200" dirty="0" smtClean="0"/>
              <a:t>Mid Creamy + </a:t>
            </a:r>
            <a:r>
              <a:rPr lang="en-IN" sz="1200" dirty="0" err="1" smtClean="0"/>
              <a:t>Eventhub</a:t>
            </a:r>
            <a:r>
              <a:rPr lang="en-IN" sz="1200" dirty="0" smtClean="0"/>
              <a:t> + Stream analytics + Functions</a:t>
            </a:r>
            <a:endParaRPr lang="en-IN" sz="1200" dirty="0"/>
          </a:p>
        </p:txBody>
      </p:sp>
    </p:spTree>
    <p:extLst>
      <p:ext uri="{BB962C8B-B14F-4D97-AF65-F5344CB8AC3E}">
        <p14:creationId xmlns:p14="http://schemas.microsoft.com/office/powerpoint/2010/main" val="10988540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descr="Software versions comparison ch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smtClean="0"/>
              <a:t>Azure Databricks – Planes/Grounds</a:t>
            </a:r>
            <a:endParaRPr lang="en-US" sz="3200" dirty="0"/>
          </a:p>
        </p:txBody>
      </p:sp>
      <p:pic>
        <p:nvPicPr>
          <p:cNvPr id="2050" name="Picture 2" descr="C:\Users\moham\Downloads\az databrick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8437" y="748985"/>
            <a:ext cx="8927886" cy="595192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6282168" y="2572282"/>
            <a:ext cx="1101584" cy="1615827"/>
          </a:xfrm>
          <a:prstGeom prst="rect">
            <a:avLst/>
          </a:prstGeom>
          <a:noFill/>
        </p:spPr>
        <p:txBody>
          <a:bodyPr wrap="none" rtlCol="0">
            <a:spAutoFit/>
          </a:bodyPr>
          <a:lstStyle/>
          <a:p>
            <a:pPr algn="ctr"/>
            <a:r>
              <a:rPr lang="en-IN" sz="1100" b="1" dirty="0" smtClean="0"/>
              <a:t>Webserver</a:t>
            </a:r>
          </a:p>
          <a:p>
            <a:pPr algn="ctr"/>
            <a:r>
              <a:rPr lang="en-IN" sz="1100" dirty="0" err="1" smtClean="0"/>
              <a:t>Az</a:t>
            </a:r>
            <a:r>
              <a:rPr lang="en-IN" sz="1100" dirty="0" smtClean="0"/>
              <a:t> VM</a:t>
            </a:r>
          </a:p>
          <a:p>
            <a:pPr algn="ctr"/>
            <a:r>
              <a:rPr lang="en-IN" sz="1100" b="1" dirty="0" smtClean="0"/>
              <a:t>Orchestration</a:t>
            </a:r>
          </a:p>
          <a:p>
            <a:pPr algn="ctr"/>
            <a:r>
              <a:rPr lang="en-IN" sz="1100" dirty="0" err="1" smtClean="0"/>
              <a:t>Az</a:t>
            </a:r>
            <a:r>
              <a:rPr lang="en-IN" sz="1100" dirty="0" smtClean="0"/>
              <a:t> Functions</a:t>
            </a:r>
          </a:p>
          <a:p>
            <a:pPr algn="ctr"/>
            <a:r>
              <a:rPr lang="en-IN" sz="1100" b="1" dirty="0" smtClean="0"/>
              <a:t>UC</a:t>
            </a:r>
          </a:p>
          <a:p>
            <a:pPr marL="228600" indent="-228600" algn="ctr">
              <a:buAutoNum type="arabicPeriod"/>
            </a:pPr>
            <a:r>
              <a:rPr lang="en-IN" sz="1100" dirty="0" smtClean="0"/>
              <a:t>ADLS, 2. DB</a:t>
            </a:r>
          </a:p>
          <a:p>
            <a:pPr algn="ctr"/>
            <a:r>
              <a:rPr lang="en-IN" sz="1100" dirty="0" smtClean="0"/>
              <a:t>3. </a:t>
            </a:r>
            <a:r>
              <a:rPr lang="en-IN" sz="1100" dirty="0" err="1" smtClean="0"/>
              <a:t>Az</a:t>
            </a:r>
            <a:r>
              <a:rPr lang="en-IN" sz="1100" dirty="0" smtClean="0"/>
              <a:t> Security</a:t>
            </a:r>
          </a:p>
          <a:p>
            <a:pPr algn="ctr"/>
            <a:r>
              <a:rPr lang="en-IN" sz="1100" b="1" dirty="0" smtClean="0"/>
              <a:t>Queries &amp; Code</a:t>
            </a:r>
          </a:p>
          <a:p>
            <a:pPr algn="ctr"/>
            <a:r>
              <a:rPr lang="en-IN" sz="1100" dirty="0" smtClean="0"/>
              <a:t>1. VM, 2. </a:t>
            </a:r>
            <a:r>
              <a:rPr lang="en-IN" sz="1100" dirty="0" err="1" smtClean="0"/>
              <a:t>IPSaaS</a:t>
            </a:r>
            <a:endParaRPr lang="en-IN" sz="1100" dirty="0"/>
          </a:p>
        </p:txBody>
      </p:sp>
      <p:cxnSp>
        <p:nvCxnSpPr>
          <p:cNvPr id="4" name="Straight Arrow Connector 3"/>
          <p:cNvCxnSpPr/>
          <p:nvPr/>
        </p:nvCxnSpPr>
        <p:spPr>
          <a:xfrm>
            <a:off x="5764217" y="3295557"/>
            <a:ext cx="1674975" cy="1621745"/>
          </a:xfrm>
          <a:prstGeom prst="straightConnector1">
            <a:avLst/>
          </a:prstGeom>
          <a:ln w="19050">
            <a:solidFill>
              <a:schemeClr val="tx2">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6444309" y="4361022"/>
            <a:ext cx="563809" cy="307777"/>
          </a:xfrm>
          <a:prstGeom prst="rect">
            <a:avLst/>
          </a:prstGeom>
        </p:spPr>
        <p:txBody>
          <a:bodyPr wrap="none">
            <a:spAutoFit/>
          </a:bodyPr>
          <a:lstStyle/>
          <a:p>
            <a:r>
              <a:rPr lang="en-IN" sz="1400" b="1" dirty="0" smtClean="0"/>
              <a:t>DBFS</a:t>
            </a:r>
            <a:endParaRPr lang="en-IN" sz="1400" b="1" dirty="0"/>
          </a:p>
        </p:txBody>
      </p:sp>
    </p:spTree>
    <p:extLst>
      <p:ext uri="{BB962C8B-B14F-4D97-AF65-F5344CB8AC3E}">
        <p14:creationId xmlns:p14="http://schemas.microsoft.com/office/powerpoint/2010/main" val="13784131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descr="Software versions comparison ch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smtClean="0"/>
              <a:t>Azure Databricks – Hierarchy of resources</a:t>
            </a:r>
            <a:endParaRPr lang="en-US" sz="32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9847" y="748985"/>
            <a:ext cx="6383338" cy="560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5719036" y="4836919"/>
            <a:ext cx="2860942" cy="2991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smtClean="0"/>
              <a:t>Databricks</a:t>
            </a:r>
            <a:endParaRPr lang="en-IN" dirty="0"/>
          </a:p>
        </p:txBody>
      </p:sp>
      <p:sp>
        <p:nvSpPr>
          <p:cNvPr id="8" name="Rectangle 7"/>
          <p:cNvSpPr/>
          <p:nvPr/>
        </p:nvSpPr>
        <p:spPr>
          <a:xfrm>
            <a:off x="4897216" y="5809714"/>
            <a:ext cx="2860942" cy="2991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smtClean="0"/>
              <a:t>Databricks</a:t>
            </a:r>
            <a:r>
              <a:rPr lang="en-IN" dirty="0" smtClean="0"/>
              <a:t> - Workspace</a:t>
            </a:r>
            <a:endParaRPr lang="en-IN" dirty="0"/>
          </a:p>
        </p:txBody>
      </p:sp>
    </p:spTree>
    <p:extLst>
      <p:ext uri="{BB962C8B-B14F-4D97-AF65-F5344CB8AC3E}">
        <p14:creationId xmlns:p14="http://schemas.microsoft.com/office/powerpoint/2010/main" val="37964064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descr="Software versions comparison ch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7" name="Picture 3" descr="C:\Users\moham\Downloads\v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271" y="1789061"/>
            <a:ext cx="6056219" cy="403747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moham\Downloads\workspc.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816" y="1735434"/>
            <a:ext cx="5505653" cy="367043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smtClean="0"/>
              <a:t>Azure Databricks – Pricing Types &amp; </a:t>
            </a:r>
            <a:r>
              <a:rPr lang="en-US" sz="3200" dirty="0"/>
              <a:t>W</a:t>
            </a:r>
            <a:r>
              <a:rPr lang="en-US" sz="3200" dirty="0" smtClean="0"/>
              <a:t>orkspace </a:t>
            </a:r>
            <a:r>
              <a:rPr lang="en-US" sz="3200" dirty="0"/>
              <a:t>T</a:t>
            </a:r>
            <a:r>
              <a:rPr lang="en-US" sz="3200" dirty="0" smtClean="0"/>
              <a:t>ypes</a:t>
            </a:r>
            <a:endParaRPr lang="en-US" sz="3200" dirty="0"/>
          </a:p>
        </p:txBody>
      </p:sp>
    </p:spTree>
    <p:extLst>
      <p:ext uri="{BB962C8B-B14F-4D97-AF65-F5344CB8AC3E}">
        <p14:creationId xmlns:p14="http://schemas.microsoft.com/office/powerpoint/2010/main" val="4645982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descr="Software versions comparison ch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74" name="Picture 2" descr="C:\Users\moham\Downloads\az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300" y="225549"/>
            <a:ext cx="9626600" cy="6417734"/>
          </a:xfrm>
          <a:prstGeom prst="rect">
            <a:avLst/>
          </a:prstGeom>
          <a:noFill/>
          <a:extLst>
            <a:ext uri="{909E8E84-426E-40DD-AFC4-6F175D3DCCD1}">
              <a14:hiddenFill xmlns:a14="http://schemas.microsoft.com/office/drawing/2010/main">
                <a:solidFill>
                  <a:srgbClr val="FFFFFF"/>
                </a:solidFill>
              </a14:hiddenFill>
            </a:ext>
          </a:extLst>
        </p:spPr>
      </p:pic>
      <p:sp>
        <p:nvSpPr>
          <p:cNvPr id="2" name="Pentagon 1"/>
          <p:cNvSpPr/>
          <p:nvPr/>
        </p:nvSpPr>
        <p:spPr>
          <a:xfrm>
            <a:off x="1397000" y="2362200"/>
            <a:ext cx="397933" cy="242316"/>
          </a:xfrm>
          <a:prstGeom prst="homePlat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8" name="Pentagon 7"/>
          <p:cNvSpPr/>
          <p:nvPr/>
        </p:nvSpPr>
        <p:spPr>
          <a:xfrm>
            <a:off x="3437467" y="2393442"/>
            <a:ext cx="397933" cy="242316"/>
          </a:xfrm>
          <a:prstGeom prst="homePlat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9" name="Pentagon 8"/>
          <p:cNvSpPr/>
          <p:nvPr/>
        </p:nvSpPr>
        <p:spPr>
          <a:xfrm>
            <a:off x="3039534" y="5370491"/>
            <a:ext cx="397933" cy="242316"/>
          </a:xfrm>
          <a:prstGeom prst="homePlat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0"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smtClean="0"/>
              <a:t>Azure Databricks – Compute</a:t>
            </a:r>
            <a:endParaRPr lang="en-IN" sz="3200" dirty="0"/>
          </a:p>
          <a:p>
            <a:endParaRPr lang="en-US" sz="3200" dirty="0"/>
          </a:p>
        </p:txBody>
      </p:sp>
      <p:sp>
        <p:nvSpPr>
          <p:cNvPr id="11" name="Pentagon 10"/>
          <p:cNvSpPr/>
          <p:nvPr/>
        </p:nvSpPr>
        <p:spPr>
          <a:xfrm>
            <a:off x="6299200" y="4862490"/>
            <a:ext cx="397933" cy="242316"/>
          </a:xfrm>
          <a:prstGeom prst="homePlat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2" name="Pentagon 11"/>
          <p:cNvSpPr/>
          <p:nvPr/>
        </p:nvSpPr>
        <p:spPr>
          <a:xfrm>
            <a:off x="7179733" y="5104212"/>
            <a:ext cx="397933" cy="242316"/>
          </a:xfrm>
          <a:prstGeom prst="homePlat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3" name="Pentagon 12"/>
          <p:cNvSpPr/>
          <p:nvPr/>
        </p:nvSpPr>
        <p:spPr>
          <a:xfrm>
            <a:off x="477308" y="812800"/>
            <a:ext cx="1402292" cy="242316"/>
          </a:xfrm>
          <a:prstGeom prst="homePlat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smtClean="0"/>
              <a:t>Hybrid</a:t>
            </a:r>
            <a:endParaRPr lang="en-IN" dirty="0"/>
          </a:p>
        </p:txBody>
      </p:sp>
      <p:sp>
        <p:nvSpPr>
          <p:cNvPr id="3" name="Rectangle 2"/>
          <p:cNvSpPr/>
          <p:nvPr/>
        </p:nvSpPr>
        <p:spPr>
          <a:xfrm>
            <a:off x="914400" y="1709532"/>
            <a:ext cx="1354667" cy="1792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Buy own car</a:t>
            </a:r>
            <a:endParaRPr lang="en-IN" dirty="0">
              <a:solidFill>
                <a:schemeClr val="tx1"/>
              </a:solidFill>
            </a:endParaRPr>
          </a:p>
        </p:txBody>
      </p:sp>
      <p:sp>
        <p:nvSpPr>
          <p:cNvPr id="14" name="Rectangle 13"/>
          <p:cNvSpPr/>
          <p:nvPr/>
        </p:nvSpPr>
        <p:spPr>
          <a:xfrm>
            <a:off x="3437467" y="1709532"/>
            <a:ext cx="1354667" cy="1792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50" dirty="0" smtClean="0">
                <a:solidFill>
                  <a:schemeClr val="tx1"/>
                </a:solidFill>
              </a:rPr>
              <a:t>Self driven Rental car</a:t>
            </a:r>
            <a:endParaRPr lang="en-IN" sz="1050" dirty="0">
              <a:solidFill>
                <a:schemeClr val="tx1"/>
              </a:solidFill>
            </a:endParaRPr>
          </a:p>
        </p:txBody>
      </p:sp>
      <p:sp>
        <p:nvSpPr>
          <p:cNvPr id="15" name="Rectangle 14"/>
          <p:cNvSpPr/>
          <p:nvPr/>
        </p:nvSpPr>
        <p:spPr>
          <a:xfrm>
            <a:off x="5393266" y="1716848"/>
            <a:ext cx="1354667" cy="1792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50" dirty="0" smtClean="0">
                <a:solidFill>
                  <a:schemeClr val="tx1"/>
                </a:solidFill>
              </a:rPr>
              <a:t>Uber car booking</a:t>
            </a:r>
            <a:endParaRPr lang="en-IN" sz="1050" dirty="0">
              <a:solidFill>
                <a:schemeClr val="tx1"/>
              </a:solidFill>
            </a:endParaRPr>
          </a:p>
        </p:txBody>
      </p:sp>
      <p:pic>
        <p:nvPicPr>
          <p:cNvPr id="16" name="Picture 4" descr="C:\Users\moham\Downloads\datacenter11.jpeg"/>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Effect>
                      <a14:brightnessContrast bright="8000" contrast="16000"/>
                    </a14:imgEffect>
                  </a14:imgLayer>
                </a14:imgProps>
              </a:ext>
              <a:ext uri="{28A0092B-C50C-407E-A947-70E740481C1C}">
                <a14:useLocalDpi xmlns:a14="http://schemas.microsoft.com/office/drawing/2010/main" val="0"/>
              </a:ext>
            </a:extLst>
          </a:blip>
          <a:srcRect/>
          <a:stretch>
            <a:fillRect/>
          </a:stretch>
        </p:blipFill>
        <p:spPr bwMode="auto">
          <a:xfrm>
            <a:off x="8816814" y="1896116"/>
            <a:ext cx="1657194" cy="2620234"/>
          </a:xfrm>
          <a:prstGeom prst="rect">
            <a:avLst/>
          </a:prstGeom>
          <a:noFill/>
          <a:extLst>
            <a:ext uri="{909E8E84-426E-40DD-AFC4-6F175D3DCCD1}">
              <a14:hiddenFill xmlns:a14="http://schemas.microsoft.com/office/drawing/2010/main">
                <a:solidFill>
                  <a:srgbClr val="FFFFFF"/>
                </a:solidFill>
              </a14:hiddenFill>
            </a:ext>
          </a:extLst>
        </p:spPr>
      </p:pic>
      <p:sp>
        <p:nvSpPr>
          <p:cNvPr id="17" name="Pentagon 16"/>
          <p:cNvSpPr/>
          <p:nvPr/>
        </p:nvSpPr>
        <p:spPr>
          <a:xfrm>
            <a:off x="8816814" y="1055116"/>
            <a:ext cx="1853922" cy="945162"/>
          </a:xfrm>
          <a:prstGeom prst="homePlate">
            <a:avLst/>
          </a:prstGeom>
          <a:solidFill>
            <a:schemeClr val="tx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smtClean="0"/>
              <a:t>On </a:t>
            </a:r>
            <a:r>
              <a:rPr lang="en-IN" dirty="0" err="1" smtClean="0"/>
              <a:t>Prem</a:t>
            </a:r>
            <a:endParaRPr lang="en-IN" dirty="0" smtClean="0"/>
          </a:p>
          <a:p>
            <a:pPr algn="ctr"/>
            <a:r>
              <a:rPr lang="en-IN" dirty="0" err="1" smtClean="0"/>
              <a:t>Inceptez</a:t>
            </a:r>
            <a:endParaRPr lang="en-IN" dirty="0" smtClean="0"/>
          </a:p>
          <a:p>
            <a:pPr algn="ctr"/>
            <a:r>
              <a:rPr lang="en-IN" dirty="0" smtClean="0"/>
              <a:t>Cloudera</a:t>
            </a:r>
            <a:endParaRPr lang="en-IN" dirty="0"/>
          </a:p>
        </p:txBody>
      </p:sp>
      <p:sp>
        <p:nvSpPr>
          <p:cNvPr id="4" name="TextBox 3"/>
          <p:cNvSpPr txBox="1"/>
          <p:nvPr/>
        </p:nvSpPr>
        <p:spPr>
          <a:xfrm>
            <a:off x="10516285" y="2273181"/>
            <a:ext cx="2018501" cy="1754326"/>
          </a:xfrm>
          <a:prstGeom prst="rect">
            <a:avLst/>
          </a:prstGeom>
          <a:noFill/>
        </p:spPr>
        <p:txBody>
          <a:bodyPr wrap="none" rtlCol="0">
            <a:spAutoFit/>
          </a:bodyPr>
          <a:lstStyle/>
          <a:p>
            <a:r>
              <a:rPr lang="en-IN" sz="1200" dirty="0" smtClean="0"/>
              <a:t>Only – Fixed Nodes</a:t>
            </a:r>
          </a:p>
          <a:p>
            <a:r>
              <a:rPr lang="en-IN" sz="1200" b="1" dirty="0" smtClean="0"/>
              <a:t>Cloud Migration:</a:t>
            </a:r>
          </a:p>
          <a:p>
            <a:pPr marL="228600" indent="-228600">
              <a:buAutoNum type="arabicPeriod"/>
            </a:pPr>
            <a:r>
              <a:rPr lang="en-IN" sz="1200" b="1" dirty="0" smtClean="0"/>
              <a:t>Reservation</a:t>
            </a:r>
          </a:p>
          <a:p>
            <a:pPr marL="228600" indent="-228600">
              <a:buAutoNum type="arabicPeriod"/>
            </a:pPr>
            <a:r>
              <a:rPr lang="en-IN" sz="1200" b="1" dirty="0" smtClean="0"/>
              <a:t>Type of Cluster</a:t>
            </a:r>
          </a:p>
          <a:p>
            <a:pPr marL="228600" indent="-228600">
              <a:buAutoNum type="arabicPeriod"/>
            </a:pPr>
            <a:r>
              <a:rPr lang="en-IN" sz="1200" b="1" dirty="0" smtClean="0"/>
              <a:t>Costing model</a:t>
            </a:r>
          </a:p>
          <a:p>
            <a:pPr marL="228600" indent="-228600">
              <a:buAutoNum type="arabicPeriod"/>
            </a:pPr>
            <a:r>
              <a:rPr lang="en-IN" sz="1200" b="1" dirty="0" smtClean="0"/>
              <a:t>Resource utilization </a:t>
            </a:r>
          </a:p>
          <a:p>
            <a:r>
              <a:rPr lang="en-IN" sz="1200" b="1" dirty="0" smtClean="0"/>
              <a:t>(auto linear scaling, photon, </a:t>
            </a:r>
          </a:p>
          <a:p>
            <a:r>
              <a:rPr lang="en-IN" sz="1200" b="1" dirty="0" smtClean="0"/>
              <a:t>Fixed/dynamic computes, </a:t>
            </a:r>
          </a:p>
          <a:p>
            <a:r>
              <a:rPr lang="en-IN" sz="1200" b="1" dirty="0" smtClean="0"/>
              <a:t>auto termination)</a:t>
            </a:r>
            <a:endParaRPr lang="en-IN" sz="1200" b="1" dirty="0"/>
          </a:p>
        </p:txBody>
      </p:sp>
      <p:sp>
        <p:nvSpPr>
          <p:cNvPr id="5" name="TextBox 4"/>
          <p:cNvSpPr txBox="1"/>
          <p:nvPr/>
        </p:nvSpPr>
        <p:spPr>
          <a:xfrm>
            <a:off x="5279250" y="2099657"/>
            <a:ext cx="1566647" cy="338554"/>
          </a:xfrm>
          <a:prstGeom prst="rect">
            <a:avLst/>
          </a:prstGeom>
          <a:noFill/>
        </p:spPr>
        <p:txBody>
          <a:bodyPr wrap="none" rtlCol="0">
            <a:spAutoFit/>
          </a:bodyPr>
          <a:lstStyle/>
          <a:p>
            <a:r>
              <a:rPr lang="en-IN" sz="1600" b="1" i="1" dirty="0" smtClean="0">
                <a:solidFill>
                  <a:schemeClr val="accent1">
                    <a:lumMod val="50000"/>
                  </a:schemeClr>
                </a:solidFill>
              </a:rPr>
              <a:t>Spark </a:t>
            </a:r>
            <a:r>
              <a:rPr lang="en-IN" sz="1600" b="1" i="1" dirty="0" err="1" smtClean="0">
                <a:solidFill>
                  <a:schemeClr val="accent1">
                    <a:lumMod val="50000"/>
                  </a:schemeClr>
                </a:solidFill>
              </a:rPr>
              <a:t>Serverless</a:t>
            </a:r>
            <a:endParaRPr lang="en-IN" sz="1600" b="1" i="1" dirty="0">
              <a:solidFill>
                <a:schemeClr val="accent1">
                  <a:lumMod val="50000"/>
                </a:schemeClr>
              </a:solidFill>
            </a:endParaRPr>
          </a:p>
        </p:txBody>
      </p:sp>
    </p:spTree>
    <p:extLst>
      <p:ext uri="{BB962C8B-B14F-4D97-AF65-F5344CB8AC3E}">
        <p14:creationId xmlns:p14="http://schemas.microsoft.com/office/powerpoint/2010/main" val="7583774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entagon 3"/>
          <p:cNvSpPr/>
          <p:nvPr/>
        </p:nvSpPr>
        <p:spPr>
          <a:xfrm>
            <a:off x="155573" y="2050633"/>
            <a:ext cx="1989419" cy="242316"/>
          </a:xfrm>
          <a:prstGeom prst="homePlat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1200" dirty="0" smtClean="0"/>
              <a:t>2014 – BM – PVH 12 NODES</a:t>
            </a:r>
            <a:endParaRPr lang="en-IN" sz="1200" dirty="0"/>
          </a:p>
        </p:txBody>
      </p:sp>
      <p:sp>
        <p:nvSpPr>
          <p:cNvPr id="5" name="Pentagon 4"/>
          <p:cNvSpPr/>
          <p:nvPr/>
        </p:nvSpPr>
        <p:spPr>
          <a:xfrm>
            <a:off x="2186865" y="2037618"/>
            <a:ext cx="1989419" cy="242316"/>
          </a:xfrm>
          <a:prstGeom prst="homePlat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1200" dirty="0" smtClean="0"/>
              <a:t>2015 – BM – HW 12 NODES</a:t>
            </a:r>
            <a:endParaRPr lang="en-IN" sz="1200" dirty="0"/>
          </a:p>
        </p:txBody>
      </p:sp>
      <p:sp>
        <p:nvSpPr>
          <p:cNvPr id="6" name="Pentagon 5"/>
          <p:cNvSpPr/>
          <p:nvPr/>
        </p:nvSpPr>
        <p:spPr>
          <a:xfrm>
            <a:off x="4261506" y="2027208"/>
            <a:ext cx="1989419" cy="242316"/>
          </a:xfrm>
          <a:prstGeom prst="homePlat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1200" dirty="0" smtClean="0"/>
              <a:t>2017 – OP – CDP 20 NODES</a:t>
            </a:r>
            <a:endParaRPr lang="en-IN" sz="1200" dirty="0"/>
          </a:p>
        </p:txBody>
      </p:sp>
      <p:sp>
        <p:nvSpPr>
          <p:cNvPr id="7" name="Pentagon 6"/>
          <p:cNvSpPr/>
          <p:nvPr/>
        </p:nvSpPr>
        <p:spPr>
          <a:xfrm>
            <a:off x="6295629" y="2027208"/>
            <a:ext cx="1989419" cy="242316"/>
          </a:xfrm>
          <a:prstGeom prst="homePlat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1200" dirty="0" smtClean="0"/>
              <a:t>2018 – OP – AWS 30 NODES</a:t>
            </a:r>
            <a:endParaRPr lang="en-IN" sz="1200" dirty="0"/>
          </a:p>
        </p:txBody>
      </p:sp>
      <p:sp>
        <p:nvSpPr>
          <p:cNvPr id="8" name="Pentagon 7"/>
          <p:cNvSpPr/>
          <p:nvPr/>
        </p:nvSpPr>
        <p:spPr>
          <a:xfrm>
            <a:off x="2486412" y="2558794"/>
            <a:ext cx="1989419" cy="242316"/>
          </a:xfrm>
          <a:prstGeom prst="homePlat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1200" dirty="0" smtClean="0"/>
              <a:t>DB2/DATASTAGE/INFA/TD</a:t>
            </a:r>
            <a:endParaRPr lang="en-IN" sz="1200" dirty="0"/>
          </a:p>
        </p:txBody>
      </p:sp>
      <p:sp>
        <p:nvSpPr>
          <p:cNvPr id="9" name="Pentagon 8"/>
          <p:cNvSpPr/>
          <p:nvPr/>
        </p:nvSpPr>
        <p:spPr>
          <a:xfrm>
            <a:off x="8303336" y="2019588"/>
            <a:ext cx="1989419" cy="242316"/>
          </a:xfrm>
          <a:prstGeom prst="homePlat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1050" dirty="0" smtClean="0"/>
              <a:t>2019 – OP – 600 YAHOO GRID</a:t>
            </a:r>
            <a:endParaRPr lang="en-IN" sz="1050" dirty="0"/>
          </a:p>
        </p:txBody>
      </p:sp>
      <p:sp>
        <p:nvSpPr>
          <p:cNvPr id="10" name="Pentagon 9"/>
          <p:cNvSpPr/>
          <p:nvPr/>
        </p:nvSpPr>
        <p:spPr>
          <a:xfrm>
            <a:off x="10185618" y="1706749"/>
            <a:ext cx="1989419" cy="322523"/>
          </a:xfrm>
          <a:prstGeom prst="homePlat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1050" dirty="0" smtClean="0"/>
              <a:t>2022 – AZURE (XYZ)</a:t>
            </a:r>
          </a:p>
          <a:p>
            <a:pPr algn="ctr"/>
            <a:r>
              <a:rPr lang="en-IN" sz="1050" dirty="0" smtClean="0"/>
              <a:t>SPINCO/RETAINCO</a:t>
            </a:r>
            <a:endParaRPr lang="en-IN" sz="1050" dirty="0"/>
          </a:p>
        </p:txBody>
      </p:sp>
      <p:sp>
        <p:nvSpPr>
          <p:cNvPr id="11" name="Pentagon 10"/>
          <p:cNvSpPr/>
          <p:nvPr/>
        </p:nvSpPr>
        <p:spPr>
          <a:xfrm>
            <a:off x="10185617" y="2279934"/>
            <a:ext cx="1989419" cy="242316"/>
          </a:xfrm>
          <a:prstGeom prst="homePlat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1050" dirty="0" smtClean="0"/>
              <a:t>2021 – GCP (XYZ)</a:t>
            </a:r>
            <a:endParaRPr lang="en-IN" sz="1050" dirty="0"/>
          </a:p>
        </p:txBody>
      </p:sp>
      <p:sp>
        <p:nvSpPr>
          <p:cNvPr id="12" name="Pentagon 11"/>
          <p:cNvSpPr/>
          <p:nvPr/>
        </p:nvSpPr>
        <p:spPr>
          <a:xfrm>
            <a:off x="10185618" y="2591842"/>
            <a:ext cx="1989419" cy="242316"/>
          </a:xfrm>
          <a:prstGeom prst="homePlat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1050" dirty="0" smtClean="0"/>
              <a:t>2021 – EDL OP (1000)</a:t>
            </a:r>
            <a:endParaRPr lang="en-IN" sz="1050" dirty="0"/>
          </a:p>
        </p:txBody>
      </p:sp>
      <p:sp>
        <p:nvSpPr>
          <p:cNvPr id="13" name="Rectangle 2"/>
          <p:cNvSpPr txBox="1">
            <a:spLocks noChangeArrowheads="1"/>
          </p:cNvSpPr>
          <p:nvPr/>
        </p:nvSpPr>
        <p:spPr>
          <a:xfrm>
            <a:off x="284601" y="34430"/>
            <a:ext cx="709042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smtClean="0"/>
              <a:t>Azure Databricks – Compute</a:t>
            </a:r>
            <a:endParaRPr lang="en-US" sz="3200" dirty="0"/>
          </a:p>
        </p:txBody>
      </p:sp>
      <p:pic>
        <p:nvPicPr>
          <p:cNvPr id="14" name="Picture 4" descr="C:\Users\moham\Downloads\datacenter11.jpeg"/>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25000"/>
                    </a14:imgEffect>
                    <a14:imgEffect>
                      <a14:brightnessContrast bright="8000" contrast="16000"/>
                    </a14:imgEffect>
                  </a14:imgLayer>
                </a14:imgProps>
              </a:ext>
              <a:ext uri="{28A0092B-C50C-407E-A947-70E740481C1C}">
                <a14:useLocalDpi xmlns:a14="http://schemas.microsoft.com/office/drawing/2010/main" val="0"/>
              </a:ext>
            </a:extLst>
          </a:blip>
          <a:srcRect/>
          <a:stretch>
            <a:fillRect/>
          </a:stretch>
        </p:blipFill>
        <p:spPr bwMode="auto">
          <a:xfrm>
            <a:off x="1150282" y="4889379"/>
            <a:ext cx="1245075" cy="196862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5573" y="3595864"/>
            <a:ext cx="3475332" cy="15523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6"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29811" y="3619232"/>
            <a:ext cx="3428593" cy="15056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7" name="Rectangle 16"/>
          <p:cNvSpPr/>
          <p:nvPr/>
        </p:nvSpPr>
        <p:spPr>
          <a:xfrm>
            <a:off x="360063" y="3145362"/>
            <a:ext cx="2438809" cy="369332"/>
          </a:xfrm>
          <a:prstGeom prst="rect">
            <a:avLst/>
          </a:prstGeom>
        </p:spPr>
        <p:txBody>
          <a:bodyPr wrap="none">
            <a:spAutoFit/>
          </a:bodyPr>
          <a:lstStyle/>
          <a:p>
            <a:r>
              <a:rPr lang="en-US" b="1" u="sng" dirty="0" err="1" smtClean="0">
                <a:solidFill>
                  <a:srgbClr val="FF0000"/>
                </a:solidFill>
              </a:rPr>
              <a:t>Onprem</a:t>
            </a:r>
            <a:r>
              <a:rPr lang="en-US" b="1" u="sng" dirty="0" smtClean="0">
                <a:solidFill>
                  <a:srgbClr val="FF0000"/>
                </a:solidFill>
              </a:rPr>
              <a:t> (Private Cloud)</a:t>
            </a:r>
            <a:endParaRPr lang="en-US" b="1" u="sng" dirty="0"/>
          </a:p>
        </p:txBody>
      </p:sp>
      <p:sp>
        <p:nvSpPr>
          <p:cNvPr id="18" name="Rectangle 17"/>
          <p:cNvSpPr/>
          <p:nvPr/>
        </p:nvSpPr>
        <p:spPr>
          <a:xfrm>
            <a:off x="3630905" y="3145872"/>
            <a:ext cx="3943580" cy="369332"/>
          </a:xfrm>
          <a:prstGeom prst="rect">
            <a:avLst/>
          </a:prstGeom>
        </p:spPr>
        <p:txBody>
          <a:bodyPr wrap="none">
            <a:spAutoFit/>
          </a:bodyPr>
          <a:lstStyle/>
          <a:p>
            <a:r>
              <a:rPr lang="en-US" b="1" u="sng" dirty="0" smtClean="0">
                <a:solidFill>
                  <a:srgbClr val="FF0000"/>
                </a:solidFill>
              </a:rPr>
              <a:t>Public </a:t>
            </a:r>
            <a:r>
              <a:rPr lang="en-US" b="1" u="sng" dirty="0" smtClean="0">
                <a:solidFill>
                  <a:srgbClr val="FF0000"/>
                </a:solidFill>
              </a:rPr>
              <a:t>Cloud </a:t>
            </a:r>
            <a:r>
              <a:rPr lang="en-US" sz="1200" b="1" u="sng" dirty="0" smtClean="0">
                <a:solidFill>
                  <a:srgbClr val="FF0000"/>
                </a:solidFill>
              </a:rPr>
              <a:t>(All purpose/Job Cluster + Auto Scaling)</a:t>
            </a:r>
            <a:endParaRPr lang="en-US" sz="1200" b="1" u="sng" dirty="0"/>
          </a:p>
        </p:txBody>
      </p:sp>
      <p:pic>
        <p:nvPicPr>
          <p:cNvPr id="1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80063" y="3619232"/>
            <a:ext cx="3684595" cy="16973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20" name="Rectangle 19"/>
          <p:cNvSpPr/>
          <p:nvPr/>
        </p:nvSpPr>
        <p:spPr>
          <a:xfrm>
            <a:off x="7726885" y="3226532"/>
            <a:ext cx="2157898" cy="369332"/>
          </a:xfrm>
          <a:prstGeom prst="rect">
            <a:avLst/>
          </a:prstGeom>
        </p:spPr>
        <p:txBody>
          <a:bodyPr wrap="none">
            <a:spAutoFit/>
          </a:bodyPr>
          <a:lstStyle/>
          <a:p>
            <a:r>
              <a:rPr lang="en-US" b="1" u="sng" dirty="0" smtClean="0">
                <a:solidFill>
                  <a:srgbClr val="FF0000"/>
                </a:solidFill>
              </a:rPr>
              <a:t>Public </a:t>
            </a:r>
            <a:r>
              <a:rPr lang="en-US" b="1" u="sng" dirty="0" smtClean="0">
                <a:solidFill>
                  <a:srgbClr val="FF0000"/>
                </a:solidFill>
              </a:rPr>
              <a:t>Cloud </a:t>
            </a:r>
            <a:r>
              <a:rPr lang="en-US" sz="1200" b="1" u="sng" dirty="0" smtClean="0">
                <a:solidFill>
                  <a:srgbClr val="FF0000"/>
                </a:solidFill>
              </a:rPr>
              <a:t>(</a:t>
            </a:r>
            <a:r>
              <a:rPr lang="en-US" sz="1200" b="1" u="sng" dirty="0" err="1" smtClean="0">
                <a:solidFill>
                  <a:srgbClr val="FF0000"/>
                </a:solidFill>
              </a:rPr>
              <a:t>Serverless</a:t>
            </a:r>
            <a:r>
              <a:rPr lang="en-US" sz="1200" b="1" u="sng" dirty="0" smtClean="0">
                <a:solidFill>
                  <a:srgbClr val="FF0000"/>
                </a:solidFill>
              </a:rPr>
              <a:t>)</a:t>
            </a:r>
            <a:endParaRPr lang="en-US" sz="1200" b="1" u="sng" dirty="0"/>
          </a:p>
        </p:txBody>
      </p:sp>
    </p:spTree>
    <p:extLst>
      <p:ext uri="{BB962C8B-B14F-4D97-AF65-F5344CB8AC3E}">
        <p14:creationId xmlns:p14="http://schemas.microsoft.com/office/powerpoint/2010/main" val="11969236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010627136"/>
              </p:ext>
            </p:extLst>
          </p:nvPr>
        </p:nvGraphicFramePr>
        <p:xfrm>
          <a:off x="353054" y="381547"/>
          <a:ext cx="11452161" cy="6464471"/>
        </p:xfrm>
        <a:graphic>
          <a:graphicData uri="http://schemas.openxmlformats.org/drawingml/2006/table">
            <a:tbl>
              <a:tblPr/>
              <a:tblGrid>
                <a:gridCol w="1468243"/>
                <a:gridCol w="2510748"/>
                <a:gridCol w="2002715"/>
                <a:gridCol w="3033553"/>
                <a:gridCol w="2436902"/>
              </a:tblGrid>
              <a:tr h="324473">
                <a:tc>
                  <a:txBody>
                    <a:bodyPr/>
                    <a:lstStyle/>
                    <a:p>
                      <a:pPr algn="ctr" rtl="0" fontAlgn="ctr"/>
                      <a:r>
                        <a:rPr lang="en-IN" sz="800" b="1" i="0" u="none" strike="noStrike" dirty="0">
                          <a:solidFill>
                            <a:srgbClr val="1F1F1F"/>
                          </a:solidFill>
                          <a:effectLst/>
                          <a:latin typeface="Arial"/>
                        </a:rPr>
                        <a:t>Feature</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IN" sz="800" b="1" i="0" u="none" strike="noStrike">
                          <a:solidFill>
                            <a:srgbClr val="1F1F1F"/>
                          </a:solidFill>
                          <a:effectLst/>
                          <a:latin typeface="Arial"/>
                        </a:rPr>
                        <a:t>All-Purpose Compute</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IN" sz="800" b="1" i="0" u="none" strike="noStrike" dirty="0">
                          <a:solidFill>
                            <a:srgbClr val="1F1F1F"/>
                          </a:solidFill>
                          <a:effectLst/>
                          <a:latin typeface="Arial"/>
                        </a:rPr>
                        <a:t>Job Compute</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IN" sz="800" b="1" i="0" u="none" strike="noStrike" dirty="0" err="1">
                          <a:solidFill>
                            <a:srgbClr val="1F1F1F"/>
                          </a:solidFill>
                          <a:effectLst/>
                          <a:latin typeface="Arial"/>
                        </a:rPr>
                        <a:t>Serverless</a:t>
                      </a:r>
                      <a:r>
                        <a:rPr lang="en-IN" sz="800" b="1" i="0" u="none" strike="noStrike" dirty="0">
                          <a:solidFill>
                            <a:srgbClr val="1F1F1F"/>
                          </a:solidFill>
                          <a:effectLst/>
                          <a:latin typeface="Arial"/>
                        </a:rPr>
                        <a:t> Compute</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IN" sz="800" b="1" i="0" u="none" strike="noStrike" dirty="0">
                          <a:solidFill>
                            <a:srgbClr val="1F1F1F"/>
                          </a:solidFill>
                          <a:effectLst/>
                          <a:latin typeface="Arial"/>
                        </a:rPr>
                        <a:t>SQL </a:t>
                      </a:r>
                      <a:r>
                        <a:rPr lang="en-IN" sz="800" b="1" i="0" u="none" strike="noStrike" dirty="0" err="1">
                          <a:solidFill>
                            <a:srgbClr val="1F1F1F"/>
                          </a:solidFill>
                          <a:effectLst/>
                          <a:latin typeface="Arial"/>
                        </a:rPr>
                        <a:t>Serverless</a:t>
                      </a:r>
                      <a:r>
                        <a:rPr lang="en-IN" sz="800" b="1" i="0" u="none" strike="noStrike" dirty="0">
                          <a:solidFill>
                            <a:srgbClr val="1F1F1F"/>
                          </a:solidFill>
                          <a:effectLst/>
                          <a:latin typeface="Arial"/>
                        </a:rPr>
                        <a:t> (Warehouse)</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r>
              <a:tr h="169290">
                <a:tc>
                  <a:txBody>
                    <a:bodyPr/>
                    <a:lstStyle/>
                    <a:p>
                      <a:pPr algn="ctr" rtl="0" fontAlgn="ctr"/>
                      <a:r>
                        <a:rPr lang="en-IN" sz="800" b="1" i="0" u="none" strike="noStrike" dirty="0">
                          <a:solidFill>
                            <a:srgbClr val="C00000"/>
                          </a:solidFill>
                          <a:effectLst/>
                          <a:latin typeface="Arial"/>
                        </a:rPr>
                        <a:t>Primary Use</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0" i="0" u="none" strike="noStrike" dirty="0">
                          <a:solidFill>
                            <a:srgbClr val="000000"/>
                          </a:solidFill>
                          <a:effectLst/>
                          <a:latin typeface="Calibri"/>
                        </a:rPr>
                        <a:t>Interactive development, </a:t>
                      </a:r>
                      <a:r>
                        <a:rPr lang="en-IN" sz="800" b="0" i="0" u="none" strike="noStrike" dirty="0" smtClean="0">
                          <a:solidFill>
                            <a:srgbClr val="000000"/>
                          </a:solidFill>
                          <a:effectLst/>
                          <a:latin typeface="Calibri"/>
                        </a:rPr>
                        <a:t>notebooks, long running/continuous resource </a:t>
                      </a:r>
                      <a:r>
                        <a:rPr lang="en-IN" sz="800" b="0" i="0" u="none" strike="noStrike" dirty="0" err="1" smtClean="0">
                          <a:solidFill>
                            <a:srgbClr val="000000"/>
                          </a:solidFill>
                          <a:effectLst/>
                          <a:latin typeface="Calibri"/>
                        </a:rPr>
                        <a:t>intence</a:t>
                      </a:r>
                      <a:r>
                        <a:rPr lang="en-IN" sz="800" b="0" i="0" u="none" strike="noStrike" dirty="0" smtClean="0">
                          <a:solidFill>
                            <a:srgbClr val="000000"/>
                          </a:solidFill>
                          <a:effectLst/>
                          <a:latin typeface="Calibri"/>
                        </a:rPr>
                        <a:t> jobs</a:t>
                      </a:r>
                      <a:endParaRPr lang="en-IN" sz="800" b="0" i="0" u="none" strike="noStrike" dirty="0">
                        <a:solidFill>
                          <a:srgbClr val="000000"/>
                        </a:solidFill>
                        <a:effectLst/>
                        <a:latin typeface="Calibri"/>
                      </a:endParaRP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err="1" smtClean="0">
                          <a:solidFill>
                            <a:srgbClr val="000000"/>
                          </a:solidFill>
                          <a:effectLst/>
                          <a:latin typeface="Calibri"/>
                        </a:rPr>
                        <a:t>Ondemand</a:t>
                      </a:r>
                      <a:r>
                        <a:rPr lang="en-IN" sz="800" b="0" i="0" u="none" strike="noStrike" dirty="0" smtClean="0">
                          <a:solidFill>
                            <a:srgbClr val="000000"/>
                          </a:solidFill>
                          <a:effectLst/>
                          <a:latin typeface="Calibri"/>
                        </a:rPr>
                        <a:t> once in a while Scheduled jobs , </a:t>
                      </a:r>
                      <a:r>
                        <a:rPr lang="en-IN" sz="800" b="0" i="0" u="none" strike="noStrike" dirty="0">
                          <a:solidFill>
                            <a:srgbClr val="000000"/>
                          </a:solidFill>
                          <a:effectLst/>
                          <a:latin typeface="Calibri"/>
                        </a:rPr>
                        <a:t>pipelines</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a:rPr>
                        <a:t>Ad-hoc execution without cluster management</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BI dashboards, SQL analytics</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9290">
                <a:tc>
                  <a:txBody>
                    <a:bodyPr/>
                    <a:lstStyle/>
                    <a:p>
                      <a:pPr algn="ctr" rtl="0" fontAlgn="ctr"/>
                      <a:r>
                        <a:rPr lang="en-IN" sz="800" b="1" i="0" u="none" strike="noStrike" dirty="0" err="1" smtClean="0">
                          <a:solidFill>
                            <a:srgbClr val="C00000"/>
                          </a:solidFill>
                          <a:effectLst/>
                          <a:latin typeface="Arial"/>
                        </a:rPr>
                        <a:t>Realtime</a:t>
                      </a:r>
                      <a:r>
                        <a:rPr lang="en-IN" sz="800" b="1" i="0" u="none" strike="noStrike" baseline="0" dirty="0" smtClean="0">
                          <a:solidFill>
                            <a:srgbClr val="C00000"/>
                          </a:solidFill>
                          <a:effectLst/>
                          <a:latin typeface="Arial"/>
                        </a:rPr>
                        <a:t> </a:t>
                      </a:r>
                      <a:r>
                        <a:rPr lang="en-IN" sz="800" b="1" i="0" u="none" strike="noStrike" baseline="0" dirty="0" smtClean="0">
                          <a:solidFill>
                            <a:srgbClr val="C00000"/>
                          </a:solidFill>
                          <a:effectLst/>
                          <a:latin typeface="Arial"/>
                        </a:rPr>
                        <a:t>Scenarios</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0" i="0" u="none" strike="noStrike" dirty="0" smtClean="0">
                          <a:solidFill>
                            <a:srgbClr val="000000"/>
                          </a:solidFill>
                          <a:effectLst/>
                          <a:latin typeface="Calibri"/>
                        </a:rPr>
                        <a:t>1. All jobs running in Teradata/DB2 migrated to </a:t>
                      </a:r>
                      <a:r>
                        <a:rPr lang="en-IN" sz="800" b="0" i="0" u="none" strike="noStrike" dirty="0" err="1" smtClean="0">
                          <a:solidFill>
                            <a:srgbClr val="000000"/>
                          </a:solidFill>
                          <a:effectLst/>
                          <a:latin typeface="Calibri"/>
                        </a:rPr>
                        <a:t>Bigdata</a:t>
                      </a:r>
                      <a:r>
                        <a:rPr lang="en-IN" sz="800" b="0" i="0" u="none" strike="noStrike" dirty="0" smtClean="0">
                          <a:solidFill>
                            <a:srgbClr val="000000"/>
                          </a:solidFill>
                          <a:effectLst/>
                          <a:latin typeface="Calibri"/>
                        </a:rPr>
                        <a:t> platform.</a:t>
                      </a:r>
                    </a:p>
                    <a:p>
                      <a:pPr algn="ctr" fontAlgn="ctr"/>
                      <a:r>
                        <a:rPr lang="en-IN" sz="800" b="0" i="0" u="none" strike="noStrike" dirty="0" smtClean="0">
                          <a:solidFill>
                            <a:srgbClr val="000000"/>
                          </a:solidFill>
                          <a:effectLst/>
                          <a:latin typeface="Calibri"/>
                        </a:rPr>
                        <a:t>2. Project in </a:t>
                      </a:r>
                      <a:r>
                        <a:rPr lang="en-IN" sz="800" b="0" i="0" u="none" strike="noStrike" dirty="0" err="1" smtClean="0">
                          <a:solidFill>
                            <a:srgbClr val="000000"/>
                          </a:solidFill>
                          <a:effectLst/>
                          <a:latin typeface="Calibri"/>
                        </a:rPr>
                        <a:t>Onprem</a:t>
                      </a:r>
                      <a:r>
                        <a:rPr lang="en-IN" sz="800" b="0" i="0" u="none" strike="noStrike" dirty="0" smtClean="0">
                          <a:solidFill>
                            <a:srgbClr val="000000"/>
                          </a:solidFill>
                          <a:effectLst/>
                          <a:latin typeface="Calibri"/>
                        </a:rPr>
                        <a:t> Hadoop Cluster with Spark engine of 80 nodes , can be simply migrated to All purpose cluster of 50 nodes</a:t>
                      </a:r>
                      <a:r>
                        <a:rPr lang="en-IN" sz="800" b="0" i="0" u="none" strike="noStrike" baseline="0" dirty="0" smtClean="0">
                          <a:solidFill>
                            <a:srgbClr val="000000"/>
                          </a:solidFill>
                          <a:effectLst/>
                          <a:latin typeface="Calibri"/>
                        </a:rPr>
                        <a:t> (regular hourly/daily/streaming jobs)</a:t>
                      </a:r>
                      <a:endParaRPr lang="en-IN" sz="800" b="0" i="0" u="none" strike="noStrike" dirty="0">
                        <a:solidFill>
                          <a:srgbClr val="000000"/>
                        </a:solidFill>
                        <a:effectLst/>
                        <a:latin typeface="Calibri"/>
                      </a:endParaRP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IN" sz="800" b="0" i="0" u="none" strike="noStrike" dirty="0" smtClean="0">
                          <a:solidFill>
                            <a:srgbClr val="000000"/>
                          </a:solidFill>
                          <a:effectLst/>
                          <a:latin typeface="+mn-lt"/>
                        </a:rPr>
                        <a:t>1. Project in </a:t>
                      </a:r>
                      <a:r>
                        <a:rPr lang="en-IN" sz="800" b="0" i="0" u="none" strike="noStrike" dirty="0" err="1" smtClean="0">
                          <a:solidFill>
                            <a:srgbClr val="000000"/>
                          </a:solidFill>
                          <a:effectLst/>
                          <a:latin typeface="+mn-lt"/>
                        </a:rPr>
                        <a:t>Onprem</a:t>
                      </a:r>
                      <a:r>
                        <a:rPr lang="en-IN" sz="800" b="0" i="0" u="none" strike="noStrike" dirty="0" smtClean="0">
                          <a:solidFill>
                            <a:srgbClr val="000000"/>
                          </a:solidFill>
                          <a:effectLst/>
                          <a:latin typeface="+mn-lt"/>
                        </a:rPr>
                        <a:t> Hadoop Cluster with Spark engine </a:t>
                      </a:r>
                      <a:r>
                        <a:rPr lang="en-IN" sz="800" b="0" i="0" u="none" strike="noStrike" baseline="0" dirty="0" smtClean="0">
                          <a:solidFill>
                            <a:srgbClr val="000000"/>
                          </a:solidFill>
                          <a:effectLst/>
                          <a:latin typeface="+mn-lt"/>
                        </a:rPr>
                        <a:t>(where the variable frequency of few jobs are weekly/monthly &amp; workload is also variable use auto scaling (volume of data is variable))</a:t>
                      </a:r>
                      <a:r>
                        <a:rPr lang="en-IN" sz="800" b="0" i="0" u="none" strike="noStrike" dirty="0" smtClean="0">
                          <a:solidFill>
                            <a:srgbClr val="000000"/>
                          </a:solidFill>
                          <a:effectLst/>
                          <a:latin typeface="+mn-lt"/>
                        </a:rPr>
                        <a:t> can be simply migrated to Job compute cluster (30 nodes).</a:t>
                      </a:r>
                      <a:endParaRPr lang="en-IN" sz="800" b="0" i="0" u="none" strike="noStrike" dirty="0">
                        <a:solidFill>
                          <a:srgbClr val="000000"/>
                        </a:solidFill>
                        <a:effectLst/>
                        <a:latin typeface="Calibri"/>
                      </a:endParaRP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smtClean="0">
                          <a:solidFill>
                            <a:srgbClr val="000000"/>
                          </a:solidFill>
                          <a:effectLst/>
                          <a:latin typeface="Calibri"/>
                        </a:rPr>
                        <a:t>Identify</a:t>
                      </a:r>
                      <a:r>
                        <a:rPr lang="en-IN" sz="800" b="0" i="0" u="none" strike="noStrike" baseline="0" dirty="0" smtClean="0">
                          <a:solidFill>
                            <a:srgbClr val="000000"/>
                          </a:solidFill>
                          <a:effectLst/>
                          <a:latin typeface="Calibri"/>
                        </a:rPr>
                        <a:t> the eligible small to medium jobs that runs for a short time, to run in </a:t>
                      </a:r>
                      <a:r>
                        <a:rPr lang="en-IN" sz="800" b="0" i="0" u="none" strike="noStrike" baseline="0" dirty="0" err="1" smtClean="0">
                          <a:solidFill>
                            <a:srgbClr val="000000"/>
                          </a:solidFill>
                          <a:effectLst/>
                          <a:latin typeface="Calibri"/>
                        </a:rPr>
                        <a:t>serverless</a:t>
                      </a:r>
                      <a:r>
                        <a:rPr lang="en-IN" sz="800" b="0" i="0" u="none" strike="noStrike" baseline="0" dirty="0" smtClean="0">
                          <a:solidFill>
                            <a:srgbClr val="000000"/>
                          </a:solidFill>
                          <a:effectLst/>
                          <a:latin typeface="Calibri"/>
                        </a:rPr>
                        <a:t>, hence reduce from 50 to 30 nodes of all purpose cluster by moving 20 nodes worth of jobs to </a:t>
                      </a:r>
                      <a:r>
                        <a:rPr lang="en-IN" sz="800" b="0" i="0" u="none" strike="noStrike" baseline="0" dirty="0" err="1" smtClean="0">
                          <a:solidFill>
                            <a:srgbClr val="000000"/>
                          </a:solidFill>
                          <a:effectLst/>
                          <a:latin typeface="Calibri"/>
                        </a:rPr>
                        <a:t>serverless</a:t>
                      </a:r>
                      <a:r>
                        <a:rPr lang="en-IN" sz="800" b="0" i="0" u="none" strike="noStrike" baseline="0" dirty="0" smtClean="0">
                          <a:solidFill>
                            <a:srgbClr val="000000"/>
                          </a:solidFill>
                          <a:effectLst/>
                          <a:latin typeface="Calibri"/>
                        </a:rPr>
                        <a:t>.</a:t>
                      </a:r>
                      <a:endParaRPr lang="en-IN" sz="800" b="0" i="0" u="none" strike="noStrike" dirty="0">
                        <a:solidFill>
                          <a:srgbClr val="000000"/>
                        </a:solidFill>
                        <a:effectLst/>
                        <a:latin typeface="Calibri"/>
                      </a:endParaRP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IN" sz="800" b="0" i="0" u="none" strike="noStrike" dirty="0" smtClean="0">
                          <a:solidFill>
                            <a:srgbClr val="000000"/>
                          </a:solidFill>
                          <a:effectLst/>
                          <a:latin typeface="+mn-lt"/>
                        </a:rPr>
                        <a:t>Identify</a:t>
                      </a:r>
                      <a:r>
                        <a:rPr lang="en-IN" sz="800" b="0" i="0" u="none" strike="noStrike" baseline="0" dirty="0" smtClean="0">
                          <a:solidFill>
                            <a:srgbClr val="000000"/>
                          </a:solidFill>
                          <a:effectLst/>
                          <a:latin typeface="+mn-lt"/>
                        </a:rPr>
                        <a:t> the eligible </a:t>
                      </a:r>
                      <a:r>
                        <a:rPr lang="en-IN" sz="800" b="0" i="0" u="none" strike="noStrike" baseline="0" dirty="0" err="1" smtClean="0">
                          <a:solidFill>
                            <a:srgbClr val="000000"/>
                          </a:solidFill>
                          <a:effectLst/>
                          <a:latin typeface="+mn-lt"/>
                        </a:rPr>
                        <a:t>Adhoc</a:t>
                      </a:r>
                      <a:r>
                        <a:rPr lang="en-IN" sz="800" b="0" i="0" u="none" strike="noStrike" baseline="0" dirty="0" smtClean="0">
                          <a:solidFill>
                            <a:srgbClr val="000000"/>
                          </a:solidFill>
                          <a:effectLst/>
                          <a:latin typeface="+mn-lt"/>
                        </a:rPr>
                        <a:t>/Reporting/BI jobs that runs for a short time, to run in SQL </a:t>
                      </a:r>
                      <a:r>
                        <a:rPr lang="en-IN" sz="800" b="0" i="0" u="none" strike="noStrike" baseline="0" dirty="0" err="1" smtClean="0">
                          <a:solidFill>
                            <a:srgbClr val="000000"/>
                          </a:solidFill>
                          <a:effectLst/>
                          <a:latin typeface="+mn-lt"/>
                        </a:rPr>
                        <a:t>serverless</a:t>
                      </a:r>
                      <a:r>
                        <a:rPr lang="en-IN" sz="800" b="0" i="0" u="none" strike="noStrike" baseline="0" dirty="0" smtClean="0">
                          <a:solidFill>
                            <a:srgbClr val="000000"/>
                          </a:solidFill>
                          <a:effectLst/>
                          <a:latin typeface="+mn-lt"/>
                        </a:rPr>
                        <a:t>, hence reduce from balance 30 to 20 nodes of all purpose cluster by moving 10 nodes worth of jobs to SQL </a:t>
                      </a:r>
                      <a:r>
                        <a:rPr lang="en-IN" sz="800" b="0" i="0" u="none" strike="noStrike" baseline="0" dirty="0" err="1" smtClean="0">
                          <a:solidFill>
                            <a:srgbClr val="000000"/>
                          </a:solidFill>
                          <a:effectLst/>
                          <a:latin typeface="+mn-lt"/>
                        </a:rPr>
                        <a:t>serverless</a:t>
                      </a:r>
                      <a:r>
                        <a:rPr lang="en-IN" sz="800" b="0" i="0" u="none" strike="noStrike" baseline="0" dirty="0" smtClean="0">
                          <a:solidFill>
                            <a:srgbClr val="000000"/>
                          </a:solidFill>
                          <a:effectLst/>
                          <a:latin typeface="+mn-lt"/>
                        </a:rPr>
                        <a:t>.</a:t>
                      </a:r>
                      <a:endParaRPr lang="en-IN" sz="800" b="0" i="0" u="none" strike="noStrike" dirty="0" smtClean="0">
                        <a:solidFill>
                          <a:srgbClr val="000000"/>
                        </a:solidFill>
                        <a:effectLst/>
                        <a:latin typeface="+mn-lt"/>
                      </a:endParaRPr>
                    </a:p>
                    <a:p>
                      <a:pPr algn="ctr" fontAlgn="ctr"/>
                      <a:endParaRPr lang="en-IN" sz="800" b="0" i="0" u="none" strike="noStrike" dirty="0">
                        <a:solidFill>
                          <a:srgbClr val="000000"/>
                        </a:solidFill>
                        <a:effectLst/>
                        <a:latin typeface="Calibri"/>
                      </a:endParaRP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9290">
                <a:tc>
                  <a:txBody>
                    <a:bodyPr/>
                    <a:lstStyle/>
                    <a:p>
                      <a:pPr algn="ctr" rtl="0" fontAlgn="ctr"/>
                      <a:r>
                        <a:rPr lang="en-IN" sz="800" b="1" i="0" u="none" strike="noStrike" dirty="0">
                          <a:solidFill>
                            <a:srgbClr val="1F1F1F"/>
                          </a:solidFill>
                          <a:effectLst/>
                          <a:latin typeface="Arial"/>
                        </a:rPr>
                        <a:t>Users</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0" i="0" u="none" strike="noStrike" dirty="0">
                          <a:solidFill>
                            <a:srgbClr val="000000"/>
                          </a:solidFill>
                          <a:effectLst/>
                          <a:latin typeface="Calibri"/>
                        </a:rPr>
                        <a:t>Data Engineers, Data Scientists</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ETL pipelines</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Analysts, Engineers</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BI users, Analysts</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9290">
                <a:tc>
                  <a:txBody>
                    <a:bodyPr/>
                    <a:lstStyle/>
                    <a:p>
                      <a:pPr algn="ctr" rtl="0" fontAlgn="ctr"/>
                      <a:r>
                        <a:rPr lang="en-IN" sz="800" b="1" i="0" u="none" strike="noStrike" dirty="0" err="1">
                          <a:solidFill>
                            <a:srgbClr val="1F1F1F"/>
                          </a:solidFill>
                          <a:effectLst/>
                          <a:latin typeface="Arial"/>
                        </a:rPr>
                        <a:t>Startup</a:t>
                      </a:r>
                      <a:r>
                        <a:rPr lang="en-IN" sz="800" b="1" i="0" u="none" strike="noStrike" dirty="0">
                          <a:solidFill>
                            <a:srgbClr val="1F1F1F"/>
                          </a:solidFill>
                          <a:effectLst/>
                          <a:latin typeface="Arial"/>
                        </a:rPr>
                        <a:t> Time</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0" i="0" u="none" strike="noStrike" dirty="0">
                          <a:solidFill>
                            <a:srgbClr val="000000"/>
                          </a:solidFill>
                          <a:effectLst/>
                          <a:latin typeface="Calibri"/>
                        </a:rPr>
                        <a:t>Medium (2–5 minutes)</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Medium </a:t>
                      </a:r>
                      <a:r>
                        <a:rPr lang="en-IN" sz="800" b="0" i="0" u="none" strike="noStrike" dirty="0" smtClean="0">
                          <a:solidFill>
                            <a:srgbClr val="000000"/>
                          </a:solidFill>
                          <a:effectLst/>
                          <a:latin typeface="+mn-lt"/>
                        </a:rPr>
                        <a:t>(2–5 minutes - per </a:t>
                      </a:r>
                      <a:r>
                        <a:rPr lang="en-IN" sz="800" b="0" i="0" u="none" strike="noStrike" dirty="0">
                          <a:solidFill>
                            <a:srgbClr val="000000"/>
                          </a:solidFill>
                          <a:effectLst/>
                          <a:latin typeface="Calibri"/>
                        </a:rPr>
                        <a:t>job run)</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Very fast (near instant)</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a:solidFill>
                            <a:srgbClr val="000000"/>
                          </a:solidFill>
                          <a:effectLst/>
                          <a:latin typeface="Calibri"/>
                        </a:rPr>
                        <a:t>Very fast (near instant)</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38578">
                <a:tc>
                  <a:txBody>
                    <a:bodyPr/>
                    <a:lstStyle/>
                    <a:p>
                      <a:pPr algn="ctr" rtl="0" fontAlgn="ctr"/>
                      <a:r>
                        <a:rPr lang="en-IN" sz="800" b="1" i="0" u="none" strike="noStrike">
                          <a:solidFill>
                            <a:srgbClr val="1F1F1F"/>
                          </a:solidFill>
                          <a:effectLst/>
                          <a:latin typeface="Arial"/>
                        </a:rPr>
                        <a:t>Cluster Control</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0" i="0" u="none" strike="noStrike" dirty="0">
                          <a:solidFill>
                            <a:srgbClr val="000000"/>
                          </a:solidFill>
                          <a:effectLst/>
                          <a:latin typeface="Calibri"/>
                        </a:rPr>
                        <a:t>Full control</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Full control (ephemeral clusters)</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No control</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a:solidFill>
                            <a:srgbClr val="000000"/>
                          </a:solidFill>
                          <a:effectLst/>
                          <a:latin typeface="Calibri"/>
                        </a:rPr>
                        <a:t>No cluster access</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9290">
                <a:tc>
                  <a:txBody>
                    <a:bodyPr/>
                    <a:lstStyle/>
                    <a:p>
                      <a:pPr algn="ctr" rtl="0" fontAlgn="ctr"/>
                      <a:r>
                        <a:rPr lang="en-IN" sz="800" b="1" i="0" u="none" strike="noStrike">
                          <a:solidFill>
                            <a:srgbClr val="1F1F1F"/>
                          </a:solidFill>
                          <a:effectLst/>
                          <a:latin typeface="Arial"/>
                        </a:rPr>
                        <a:t>Instance Pools</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0" i="0" u="none" strike="noStrike" dirty="0">
                          <a:solidFill>
                            <a:srgbClr val="000000"/>
                          </a:solidFill>
                          <a:effectLst/>
                          <a:latin typeface="Calibri"/>
                        </a:rPr>
                        <a:t>Yes</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a:solidFill>
                            <a:srgbClr val="000000"/>
                          </a:solidFill>
                          <a:effectLst/>
                          <a:latin typeface="Calibri"/>
                        </a:rPr>
                        <a:t>Yes</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No</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a:solidFill>
                            <a:srgbClr val="000000"/>
                          </a:solidFill>
                          <a:effectLst/>
                          <a:latin typeface="Calibri"/>
                        </a:rPr>
                        <a:t>No</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4473">
                <a:tc>
                  <a:txBody>
                    <a:bodyPr/>
                    <a:lstStyle/>
                    <a:p>
                      <a:pPr algn="ctr" rtl="0" fontAlgn="ctr"/>
                      <a:r>
                        <a:rPr lang="en-IN" sz="800" b="1" i="0" u="none" strike="noStrike">
                          <a:solidFill>
                            <a:srgbClr val="1F1F1F"/>
                          </a:solidFill>
                          <a:effectLst/>
                          <a:latin typeface="Arial"/>
                        </a:rPr>
                        <a:t>Multi-user Support</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0" i="0" u="none" strike="noStrike" dirty="0">
                          <a:solidFill>
                            <a:srgbClr val="000000"/>
                          </a:solidFill>
                          <a:effectLst/>
                          <a:latin typeface="Calibri"/>
                        </a:rPr>
                        <a:t>Yes</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No</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Yes</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a:solidFill>
                            <a:srgbClr val="000000"/>
                          </a:solidFill>
                          <a:effectLst/>
                          <a:latin typeface="Calibri"/>
                        </a:rPr>
                        <a:t>Yes</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9290">
                <a:tc>
                  <a:txBody>
                    <a:bodyPr/>
                    <a:lstStyle/>
                    <a:p>
                      <a:pPr algn="ctr" rtl="0" fontAlgn="ctr"/>
                      <a:r>
                        <a:rPr lang="en-IN" sz="800" b="1" i="0" u="none" strike="noStrike" dirty="0">
                          <a:solidFill>
                            <a:srgbClr val="1F1F1F"/>
                          </a:solidFill>
                          <a:effectLst/>
                          <a:latin typeface="Arial"/>
                        </a:rPr>
                        <a:t>Cost Model</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1" i="0" u="none" strike="noStrike" dirty="0">
                          <a:solidFill>
                            <a:srgbClr val="000000"/>
                          </a:solidFill>
                          <a:effectLst/>
                          <a:latin typeface="Calibri"/>
                        </a:rPr>
                        <a:t>Pay for cluster uptime</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1" i="0" u="none" strike="noStrike" dirty="0">
                          <a:solidFill>
                            <a:srgbClr val="000000"/>
                          </a:solidFill>
                          <a:effectLst/>
                          <a:latin typeface="Calibri"/>
                        </a:rPr>
                        <a:t>Pay per job run</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1" i="0" u="none" strike="noStrike" dirty="0">
                          <a:solidFill>
                            <a:srgbClr val="000000"/>
                          </a:solidFill>
                          <a:effectLst/>
                          <a:latin typeface="Calibri"/>
                        </a:rPr>
                        <a:t>Pay per execution</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1" i="0" u="none" strike="noStrike" dirty="0">
                          <a:solidFill>
                            <a:srgbClr val="000000"/>
                          </a:solidFill>
                          <a:effectLst/>
                          <a:latin typeface="Calibri"/>
                        </a:rPr>
                        <a:t>Pay per query</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9290">
                <a:tc>
                  <a:txBody>
                    <a:bodyPr/>
                    <a:lstStyle/>
                    <a:p>
                      <a:pPr algn="ctr" rtl="0" fontAlgn="ctr"/>
                      <a:r>
                        <a:rPr lang="en-IN" sz="800" b="1" i="0" u="none" strike="noStrike" dirty="0">
                          <a:solidFill>
                            <a:srgbClr val="1F1F1F"/>
                          </a:solidFill>
                          <a:effectLst/>
                          <a:latin typeface="Arial"/>
                        </a:rPr>
                        <a:t>Billing Unit</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0" i="0" u="none" strike="noStrike" dirty="0">
                          <a:solidFill>
                            <a:srgbClr val="000000"/>
                          </a:solidFill>
                          <a:effectLst/>
                          <a:latin typeface="Calibri"/>
                        </a:rPr>
                        <a:t>DBU + VM uptime</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a:rPr>
                        <a:t>DBU + VM per job run</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a:solidFill>
                            <a:srgbClr val="000000"/>
                          </a:solidFill>
                          <a:effectLst/>
                          <a:latin typeface="Calibri"/>
                        </a:rPr>
                        <a:t>DBU only (serverless rate)</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a:solidFill>
                            <a:srgbClr val="000000"/>
                          </a:solidFill>
                          <a:effectLst/>
                          <a:latin typeface="Calibri"/>
                        </a:rPr>
                        <a:t>DBU per query</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38578">
                <a:tc>
                  <a:txBody>
                    <a:bodyPr/>
                    <a:lstStyle/>
                    <a:p>
                      <a:pPr algn="ctr" rtl="0" fontAlgn="ctr"/>
                      <a:r>
                        <a:rPr lang="en-IN" sz="800" b="1" i="0" u="none" strike="noStrike" dirty="0">
                          <a:solidFill>
                            <a:srgbClr val="C00000"/>
                          </a:solidFill>
                          <a:effectLst/>
                          <a:latin typeface="Arial"/>
                        </a:rPr>
                        <a:t>Idle Cost</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sz="800" b="1" i="0" u="none" strike="noStrike" dirty="0">
                          <a:solidFill>
                            <a:srgbClr val="000000"/>
                          </a:solidFill>
                          <a:effectLst/>
                          <a:latin typeface="Calibri"/>
                        </a:rPr>
                        <a:t>High</a:t>
                      </a:r>
                      <a:r>
                        <a:rPr lang="en-US" sz="800" b="0" i="0" u="none" strike="noStrike" dirty="0">
                          <a:solidFill>
                            <a:srgbClr val="000000"/>
                          </a:solidFill>
                          <a:effectLst/>
                          <a:latin typeface="Calibri"/>
                        </a:rPr>
                        <a:t> (charged even when idle)</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None (auto-terminates after job)</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None</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None</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38578">
                <a:tc>
                  <a:txBody>
                    <a:bodyPr/>
                    <a:lstStyle/>
                    <a:p>
                      <a:pPr algn="ctr" rtl="0" fontAlgn="ctr"/>
                      <a:r>
                        <a:rPr lang="en-IN" sz="800" b="1" i="0" u="none" strike="noStrike">
                          <a:solidFill>
                            <a:srgbClr val="1F1F1F"/>
                          </a:solidFill>
                          <a:effectLst/>
                          <a:latin typeface="Arial"/>
                        </a:rPr>
                        <a:t>Auto Termination</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0" i="0" u="none" strike="noStrike" dirty="0">
                          <a:solidFill>
                            <a:srgbClr val="000000"/>
                          </a:solidFill>
                          <a:effectLst/>
                          <a:latin typeface="Calibri"/>
                        </a:rPr>
                        <a:t>Manual </a:t>
                      </a:r>
                      <a:r>
                        <a:rPr lang="en-IN" sz="800" b="0" i="0" u="none" strike="noStrike" dirty="0" err="1">
                          <a:solidFill>
                            <a:srgbClr val="000000"/>
                          </a:solidFill>
                          <a:effectLst/>
                          <a:latin typeface="Calibri"/>
                        </a:rPr>
                        <a:t>config</a:t>
                      </a:r>
                      <a:r>
                        <a:rPr lang="en-IN" sz="800" b="0" i="0" u="none" strike="noStrike" dirty="0">
                          <a:solidFill>
                            <a:srgbClr val="000000"/>
                          </a:solidFill>
                          <a:effectLst/>
                          <a:latin typeface="Calibri"/>
                        </a:rPr>
                        <a:t> required</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Automatic (after job completion)</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Built-in</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a:solidFill>
                            <a:srgbClr val="000000"/>
                          </a:solidFill>
                          <a:effectLst/>
                          <a:latin typeface="Calibri"/>
                        </a:rPr>
                        <a:t>Built-in</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86708">
                <a:tc>
                  <a:txBody>
                    <a:bodyPr/>
                    <a:lstStyle/>
                    <a:p>
                      <a:pPr algn="ctr" rtl="0" fontAlgn="ctr"/>
                      <a:r>
                        <a:rPr lang="en-IN" sz="800" b="1" i="0" u="none" strike="noStrike" dirty="0">
                          <a:solidFill>
                            <a:srgbClr val="1F1F1F"/>
                          </a:solidFill>
                          <a:effectLst/>
                          <a:latin typeface="Arial"/>
                        </a:rPr>
                        <a:t>Cost Efficiency (Dev)</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0" i="0" u="none" strike="noStrike" dirty="0">
                          <a:solidFill>
                            <a:srgbClr val="000000"/>
                          </a:solidFill>
                          <a:effectLst/>
                          <a:latin typeface="Calibri"/>
                        </a:rPr>
                        <a:t>Moderate</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Low</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High</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a:solidFill>
                            <a:srgbClr val="000000"/>
                          </a:solidFill>
                          <a:effectLst/>
                          <a:latin typeface="Calibri"/>
                        </a:rPr>
                        <a:t>High (for SQL only)</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86708">
                <a:tc>
                  <a:txBody>
                    <a:bodyPr/>
                    <a:lstStyle/>
                    <a:p>
                      <a:pPr algn="ctr" rtl="0" fontAlgn="ctr"/>
                      <a:r>
                        <a:rPr lang="en-IN" sz="800" b="1" i="0" u="none" strike="noStrike">
                          <a:solidFill>
                            <a:srgbClr val="1F1F1F"/>
                          </a:solidFill>
                          <a:effectLst/>
                          <a:latin typeface="Arial"/>
                        </a:rPr>
                        <a:t>Cost Efficiency (Production)</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0" i="0" u="none" strike="noStrike" dirty="0">
                          <a:solidFill>
                            <a:srgbClr val="000000"/>
                          </a:solidFill>
                          <a:effectLst/>
                          <a:latin typeface="Calibri"/>
                        </a:rPr>
                        <a:t>Low</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High</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Moderate</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a:solidFill>
                            <a:srgbClr val="000000"/>
                          </a:solidFill>
                          <a:effectLst/>
                          <a:latin typeface="Calibri"/>
                        </a:rPr>
                        <a:t>High (BI workloads)</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4473">
                <a:tc>
                  <a:txBody>
                    <a:bodyPr/>
                    <a:lstStyle/>
                    <a:p>
                      <a:pPr algn="ctr" rtl="0" fontAlgn="ctr"/>
                      <a:r>
                        <a:rPr lang="en-IN" sz="800" b="1" i="0" u="none" strike="noStrike" dirty="0">
                          <a:solidFill>
                            <a:srgbClr val="C00000"/>
                          </a:solidFill>
                          <a:effectLst/>
                          <a:latin typeface="Arial"/>
                        </a:rPr>
                        <a:t>Best for Long </a:t>
                      </a:r>
                      <a:r>
                        <a:rPr lang="en-IN" sz="800" b="1" i="0" u="none" strike="noStrike" dirty="0" smtClean="0">
                          <a:solidFill>
                            <a:srgbClr val="C00000"/>
                          </a:solidFill>
                          <a:effectLst/>
                          <a:latin typeface="Arial"/>
                        </a:rPr>
                        <a:t>Job (hour</a:t>
                      </a:r>
                      <a:r>
                        <a:rPr lang="en-IN" sz="800" b="1" i="0" u="none" strike="noStrike" baseline="0" dirty="0" smtClean="0">
                          <a:solidFill>
                            <a:srgbClr val="C00000"/>
                          </a:solidFill>
                          <a:effectLst/>
                          <a:latin typeface="Arial"/>
                        </a:rPr>
                        <a:t> to few hours)</a:t>
                      </a:r>
                      <a:endParaRPr lang="en-IN" sz="800" b="1" i="0" u="none" strike="noStrike" dirty="0">
                        <a:solidFill>
                          <a:srgbClr val="C00000"/>
                        </a:solidFill>
                        <a:effectLst/>
                        <a:latin typeface="Arial"/>
                      </a:endParaRP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0" i="0" u="none" strike="noStrike" dirty="0">
                          <a:solidFill>
                            <a:srgbClr val="000000"/>
                          </a:solidFill>
                          <a:effectLst/>
                          <a:latin typeface="Calibri"/>
                        </a:rPr>
                        <a:t>Yes</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No</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No</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a:solidFill>
                            <a:srgbClr val="000000"/>
                          </a:solidFill>
                          <a:effectLst/>
                          <a:latin typeface="Calibri"/>
                        </a:rPr>
                        <a:t>No</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4473">
                <a:tc>
                  <a:txBody>
                    <a:bodyPr/>
                    <a:lstStyle/>
                    <a:p>
                      <a:pPr algn="ctr" rtl="0" fontAlgn="ctr"/>
                      <a:r>
                        <a:rPr lang="en-IN" sz="800" b="1" i="0" u="none" strike="noStrike" dirty="0">
                          <a:solidFill>
                            <a:srgbClr val="C00000"/>
                          </a:solidFill>
                          <a:effectLst/>
                          <a:latin typeface="Arial"/>
                        </a:rPr>
                        <a:t>Best for Short </a:t>
                      </a:r>
                      <a:r>
                        <a:rPr lang="en-IN" sz="800" b="1" i="0" u="none" strike="noStrike" dirty="0" smtClean="0">
                          <a:solidFill>
                            <a:srgbClr val="C00000"/>
                          </a:solidFill>
                          <a:effectLst/>
                          <a:latin typeface="Arial"/>
                        </a:rPr>
                        <a:t>Bursts (secs</a:t>
                      </a:r>
                      <a:r>
                        <a:rPr lang="en-IN" sz="800" b="1" i="0" u="none" strike="noStrike" baseline="0" dirty="0" smtClean="0">
                          <a:solidFill>
                            <a:srgbClr val="C00000"/>
                          </a:solidFill>
                          <a:effectLst/>
                          <a:latin typeface="Arial"/>
                        </a:rPr>
                        <a:t> to mins)</a:t>
                      </a:r>
                      <a:r>
                        <a:rPr lang="en-IN" sz="800" b="1" i="0" u="none" strike="noStrike" dirty="0" smtClean="0">
                          <a:solidFill>
                            <a:srgbClr val="C00000"/>
                          </a:solidFill>
                          <a:effectLst/>
                          <a:latin typeface="Arial"/>
                        </a:rPr>
                        <a:t> with variable data workload</a:t>
                      </a:r>
                      <a:endParaRPr lang="en-IN" sz="800" b="1" i="0" u="none" strike="noStrike" dirty="0">
                        <a:solidFill>
                          <a:srgbClr val="C00000"/>
                        </a:solidFill>
                        <a:effectLst/>
                        <a:latin typeface="Arial"/>
                      </a:endParaRP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0" i="0" u="none" strike="noStrike" dirty="0">
                          <a:solidFill>
                            <a:srgbClr val="000000"/>
                          </a:solidFill>
                          <a:effectLst/>
                          <a:latin typeface="Calibri"/>
                        </a:rPr>
                        <a:t>No</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smtClean="0">
                          <a:solidFill>
                            <a:srgbClr val="000000"/>
                          </a:solidFill>
                          <a:effectLst/>
                          <a:latin typeface="Calibri"/>
                        </a:rPr>
                        <a:t>Yes (Cluster start</a:t>
                      </a:r>
                      <a:r>
                        <a:rPr lang="en-IN" sz="800" b="0" i="0" u="none" strike="noStrike" baseline="0" dirty="0" smtClean="0">
                          <a:solidFill>
                            <a:srgbClr val="000000"/>
                          </a:solidFill>
                          <a:effectLst/>
                          <a:latin typeface="Calibri"/>
                        </a:rPr>
                        <a:t> </a:t>
                      </a:r>
                      <a:r>
                        <a:rPr lang="en-IN" sz="800" b="0" i="0" u="none" strike="noStrike" baseline="0" dirty="0" smtClean="0">
                          <a:solidFill>
                            <a:srgbClr val="000000"/>
                          </a:solidFill>
                          <a:effectLst/>
                          <a:latin typeface="Calibri"/>
                        </a:rPr>
                        <a:t>time of 2 to 3 minutes)</a:t>
                      </a:r>
                      <a:endParaRPr lang="en-IN" sz="800" b="0" i="0" u="none" strike="noStrike" dirty="0">
                        <a:solidFill>
                          <a:srgbClr val="000000"/>
                        </a:solidFill>
                        <a:effectLst/>
                        <a:latin typeface="Calibri"/>
                      </a:endParaRP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smtClean="0">
                          <a:solidFill>
                            <a:srgbClr val="000000"/>
                          </a:solidFill>
                          <a:effectLst/>
                          <a:latin typeface="Calibri"/>
                        </a:rPr>
                        <a:t>Yes (best)</a:t>
                      </a:r>
                      <a:endParaRPr lang="en-IN" sz="800" b="0" i="0" u="none" strike="noStrike" dirty="0">
                        <a:solidFill>
                          <a:srgbClr val="000000"/>
                        </a:solidFill>
                        <a:effectLst/>
                        <a:latin typeface="Calibri"/>
                      </a:endParaRP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smtClean="0">
                          <a:solidFill>
                            <a:srgbClr val="000000"/>
                          </a:solidFill>
                          <a:effectLst/>
                          <a:latin typeface="Calibri"/>
                        </a:rPr>
                        <a:t>Yes (best)</a:t>
                      </a:r>
                      <a:endParaRPr lang="en-IN" sz="800" b="0" i="0" u="none" strike="noStrike" dirty="0">
                        <a:solidFill>
                          <a:srgbClr val="000000"/>
                        </a:solidFill>
                        <a:effectLst/>
                        <a:latin typeface="Calibri"/>
                      </a:endParaRP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4473">
                <a:tc>
                  <a:txBody>
                    <a:bodyPr/>
                    <a:lstStyle/>
                    <a:p>
                      <a:pPr algn="ctr" rtl="0" fontAlgn="ctr"/>
                      <a:r>
                        <a:rPr lang="en-IN" sz="800" b="1" i="0" u="none" strike="noStrike">
                          <a:solidFill>
                            <a:srgbClr val="1F1F1F"/>
                          </a:solidFill>
                          <a:effectLst/>
                          <a:latin typeface="Arial"/>
                        </a:rPr>
                        <a:t>Cost Predictability</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0" i="0" u="none" strike="noStrike">
                          <a:solidFill>
                            <a:srgbClr val="000000"/>
                          </a:solidFill>
                          <a:effectLst/>
                          <a:latin typeface="Calibri"/>
                        </a:rPr>
                        <a:t>Medium</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a:solidFill>
                            <a:srgbClr val="000000"/>
                          </a:solidFill>
                          <a:effectLst/>
                          <a:latin typeface="Calibri"/>
                        </a:rPr>
                        <a:t>High</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a:solidFill>
                            <a:srgbClr val="000000"/>
                          </a:solidFill>
                          <a:effectLst/>
                          <a:latin typeface="Calibri"/>
                        </a:rPr>
                        <a:t>Medium (usage-based)</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a:solidFill>
                            <a:srgbClr val="000000"/>
                          </a:solidFill>
                          <a:effectLst/>
                          <a:latin typeface="Calibri"/>
                        </a:rPr>
                        <a:t>High (query-based)</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4473">
                <a:tc>
                  <a:txBody>
                    <a:bodyPr/>
                    <a:lstStyle/>
                    <a:p>
                      <a:pPr algn="ctr" rtl="0" fontAlgn="ctr"/>
                      <a:r>
                        <a:rPr lang="en-IN" sz="800" b="1" i="0" u="none" strike="noStrike" dirty="0">
                          <a:solidFill>
                            <a:srgbClr val="1F1F1F"/>
                          </a:solidFill>
                          <a:effectLst/>
                          <a:latin typeface="Arial"/>
                        </a:rPr>
                        <a:t>Scaling </a:t>
                      </a:r>
                      <a:r>
                        <a:rPr lang="en-IN" sz="800" b="1" i="0" u="none" strike="noStrike" dirty="0" err="1">
                          <a:solidFill>
                            <a:srgbClr val="1F1F1F"/>
                          </a:solidFill>
                          <a:effectLst/>
                          <a:latin typeface="Arial"/>
                        </a:rPr>
                        <a:t>Behavior</a:t>
                      </a:r>
                      <a:endParaRPr lang="en-IN" sz="800" b="1" i="0" u="none" strike="noStrike" dirty="0">
                        <a:solidFill>
                          <a:srgbClr val="1F1F1F"/>
                        </a:solidFill>
                        <a:effectLst/>
                        <a:latin typeface="Arial"/>
                      </a:endParaRP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0" i="0" u="none" strike="noStrike" dirty="0">
                          <a:solidFill>
                            <a:srgbClr val="000000"/>
                          </a:solidFill>
                          <a:effectLst/>
                          <a:latin typeface="Calibri"/>
                        </a:rPr>
                        <a:t>Manual / </a:t>
                      </a:r>
                      <a:r>
                        <a:rPr lang="en-IN" sz="800" b="0" i="0" u="none" strike="noStrike" dirty="0" err="1">
                          <a:solidFill>
                            <a:srgbClr val="000000"/>
                          </a:solidFill>
                          <a:effectLst/>
                          <a:latin typeface="Calibri"/>
                        </a:rPr>
                        <a:t>autoscale</a:t>
                      </a:r>
                      <a:endParaRPr lang="en-IN" sz="800" b="0" i="0" u="none" strike="noStrike" dirty="0">
                        <a:solidFill>
                          <a:srgbClr val="000000"/>
                        </a:solidFill>
                        <a:effectLst/>
                        <a:latin typeface="Calibri"/>
                      </a:endParaRP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Per job cluster</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Fully auto-managed</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a:solidFill>
                            <a:srgbClr val="000000"/>
                          </a:solidFill>
                          <a:effectLst/>
                          <a:latin typeface="Calibri"/>
                        </a:rPr>
                        <a:t>Fully auto-managed</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4473">
                <a:tc>
                  <a:txBody>
                    <a:bodyPr/>
                    <a:lstStyle/>
                    <a:p>
                      <a:pPr algn="ctr" rtl="0" fontAlgn="ctr"/>
                      <a:r>
                        <a:rPr lang="en-IN" sz="800" b="1" i="0" u="none" strike="noStrike">
                          <a:solidFill>
                            <a:srgbClr val="1F1F1F"/>
                          </a:solidFill>
                          <a:effectLst/>
                          <a:latin typeface="Arial"/>
                        </a:rPr>
                        <a:t>Resource Utilization</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0" i="0" u="none" strike="noStrike" dirty="0">
                          <a:solidFill>
                            <a:srgbClr val="000000"/>
                          </a:solidFill>
                          <a:effectLst/>
                          <a:latin typeface="Calibri"/>
                        </a:rPr>
                        <a:t>Often underutilized</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Optimized per job</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Highly optimized</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Highly optimized</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4473">
                <a:tc>
                  <a:txBody>
                    <a:bodyPr/>
                    <a:lstStyle/>
                    <a:p>
                      <a:pPr algn="ctr" rtl="0" fontAlgn="ctr"/>
                      <a:r>
                        <a:rPr lang="en-IN" sz="800" b="1" i="0" u="none" strike="noStrike">
                          <a:solidFill>
                            <a:srgbClr val="1F1F1F"/>
                          </a:solidFill>
                          <a:effectLst/>
                          <a:latin typeface="Arial"/>
                        </a:rPr>
                        <a:t>Optimization Effort Needed</a:t>
                      </a:r>
                    </a:p>
                  </a:txBody>
                  <a:tcPr marL="65763"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800" b="0" i="0" u="none" strike="noStrike" dirty="0">
                          <a:solidFill>
                            <a:srgbClr val="000000"/>
                          </a:solidFill>
                          <a:effectLst/>
                          <a:latin typeface="Calibri"/>
                        </a:rPr>
                        <a:t>High</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Medium</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smtClean="0">
                          <a:solidFill>
                            <a:srgbClr val="000000"/>
                          </a:solidFill>
                          <a:effectLst/>
                          <a:latin typeface="Calibri"/>
                        </a:rPr>
                        <a:t>Low (internal spark features are used automatically)</a:t>
                      </a:r>
                      <a:endParaRPr lang="en-IN" sz="800" b="0" i="0" u="none" strike="noStrike" dirty="0">
                        <a:solidFill>
                          <a:srgbClr val="000000"/>
                        </a:solidFill>
                        <a:effectLst/>
                        <a:latin typeface="Calibri"/>
                      </a:endParaRP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a:rPr>
                        <a:t>Low</a:t>
                      </a:r>
                    </a:p>
                  </a:txBody>
                  <a:tcPr marL="5480" marR="5480" marT="5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5"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smtClean="0"/>
              <a:t>Azure Databricks – </a:t>
            </a:r>
            <a:r>
              <a:rPr lang="en-US" sz="3200" dirty="0" smtClean="0"/>
              <a:t>Compute </a:t>
            </a:r>
            <a:endParaRPr lang="en-IN" sz="3200" dirty="0"/>
          </a:p>
          <a:p>
            <a:endParaRPr lang="en-US" sz="3200" dirty="0"/>
          </a:p>
        </p:txBody>
      </p:sp>
    </p:spTree>
    <p:extLst>
      <p:ext uri="{BB962C8B-B14F-4D97-AF65-F5344CB8AC3E}">
        <p14:creationId xmlns:p14="http://schemas.microsoft.com/office/powerpoint/2010/main" val="11003869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smtClean="0"/>
              <a:t>Azure Databricks – </a:t>
            </a:r>
            <a:r>
              <a:rPr lang="en-US" sz="3200" dirty="0" smtClean="0"/>
              <a:t>Compute </a:t>
            </a:r>
            <a:endParaRPr lang="en-IN" sz="3200" dirty="0"/>
          </a:p>
          <a:p>
            <a:endParaRPr lang="en-US" sz="3200" dirty="0"/>
          </a:p>
        </p:txBody>
      </p:sp>
      <p:sp>
        <p:nvSpPr>
          <p:cNvPr id="2" name="TextBox 1"/>
          <p:cNvSpPr txBox="1"/>
          <p:nvPr/>
        </p:nvSpPr>
        <p:spPr>
          <a:xfrm>
            <a:off x="284601" y="748985"/>
            <a:ext cx="10867975" cy="2031325"/>
          </a:xfrm>
          <a:prstGeom prst="rect">
            <a:avLst/>
          </a:prstGeom>
          <a:noFill/>
        </p:spPr>
        <p:txBody>
          <a:bodyPr wrap="none" rtlCol="0">
            <a:spAutoFit/>
          </a:bodyPr>
          <a:lstStyle/>
          <a:p>
            <a:r>
              <a:rPr lang="en-IN" dirty="0" smtClean="0"/>
              <a:t>Regarding Cluster Types – We may get lot of interview questions?</a:t>
            </a:r>
          </a:p>
          <a:p>
            <a:r>
              <a:rPr lang="en-IN" b="1" dirty="0" smtClean="0"/>
              <a:t>What is your daily data volume &amp; </a:t>
            </a:r>
            <a:r>
              <a:rPr lang="en-IN" b="1" dirty="0" err="1" smtClean="0"/>
              <a:t>Frequecy</a:t>
            </a:r>
            <a:r>
              <a:rPr lang="en-IN" b="1" dirty="0" smtClean="0"/>
              <a:t> ?</a:t>
            </a:r>
          </a:p>
          <a:p>
            <a:r>
              <a:rPr lang="en-IN" dirty="0" smtClean="0"/>
              <a:t>1. Talk about your volume (800 GBs to 1.2 TB), Data processing happened in APC, JC, SL</a:t>
            </a:r>
          </a:p>
          <a:p>
            <a:r>
              <a:rPr lang="en-IN" dirty="0" smtClean="0"/>
              <a:t>2. Our jobs are categorized in these 3 clusters.  Frequency is Streaming/Continuous, hourly, daily, weekly, monthly.</a:t>
            </a:r>
          </a:p>
          <a:p>
            <a:r>
              <a:rPr lang="en-IN" dirty="0" smtClean="0"/>
              <a:t>3. </a:t>
            </a:r>
            <a:r>
              <a:rPr lang="en-IN" dirty="0" err="1" smtClean="0"/>
              <a:t>Continous</a:t>
            </a:r>
            <a:r>
              <a:rPr lang="en-IN" dirty="0" smtClean="0"/>
              <a:t>, daily (regular legacy workloads) – APC</a:t>
            </a:r>
          </a:p>
          <a:p>
            <a:r>
              <a:rPr lang="en-IN" dirty="0" smtClean="0"/>
              <a:t>Weekly/Monthly/priority jobs – JC with </a:t>
            </a:r>
            <a:r>
              <a:rPr lang="en-IN" dirty="0" err="1" smtClean="0"/>
              <a:t>autoscaling</a:t>
            </a:r>
            <a:endParaRPr lang="en-IN" dirty="0" smtClean="0"/>
          </a:p>
          <a:p>
            <a:r>
              <a:rPr lang="en-IN" dirty="0" err="1" smtClean="0"/>
              <a:t>Adhoc</a:t>
            </a:r>
            <a:r>
              <a:rPr lang="en-IN" dirty="0" smtClean="0"/>
              <a:t>/Variable/priority jobs </a:t>
            </a:r>
            <a:r>
              <a:rPr lang="en-IN" dirty="0"/>
              <a:t>- </a:t>
            </a:r>
            <a:r>
              <a:rPr lang="en-IN" dirty="0" err="1" smtClean="0"/>
              <a:t>Serverless</a:t>
            </a:r>
            <a:endParaRPr lang="en-IN" dirty="0"/>
          </a:p>
        </p:txBody>
      </p:sp>
    </p:spTree>
    <p:extLst>
      <p:ext uri="{BB962C8B-B14F-4D97-AF65-F5344CB8AC3E}">
        <p14:creationId xmlns:p14="http://schemas.microsoft.com/office/powerpoint/2010/main" val="25970545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descr="Software versions comparison ch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2"/>
          <p:cNvSpPr txBox="1">
            <a:spLocks noChangeArrowheads="1"/>
          </p:cNvSpPr>
          <p:nvPr/>
        </p:nvSpPr>
        <p:spPr>
          <a:xfrm>
            <a:off x="135137" y="69598"/>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smtClean="0"/>
              <a:t>Azure Databricks – Compute Policies</a:t>
            </a:r>
            <a:endParaRPr lang="en-IN" sz="3200" dirty="0"/>
          </a:p>
          <a:p>
            <a:endParaRPr lang="en-US" sz="32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722198"/>
            <a:ext cx="11087234" cy="4922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95546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4908600" y="2698920"/>
              <a:ext cx="360" cy="360"/>
            </p14:xfrm>
          </p:contentPart>
        </mc:Choice>
        <mc:Fallback xmlns="">
          <p:pic>
            <p:nvPicPr>
              <p:cNvPr id="2" name="Ink 1"/>
              <p:cNvPicPr/>
              <p:nvPr/>
            </p:nvPicPr>
            <p:blipFill>
              <a:blip r:embed="rId5"/>
              <a:stretch>
                <a:fillRect/>
              </a:stretch>
            </p:blipFill>
            <p:spPr>
              <a:xfrm>
                <a:off x="4899240" y="2689560"/>
                <a:ext cx="19080" cy="19080"/>
              </a:xfrm>
              <a:prstGeom prst="rect">
                <a:avLst/>
              </a:prstGeom>
            </p:spPr>
          </p:pic>
        </mc:Fallback>
      </mc:AlternateContent>
      <p:pic>
        <p:nvPicPr>
          <p:cNvPr id="307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721" y="1626208"/>
            <a:ext cx="6059003" cy="39363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76" name="Picture 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510879" y="1626207"/>
            <a:ext cx="5427156" cy="46793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7" name="Rectangle 6"/>
          <p:cNvSpPr/>
          <p:nvPr/>
        </p:nvSpPr>
        <p:spPr>
          <a:xfrm>
            <a:off x="95247" y="410482"/>
            <a:ext cx="10029225" cy="800219"/>
          </a:xfrm>
          <a:prstGeom prst="rect">
            <a:avLst/>
          </a:prstGeom>
        </p:spPr>
        <p:txBody>
          <a:bodyPr wrap="square">
            <a:spAutoFit/>
          </a:bodyPr>
          <a:lstStyle/>
          <a:p>
            <a:r>
              <a:rPr lang="en-US" b="1" dirty="0"/>
              <a:t>1. Create a </a:t>
            </a:r>
            <a:r>
              <a:rPr lang="en-US" b="1" u="sng" dirty="0"/>
              <a:t>Resource  </a:t>
            </a:r>
            <a:r>
              <a:rPr lang="en-US" b="1" dirty="0"/>
              <a:t>under (Resource Group)</a:t>
            </a:r>
          </a:p>
          <a:p>
            <a:r>
              <a:rPr lang="en-US" sz="1400" b="1" dirty="0"/>
              <a:t>Once the resource group is created -&gt; Create -&gt; resource -&gt; Market place -&gt; Azure services only -&gt; search for Databricks -&gt; Click on Review &amp; Create -&gt; </a:t>
            </a:r>
            <a:r>
              <a:rPr lang="en-IN" sz="1400" b="1" dirty="0"/>
              <a:t>Validation Succeeded -&gt; Create -&gt; Wait for few minutes to launch the workspace</a:t>
            </a:r>
            <a:endParaRPr lang="cs-CZ" sz="1400" b="1" dirty="0"/>
          </a:p>
        </p:txBody>
      </p:sp>
      <p:sp>
        <p:nvSpPr>
          <p:cNvPr id="8" name="Rectangle 7"/>
          <p:cNvSpPr/>
          <p:nvPr/>
        </p:nvSpPr>
        <p:spPr>
          <a:xfrm>
            <a:off x="19050" y="9525"/>
            <a:ext cx="6819900" cy="400110"/>
          </a:xfrm>
          <a:prstGeom prst="rect">
            <a:avLst/>
          </a:prstGeom>
        </p:spPr>
        <p:txBody>
          <a:bodyPr wrap="square">
            <a:spAutoFit/>
          </a:bodyPr>
          <a:lstStyle/>
          <a:p>
            <a:r>
              <a:rPr lang="en-US" sz="2000" dirty="0">
                <a:solidFill>
                  <a:srgbClr val="C00000"/>
                </a:solidFill>
              </a:rPr>
              <a:t> </a:t>
            </a:r>
            <a:r>
              <a:rPr lang="en-US" sz="2000" b="1" dirty="0">
                <a:solidFill>
                  <a:srgbClr val="C00000"/>
                </a:solidFill>
              </a:rPr>
              <a:t>Creating Databricks resource</a:t>
            </a:r>
            <a:endParaRPr lang="en-IN" sz="2000" dirty="0">
              <a:solidFill>
                <a:srgbClr val="C00000"/>
              </a:solidFill>
            </a:endParaRPr>
          </a:p>
        </p:txBody>
      </p:sp>
      <p:sp>
        <p:nvSpPr>
          <p:cNvPr id="9" name="Heptagon 8"/>
          <p:cNvSpPr/>
          <p:nvPr/>
        </p:nvSpPr>
        <p:spPr>
          <a:xfrm>
            <a:off x="3775506" y="1412689"/>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1</a:t>
            </a:r>
            <a:endParaRPr lang="en-IN" sz="3600" b="1" dirty="0"/>
          </a:p>
        </p:txBody>
      </p:sp>
      <p:sp>
        <p:nvSpPr>
          <p:cNvPr id="10" name="Heptagon 9"/>
          <p:cNvSpPr/>
          <p:nvPr/>
        </p:nvSpPr>
        <p:spPr>
          <a:xfrm>
            <a:off x="8522442" y="1412690"/>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2</a:t>
            </a:r>
            <a:endParaRPr lang="en-IN" sz="3600" b="1" dirty="0"/>
          </a:p>
        </p:txBody>
      </p:sp>
    </p:spTree>
    <p:extLst>
      <p:ext uri="{BB962C8B-B14F-4D97-AF65-F5344CB8AC3E}">
        <p14:creationId xmlns:p14="http://schemas.microsoft.com/office/powerpoint/2010/main" val="2618487964"/>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4908600" y="2698920"/>
              <a:ext cx="360" cy="360"/>
            </p14:xfrm>
          </p:contentPart>
        </mc:Choice>
        <mc:Fallback xmlns="">
          <p:pic>
            <p:nvPicPr>
              <p:cNvPr id="2" name="Ink 1"/>
              <p:cNvPicPr/>
              <p:nvPr/>
            </p:nvPicPr>
            <p:blipFill>
              <a:blip r:embed="rId5"/>
              <a:stretch>
                <a:fillRect/>
              </a:stretch>
            </p:blipFill>
            <p:spPr>
              <a:xfrm>
                <a:off x="4899240" y="2689560"/>
                <a:ext cx="19080" cy="19080"/>
              </a:xfrm>
              <a:prstGeom prst="rect">
                <a:avLst/>
              </a:prstGeom>
            </p:spPr>
          </p:pic>
        </mc:Fallback>
      </mc:AlternateContent>
      <p:sp>
        <p:nvSpPr>
          <p:cNvPr id="8" name="Rectangle 7"/>
          <p:cNvSpPr/>
          <p:nvPr/>
        </p:nvSpPr>
        <p:spPr>
          <a:xfrm>
            <a:off x="19050" y="9525"/>
            <a:ext cx="3593726" cy="400110"/>
          </a:xfrm>
          <a:prstGeom prst="rect">
            <a:avLst/>
          </a:prstGeom>
        </p:spPr>
        <p:txBody>
          <a:bodyPr wrap="square">
            <a:spAutoFit/>
          </a:bodyPr>
          <a:lstStyle/>
          <a:p>
            <a:r>
              <a:rPr lang="en-US" sz="2000" b="1" dirty="0">
                <a:solidFill>
                  <a:srgbClr val="C00000"/>
                </a:solidFill>
              </a:rPr>
              <a:t>Create a single node cluster</a:t>
            </a:r>
            <a:endParaRPr lang="en-IN" sz="2000" b="1" dirty="0">
              <a:solidFill>
                <a:srgbClr val="C00000"/>
              </a:solidFill>
            </a:endParaRPr>
          </a:p>
        </p:txBody>
      </p:sp>
      <p:pic>
        <p:nvPicPr>
          <p:cNvPr id="819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247" y="1295659"/>
            <a:ext cx="5629946" cy="34573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819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97625" y="718259"/>
            <a:ext cx="5016500" cy="5511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0" name="Heptagon 9"/>
          <p:cNvSpPr/>
          <p:nvPr/>
        </p:nvSpPr>
        <p:spPr>
          <a:xfrm>
            <a:off x="8978677" y="428745"/>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2</a:t>
            </a:r>
            <a:endParaRPr lang="en-IN" sz="3600" b="1" dirty="0"/>
          </a:p>
        </p:txBody>
      </p:sp>
      <p:sp>
        <p:nvSpPr>
          <p:cNvPr id="3" name="Rectangle 2"/>
          <p:cNvSpPr/>
          <p:nvPr/>
        </p:nvSpPr>
        <p:spPr>
          <a:xfrm>
            <a:off x="95247" y="395093"/>
            <a:ext cx="6096000" cy="738664"/>
          </a:xfrm>
          <a:prstGeom prst="rect">
            <a:avLst/>
          </a:prstGeom>
        </p:spPr>
        <p:txBody>
          <a:bodyPr>
            <a:spAutoFit/>
          </a:bodyPr>
          <a:lstStyle/>
          <a:p>
            <a:r>
              <a:rPr lang="en-IN" sz="1400" b="1" dirty="0"/>
              <a:t>1. Choose Launch Workspace</a:t>
            </a:r>
          </a:p>
          <a:p>
            <a:r>
              <a:rPr lang="en-IN" sz="1400" b="1" dirty="0"/>
              <a:t>2. Choose Compute -&gt; All purpose Compute -&gt; Create single node -&gt; Auto terminate after 60 minutes (default 120 mins) -&gt; Create Compute</a:t>
            </a:r>
            <a:endParaRPr lang="en-IN" sz="1400" dirty="0"/>
          </a:p>
        </p:txBody>
      </p:sp>
      <p:sp>
        <p:nvSpPr>
          <p:cNvPr id="9" name="Heptagon 8"/>
          <p:cNvSpPr/>
          <p:nvPr/>
        </p:nvSpPr>
        <p:spPr>
          <a:xfrm>
            <a:off x="2183150" y="1295659"/>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1</a:t>
            </a:r>
            <a:endParaRPr lang="en-IN" sz="3600" b="1" dirty="0"/>
          </a:p>
        </p:txBody>
      </p:sp>
    </p:spTree>
    <p:extLst>
      <p:ext uri="{BB962C8B-B14F-4D97-AF65-F5344CB8AC3E}">
        <p14:creationId xmlns:p14="http://schemas.microsoft.com/office/powerpoint/2010/main" val="2839371794"/>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DD6097E-CC4E-E514-665A-B396DA860BE7}"/>
            </a:ext>
          </a:extLst>
        </p:cNvPr>
        <p:cNvGrpSpPr/>
        <p:nvPr/>
      </p:nvGrpSpPr>
      <p:grpSpPr>
        <a:xfrm>
          <a:off x="0" y="0"/>
          <a:ext cx="0" cy="0"/>
          <a:chOff x="0" y="0"/>
          <a:chExt cx="0" cy="0"/>
        </a:xfrm>
      </p:grpSpPr>
      <p:sp>
        <p:nvSpPr>
          <p:cNvPr id="34" name="Title 1">
            <a:extLst>
              <a:ext uri="{FF2B5EF4-FFF2-40B4-BE49-F238E27FC236}">
                <a16:creationId xmlns="" xmlns:a16="http://schemas.microsoft.com/office/drawing/2014/main" id="{68D52C3B-3FFF-406D-7FDE-454E7C71C6CB}"/>
              </a:ext>
            </a:extLst>
          </p:cNvPr>
          <p:cNvSpPr>
            <a:spLocks noGrp="1"/>
          </p:cNvSpPr>
          <p:nvPr>
            <p:ph type="title"/>
          </p:nvPr>
        </p:nvSpPr>
        <p:spPr>
          <a:xfrm>
            <a:off x="0" y="-17866"/>
            <a:ext cx="6777318" cy="369332"/>
          </a:xfrm>
        </p:spPr>
        <p:txBody>
          <a:bodyPr wrap="square">
            <a:spAutoFit/>
          </a:bodyPr>
          <a:lstStyle/>
          <a:p>
            <a:r>
              <a:rPr lang="en-US" sz="2000" b="1" dirty="0">
                <a:solidFill>
                  <a:srgbClr val="C00000"/>
                </a:solidFill>
                <a:latin typeface="+mn-lt"/>
                <a:ea typeface="+mn-ea"/>
                <a:cs typeface="+mn-cs"/>
              </a:rPr>
              <a:t>1. Creating DBFS Catalog &amp; Volume for source data handling</a:t>
            </a:r>
          </a:p>
        </p:txBody>
      </p:sp>
      <p:sp>
        <p:nvSpPr>
          <p:cNvPr id="8" name="Rectangle 7">
            <a:extLst>
              <a:ext uri="{FF2B5EF4-FFF2-40B4-BE49-F238E27FC236}">
                <a16:creationId xmlns="" xmlns:a16="http://schemas.microsoft.com/office/drawing/2014/main" id="{503FB65A-066E-B704-E40F-11F7E0BFE30E}"/>
              </a:ext>
            </a:extLst>
          </p:cNvPr>
          <p:cNvSpPr/>
          <p:nvPr/>
        </p:nvSpPr>
        <p:spPr>
          <a:xfrm>
            <a:off x="6714830" y="4977288"/>
            <a:ext cx="314619" cy="17317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oup 18">
            <a:extLst>
              <a:ext uri="{FF2B5EF4-FFF2-40B4-BE49-F238E27FC236}">
                <a16:creationId xmlns="" xmlns:a16="http://schemas.microsoft.com/office/drawing/2014/main" id="{0B53ABFB-7CD0-991F-C07F-B13050D177C4}"/>
              </a:ext>
            </a:extLst>
          </p:cNvPr>
          <p:cNvGrpSpPr/>
          <p:nvPr/>
        </p:nvGrpSpPr>
        <p:grpSpPr>
          <a:xfrm>
            <a:off x="238125" y="2505902"/>
            <a:ext cx="6939324" cy="3549819"/>
            <a:chOff x="180975" y="1707541"/>
            <a:chExt cx="6939324" cy="3549819"/>
          </a:xfrm>
        </p:grpSpPr>
        <p:pic>
          <p:nvPicPr>
            <p:cNvPr id="4" name="Picture 3">
              <a:extLst>
                <a:ext uri="{FF2B5EF4-FFF2-40B4-BE49-F238E27FC236}">
                  <a16:creationId xmlns="" xmlns:a16="http://schemas.microsoft.com/office/drawing/2014/main" id="{2F9DA475-304F-376E-6C59-0991840EE277}"/>
                </a:ext>
              </a:extLst>
            </p:cNvPr>
            <p:cNvPicPr>
              <a:picLocks noChangeAspect="1"/>
            </p:cNvPicPr>
            <p:nvPr/>
          </p:nvPicPr>
          <p:blipFill>
            <a:blip r:embed="rId2"/>
            <a:stretch>
              <a:fillRect/>
            </a:stretch>
          </p:blipFill>
          <p:spPr>
            <a:xfrm>
              <a:off x="180975" y="1707541"/>
              <a:ext cx="6939324" cy="3549819"/>
            </a:xfrm>
            <a:prstGeom prst="rect">
              <a:avLst/>
            </a:prstGeom>
          </p:spPr>
        </p:pic>
        <p:sp>
          <p:nvSpPr>
            <p:cNvPr id="7" name="Rectangle 6">
              <a:extLst>
                <a:ext uri="{FF2B5EF4-FFF2-40B4-BE49-F238E27FC236}">
                  <a16:creationId xmlns="" xmlns:a16="http://schemas.microsoft.com/office/drawing/2014/main" id="{C38675D9-A1C2-1C21-5424-E879C29CE67F}"/>
                </a:ext>
              </a:extLst>
            </p:cNvPr>
            <p:cNvSpPr/>
            <p:nvPr/>
          </p:nvSpPr>
          <p:spPr>
            <a:xfrm>
              <a:off x="3634306" y="1874703"/>
              <a:ext cx="179882" cy="21299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 xmlns:a16="http://schemas.microsoft.com/office/drawing/2014/main" id="{BAC573C4-9DA0-4674-AD50-281DF590CDF9}"/>
                </a:ext>
              </a:extLst>
            </p:cNvPr>
            <p:cNvSpPr/>
            <p:nvPr/>
          </p:nvSpPr>
          <p:spPr>
            <a:xfrm>
              <a:off x="4124030" y="3455010"/>
              <a:ext cx="724195" cy="3359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3E00D030-F654-BA76-E352-7D630B907F5F}"/>
                </a:ext>
              </a:extLst>
            </p:cNvPr>
            <p:cNvSpPr/>
            <p:nvPr/>
          </p:nvSpPr>
          <p:spPr>
            <a:xfrm>
              <a:off x="180975" y="2407260"/>
              <a:ext cx="724195" cy="15496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 name="TextBox 17">
            <a:extLst>
              <a:ext uri="{FF2B5EF4-FFF2-40B4-BE49-F238E27FC236}">
                <a16:creationId xmlns="" xmlns:a16="http://schemas.microsoft.com/office/drawing/2014/main" id="{5F350A2E-5DCA-D794-7C13-9AF5501E0F60}"/>
              </a:ext>
            </a:extLst>
          </p:cNvPr>
          <p:cNvSpPr txBox="1"/>
          <p:nvPr/>
        </p:nvSpPr>
        <p:spPr>
          <a:xfrm>
            <a:off x="114300" y="351466"/>
            <a:ext cx="5170070" cy="2154436"/>
          </a:xfrm>
          <a:prstGeom prst="rect">
            <a:avLst/>
          </a:prstGeom>
          <a:noFill/>
        </p:spPr>
        <p:txBody>
          <a:bodyPr wrap="none" rtlCol="0">
            <a:spAutoFit/>
          </a:bodyPr>
          <a:lstStyle/>
          <a:p>
            <a:pPr marL="342900" indent="-342900">
              <a:buAutoNum type="arabicPeriod"/>
            </a:pPr>
            <a:r>
              <a:rPr lang="en-US" sz="1400" b="1" dirty="0"/>
              <a:t>Create a Catalog</a:t>
            </a:r>
          </a:p>
          <a:p>
            <a:pPr marL="800100" lvl="1" indent="-342900">
              <a:buAutoNum type="arabicPeriod"/>
            </a:pPr>
            <a:r>
              <a:rPr lang="en-US" sz="1400" b="1" dirty="0"/>
              <a:t>Click on Catalog</a:t>
            </a:r>
          </a:p>
          <a:p>
            <a:pPr marL="800100" lvl="1" indent="-342900">
              <a:buAutoNum type="arabicPeriod"/>
            </a:pPr>
            <a:r>
              <a:rPr lang="en-US" sz="1400" b="1" dirty="0"/>
              <a:t>Click the + button</a:t>
            </a:r>
          </a:p>
          <a:p>
            <a:pPr marL="800100" lvl="1" indent="-342900">
              <a:buAutoNum type="arabicPeriod"/>
            </a:pPr>
            <a:r>
              <a:rPr lang="en-US" sz="1400" b="1" dirty="0"/>
              <a:t>Mention the catalog name as </a:t>
            </a:r>
            <a:r>
              <a:rPr lang="en-US" sz="1400" b="1" dirty="0" err="1"/>
              <a:t>inceptezcatalog</a:t>
            </a:r>
            <a:endParaRPr lang="en-US" sz="1400" b="1" dirty="0"/>
          </a:p>
          <a:p>
            <a:pPr marL="800100" lvl="1" indent="-342900">
              <a:buAutoNum type="arabicPeriod"/>
            </a:pPr>
            <a:r>
              <a:rPr lang="en-US" sz="1400" b="1" dirty="0"/>
              <a:t>Click Create</a:t>
            </a:r>
          </a:p>
          <a:p>
            <a:pPr marL="342900" indent="-342900">
              <a:buAutoNum type="arabicPeriod"/>
            </a:pPr>
            <a:r>
              <a:rPr lang="en-US" sz="1400" b="1" dirty="0"/>
              <a:t>Create a Volume running the below command in the notebook</a:t>
            </a:r>
          </a:p>
          <a:p>
            <a:r>
              <a:rPr lang="en-US" sz="1100" dirty="0">
                <a:solidFill>
                  <a:schemeClr val="accent1"/>
                </a:solidFill>
              </a:rPr>
              <a:t>%</a:t>
            </a:r>
            <a:r>
              <a:rPr lang="en-US" sz="1100" dirty="0" err="1">
                <a:solidFill>
                  <a:schemeClr val="accent1"/>
                </a:solidFill>
              </a:rPr>
              <a:t>sql</a:t>
            </a:r>
            <a:endParaRPr lang="en-US" sz="1100" dirty="0">
              <a:solidFill>
                <a:schemeClr val="accent1"/>
              </a:solidFill>
            </a:endParaRPr>
          </a:p>
          <a:p>
            <a:r>
              <a:rPr lang="en-US" sz="1100" dirty="0">
                <a:solidFill>
                  <a:schemeClr val="accent1"/>
                </a:solidFill>
              </a:rPr>
              <a:t>CREATE VOLUME IF NOT EXISTS </a:t>
            </a:r>
            <a:r>
              <a:rPr lang="en-US" sz="1100" dirty="0" err="1">
                <a:solidFill>
                  <a:schemeClr val="accent1"/>
                </a:solidFill>
              </a:rPr>
              <a:t>inceptezcatalog.default.izdatavolume</a:t>
            </a:r>
            <a:endParaRPr lang="en-US" sz="1100" dirty="0">
              <a:solidFill>
                <a:schemeClr val="accent1"/>
              </a:solidFill>
            </a:endParaRPr>
          </a:p>
          <a:p>
            <a:r>
              <a:rPr lang="en-US" sz="1100" dirty="0">
                <a:solidFill>
                  <a:schemeClr val="accent1"/>
                </a:solidFill>
              </a:rPr>
              <a:t>COMMENT 'Managed volume for </a:t>
            </a:r>
            <a:r>
              <a:rPr lang="en-US" sz="1100" dirty="0" err="1">
                <a:solidFill>
                  <a:schemeClr val="accent1"/>
                </a:solidFill>
              </a:rPr>
              <a:t>izdatavolume</a:t>
            </a:r>
            <a:r>
              <a:rPr lang="en-US" sz="1100" dirty="0">
                <a:solidFill>
                  <a:schemeClr val="accent1"/>
                </a:solidFill>
              </a:rPr>
              <a:t>';</a:t>
            </a:r>
            <a:endParaRPr lang="en-US" dirty="0">
              <a:solidFill>
                <a:schemeClr val="accent1"/>
              </a:solidFill>
            </a:endParaRPr>
          </a:p>
          <a:p>
            <a:endParaRPr lang="en-US" sz="1400" b="1" dirty="0"/>
          </a:p>
        </p:txBody>
      </p:sp>
    </p:spTree>
    <p:extLst>
      <p:ext uri="{BB962C8B-B14F-4D97-AF65-F5344CB8AC3E}">
        <p14:creationId xmlns:p14="http://schemas.microsoft.com/office/powerpoint/2010/main" val="42527283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602CAAA-BAAC-30B1-61F0-50FF50F3C0A5}"/>
            </a:ext>
          </a:extLst>
        </p:cNvPr>
        <p:cNvGrpSpPr/>
        <p:nvPr/>
      </p:nvGrpSpPr>
      <p:grpSpPr>
        <a:xfrm>
          <a:off x="0" y="0"/>
          <a:ext cx="0" cy="0"/>
          <a:chOff x="0" y="0"/>
          <a:chExt cx="0" cy="0"/>
        </a:xfrm>
      </p:grpSpPr>
      <p:sp>
        <p:nvSpPr>
          <p:cNvPr id="34" name="Title 1">
            <a:extLst>
              <a:ext uri="{FF2B5EF4-FFF2-40B4-BE49-F238E27FC236}">
                <a16:creationId xmlns="" xmlns:a16="http://schemas.microsoft.com/office/drawing/2014/main" id="{392581C3-29E8-372F-D2F5-9B441A8542AC}"/>
              </a:ext>
            </a:extLst>
          </p:cNvPr>
          <p:cNvSpPr>
            <a:spLocks noGrp="1"/>
          </p:cNvSpPr>
          <p:nvPr>
            <p:ph type="title"/>
          </p:nvPr>
        </p:nvSpPr>
        <p:spPr>
          <a:xfrm>
            <a:off x="0" y="-17866"/>
            <a:ext cx="9982200" cy="369332"/>
          </a:xfrm>
        </p:spPr>
        <p:txBody>
          <a:bodyPr wrap="square">
            <a:spAutoFit/>
          </a:bodyPr>
          <a:lstStyle/>
          <a:p>
            <a:r>
              <a:rPr lang="en-US" sz="2000" b="1" dirty="0">
                <a:solidFill>
                  <a:srgbClr val="C00000"/>
                </a:solidFill>
                <a:latin typeface="+mn-lt"/>
                <a:ea typeface="+mn-ea"/>
                <a:cs typeface="+mn-cs"/>
              </a:rPr>
              <a:t>2. Upload sample data into Databricks DBFS Volume created in the previous slide</a:t>
            </a:r>
          </a:p>
        </p:txBody>
      </p:sp>
      <p:sp>
        <p:nvSpPr>
          <p:cNvPr id="2" name="TextBox 1">
            <a:extLst>
              <a:ext uri="{FF2B5EF4-FFF2-40B4-BE49-F238E27FC236}">
                <a16:creationId xmlns="" xmlns:a16="http://schemas.microsoft.com/office/drawing/2014/main" id="{A1F03A93-96CA-93A1-C0D9-3A0614EC0F91}"/>
              </a:ext>
            </a:extLst>
          </p:cNvPr>
          <p:cNvSpPr txBox="1"/>
          <p:nvPr/>
        </p:nvSpPr>
        <p:spPr>
          <a:xfrm>
            <a:off x="180975" y="552450"/>
            <a:ext cx="11791950" cy="954107"/>
          </a:xfrm>
          <a:prstGeom prst="rect">
            <a:avLst/>
          </a:prstGeom>
          <a:noFill/>
        </p:spPr>
        <p:txBody>
          <a:bodyPr wrap="square" rtlCol="0">
            <a:spAutoFit/>
          </a:bodyPr>
          <a:lstStyle/>
          <a:p>
            <a:r>
              <a:rPr lang="en-US" sz="1400" b="1" u="sng" dirty="0"/>
              <a:t>Create a </a:t>
            </a:r>
            <a:r>
              <a:rPr lang="en-US" sz="1400" b="1" u="sng" dirty="0" err="1"/>
              <a:t>dbfs</a:t>
            </a:r>
            <a:r>
              <a:rPr lang="en-US" sz="1400" b="1" u="sng" dirty="0"/>
              <a:t> Volume (Drive) (using magic command) and upload custsmodified.csv into it using upload option as given below. </a:t>
            </a:r>
          </a:p>
          <a:p>
            <a:r>
              <a:rPr lang="en-US" sz="1400" dirty="0"/>
              <a:t>Goto left top corner -&gt; Click New -&gt; Add or Upload Data -&gt; Upload files to volume -&gt; Click below All Catalogs -&gt; </a:t>
            </a:r>
          </a:p>
          <a:p>
            <a:r>
              <a:rPr lang="en-US" sz="1400" dirty="0"/>
              <a:t>Choose your </a:t>
            </a:r>
            <a:r>
              <a:rPr lang="en-US" sz="1400" dirty="0" err="1"/>
              <a:t>databricks</a:t>
            </a:r>
            <a:r>
              <a:rPr lang="en-US" sz="1400" dirty="0"/>
              <a:t> catalog and volume created in the previous slide (/Volumes/</a:t>
            </a:r>
            <a:r>
              <a:rPr lang="en-US" sz="1400" dirty="0" err="1"/>
              <a:t>inceptezcatalog</a:t>
            </a:r>
            <a:r>
              <a:rPr lang="en-US" sz="1400" dirty="0"/>
              <a:t>/default/</a:t>
            </a:r>
            <a:r>
              <a:rPr lang="en-US" sz="1400" dirty="0" err="1"/>
              <a:t>izdatavolume</a:t>
            </a:r>
            <a:r>
              <a:rPr lang="en-US" sz="1400" dirty="0"/>
              <a:t>/) -&gt;  click upload file (Refer the below image) </a:t>
            </a:r>
          </a:p>
        </p:txBody>
      </p:sp>
      <p:grpSp>
        <p:nvGrpSpPr>
          <p:cNvPr id="16" name="Group 15">
            <a:extLst>
              <a:ext uri="{FF2B5EF4-FFF2-40B4-BE49-F238E27FC236}">
                <a16:creationId xmlns="" xmlns:a16="http://schemas.microsoft.com/office/drawing/2014/main" id="{1D9F1066-0A64-60E7-5564-AA41CEDF25C8}"/>
              </a:ext>
            </a:extLst>
          </p:cNvPr>
          <p:cNvGrpSpPr/>
          <p:nvPr/>
        </p:nvGrpSpPr>
        <p:grpSpPr>
          <a:xfrm>
            <a:off x="180975" y="1734446"/>
            <a:ext cx="6907053" cy="4153601"/>
            <a:chOff x="106116" y="1707541"/>
            <a:chExt cx="6907053" cy="4153601"/>
          </a:xfrm>
        </p:grpSpPr>
        <p:pic>
          <p:nvPicPr>
            <p:cNvPr id="5" name="Picture 4">
              <a:extLst>
                <a:ext uri="{FF2B5EF4-FFF2-40B4-BE49-F238E27FC236}">
                  <a16:creationId xmlns="" xmlns:a16="http://schemas.microsoft.com/office/drawing/2014/main" id="{9DAB88BD-DD7C-5CC0-C3B6-E4E4E06CC014}"/>
                </a:ext>
              </a:extLst>
            </p:cNvPr>
            <p:cNvPicPr>
              <a:picLocks noChangeAspect="1"/>
            </p:cNvPicPr>
            <p:nvPr/>
          </p:nvPicPr>
          <p:blipFill>
            <a:blip r:embed="rId2"/>
            <a:stretch>
              <a:fillRect/>
            </a:stretch>
          </p:blipFill>
          <p:spPr>
            <a:xfrm>
              <a:off x="106116" y="1707541"/>
              <a:ext cx="6907053" cy="41536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a:extLst>
                <a:ext uri="{FF2B5EF4-FFF2-40B4-BE49-F238E27FC236}">
                  <a16:creationId xmlns="" xmlns:a16="http://schemas.microsoft.com/office/drawing/2014/main" id="{BAD9EFE0-FDF3-E61A-FE72-6AC6A5B5966C}"/>
                </a:ext>
              </a:extLst>
            </p:cNvPr>
            <p:cNvSpPr/>
            <p:nvPr/>
          </p:nvSpPr>
          <p:spPr>
            <a:xfrm>
              <a:off x="2410358" y="3429000"/>
              <a:ext cx="751409" cy="55245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 xmlns:a16="http://schemas.microsoft.com/office/drawing/2014/main" id="{D5D6F955-1031-07C4-C711-E9FEFCC778CC}"/>
                </a:ext>
              </a:extLst>
            </p:cNvPr>
            <p:cNvSpPr/>
            <p:nvPr/>
          </p:nvSpPr>
          <p:spPr>
            <a:xfrm>
              <a:off x="3629558" y="3221285"/>
              <a:ext cx="751409" cy="37733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 xmlns:a16="http://schemas.microsoft.com/office/drawing/2014/main" id="{AF96102A-5A70-561D-2A9C-5138E237A5DB}"/>
                </a:ext>
              </a:extLst>
            </p:cNvPr>
            <p:cNvSpPr/>
            <p:nvPr/>
          </p:nvSpPr>
          <p:spPr>
            <a:xfrm>
              <a:off x="5856590" y="4454178"/>
              <a:ext cx="564545" cy="31184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 xmlns:a16="http://schemas.microsoft.com/office/drawing/2014/main" id="{42659A33-54FB-0D47-C9E4-A22D2CB7F9AF}"/>
              </a:ext>
            </a:extLst>
          </p:cNvPr>
          <p:cNvGrpSpPr/>
          <p:nvPr/>
        </p:nvGrpSpPr>
        <p:grpSpPr>
          <a:xfrm>
            <a:off x="3161767" y="2074853"/>
            <a:ext cx="5072805" cy="3813194"/>
            <a:chOff x="7068944" y="1877744"/>
            <a:chExt cx="5072805" cy="3813194"/>
          </a:xfrm>
        </p:grpSpPr>
        <p:pic>
          <p:nvPicPr>
            <p:cNvPr id="13" name="Picture 12">
              <a:extLst>
                <a:ext uri="{FF2B5EF4-FFF2-40B4-BE49-F238E27FC236}">
                  <a16:creationId xmlns="" xmlns:a16="http://schemas.microsoft.com/office/drawing/2014/main" id="{164A35AC-836A-342F-7CE6-AE882FE75ABC}"/>
                </a:ext>
              </a:extLst>
            </p:cNvPr>
            <p:cNvPicPr>
              <a:picLocks noChangeAspect="1"/>
            </p:cNvPicPr>
            <p:nvPr/>
          </p:nvPicPr>
          <p:blipFill>
            <a:blip r:embed="rId3"/>
            <a:stretch>
              <a:fillRect/>
            </a:stretch>
          </p:blipFill>
          <p:spPr>
            <a:xfrm>
              <a:off x="7068944" y="1877744"/>
              <a:ext cx="5072805" cy="38131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4" name="Rectangle 13">
              <a:extLst>
                <a:ext uri="{FF2B5EF4-FFF2-40B4-BE49-F238E27FC236}">
                  <a16:creationId xmlns="" xmlns:a16="http://schemas.microsoft.com/office/drawing/2014/main" id="{456378CF-414F-CA18-41E9-CA33900864B4}"/>
                </a:ext>
              </a:extLst>
            </p:cNvPr>
            <p:cNvSpPr/>
            <p:nvPr/>
          </p:nvSpPr>
          <p:spPr>
            <a:xfrm>
              <a:off x="10448610" y="4745406"/>
              <a:ext cx="621000" cy="1936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 xmlns:a16="http://schemas.microsoft.com/office/drawing/2014/main" id="{09360E06-CABB-C51E-B572-02BC0064F8B6}"/>
                </a:ext>
              </a:extLst>
            </p:cNvPr>
            <p:cNvSpPr/>
            <p:nvPr/>
          </p:nvSpPr>
          <p:spPr>
            <a:xfrm>
              <a:off x="10785160" y="5421681"/>
              <a:ext cx="424151" cy="1936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7805490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1"/>
          <p:cNvSpPr>
            <a:spLocks noGrp="1"/>
          </p:cNvSpPr>
          <p:nvPr>
            <p:ph type="title"/>
          </p:nvPr>
        </p:nvSpPr>
        <p:spPr>
          <a:xfrm>
            <a:off x="0" y="-17866"/>
            <a:ext cx="6777318" cy="369332"/>
          </a:xfrm>
        </p:spPr>
        <p:txBody>
          <a:bodyPr wrap="square">
            <a:spAutoFit/>
          </a:bodyPr>
          <a:lstStyle/>
          <a:p>
            <a:r>
              <a:rPr lang="en-US" sz="2000" b="1" dirty="0">
                <a:solidFill>
                  <a:srgbClr val="C00000"/>
                </a:solidFill>
                <a:latin typeface="+mn-lt"/>
                <a:ea typeface="+mn-ea"/>
                <a:cs typeface="+mn-cs"/>
              </a:rPr>
              <a:t>Cluster Configurations (Compute -&gt; New Compute)</a:t>
            </a:r>
          </a:p>
        </p:txBody>
      </p:sp>
      <p:grpSp>
        <p:nvGrpSpPr>
          <p:cNvPr id="3" name="Group 2"/>
          <p:cNvGrpSpPr/>
          <p:nvPr/>
        </p:nvGrpSpPr>
        <p:grpSpPr>
          <a:xfrm>
            <a:off x="485705" y="457201"/>
            <a:ext cx="11347707" cy="5949786"/>
            <a:chOff x="485705" y="457201"/>
            <a:chExt cx="11347707" cy="5949786"/>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705" y="1299792"/>
              <a:ext cx="6681575" cy="5107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ular Callout 1"/>
            <p:cNvSpPr/>
            <p:nvPr/>
          </p:nvSpPr>
          <p:spPr>
            <a:xfrm>
              <a:off x="4925640" y="457201"/>
              <a:ext cx="5580996" cy="935377"/>
            </a:xfrm>
            <a:prstGeom prst="wedgeRectCallout">
              <a:avLst>
                <a:gd name="adj1" fmla="val -64144"/>
                <a:gd name="adj2" fmla="val 18756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base">
                <a:spcBef>
                  <a:spcPct val="0"/>
                </a:spcBef>
                <a:spcAft>
                  <a:spcPct val="0"/>
                </a:spcAft>
              </a:pPr>
              <a:r>
                <a:rPr lang="en-US" altLang="en-US" sz="800" b="1" u="sng" dirty="0">
                  <a:solidFill>
                    <a:schemeClr val="accent2">
                      <a:lumMod val="75000"/>
                    </a:schemeClr>
                  </a:solidFill>
                  <a:cs typeface="Arial" charset="0"/>
                </a:rPr>
                <a:t>Policy</a:t>
              </a:r>
            </a:p>
            <a:p>
              <a:pPr lvl="0" fontAlgn="base">
                <a:spcBef>
                  <a:spcPct val="0"/>
                </a:spcBef>
                <a:spcAft>
                  <a:spcPct val="0"/>
                </a:spcAft>
                <a:buFontTx/>
                <a:buChar char="•"/>
              </a:pPr>
              <a:r>
                <a:rPr lang="en-US" altLang="en-US" sz="800" b="1" dirty="0">
                  <a:solidFill>
                    <a:schemeClr val="accent2">
                      <a:lumMod val="75000"/>
                    </a:schemeClr>
                  </a:solidFill>
                  <a:cs typeface="Arial" charset="0"/>
                </a:rPr>
                <a:t>Unrestricted</a:t>
              </a:r>
              <a:r>
                <a:rPr lang="en-US" altLang="en-US" sz="800" dirty="0">
                  <a:solidFill>
                    <a:schemeClr val="accent2">
                      <a:lumMod val="75000"/>
                    </a:schemeClr>
                  </a:solidFill>
                  <a:cs typeface="Arial" charset="0"/>
                </a:rPr>
                <a:t>: Shared cluster with no restrictions, where all users share the same credentials and have full access to resources and data.</a:t>
              </a:r>
              <a:endParaRPr lang="en-US" altLang="en-US" sz="800" b="1" dirty="0">
                <a:solidFill>
                  <a:schemeClr val="accent2">
                    <a:lumMod val="75000"/>
                  </a:schemeClr>
                </a:solidFill>
                <a:cs typeface="Arial" charset="0"/>
              </a:endParaRPr>
            </a:p>
            <a:p>
              <a:pPr lvl="0" fontAlgn="base">
                <a:spcBef>
                  <a:spcPct val="0"/>
                </a:spcBef>
                <a:spcAft>
                  <a:spcPct val="0"/>
                </a:spcAft>
                <a:buFontTx/>
                <a:buChar char="•"/>
              </a:pPr>
              <a:r>
                <a:rPr lang="en-US" altLang="en-US" sz="800" b="1" dirty="0">
                  <a:solidFill>
                    <a:schemeClr val="accent2">
                      <a:lumMod val="75000"/>
                    </a:schemeClr>
                  </a:solidFill>
                  <a:cs typeface="Arial" charset="0"/>
                </a:rPr>
                <a:t>Personal Compute</a:t>
              </a:r>
              <a:r>
                <a:rPr lang="en-US" altLang="en-US" sz="800" dirty="0">
                  <a:solidFill>
                    <a:schemeClr val="accent2">
                      <a:lumMod val="75000"/>
                    </a:schemeClr>
                  </a:solidFill>
                  <a:cs typeface="Arial" charset="0"/>
                </a:rPr>
                <a:t>: Single user - providing full control &amp; isolation.</a:t>
              </a:r>
            </a:p>
            <a:p>
              <a:pPr lvl="0" eaLnBrk="0" fontAlgn="base" hangingPunct="0">
                <a:spcBef>
                  <a:spcPct val="0"/>
                </a:spcBef>
                <a:spcAft>
                  <a:spcPct val="0"/>
                </a:spcAft>
                <a:buFontTx/>
                <a:buChar char="•"/>
              </a:pPr>
              <a:r>
                <a:rPr lang="en-US" altLang="en-US" sz="800" b="1" dirty="0">
                  <a:solidFill>
                    <a:schemeClr val="accent2">
                      <a:lumMod val="75000"/>
                    </a:schemeClr>
                  </a:solidFill>
                  <a:cs typeface="Arial" charset="0"/>
                </a:rPr>
                <a:t>Power User Compute</a:t>
              </a:r>
              <a:r>
                <a:rPr lang="en-US" altLang="en-US" sz="800" dirty="0">
                  <a:solidFill>
                    <a:schemeClr val="accent2">
                      <a:lumMod val="75000"/>
                    </a:schemeClr>
                  </a:solidFill>
                  <a:cs typeface="Arial" charset="0"/>
                </a:rPr>
                <a:t>: Advanced users - custom configurations and elevated permissions with multi node cluster access.</a:t>
              </a:r>
            </a:p>
            <a:p>
              <a:pPr lvl="0" eaLnBrk="0" fontAlgn="base" hangingPunct="0">
                <a:spcBef>
                  <a:spcPct val="0"/>
                </a:spcBef>
                <a:spcAft>
                  <a:spcPct val="0"/>
                </a:spcAft>
                <a:buFontTx/>
                <a:buChar char="•"/>
              </a:pPr>
              <a:r>
                <a:rPr lang="en-US" altLang="en-US" sz="800" b="1" dirty="0">
                  <a:solidFill>
                    <a:schemeClr val="accent2">
                      <a:lumMod val="75000"/>
                    </a:schemeClr>
                  </a:solidFill>
                  <a:cs typeface="Arial" charset="0"/>
                </a:rPr>
                <a:t>Shared Compute</a:t>
              </a:r>
              <a:r>
                <a:rPr lang="en-US" altLang="en-US" sz="800" dirty="0">
                  <a:solidFill>
                    <a:schemeClr val="accent2">
                      <a:lumMod val="75000"/>
                    </a:schemeClr>
                  </a:solidFill>
                  <a:cs typeface="Arial" charset="0"/>
                </a:rPr>
                <a:t>: Multiple users - Share a cluster with credential with </a:t>
              </a:r>
              <a:r>
                <a:rPr lang="en-US" altLang="en-US" sz="800" b="1" i="1" dirty="0">
                  <a:solidFill>
                    <a:schemeClr val="accent2">
                      <a:lumMod val="75000"/>
                    </a:schemeClr>
                  </a:solidFill>
                  <a:cs typeface="Arial" charset="0"/>
                </a:rPr>
                <a:t>credentials isolation (separate credentials)</a:t>
              </a:r>
              <a:r>
                <a:rPr lang="en-US" altLang="en-US" sz="800" dirty="0">
                  <a:solidFill>
                    <a:schemeClr val="accent2">
                      <a:lumMod val="75000"/>
                    </a:schemeClr>
                  </a:solidFill>
                  <a:cs typeface="Arial" charset="0"/>
                </a:rPr>
                <a:t>.</a:t>
              </a:r>
            </a:p>
            <a:p>
              <a:pPr lvl="0" eaLnBrk="0" fontAlgn="base" hangingPunct="0">
                <a:spcBef>
                  <a:spcPct val="0"/>
                </a:spcBef>
                <a:spcAft>
                  <a:spcPct val="0"/>
                </a:spcAft>
                <a:buFontTx/>
                <a:buChar char="•"/>
              </a:pPr>
              <a:r>
                <a:rPr lang="en-US" altLang="en-US" sz="800" b="1" strike="sngStrike" dirty="0">
                  <a:solidFill>
                    <a:schemeClr val="accent2">
                      <a:lumMod val="75000"/>
                    </a:schemeClr>
                  </a:solidFill>
                  <a:cs typeface="Arial" charset="0"/>
                </a:rPr>
                <a:t>Legacy Shared Compute</a:t>
              </a:r>
              <a:r>
                <a:rPr lang="en-US" altLang="en-US" sz="800" strike="sngStrike" dirty="0">
                  <a:solidFill>
                    <a:schemeClr val="accent2">
                      <a:lumMod val="75000"/>
                    </a:schemeClr>
                  </a:solidFill>
                  <a:cs typeface="Arial" charset="0"/>
                </a:rPr>
                <a:t>: An older shared cluster type with </a:t>
              </a:r>
              <a:r>
                <a:rPr lang="en-US" altLang="en-US" sz="800" b="1" i="1" strike="sngStrike" dirty="0">
                  <a:solidFill>
                    <a:schemeClr val="accent2">
                      <a:lumMod val="75000"/>
                    </a:schemeClr>
                  </a:solidFill>
                  <a:cs typeface="Arial" charset="0"/>
                </a:rPr>
                <a:t>no credentials isolation</a:t>
              </a:r>
              <a:r>
                <a:rPr lang="en-US" altLang="en-US" sz="800" strike="sngStrike" dirty="0">
                  <a:solidFill>
                    <a:schemeClr val="accent2">
                      <a:lumMod val="75000"/>
                    </a:schemeClr>
                  </a:solidFill>
                  <a:cs typeface="Arial" charset="0"/>
                </a:rPr>
                <a:t>, (all users share the same credentials)</a:t>
              </a:r>
            </a:p>
          </p:txBody>
        </p:sp>
        <p:sp>
          <p:nvSpPr>
            <p:cNvPr id="14" name="Rectangular Callout 13"/>
            <p:cNvSpPr/>
            <p:nvPr/>
          </p:nvSpPr>
          <p:spPr>
            <a:xfrm>
              <a:off x="8870577" y="1828801"/>
              <a:ext cx="1986846" cy="959223"/>
            </a:xfrm>
            <a:prstGeom prst="wedgeRectCallout">
              <a:avLst>
                <a:gd name="adj1" fmla="val -222230"/>
                <a:gd name="adj2" fmla="val 11540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dirty="0">
                  <a:solidFill>
                    <a:schemeClr val="accent2">
                      <a:lumMod val="75000"/>
                    </a:schemeClr>
                  </a:solidFill>
                </a:rPr>
                <a:t>The </a:t>
              </a:r>
              <a:r>
                <a:rPr lang="en-US" sz="800" b="1" u="sng" dirty="0">
                  <a:solidFill>
                    <a:schemeClr val="accent2">
                      <a:lumMod val="75000"/>
                    </a:schemeClr>
                  </a:solidFill>
                </a:rPr>
                <a:t>Photon Accelerator</a:t>
              </a:r>
              <a:r>
                <a:rPr lang="en-US" sz="800" dirty="0">
                  <a:solidFill>
                    <a:schemeClr val="accent2">
                      <a:lumMod val="75000"/>
                    </a:schemeClr>
                  </a:solidFill>
                </a:rPr>
                <a:t> in Azure Databricks refers to a performance optimization feature that accelerates the execution of Apache Spark SQL workloads. Photon uses </a:t>
              </a:r>
              <a:r>
                <a:rPr lang="en-US" sz="800" b="1" i="1" dirty="0" err="1">
                  <a:solidFill>
                    <a:schemeClr val="accent2">
                      <a:lumMod val="75000"/>
                    </a:schemeClr>
                  </a:solidFill>
                </a:rPr>
                <a:t>vectorized</a:t>
              </a:r>
              <a:r>
                <a:rPr lang="en-US" sz="800" dirty="0">
                  <a:solidFill>
                    <a:schemeClr val="accent2">
                      <a:lumMod val="75000"/>
                    </a:schemeClr>
                  </a:solidFill>
                </a:rPr>
                <a:t> query execution and leverages </a:t>
              </a:r>
              <a:r>
                <a:rPr lang="en-US" sz="800" b="1" i="1" dirty="0">
                  <a:solidFill>
                    <a:schemeClr val="accent2">
                      <a:lumMod val="75000"/>
                    </a:schemeClr>
                  </a:solidFill>
                </a:rPr>
                <a:t>advanced hardware</a:t>
              </a:r>
              <a:r>
                <a:rPr lang="en-US" sz="800" dirty="0">
                  <a:solidFill>
                    <a:schemeClr val="accent2">
                      <a:lumMod val="75000"/>
                    </a:schemeClr>
                  </a:solidFill>
                </a:rPr>
                <a:t> capabilities, such as </a:t>
              </a:r>
              <a:r>
                <a:rPr lang="en-US" sz="800" dirty="0" smtClean="0">
                  <a:solidFill>
                    <a:schemeClr val="accent2">
                      <a:lumMod val="75000"/>
                    </a:schemeClr>
                  </a:solidFill>
                </a:rPr>
                <a:t>CPUs, GPUs</a:t>
              </a:r>
              <a:endParaRPr lang="en-IN" sz="800" dirty="0">
                <a:solidFill>
                  <a:schemeClr val="accent2">
                    <a:lumMod val="75000"/>
                  </a:schemeClr>
                </a:solidFill>
              </a:endParaRPr>
            </a:p>
            <a:p>
              <a:endParaRPr lang="en-US" sz="800" dirty="0">
                <a:solidFill>
                  <a:schemeClr val="accent2">
                    <a:lumMod val="75000"/>
                  </a:schemeClr>
                </a:solidFill>
              </a:endParaRPr>
            </a:p>
          </p:txBody>
        </p:sp>
        <p:sp>
          <p:nvSpPr>
            <p:cNvPr id="24" name="Rectangular Callout 23"/>
            <p:cNvSpPr/>
            <p:nvPr/>
          </p:nvSpPr>
          <p:spPr>
            <a:xfrm>
              <a:off x="5416921" y="4435655"/>
              <a:ext cx="3263155" cy="767916"/>
            </a:xfrm>
            <a:prstGeom prst="wedgeRectCallout">
              <a:avLst>
                <a:gd name="adj1" fmla="val -94965"/>
                <a:gd name="adj2" fmla="val -5696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nSpc>
                  <a:spcPts val="2135"/>
                </a:lnSpc>
                <a:tabLst>
                  <a:tab pos="297815" algn="l"/>
                </a:tabLst>
              </a:pPr>
              <a:r>
                <a:rPr lang="en-US" sz="800" b="1" u="sng" dirty="0">
                  <a:solidFill>
                    <a:schemeClr val="accent2">
                      <a:lumMod val="75000"/>
                    </a:schemeClr>
                  </a:solidFill>
                  <a:cs typeface="Calibri"/>
                </a:rPr>
                <a:t>Auto</a:t>
              </a:r>
              <a:r>
                <a:rPr lang="en-US" sz="800" b="1" u="sng" spc="-60" dirty="0">
                  <a:solidFill>
                    <a:schemeClr val="accent2">
                      <a:lumMod val="75000"/>
                    </a:schemeClr>
                  </a:solidFill>
                  <a:cs typeface="Calibri"/>
                </a:rPr>
                <a:t> </a:t>
              </a:r>
              <a:r>
                <a:rPr lang="en-US" sz="800" b="1" u="sng" spc="-10" dirty="0">
                  <a:solidFill>
                    <a:schemeClr val="accent2">
                      <a:lumMod val="75000"/>
                    </a:schemeClr>
                  </a:solidFill>
                  <a:cs typeface="Calibri"/>
                </a:rPr>
                <a:t>Termination</a:t>
              </a:r>
              <a:endParaRPr lang="en-US" sz="800" b="1" u="sng" spc="-25" dirty="0">
                <a:solidFill>
                  <a:schemeClr val="accent2">
                    <a:lumMod val="75000"/>
                  </a:schemeClr>
                </a:solidFill>
                <a:cs typeface="Calibri"/>
              </a:endParaRPr>
            </a:p>
            <a:p>
              <a:pPr marL="184150" indent="-171450">
                <a:lnSpc>
                  <a:spcPts val="2135"/>
                </a:lnSpc>
                <a:buFont typeface="Arial" panose="020B0604020202020204" pitchFamily="34" charset="0"/>
                <a:buChar char="•"/>
                <a:tabLst>
                  <a:tab pos="297815" algn="l"/>
                </a:tabLst>
              </a:pPr>
              <a:r>
                <a:rPr lang="en-US" sz="800" b="1" spc="-25" dirty="0">
                  <a:solidFill>
                    <a:schemeClr val="accent2">
                      <a:lumMod val="75000"/>
                    </a:schemeClr>
                  </a:solidFill>
                  <a:cs typeface="Calibri"/>
                </a:rPr>
                <a:t>Terminates</a:t>
              </a:r>
              <a:r>
                <a:rPr lang="en-US" sz="800" b="1" spc="-50" dirty="0">
                  <a:solidFill>
                    <a:schemeClr val="accent2">
                      <a:lumMod val="75000"/>
                    </a:schemeClr>
                  </a:solidFill>
                  <a:cs typeface="Calibri"/>
                </a:rPr>
                <a:t> </a:t>
              </a:r>
              <a:r>
                <a:rPr lang="en-US" sz="800" b="1" dirty="0">
                  <a:solidFill>
                    <a:schemeClr val="accent2">
                      <a:lumMod val="75000"/>
                    </a:schemeClr>
                  </a:solidFill>
                  <a:cs typeface="Calibri"/>
                </a:rPr>
                <a:t>the</a:t>
              </a:r>
              <a:r>
                <a:rPr lang="en-US" sz="800" b="1" spc="-25" dirty="0">
                  <a:solidFill>
                    <a:schemeClr val="accent2">
                      <a:lumMod val="75000"/>
                    </a:schemeClr>
                  </a:solidFill>
                  <a:cs typeface="Calibri"/>
                </a:rPr>
                <a:t> </a:t>
              </a:r>
              <a:r>
                <a:rPr lang="en-US" sz="800" b="1" dirty="0">
                  <a:solidFill>
                    <a:schemeClr val="accent2">
                      <a:lumMod val="75000"/>
                    </a:schemeClr>
                  </a:solidFill>
                  <a:cs typeface="Calibri"/>
                </a:rPr>
                <a:t>cluster</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after</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X</a:t>
              </a:r>
              <a:r>
                <a:rPr lang="en-US" sz="800" b="1" spc="-30" dirty="0">
                  <a:solidFill>
                    <a:schemeClr val="accent2">
                      <a:lumMod val="75000"/>
                    </a:schemeClr>
                  </a:solidFill>
                  <a:cs typeface="Calibri"/>
                </a:rPr>
                <a:t> </a:t>
              </a:r>
              <a:r>
                <a:rPr lang="en-US" sz="800" b="1" dirty="0">
                  <a:solidFill>
                    <a:schemeClr val="accent2">
                      <a:lumMod val="75000"/>
                    </a:schemeClr>
                  </a:solidFill>
                  <a:cs typeface="Calibri"/>
                </a:rPr>
                <a:t>minutes</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of</a:t>
              </a:r>
              <a:r>
                <a:rPr lang="en-US" sz="800" b="1" spc="-30" dirty="0">
                  <a:solidFill>
                    <a:schemeClr val="accent2">
                      <a:lumMod val="75000"/>
                    </a:schemeClr>
                  </a:solidFill>
                  <a:cs typeface="Calibri"/>
                </a:rPr>
                <a:t> </a:t>
              </a:r>
              <a:r>
                <a:rPr lang="en-US" sz="800" b="1" spc="-10" dirty="0">
                  <a:solidFill>
                    <a:schemeClr val="accent2">
                      <a:lumMod val="75000"/>
                    </a:schemeClr>
                  </a:solidFill>
                  <a:cs typeface="Calibri"/>
                </a:rPr>
                <a:t>inactivity</a:t>
              </a:r>
              <a:endParaRPr lang="en-US" sz="800" b="1" dirty="0">
                <a:solidFill>
                  <a:schemeClr val="accent2">
                    <a:lumMod val="75000"/>
                  </a:schemeClr>
                </a:solidFill>
                <a:cs typeface="Calibri"/>
              </a:endParaRPr>
            </a:p>
            <a:p>
              <a:pPr marL="184150" indent="-171450">
                <a:lnSpc>
                  <a:spcPct val="100000"/>
                </a:lnSpc>
                <a:spcBef>
                  <a:spcPts val="20"/>
                </a:spcBef>
                <a:buFont typeface="Arial" panose="020B0604020202020204" pitchFamily="34" charset="0"/>
                <a:buChar char="•"/>
                <a:tabLst>
                  <a:tab pos="297815" algn="l"/>
                </a:tabLst>
              </a:pPr>
              <a:r>
                <a:rPr lang="en-US" sz="800" b="1" dirty="0">
                  <a:solidFill>
                    <a:schemeClr val="accent2">
                      <a:lumMod val="75000"/>
                    </a:schemeClr>
                  </a:solidFill>
                  <a:cs typeface="Calibri"/>
                </a:rPr>
                <a:t>Default</a:t>
              </a:r>
              <a:r>
                <a:rPr lang="en-US" sz="800" b="1" spc="-50" dirty="0">
                  <a:solidFill>
                    <a:schemeClr val="accent2">
                      <a:lumMod val="75000"/>
                    </a:schemeClr>
                  </a:solidFill>
                  <a:cs typeface="Calibri"/>
                </a:rPr>
                <a:t> </a:t>
              </a:r>
              <a:r>
                <a:rPr lang="en-US" sz="800" b="1" dirty="0">
                  <a:solidFill>
                    <a:schemeClr val="accent2">
                      <a:lumMod val="75000"/>
                    </a:schemeClr>
                  </a:solidFill>
                  <a:cs typeface="Calibri"/>
                </a:rPr>
                <a:t>value</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for</a:t>
              </a:r>
              <a:r>
                <a:rPr lang="en-US" sz="800" b="1" spc="-50" dirty="0">
                  <a:solidFill>
                    <a:schemeClr val="accent2">
                      <a:lumMod val="75000"/>
                    </a:schemeClr>
                  </a:solidFill>
                  <a:cs typeface="Calibri"/>
                </a:rPr>
                <a:t> </a:t>
              </a:r>
              <a:r>
                <a:rPr lang="en-US" sz="800" b="1" dirty="0">
                  <a:solidFill>
                    <a:schemeClr val="accent2">
                      <a:lumMod val="75000"/>
                    </a:schemeClr>
                  </a:solidFill>
                  <a:cs typeface="Calibri"/>
                </a:rPr>
                <a:t>Single</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Node</a:t>
              </a:r>
              <a:r>
                <a:rPr lang="en-US" sz="800" b="1" spc="-40" dirty="0">
                  <a:solidFill>
                    <a:schemeClr val="accent2">
                      <a:lumMod val="75000"/>
                    </a:schemeClr>
                  </a:solidFill>
                  <a:cs typeface="Calibri"/>
                </a:rPr>
                <a:t> </a:t>
              </a:r>
              <a:r>
                <a:rPr lang="en-US" sz="800" b="1" dirty="0">
                  <a:solidFill>
                    <a:schemeClr val="accent2">
                      <a:lumMod val="75000"/>
                    </a:schemeClr>
                  </a:solidFill>
                  <a:cs typeface="Calibri"/>
                </a:rPr>
                <a:t>and</a:t>
              </a:r>
              <a:r>
                <a:rPr lang="en-US" sz="800" b="1" spc="-40" dirty="0">
                  <a:solidFill>
                    <a:schemeClr val="accent2">
                      <a:lumMod val="75000"/>
                    </a:schemeClr>
                  </a:solidFill>
                  <a:cs typeface="Calibri"/>
                </a:rPr>
                <a:t> </a:t>
              </a:r>
              <a:r>
                <a:rPr lang="en-US" sz="800" b="1" dirty="0">
                  <a:solidFill>
                    <a:schemeClr val="accent2">
                      <a:lumMod val="75000"/>
                    </a:schemeClr>
                  </a:solidFill>
                  <a:cs typeface="Calibri"/>
                </a:rPr>
                <a:t>Standard</a:t>
              </a:r>
              <a:r>
                <a:rPr lang="en-US" sz="800" b="1" spc="-35" dirty="0">
                  <a:solidFill>
                    <a:schemeClr val="accent2">
                      <a:lumMod val="75000"/>
                    </a:schemeClr>
                  </a:solidFill>
                  <a:cs typeface="Calibri"/>
                </a:rPr>
                <a:t> </a:t>
              </a:r>
              <a:r>
                <a:rPr lang="en-US" sz="800" b="1" spc="-10" dirty="0">
                  <a:solidFill>
                    <a:schemeClr val="accent2">
                      <a:lumMod val="75000"/>
                    </a:schemeClr>
                  </a:solidFill>
                  <a:cs typeface="Calibri"/>
                </a:rPr>
                <a:t>clusters</a:t>
              </a:r>
              <a:r>
                <a:rPr lang="en-US" sz="800" b="1" spc="-50" dirty="0">
                  <a:solidFill>
                    <a:schemeClr val="accent2">
                      <a:lumMod val="75000"/>
                    </a:schemeClr>
                  </a:solidFill>
                  <a:cs typeface="Calibri"/>
                </a:rPr>
                <a:t> </a:t>
              </a:r>
              <a:r>
                <a:rPr lang="en-US" sz="800" b="1" dirty="0">
                  <a:solidFill>
                    <a:schemeClr val="accent2">
                      <a:lumMod val="75000"/>
                    </a:schemeClr>
                  </a:solidFill>
                  <a:cs typeface="Calibri"/>
                </a:rPr>
                <a:t>is</a:t>
              </a:r>
              <a:r>
                <a:rPr lang="en-US" sz="800" b="1" spc="-45" dirty="0">
                  <a:solidFill>
                    <a:schemeClr val="accent2">
                      <a:lumMod val="75000"/>
                    </a:schemeClr>
                  </a:solidFill>
                  <a:cs typeface="Calibri"/>
                </a:rPr>
                <a:t> </a:t>
              </a:r>
              <a:r>
                <a:rPr lang="en-US" sz="800" b="1" dirty="0">
                  <a:solidFill>
                    <a:schemeClr val="accent2">
                      <a:lumMod val="75000"/>
                    </a:schemeClr>
                  </a:solidFill>
                  <a:cs typeface="Calibri"/>
                </a:rPr>
                <a:t>120</a:t>
              </a:r>
              <a:r>
                <a:rPr lang="en-US" sz="800" b="1" spc="-45" dirty="0">
                  <a:solidFill>
                    <a:schemeClr val="accent2">
                      <a:lumMod val="75000"/>
                    </a:schemeClr>
                  </a:solidFill>
                  <a:cs typeface="Calibri"/>
                </a:rPr>
                <a:t> </a:t>
              </a:r>
              <a:r>
                <a:rPr lang="en-US" sz="800" b="1" spc="-10" dirty="0">
                  <a:solidFill>
                    <a:schemeClr val="accent2">
                      <a:lumMod val="75000"/>
                    </a:schemeClr>
                  </a:solidFill>
                  <a:cs typeface="Calibri"/>
                </a:rPr>
                <a:t>minutes</a:t>
              </a:r>
              <a:endParaRPr lang="en-US" sz="800" b="1" dirty="0">
                <a:solidFill>
                  <a:schemeClr val="accent2">
                    <a:lumMod val="75000"/>
                  </a:schemeClr>
                </a:solidFill>
                <a:cs typeface="Calibri"/>
              </a:endParaRPr>
            </a:p>
            <a:p>
              <a:pPr marL="184150" indent="-171450">
                <a:lnSpc>
                  <a:spcPct val="100000"/>
                </a:lnSpc>
                <a:spcBef>
                  <a:spcPts val="50"/>
                </a:spcBef>
                <a:buFont typeface="Arial" panose="020B0604020202020204" pitchFamily="34" charset="0"/>
                <a:buChar char="•"/>
                <a:tabLst>
                  <a:tab pos="297815" algn="l"/>
                </a:tabLst>
              </a:pPr>
              <a:r>
                <a:rPr lang="en-US" sz="800" b="1" dirty="0">
                  <a:solidFill>
                    <a:schemeClr val="accent2">
                      <a:lumMod val="75000"/>
                    </a:schemeClr>
                  </a:solidFill>
                  <a:cs typeface="Calibri"/>
                </a:rPr>
                <a:t>Users</a:t>
              </a:r>
              <a:r>
                <a:rPr lang="en-US" sz="800" b="1" spc="-40" dirty="0">
                  <a:solidFill>
                    <a:schemeClr val="accent2">
                      <a:lumMod val="75000"/>
                    </a:schemeClr>
                  </a:solidFill>
                  <a:cs typeface="Calibri"/>
                </a:rPr>
                <a:t> </a:t>
              </a:r>
              <a:r>
                <a:rPr lang="en-US" sz="800" b="1" dirty="0">
                  <a:solidFill>
                    <a:schemeClr val="accent2">
                      <a:lumMod val="75000"/>
                    </a:schemeClr>
                  </a:solidFill>
                  <a:cs typeface="Calibri"/>
                </a:rPr>
                <a:t>can</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specify</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a</a:t>
              </a:r>
              <a:r>
                <a:rPr lang="en-US" sz="800" b="1" spc="-40" dirty="0">
                  <a:solidFill>
                    <a:schemeClr val="accent2">
                      <a:lumMod val="75000"/>
                    </a:schemeClr>
                  </a:solidFill>
                  <a:cs typeface="Calibri"/>
                </a:rPr>
                <a:t> </a:t>
              </a:r>
              <a:r>
                <a:rPr lang="en-US" sz="800" b="1" dirty="0">
                  <a:solidFill>
                    <a:schemeClr val="accent2">
                      <a:lumMod val="75000"/>
                    </a:schemeClr>
                  </a:solidFill>
                  <a:cs typeface="Calibri"/>
                </a:rPr>
                <a:t>value</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between</a:t>
              </a:r>
              <a:r>
                <a:rPr lang="en-US" sz="800" b="1" spc="-30" dirty="0">
                  <a:solidFill>
                    <a:schemeClr val="accent2">
                      <a:lumMod val="75000"/>
                    </a:schemeClr>
                  </a:solidFill>
                  <a:cs typeface="Calibri"/>
                </a:rPr>
                <a:t> </a:t>
              </a:r>
              <a:r>
                <a:rPr lang="en-US" sz="800" b="1" dirty="0">
                  <a:solidFill>
                    <a:schemeClr val="accent2">
                      <a:lumMod val="75000"/>
                    </a:schemeClr>
                  </a:solidFill>
                  <a:cs typeface="Calibri"/>
                </a:rPr>
                <a:t>10</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and</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10000</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mins</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as</a:t>
              </a:r>
              <a:r>
                <a:rPr lang="en-US" sz="800" b="1" spc="-40" dirty="0">
                  <a:solidFill>
                    <a:schemeClr val="accent2">
                      <a:lumMod val="75000"/>
                    </a:schemeClr>
                  </a:solidFill>
                  <a:cs typeface="Calibri"/>
                </a:rPr>
                <a:t> </a:t>
              </a:r>
              <a:r>
                <a:rPr lang="en-US" sz="800" b="1" dirty="0">
                  <a:solidFill>
                    <a:schemeClr val="accent2">
                      <a:lumMod val="75000"/>
                    </a:schemeClr>
                  </a:solidFill>
                  <a:cs typeface="Calibri"/>
                </a:rPr>
                <a:t>the</a:t>
              </a:r>
              <a:r>
                <a:rPr lang="en-US" sz="800" b="1" spc="-35" dirty="0">
                  <a:solidFill>
                    <a:schemeClr val="accent2">
                      <a:lumMod val="75000"/>
                    </a:schemeClr>
                  </a:solidFill>
                  <a:cs typeface="Calibri"/>
                </a:rPr>
                <a:t> </a:t>
              </a:r>
              <a:r>
                <a:rPr lang="en-US" sz="800" b="1" spc="-10" dirty="0">
                  <a:solidFill>
                    <a:schemeClr val="accent2">
                      <a:lumMod val="75000"/>
                    </a:schemeClr>
                  </a:solidFill>
                  <a:cs typeface="Calibri"/>
                </a:rPr>
                <a:t>duration</a:t>
              </a:r>
              <a:endParaRPr lang="en-IN" sz="800" b="1" dirty="0">
                <a:solidFill>
                  <a:schemeClr val="accent2">
                    <a:lumMod val="75000"/>
                  </a:schemeClr>
                </a:solidFill>
              </a:endParaRPr>
            </a:p>
          </p:txBody>
        </p:sp>
        <p:sp>
          <p:nvSpPr>
            <p:cNvPr id="25" name="Rectangular Callout 24"/>
            <p:cNvSpPr/>
            <p:nvPr/>
          </p:nvSpPr>
          <p:spPr>
            <a:xfrm>
              <a:off x="9179860" y="3853390"/>
              <a:ext cx="2653552" cy="959223"/>
            </a:xfrm>
            <a:prstGeom prst="wedgeRectCallout">
              <a:avLst>
                <a:gd name="adj1" fmla="val -238362"/>
                <a:gd name="adj2" fmla="val -21141"/>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1" u="sng" dirty="0">
                  <a:solidFill>
                    <a:schemeClr val="accent2">
                      <a:lumMod val="75000"/>
                    </a:schemeClr>
                  </a:solidFill>
                </a:rPr>
                <a:t>Auto Scaling</a:t>
              </a:r>
            </a:p>
            <a:p>
              <a:pPr marL="171450" indent="-171450">
                <a:buFont typeface="Wingdings" panose="05000000000000000000" pitchFamily="2" charset="2"/>
                <a:buChar char="§"/>
              </a:pPr>
              <a:r>
                <a:rPr lang="en-US" sz="800" b="1" dirty="0">
                  <a:solidFill>
                    <a:schemeClr val="accent2">
                      <a:lumMod val="75000"/>
                    </a:schemeClr>
                  </a:solidFill>
                </a:rPr>
                <a:t>User specifies the min and max work nodes</a:t>
              </a:r>
            </a:p>
            <a:p>
              <a:pPr marL="171450" indent="-171450">
                <a:buFont typeface="Wingdings" panose="05000000000000000000" pitchFamily="2" charset="2"/>
                <a:buChar char="§"/>
              </a:pPr>
              <a:r>
                <a:rPr lang="en-US" sz="800" b="1" dirty="0">
                  <a:solidFill>
                    <a:schemeClr val="accent2">
                      <a:lumMod val="75000"/>
                    </a:schemeClr>
                  </a:solidFill>
                </a:rPr>
                <a:t>Auto scales between min and max based on the </a:t>
              </a:r>
              <a:r>
                <a:rPr lang="en-US" sz="800" b="1" dirty="0" smtClean="0">
                  <a:solidFill>
                    <a:schemeClr val="accent2">
                      <a:lumMod val="75000"/>
                    </a:schemeClr>
                  </a:solidFill>
                </a:rPr>
                <a:t>data workload</a:t>
              </a:r>
              <a:endParaRPr lang="en-US" sz="800" b="1" dirty="0">
                <a:solidFill>
                  <a:schemeClr val="accent2">
                    <a:lumMod val="75000"/>
                  </a:schemeClr>
                </a:solidFill>
              </a:endParaRPr>
            </a:p>
            <a:p>
              <a:pPr marL="171450" indent="-171450">
                <a:buFont typeface="Wingdings" panose="05000000000000000000" pitchFamily="2" charset="2"/>
                <a:buChar char="§"/>
              </a:pPr>
              <a:r>
                <a:rPr lang="en-US" sz="800" b="1" dirty="0">
                  <a:solidFill>
                    <a:schemeClr val="accent2">
                      <a:lumMod val="75000"/>
                    </a:schemeClr>
                  </a:solidFill>
                </a:rPr>
                <a:t>Not recommended for streaming workloads</a:t>
              </a:r>
            </a:p>
          </p:txBody>
        </p:sp>
        <p:sp>
          <p:nvSpPr>
            <p:cNvPr id="28" name="Rectangular Callout 27"/>
            <p:cNvSpPr/>
            <p:nvPr/>
          </p:nvSpPr>
          <p:spPr>
            <a:xfrm>
              <a:off x="1546408" y="3270863"/>
              <a:ext cx="1340228" cy="767916"/>
            </a:xfrm>
            <a:prstGeom prst="wedgeRectCallout">
              <a:avLst>
                <a:gd name="adj1" fmla="val 75249"/>
                <a:gd name="adj2" fmla="val 1133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spcBef>
                  <a:spcPct val="0"/>
                </a:spcBef>
                <a:spcAft>
                  <a:spcPct val="0"/>
                </a:spcAft>
              </a:pPr>
              <a:r>
                <a:rPr lang="en-US" sz="800" b="1" u="sng" dirty="0">
                  <a:solidFill>
                    <a:schemeClr val="accent2">
                      <a:lumMod val="75000"/>
                    </a:schemeClr>
                  </a:solidFill>
                  <a:cs typeface="Arial" charset="0"/>
                </a:rPr>
                <a:t>Worker Type</a:t>
              </a:r>
            </a:p>
            <a:p>
              <a:pPr marL="171450" indent="-171450" fontAlgn="base">
                <a:spcBef>
                  <a:spcPct val="0"/>
                </a:spcBef>
                <a:spcAft>
                  <a:spcPct val="0"/>
                </a:spcAft>
                <a:buFont typeface="Arial" panose="020B0604020202020204" pitchFamily="34" charset="0"/>
                <a:buChar char="•"/>
              </a:pPr>
              <a:r>
                <a:rPr lang="en-US" sz="800" dirty="0">
                  <a:solidFill>
                    <a:schemeClr val="accent2">
                      <a:lumMod val="75000"/>
                    </a:schemeClr>
                  </a:solidFill>
                  <a:cs typeface="Arial" charset="0"/>
                </a:rPr>
                <a:t>Memory Optimized</a:t>
              </a:r>
            </a:p>
            <a:p>
              <a:pPr marL="171450" indent="-171450" fontAlgn="base">
                <a:spcBef>
                  <a:spcPct val="0"/>
                </a:spcBef>
                <a:spcAft>
                  <a:spcPct val="0"/>
                </a:spcAft>
                <a:buFont typeface="Arial" panose="020B0604020202020204" pitchFamily="34" charset="0"/>
                <a:buChar char="•"/>
              </a:pPr>
              <a:r>
                <a:rPr lang="en-US" sz="800" dirty="0">
                  <a:solidFill>
                    <a:schemeClr val="accent2">
                      <a:lumMod val="75000"/>
                    </a:schemeClr>
                  </a:solidFill>
                  <a:cs typeface="Arial" charset="0"/>
                </a:rPr>
                <a:t>Compute Optimized</a:t>
              </a:r>
            </a:p>
            <a:p>
              <a:pPr marL="171450" indent="-171450" fontAlgn="base">
                <a:spcBef>
                  <a:spcPct val="0"/>
                </a:spcBef>
                <a:spcAft>
                  <a:spcPct val="0"/>
                </a:spcAft>
                <a:buFont typeface="Arial" panose="020B0604020202020204" pitchFamily="34" charset="0"/>
                <a:buChar char="•"/>
              </a:pPr>
              <a:r>
                <a:rPr lang="en-US" sz="800" dirty="0">
                  <a:solidFill>
                    <a:schemeClr val="accent2">
                      <a:lumMod val="75000"/>
                    </a:schemeClr>
                  </a:solidFill>
                  <a:cs typeface="Arial" charset="0"/>
                </a:rPr>
                <a:t>Storage Optimized</a:t>
              </a:r>
            </a:p>
            <a:p>
              <a:pPr marL="171450" indent="-171450" fontAlgn="base">
                <a:spcBef>
                  <a:spcPct val="0"/>
                </a:spcBef>
                <a:spcAft>
                  <a:spcPct val="0"/>
                </a:spcAft>
                <a:buFont typeface="Arial" panose="020B0604020202020204" pitchFamily="34" charset="0"/>
                <a:buChar char="•"/>
              </a:pPr>
              <a:r>
                <a:rPr lang="en-US" sz="800" dirty="0">
                  <a:solidFill>
                    <a:schemeClr val="accent2">
                      <a:lumMod val="75000"/>
                    </a:schemeClr>
                  </a:solidFill>
                  <a:cs typeface="Arial" charset="0"/>
                </a:rPr>
                <a:t>General Purpose</a:t>
              </a:r>
            </a:p>
            <a:p>
              <a:pPr marL="171450" indent="-171450" fontAlgn="base">
                <a:spcBef>
                  <a:spcPct val="0"/>
                </a:spcBef>
                <a:spcAft>
                  <a:spcPct val="0"/>
                </a:spcAft>
                <a:buFont typeface="Arial" panose="020B0604020202020204" pitchFamily="34" charset="0"/>
                <a:buChar char="•"/>
              </a:pPr>
              <a:r>
                <a:rPr lang="en-US" sz="800" dirty="0">
                  <a:solidFill>
                    <a:schemeClr val="accent2">
                      <a:lumMod val="75000"/>
                    </a:schemeClr>
                  </a:solidFill>
                  <a:cs typeface="Arial" charset="0"/>
                </a:rPr>
                <a:t>GPU Accelerated</a:t>
              </a:r>
            </a:p>
          </p:txBody>
        </p:sp>
      </p:grpSp>
    </p:spTree>
    <p:extLst>
      <p:ext uri="{BB962C8B-B14F-4D97-AF65-F5344CB8AC3E}">
        <p14:creationId xmlns:p14="http://schemas.microsoft.com/office/powerpoint/2010/main" val="25869602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4908600" y="2698920"/>
              <a:ext cx="360" cy="360"/>
            </p14:xfrm>
          </p:contentPart>
        </mc:Choice>
        <mc:Fallback xmlns="">
          <p:pic>
            <p:nvPicPr>
              <p:cNvPr id="2" name="Ink 1"/>
              <p:cNvPicPr/>
              <p:nvPr/>
            </p:nvPicPr>
            <p:blipFill>
              <a:blip r:embed="rId5"/>
              <a:stretch>
                <a:fillRect/>
              </a:stretch>
            </p:blipFill>
            <p:spPr>
              <a:xfrm>
                <a:off x="4899240" y="2689560"/>
                <a:ext cx="19080" cy="19080"/>
              </a:xfrm>
              <a:prstGeom prst="rect">
                <a:avLst/>
              </a:prstGeom>
            </p:spPr>
          </p:pic>
        </mc:Fallback>
      </mc:AlternateContent>
      <p:sp>
        <p:nvSpPr>
          <p:cNvPr id="7" name="Rectangle 6"/>
          <p:cNvSpPr/>
          <p:nvPr/>
        </p:nvSpPr>
        <p:spPr>
          <a:xfrm>
            <a:off x="95247" y="410482"/>
            <a:ext cx="10029225" cy="738664"/>
          </a:xfrm>
          <a:prstGeom prst="rect">
            <a:avLst/>
          </a:prstGeom>
        </p:spPr>
        <p:txBody>
          <a:bodyPr wrap="square">
            <a:spAutoFit/>
          </a:bodyPr>
          <a:lstStyle/>
          <a:p>
            <a:pPr marL="342900" indent="-342900">
              <a:buAutoNum type="arabicPeriod"/>
            </a:pPr>
            <a:r>
              <a:rPr lang="en-IN" sz="1400" b="1" dirty="0"/>
              <a:t>Use </a:t>
            </a:r>
            <a:r>
              <a:rPr lang="en-IN" sz="1400" b="1" dirty="0" err="1"/>
              <a:t>Databricks</a:t>
            </a:r>
            <a:r>
              <a:rPr lang="en-IN" sz="1400" b="1" dirty="0"/>
              <a:t> Premium service</a:t>
            </a:r>
          </a:p>
          <a:p>
            <a:pPr marL="342900" indent="-342900">
              <a:buAutoNum type="arabicPeriod"/>
            </a:pPr>
            <a:r>
              <a:rPr lang="en-IN" sz="1400" b="1" dirty="0"/>
              <a:t>Choose Compute -&gt; Pools -&gt; Create a cluster pool with instance type “</a:t>
            </a:r>
            <a:r>
              <a:rPr lang="en-IN" sz="1400" b="1" dirty="0">
                <a:solidFill>
                  <a:schemeClr val="accent5">
                    <a:lumMod val="50000"/>
                  </a:schemeClr>
                </a:solidFill>
              </a:rPr>
              <a:t>Standard_F4</a:t>
            </a:r>
            <a:r>
              <a:rPr lang="en-IN" sz="1400" b="1" dirty="0"/>
              <a:t>”</a:t>
            </a:r>
          </a:p>
          <a:p>
            <a:pPr marL="342900" indent="-342900">
              <a:buAutoNum type="arabicPeriod"/>
            </a:pPr>
            <a:r>
              <a:rPr lang="en-IN" sz="1400" b="1" dirty="0">
                <a:solidFill>
                  <a:srgbClr val="C00000"/>
                </a:solidFill>
              </a:rPr>
              <a:t>Choose Compute -&gt; All purpose Compute -&gt; Create single node -&gt; Node type -&gt; Pool1</a:t>
            </a:r>
            <a:endParaRPr lang="cs-CZ" sz="1400" b="1" dirty="0">
              <a:solidFill>
                <a:srgbClr val="C00000"/>
              </a:solidFill>
            </a:endParaRPr>
          </a:p>
        </p:txBody>
      </p:sp>
      <p:sp>
        <p:nvSpPr>
          <p:cNvPr id="8" name="Rectangle 7"/>
          <p:cNvSpPr/>
          <p:nvPr/>
        </p:nvSpPr>
        <p:spPr>
          <a:xfrm>
            <a:off x="19050" y="9525"/>
            <a:ext cx="5637679" cy="400110"/>
          </a:xfrm>
          <a:prstGeom prst="rect">
            <a:avLst/>
          </a:prstGeom>
        </p:spPr>
        <p:txBody>
          <a:bodyPr wrap="square">
            <a:spAutoFit/>
          </a:bodyPr>
          <a:lstStyle/>
          <a:p>
            <a:r>
              <a:rPr lang="en-US" sz="2000" b="1" dirty="0">
                <a:solidFill>
                  <a:srgbClr val="C00000"/>
                </a:solidFill>
              </a:rPr>
              <a:t>Create a single node cluster using </a:t>
            </a:r>
            <a:r>
              <a:rPr lang="en-US" sz="2000" b="1" u="sng" dirty="0">
                <a:solidFill>
                  <a:srgbClr val="C00000"/>
                </a:solidFill>
              </a:rPr>
              <a:t>Cluster Pool</a:t>
            </a:r>
            <a:endParaRPr lang="en-IN" sz="2000" b="1" u="sng" dirty="0">
              <a:solidFill>
                <a:srgbClr val="C00000"/>
              </a:solidFill>
            </a:endParaRPr>
          </a:p>
        </p:txBody>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2213" y="2913404"/>
            <a:ext cx="3708251" cy="375595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9" name="Heptagon 8"/>
          <p:cNvSpPr/>
          <p:nvPr/>
        </p:nvSpPr>
        <p:spPr>
          <a:xfrm>
            <a:off x="9578532" y="2610792"/>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3</a:t>
            </a:r>
            <a:endParaRPr lang="en-IN" sz="3600" b="1" dirty="0"/>
          </a:p>
        </p:txBody>
      </p:sp>
      <p:pic>
        <p:nvPicPr>
          <p:cNvPr id="102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4019" y="1503548"/>
            <a:ext cx="7997677" cy="13011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1" name="Heptagon 10"/>
          <p:cNvSpPr/>
          <p:nvPr/>
        </p:nvSpPr>
        <p:spPr>
          <a:xfrm>
            <a:off x="5682410" y="1703234"/>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t>1</a:t>
            </a:r>
          </a:p>
        </p:txBody>
      </p:sp>
      <p:sp>
        <p:nvSpPr>
          <p:cNvPr id="10" name="Rectangle 9"/>
          <p:cNvSpPr/>
          <p:nvPr/>
        </p:nvSpPr>
        <p:spPr>
          <a:xfrm>
            <a:off x="6997940" y="247004"/>
            <a:ext cx="4935072" cy="6136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50" b="1" u="sng" dirty="0">
                <a:solidFill>
                  <a:schemeClr val="accent2">
                    <a:lumMod val="75000"/>
                  </a:schemeClr>
                </a:solidFill>
              </a:rPr>
              <a:t>Cluster pool</a:t>
            </a:r>
            <a:r>
              <a:rPr lang="en-US" sz="1050" dirty="0">
                <a:solidFill>
                  <a:schemeClr val="accent2">
                    <a:lumMod val="75000"/>
                  </a:schemeClr>
                </a:solidFill>
              </a:rPr>
              <a:t> is a collection of pre-configured/pre-installed/pre-warmed virtual machines (VMs) that are shared among multiple clusters. </a:t>
            </a:r>
          </a:p>
          <a:p>
            <a:r>
              <a:rPr lang="en-US" sz="1050" b="1" i="1" dirty="0">
                <a:solidFill>
                  <a:schemeClr val="accent2">
                    <a:lumMod val="75000"/>
                  </a:schemeClr>
                </a:solidFill>
              </a:rPr>
              <a:t>Ideal for dynamic environments where clusters are frequently created and destroyed (should happen without taking longer time)</a:t>
            </a:r>
            <a:endParaRPr lang="en-IN" sz="1050" b="1" i="1" dirty="0">
              <a:solidFill>
                <a:schemeClr val="accent2">
                  <a:lumMod val="75000"/>
                </a:schemeClr>
              </a:solidFill>
            </a:endParaRPr>
          </a:p>
        </p:txBody>
      </p:sp>
      <p:pic>
        <p:nvPicPr>
          <p:cNvPr id="13314"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68485" y="2998587"/>
            <a:ext cx="3781983" cy="37299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2" name="Heptagon 11"/>
          <p:cNvSpPr/>
          <p:nvPr/>
        </p:nvSpPr>
        <p:spPr>
          <a:xfrm>
            <a:off x="4364150" y="2960238"/>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2</a:t>
            </a:r>
            <a:endParaRPr lang="en-IN" sz="3600" b="1" dirty="0"/>
          </a:p>
        </p:txBody>
      </p:sp>
    </p:spTree>
    <p:extLst>
      <p:ext uri="{BB962C8B-B14F-4D97-AF65-F5344CB8AC3E}">
        <p14:creationId xmlns:p14="http://schemas.microsoft.com/office/powerpoint/2010/main" val="657594888"/>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bject 16"/>
          <p:cNvSpPr txBox="1"/>
          <p:nvPr/>
        </p:nvSpPr>
        <p:spPr>
          <a:xfrm>
            <a:off x="109275" y="477223"/>
            <a:ext cx="6121196" cy="1356782"/>
          </a:xfrm>
          <a:prstGeom prst="rect">
            <a:avLst/>
          </a:prstGeom>
          <a:solidFill>
            <a:schemeClr val="bg2"/>
          </a:solidFill>
        </p:spPr>
        <p:txBody>
          <a:bodyPr vert="horz" wrap="square" lIns="0" tIns="12700" rIns="0" bIns="0" rtlCol="0">
            <a:spAutoFit/>
          </a:bodyPr>
          <a:lstStyle/>
          <a:p>
            <a:pPr marL="12700">
              <a:lnSpc>
                <a:spcPct val="100000"/>
              </a:lnSpc>
              <a:spcBef>
                <a:spcPts val="100"/>
              </a:spcBef>
            </a:pPr>
            <a:r>
              <a:rPr lang="en-US" sz="1400" b="1" i="1" u="sng" dirty="0">
                <a:latin typeface="Calibri"/>
                <a:cs typeface="Calibri"/>
              </a:rPr>
              <a:t>Cost Effectiveness Considerations</a:t>
            </a:r>
          </a:p>
          <a:p>
            <a:pPr marL="298450" indent="-285750">
              <a:lnSpc>
                <a:spcPct val="100000"/>
              </a:lnSpc>
              <a:spcBef>
                <a:spcPts val="100"/>
              </a:spcBef>
              <a:buFont typeface="Wingdings" panose="05000000000000000000" pitchFamily="2" charset="2"/>
              <a:buChar char="ü"/>
            </a:pPr>
            <a:r>
              <a:rPr sz="1400" dirty="0">
                <a:latin typeface="Calibri"/>
                <a:cs typeface="Calibri"/>
              </a:rPr>
              <a:t>Set</a:t>
            </a:r>
            <a:r>
              <a:rPr sz="1400" spc="-50" dirty="0">
                <a:latin typeface="Calibri"/>
                <a:cs typeface="Calibri"/>
              </a:rPr>
              <a:t> </a:t>
            </a:r>
            <a:r>
              <a:rPr sz="1400" dirty="0">
                <a:latin typeface="Calibri"/>
                <a:cs typeface="Calibri"/>
              </a:rPr>
              <a:t>budget</a:t>
            </a:r>
            <a:r>
              <a:rPr sz="1400" spc="-50" dirty="0">
                <a:latin typeface="Calibri"/>
                <a:cs typeface="Calibri"/>
              </a:rPr>
              <a:t> </a:t>
            </a:r>
            <a:r>
              <a:rPr sz="1400" dirty="0">
                <a:latin typeface="Calibri"/>
                <a:cs typeface="Calibri"/>
              </a:rPr>
              <a:t>alerts</a:t>
            </a:r>
            <a:r>
              <a:rPr sz="1400" spc="-40" dirty="0">
                <a:latin typeface="Calibri"/>
                <a:cs typeface="Calibri"/>
              </a:rPr>
              <a:t> </a:t>
            </a:r>
            <a:r>
              <a:rPr sz="1400" dirty="0">
                <a:latin typeface="Calibri"/>
                <a:cs typeface="Calibri"/>
              </a:rPr>
              <a:t>on</a:t>
            </a:r>
            <a:r>
              <a:rPr sz="1400" spc="-45" dirty="0">
                <a:latin typeface="Calibri"/>
                <a:cs typeface="Calibri"/>
              </a:rPr>
              <a:t> </a:t>
            </a:r>
            <a:r>
              <a:rPr sz="1400" spc="-10" dirty="0">
                <a:latin typeface="Calibri"/>
                <a:cs typeface="Calibri"/>
              </a:rPr>
              <a:t>subscription</a:t>
            </a:r>
            <a:endParaRPr lang="en-US" sz="1400" spc="-10" dirty="0">
              <a:latin typeface="Calibri"/>
              <a:cs typeface="Calibri"/>
            </a:endParaRPr>
          </a:p>
          <a:p>
            <a:pPr marL="298450" indent="-285750">
              <a:spcBef>
                <a:spcPts val="100"/>
              </a:spcBef>
              <a:buFont typeface="Wingdings" panose="05000000000000000000" pitchFamily="2" charset="2"/>
              <a:buChar char="ü"/>
            </a:pPr>
            <a:r>
              <a:rPr lang="en-IN" sz="1400" dirty="0">
                <a:cs typeface="Calibri"/>
              </a:rPr>
              <a:t>Scheduling </a:t>
            </a:r>
            <a:r>
              <a:rPr lang="en-US" sz="1400" dirty="0">
                <a:cs typeface="Calibri"/>
              </a:rPr>
              <a:t>-</a:t>
            </a:r>
            <a:r>
              <a:rPr lang="en-US" sz="1400" spc="-45" dirty="0">
                <a:cs typeface="Calibri"/>
              </a:rPr>
              <a:t> </a:t>
            </a:r>
            <a:r>
              <a:rPr lang="en-US" sz="1400" spc="-10" dirty="0">
                <a:cs typeface="Calibri"/>
              </a:rPr>
              <a:t>Don’t forget to pause/delete the scheduling</a:t>
            </a:r>
            <a:endParaRPr lang="en-US" sz="1400" dirty="0">
              <a:cs typeface="Calibri"/>
            </a:endParaRPr>
          </a:p>
          <a:p>
            <a:pPr marL="298450" indent="-285750">
              <a:spcBef>
                <a:spcPts val="100"/>
              </a:spcBef>
              <a:buFont typeface="Wingdings" panose="05000000000000000000" pitchFamily="2" charset="2"/>
              <a:buChar char="ü"/>
            </a:pPr>
            <a:r>
              <a:rPr lang="en-US" sz="1400" b="1" i="1" dirty="0">
                <a:cs typeface="Calibri"/>
              </a:rPr>
              <a:t>Azure</a:t>
            </a:r>
            <a:r>
              <a:rPr lang="en-US" sz="1400" b="1" i="1" spc="-80" dirty="0">
                <a:cs typeface="Calibri"/>
              </a:rPr>
              <a:t> </a:t>
            </a:r>
            <a:r>
              <a:rPr lang="en-US" sz="1400" b="1" i="1" spc="-10" dirty="0">
                <a:cs typeface="Calibri"/>
              </a:rPr>
              <a:t>Databricks</a:t>
            </a:r>
            <a:r>
              <a:rPr lang="en-US" sz="1400" b="1" i="1" spc="-90" dirty="0">
                <a:cs typeface="Calibri"/>
              </a:rPr>
              <a:t>  </a:t>
            </a:r>
            <a:r>
              <a:rPr lang="en-US" sz="1400" b="1" i="1" dirty="0">
                <a:cs typeface="Calibri"/>
              </a:rPr>
              <a:t>Cluster</a:t>
            </a:r>
            <a:r>
              <a:rPr lang="en-US" sz="1400" b="1" i="1" spc="-85" dirty="0">
                <a:cs typeface="Calibri"/>
              </a:rPr>
              <a:t> </a:t>
            </a:r>
            <a:r>
              <a:rPr lang="en-US" sz="1400" b="1" i="1" spc="-20" dirty="0">
                <a:cs typeface="Calibri"/>
              </a:rPr>
              <a:t>Pool - </a:t>
            </a:r>
            <a:r>
              <a:rPr lang="en-US" sz="1400" b="1" i="1" u="sng" dirty="0">
                <a:cs typeface="Calibri"/>
              </a:rPr>
              <a:t>Delete</a:t>
            </a:r>
            <a:r>
              <a:rPr lang="en-US" sz="1400" b="1" i="1" u="sng" spc="-45" dirty="0">
                <a:cs typeface="Calibri"/>
              </a:rPr>
              <a:t> </a:t>
            </a:r>
            <a:r>
              <a:rPr lang="en-US" sz="1400" b="1" i="1" u="sng" dirty="0">
                <a:cs typeface="Calibri"/>
              </a:rPr>
              <a:t>the</a:t>
            </a:r>
            <a:r>
              <a:rPr lang="en-US" sz="1400" b="1" i="1" u="sng" spc="-45" dirty="0">
                <a:cs typeface="Calibri"/>
              </a:rPr>
              <a:t> </a:t>
            </a:r>
            <a:r>
              <a:rPr lang="en-US" sz="1400" b="1" i="1" u="sng" dirty="0">
                <a:cs typeface="Calibri"/>
              </a:rPr>
              <a:t>cluster</a:t>
            </a:r>
            <a:r>
              <a:rPr lang="en-US" sz="1400" b="1" i="1" u="sng" spc="-45" dirty="0">
                <a:cs typeface="Calibri"/>
              </a:rPr>
              <a:t> </a:t>
            </a:r>
            <a:r>
              <a:rPr lang="en-US" sz="1400" b="1" i="1" u="sng" dirty="0">
                <a:cs typeface="Calibri"/>
              </a:rPr>
              <a:t>pool</a:t>
            </a:r>
            <a:r>
              <a:rPr lang="en-US" sz="1400" b="1" i="1" u="sng" spc="-55" dirty="0">
                <a:cs typeface="Calibri"/>
              </a:rPr>
              <a:t> </a:t>
            </a:r>
            <a:r>
              <a:rPr lang="en-US" sz="1400" b="1" i="1" u="sng" dirty="0">
                <a:cs typeface="Calibri"/>
              </a:rPr>
              <a:t>once your practice is complete</a:t>
            </a:r>
            <a:endParaRPr lang="en-US" sz="1400" b="1" i="1" u="sng" spc="-20" dirty="0">
              <a:cs typeface="Calibri"/>
            </a:endParaRPr>
          </a:p>
          <a:p>
            <a:pPr marL="298450" indent="-285750">
              <a:spcBef>
                <a:spcPts val="100"/>
              </a:spcBef>
              <a:buFont typeface="Wingdings" panose="05000000000000000000" pitchFamily="2" charset="2"/>
              <a:buChar char="ü"/>
            </a:pPr>
            <a:r>
              <a:rPr lang="en-US" sz="1400" b="1" i="1" dirty="0">
                <a:cs typeface="Calibri"/>
              </a:rPr>
              <a:t>Azure</a:t>
            </a:r>
            <a:r>
              <a:rPr lang="en-US" sz="1400" b="1" i="1" spc="-55" dirty="0">
                <a:cs typeface="Calibri"/>
              </a:rPr>
              <a:t> </a:t>
            </a:r>
            <a:r>
              <a:rPr lang="en-US" sz="1400" b="1" i="1" spc="-10" dirty="0">
                <a:cs typeface="Calibri"/>
              </a:rPr>
              <a:t>Databricks</a:t>
            </a:r>
            <a:r>
              <a:rPr lang="en-US" sz="1400" b="1" i="1" spc="-65" dirty="0">
                <a:cs typeface="Calibri"/>
              </a:rPr>
              <a:t> </a:t>
            </a:r>
            <a:r>
              <a:rPr lang="en-US" sz="1400" b="1" i="1" dirty="0">
                <a:cs typeface="Calibri"/>
              </a:rPr>
              <a:t>All</a:t>
            </a:r>
            <a:r>
              <a:rPr lang="en-US" sz="1400" b="1" i="1" spc="-60" dirty="0">
                <a:cs typeface="Calibri"/>
              </a:rPr>
              <a:t> </a:t>
            </a:r>
            <a:r>
              <a:rPr lang="en-US" sz="1400" b="1" i="1" dirty="0">
                <a:cs typeface="Calibri"/>
              </a:rPr>
              <a:t>Purpose</a:t>
            </a:r>
            <a:r>
              <a:rPr lang="en-US" sz="1400" b="1" i="1" spc="-55" dirty="0">
                <a:cs typeface="Calibri"/>
              </a:rPr>
              <a:t> </a:t>
            </a:r>
            <a:r>
              <a:rPr lang="en-US" sz="1400" b="1" i="1" spc="-10" dirty="0">
                <a:cs typeface="Calibri"/>
              </a:rPr>
              <a:t>Cluster - </a:t>
            </a:r>
            <a:r>
              <a:rPr lang="en-US" sz="1400" b="1" i="1" u="sng" dirty="0">
                <a:cs typeface="Calibri"/>
              </a:rPr>
              <a:t>Set</a:t>
            </a:r>
            <a:r>
              <a:rPr lang="en-US" sz="1400" b="1" i="1" u="sng" spc="-40" dirty="0">
                <a:cs typeface="Calibri"/>
              </a:rPr>
              <a:t> </a:t>
            </a:r>
            <a:r>
              <a:rPr lang="en-US" sz="1400" b="1" i="1" u="sng" dirty="0">
                <a:cs typeface="Calibri"/>
              </a:rPr>
              <a:t>Auto</a:t>
            </a:r>
            <a:r>
              <a:rPr lang="en-US" sz="1400" b="1" i="1" u="sng" spc="-40" dirty="0">
                <a:cs typeface="Calibri"/>
              </a:rPr>
              <a:t> </a:t>
            </a:r>
            <a:r>
              <a:rPr lang="en-US" sz="1400" b="1" i="1" u="sng" spc="-25" dirty="0">
                <a:cs typeface="Calibri"/>
              </a:rPr>
              <a:t>Termination</a:t>
            </a:r>
            <a:r>
              <a:rPr lang="en-US" sz="1400" b="1" i="1" u="sng" spc="-40" dirty="0">
                <a:cs typeface="Calibri"/>
              </a:rPr>
              <a:t> </a:t>
            </a:r>
            <a:r>
              <a:rPr lang="en-US" sz="1400" b="1" i="1" u="sng" dirty="0">
                <a:cs typeface="Calibri"/>
              </a:rPr>
              <a:t>for an hour</a:t>
            </a:r>
          </a:p>
        </p:txBody>
      </p:sp>
      <p:sp>
        <p:nvSpPr>
          <p:cNvPr id="34" name="Title 1"/>
          <p:cNvSpPr>
            <a:spLocks noGrp="1"/>
          </p:cNvSpPr>
          <p:nvPr>
            <p:ph type="title"/>
          </p:nvPr>
        </p:nvSpPr>
        <p:spPr>
          <a:xfrm>
            <a:off x="0" y="-17866"/>
            <a:ext cx="6777318" cy="369332"/>
          </a:xfrm>
        </p:spPr>
        <p:txBody>
          <a:bodyPr wrap="square">
            <a:spAutoFit/>
          </a:bodyPr>
          <a:lstStyle/>
          <a:p>
            <a:r>
              <a:rPr lang="en-US" sz="2000" b="1" dirty="0">
                <a:solidFill>
                  <a:srgbClr val="C00000"/>
                </a:solidFill>
                <a:latin typeface="+mn-lt"/>
                <a:ea typeface="+mn-ea"/>
                <a:cs typeface="+mn-cs"/>
              </a:rPr>
              <a:t>Databricks Pricing Calculation &amp; Cluster Tiers</a:t>
            </a:r>
          </a:p>
        </p:txBody>
      </p:sp>
      <p:grpSp>
        <p:nvGrpSpPr>
          <p:cNvPr id="8" name="Group 7"/>
          <p:cNvGrpSpPr/>
          <p:nvPr/>
        </p:nvGrpSpPr>
        <p:grpSpPr>
          <a:xfrm>
            <a:off x="109275" y="2491262"/>
            <a:ext cx="5332301" cy="4079867"/>
            <a:chOff x="109275" y="2491262"/>
            <a:chExt cx="5332301" cy="4079867"/>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674" y="2926939"/>
              <a:ext cx="1437169" cy="35308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2581" y="2926939"/>
              <a:ext cx="3424904" cy="14893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1676348" y="2501364"/>
              <a:ext cx="1441870" cy="277485"/>
            </a:xfrm>
            <a:prstGeom prst="rect">
              <a:avLst/>
            </a:prstGeom>
            <a:solidFill>
              <a:schemeClr val="accent1">
                <a:lumMod val="20000"/>
                <a:lumOff val="80000"/>
              </a:schemeClr>
            </a:solidFill>
          </p:spPr>
          <p:txBody>
            <a:bodyPr wrap="none">
              <a:spAutoFit/>
            </a:bodyPr>
            <a:lstStyle/>
            <a:p>
              <a:r>
                <a:rPr lang="en-US" dirty="0">
                  <a:cs typeface="Calibri"/>
                </a:rPr>
                <a:t>Standard Tier</a:t>
              </a:r>
              <a:endParaRPr lang="en-IN" dirty="0"/>
            </a:p>
          </p:txBody>
        </p:sp>
        <p:sp>
          <p:nvSpPr>
            <p:cNvPr id="7" name="Rectangle 6"/>
            <p:cNvSpPr/>
            <p:nvPr/>
          </p:nvSpPr>
          <p:spPr>
            <a:xfrm>
              <a:off x="109275" y="2491262"/>
              <a:ext cx="5332301" cy="40798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9" name="Group 8"/>
          <p:cNvGrpSpPr/>
          <p:nvPr/>
        </p:nvGrpSpPr>
        <p:grpSpPr>
          <a:xfrm>
            <a:off x="5748206" y="1976161"/>
            <a:ext cx="6201746" cy="4881839"/>
            <a:chOff x="5524089" y="1949782"/>
            <a:chExt cx="6201746" cy="4881839"/>
          </a:xfrm>
        </p:grpSpPr>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6463" y="2054690"/>
              <a:ext cx="1091570" cy="47231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3543" y="2491262"/>
              <a:ext cx="4855083" cy="10484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5" name="Rectangle 34"/>
            <p:cNvSpPr/>
            <p:nvPr/>
          </p:nvSpPr>
          <p:spPr>
            <a:xfrm>
              <a:off x="7673722" y="1951808"/>
              <a:ext cx="2504596" cy="277485"/>
            </a:xfrm>
            <a:prstGeom prst="rect">
              <a:avLst/>
            </a:prstGeom>
            <a:solidFill>
              <a:schemeClr val="accent1">
                <a:lumMod val="20000"/>
                <a:lumOff val="80000"/>
              </a:schemeClr>
            </a:solidFill>
          </p:spPr>
          <p:txBody>
            <a:bodyPr wrap="none">
              <a:spAutoFit/>
            </a:bodyPr>
            <a:lstStyle/>
            <a:p>
              <a:r>
                <a:rPr lang="en-US" dirty="0">
                  <a:cs typeface="Calibri"/>
                </a:rPr>
                <a:t>Premium/Enterprise Tier</a:t>
              </a:r>
              <a:endParaRPr lang="en-IN" dirty="0"/>
            </a:p>
          </p:txBody>
        </p:sp>
        <p:sp>
          <p:nvSpPr>
            <p:cNvPr id="39" name="Rectangle 38"/>
            <p:cNvSpPr/>
            <p:nvPr/>
          </p:nvSpPr>
          <p:spPr>
            <a:xfrm>
              <a:off x="5524089" y="1949782"/>
              <a:ext cx="6201746" cy="488183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819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01068" y="331602"/>
            <a:ext cx="4163543" cy="15152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36" name="Rectangle 35"/>
          <p:cNvSpPr/>
          <p:nvPr/>
        </p:nvSpPr>
        <p:spPr>
          <a:xfrm>
            <a:off x="6689858" y="39356"/>
            <a:ext cx="4129464" cy="307777"/>
          </a:xfrm>
          <a:prstGeom prst="rect">
            <a:avLst/>
          </a:prstGeom>
        </p:spPr>
        <p:txBody>
          <a:bodyPr wrap="none">
            <a:spAutoFit/>
          </a:bodyPr>
          <a:lstStyle/>
          <a:p>
            <a:r>
              <a:rPr lang="en-IN" sz="1400" dirty="0">
                <a:hlinkClick r:id="rId7"/>
              </a:rPr>
              <a:t>https://azure.microsoft.com/en-us/pricing/calculator/</a:t>
            </a:r>
            <a:endParaRPr lang="en-IN" sz="1400" dirty="0"/>
          </a:p>
        </p:txBody>
      </p:sp>
    </p:spTree>
    <p:extLst>
      <p:ext uri="{BB962C8B-B14F-4D97-AF65-F5344CB8AC3E}">
        <p14:creationId xmlns:p14="http://schemas.microsoft.com/office/powerpoint/2010/main" val="9868691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a:spLocks noGrp="1"/>
          </p:cNvSpPr>
          <p:nvPr>
            <p:ph type="title"/>
          </p:nvPr>
        </p:nvSpPr>
        <p:spPr>
          <a:xfrm>
            <a:off x="3475290" y="452350"/>
            <a:ext cx="5523432" cy="978729"/>
          </a:xfrm>
        </p:spPr>
        <p:txBody>
          <a:bodyPr wrap="square">
            <a:spAutoFit/>
          </a:bodyPr>
          <a:lstStyle/>
          <a:p>
            <a:r>
              <a:rPr lang="en-US" sz="3200" b="1" dirty="0" err="1" smtClean="0">
                <a:solidFill>
                  <a:srgbClr val="C00000"/>
                </a:solidFill>
                <a:latin typeface="+mn-lt"/>
                <a:ea typeface="+mn-ea"/>
                <a:cs typeface="+mn-cs"/>
              </a:rPr>
              <a:t>Whats</a:t>
            </a:r>
            <a:r>
              <a:rPr lang="en-US" sz="3200" b="1" dirty="0" smtClean="0">
                <a:solidFill>
                  <a:srgbClr val="C00000"/>
                </a:solidFill>
                <a:latin typeface="+mn-lt"/>
                <a:ea typeface="+mn-ea"/>
                <a:cs typeface="+mn-cs"/>
              </a:rPr>
              <a:t> Next, post Core Cloud Engineer???</a:t>
            </a:r>
            <a:endParaRPr lang="en-US" sz="3200" b="1" dirty="0">
              <a:solidFill>
                <a:srgbClr val="C00000"/>
              </a:solidFill>
              <a:latin typeface="+mn-lt"/>
              <a:ea typeface="+mn-ea"/>
              <a:cs typeface="+mn-cs"/>
            </a:endParaRPr>
          </a:p>
        </p:txBody>
      </p:sp>
      <p:sp>
        <p:nvSpPr>
          <p:cNvPr id="17" name="Title 1"/>
          <p:cNvSpPr txBox="1">
            <a:spLocks/>
          </p:cNvSpPr>
          <p:nvPr/>
        </p:nvSpPr>
        <p:spPr>
          <a:xfrm>
            <a:off x="111760" y="1403983"/>
            <a:ext cx="11958320" cy="2585323"/>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AutoNum type="arabicPeriod"/>
            </a:pPr>
            <a:r>
              <a:rPr lang="en-US" sz="2000" b="1" dirty="0" smtClean="0">
                <a:solidFill>
                  <a:srgbClr val="C00000"/>
                </a:solidFill>
                <a:latin typeface="+mn-lt"/>
                <a:ea typeface="+mn-ea"/>
                <a:cs typeface="+mn-cs"/>
              </a:rPr>
              <a:t>Performance Optimization &amp; UI - Monitoring &amp; Logging – We will see </a:t>
            </a:r>
            <a:r>
              <a:rPr lang="en-US" sz="2000" b="1" dirty="0" err="1" smtClean="0">
                <a:solidFill>
                  <a:srgbClr val="C00000"/>
                </a:solidFill>
                <a:latin typeface="+mn-lt"/>
                <a:ea typeface="+mn-ea"/>
                <a:cs typeface="+mn-cs"/>
              </a:rPr>
              <a:t>seperately</a:t>
            </a:r>
            <a:endParaRPr lang="en-US" sz="2000" b="1" dirty="0" smtClean="0">
              <a:solidFill>
                <a:srgbClr val="C00000"/>
              </a:solidFill>
              <a:latin typeface="+mn-lt"/>
              <a:ea typeface="+mn-ea"/>
              <a:cs typeface="+mn-cs"/>
            </a:endParaRPr>
          </a:p>
          <a:p>
            <a:pPr marL="457200" indent="-457200">
              <a:buAutoNum type="arabicPeriod"/>
            </a:pPr>
            <a:r>
              <a:rPr lang="en-US" sz="2000" b="1" dirty="0" smtClean="0">
                <a:solidFill>
                  <a:srgbClr val="C00000"/>
                </a:solidFill>
                <a:latin typeface="+mn-lt"/>
                <a:ea typeface="+mn-ea"/>
                <a:cs typeface="+mn-cs"/>
              </a:rPr>
              <a:t>How to integrate/amalgamate Azure/</a:t>
            </a:r>
            <a:r>
              <a:rPr lang="en-US" sz="2000" b="1" dirty="0" err="1" smtClean="0">
                <a:solidFill>
                  <a:srgbClr val="C00000"/>
                </a:solidFill>
                <a:latin typeface="+mn-lt"/>
                <a:ea typeface="+mn-ea"/>
                <a:cs typeface="+mn-cs"/>
              </a:rPr>
              <a:t>anycloud</a:t>
            </a:r>
            <a:r>
              <a:rPr lang="en-US" sz="2000" b="1" dirty="0" smtClean="0">
                <a:solidFill>
                  <a:srgbClr val="C00000"/>
                </a:solidFill>
                <a:latin typeface="+mn-lt"/>
                <a:ea typeface="+mn-ea"/>
                <a:cs typeface="+mn-cs"/>
              </a:rPr>
              <a:t> &amp; Databricks?</a:t>
            </a:r>
          </a:p>
          <a:p>
            <a:r>
              <a:rPr lang="en-US" sz="1600" dirty="0" smtClean="0">
                <a:solidFill>
                  <a:srgbClr val="C00000"/>
                </a:solidFill>
                <a:latin typeface="+mn-lt"/>
                <a:ea typeface="+mn-ea"/>
                <a:cs typeface="+mn-cs"/>
              </a:rPr>
              <a:t>  A. How </a:t>
            </a:r>
            <a:r>
              <a:rPr lang="en-US" sz="1600" dirty="0" err="1" smtClean="0">
                <a:solidFill>
                  <a:srgbClr val="C00000"/>
                </a:solidFill>
                <a:latin typeface="+mn-lt"/>
                <a:ea typeface="+mn-ea"/>
                <a:cs typeface="+mn-cs"/>
              </a:rPr>
              <a:t>databricks</a:t>
            </a:r>
            <a:r>
              <a:rPr lang="en-US" sz="1600" dirty="0" smtClean="0">
                <a:solidFill>
                  <a:srgbClr val="C00000"/>
                </a:solidFill>
                <a:latin typeface="+mn-lt"/>
                <a:ea typeface="+mn-ea"/>
                <a:cs typeface="+mn-cs"/>
              </a:rPr>
              <a:t> fit under Azure hierarchy? We know (Res group, res)</a:t>
            </a:r>
          </a:p>
          <a:p>
            <a:r>
              <a:rPr lang="en-US" sz="1600" dirty="0" smtClean="0">
                <a:solidFill>
                  <a:srgbClr val="C00000"/>
                </a:solidFill>
                <a:latin typeface="+mn-lt"/>
              </a:rPr>
              <a:t>  B. </a:t>
            </a:r>
            <a:r>
              <a:rPr lang="en-US" sz="1600" dirty="0">
                <a:solidFill>
                  <a:srgbClr val="C00000"/>
                </a:solidFill>
                <a:latin typeface="+mn-lt"/>
              </a:rPr>
              <a:t>How </a:t>
            </a:r>
            <a:r>
              <a:rPr lang="en-US" sz="1600" dirty="0" err="1">
                <a:solidFill>
                  <a:srgbClr val="C00000"/>
                </a:solidFill>
                <a:latin typeface="+mn-lt"/>
              </a:rPr>
              <a:t>databricks</a:t>
            </a:r>
            <a:r>
              <a:rPr lang="en-US" sz="1600" dirty="0">
                <a:solidFill>
                  <a:srgbClr val="C00000"/>
                </a:solidFill>
                <a:latin typeface="+mn-lt"/>
              </a:rPr>
              <a:t> fit under Azure </a:t>
            </a:r>
            <a:r>
              <a:rPr lang="en-US" sz="1600" dirty="0" smtClean="0">
                <a:solidFill>
                  <a:srgbClr val="C00000"/>
                </a:solidFill>
                <a:latin typeface="+mn-lt"/>
              </a:rPr>
              <a:t>Compute + Network? </a:t>
            </a:r>
            <a:r>
              <a:rPr lang="en-US" sz="1600" dirty="0">
                <a:solidFill>
                  <a:srgbClr val="C00000"/>
                </a:solidFill>
                <a:latin typeface="+mn-lt"/>
              </a:rPr>
              <a:t>We </a:t>
            </a:r>
            <a:r>
              <a:rPr lang="en-US" sz="1600" dirty="0" smtClean="0">
                <a:solidFill>
                  <a:srgbClr val="C00000"/>
                </a:solidFill>
                <a:latin typeface="+mn-lt"/>
              </a:rPr>
              <a:t>know (Workspace creation under network &amp; VM types/pool/policies/</a:t>
            </a:r>
            <a:r>
              <a:rPr lang="en-US" sz="1600" dirty="0" err="1" smtClean="0">
                <a:solidFill>
                  <a:srgbClr val="C00000"/>
                </a:solidFill>
                <a:latin typeface="+mn-lt"/>
              </a:rPr>
              <a:t>configs</a:t>
            </a:r>
            <a:r>
              <a:rPr lang="en-US" sz="1600" dirty="0" smtClean="0">
                <a:solidFill>
                  <a:srgbClr val="C00000"/>
                </a:solidFill>
                <a:latin typeface="+mn-lt"/>
              </a:rPr>
              <a:t>)</a:t>
            </a:r>
          </a:p>
          <a:p>
            <a:r>
              <a:rPr lang="en-US" sz="1600" dirty="0" smtClean="0">
                <a:solidFill>
                  <a:srgbClr val="C00000"/>
                </a:solidFill>
                <a:latin typeface="+mn-lt"/>
              </a:rPr>
              <a:t>  C. How </a:t>
            </a:r>
            <a:r>
              <a:rPr lang="en-US" sz="1600" dirty="0" err="1" smtClean="0">
                <a:solidFill>
                  <a:srgbClr val="C00000"/>
                </a:solidFill>
                <a:latin typeface="+mn-lt"/>
              </a:rPr>
              <a:t>databricks</a:t>
            </a:r>
            <a:r>
              <a:rPr lang="en-US" sz="1600" dirty="0" smtClean="0">
                <a:solidFill>
                  <a:srgbClr val="C00000"/>
                </a:solidFill>
                <a:latin typeface="+mn-lt"/>
              </a:rPr>
              <a:t> works with </a:t>
            </a:r>
            <a:r>
              <a:rPr lang="en-US" sz="1600" b="1" dirty="0" smtClean="0">
                <a:solidFill>
                  <a:srgbClr val="C00000"/>
                </a:solidFill>
                <a:latin typeface="+mn-lt"/>
              </a:rPr>
              <a:t>Security</a:t>
            </a:r>
            <a:r>
              <a:rPr lang="en-US" sz="1600" dirty="0" smtClean="0">
                <a:solidFill>
                  <a:srgbClr val="C00000"/>
                </a:solidFill>
                <a:latin typeface="+mn-lt"/>
              </a:rPr>
              <a:t>? IAM/RBAC, ACLs, Managed Identity, SP, </a:t>
            </a:r>
            <a:r>
              <a:rPr lang="en-US" sz="1600" b="1" dirty="0" smtClean="0">
                <a:solidFill>
                  <a:srgbClr val="00B050"/>
                </a:solidFill>
                <a:latin typeface="+mn-lt"/>
              </a:rPr>
              <a:t>Access keys</a:t>
            </a:r>
            <a:r>
              <a:rPr lang="en-US" sz="1600" b="1" dirty="0" smtClean="0">
                <a:solidFill>
                  <a:srgbClr val="C00000"/>
                </a:solidFill>
                <a:latin typeface="+mn-lt"/>
              </a:rPr>
              <a:t>, </a:t>
            </a:r>
            <a:r>
              <a:rPr lang="en-US" sz="1600" b="1" dirty="0" smtClean="0">
                <a:solidFill>
                  <a:srgbClr val="00B050"/>
                </a:solidFill>
                <a:latin typeface="+mn-lt"/>
              </a:rPr>
              <a:t>SAS</a:t>
            </a:r>
            <a:r>
              <a:rPr lang="en-US" sz="1600" dirty="0" smtClean="0">
                <a:solidFill>
                  <a:srgbClr val="C00000"/>
                </a:solidFill>
                <a:latin typeface="+mn-lt"/>
              </a:rPr>
              <a:t>, AKV, Secret scope</a:t>
            </a:r>
          </a:p>
          <a:p>
            <a:r>
              <a:rPr lang="en-US" sz="1600" dirty="0" smtClean="0">
                <a:solidFill>
                  <a:srgbClr val="C00000"/>
                </a:solidFill>
                <a:latin typeface="+mn-lt"/>
              </a:rPr>
              <a:t>  D. </a:t>
            </a:r>
            <a:r>
              <a:rPr lang="en-US" sz="1600" dirty="0">
                <a:solidFill>
                  <a:srgbClr val="C00000"/>
                </a:solidFill>
                <a:latin typeface="+mn-lt"/>
              </a:rPr>
              <a:t>How </a:t>
            </a:r>
            <a:r>
              <a:rPr lang="en-US" sz="1600" dirty="0" err="1">
                <a:solidFill>
                  <a:srgbClr val="C00000"/>
                </a:solidFill>
                <a:latin typeface="+mn-lt"/>
              </a:rPr>
              <a:t>databricks</a:t>
            </a:r>
            <a:r>
              <a:rPr lang="en-US" sz="1600" dirty="0">
                <a:solidFill>
                  <a:srgbClr val="C00000"/>
                </a:solidFill>
                <a:latin typeface="+mn-lt"/>
              </a:rPr>
              <a:t> works with </a:t>
            </a:r>
            <a:r>
              <a:rPr lang="en-US" sz="1600" b="1" dirty="0" smtClean="0">
                <a:solidFill>
                  <a:srgbClr val="C00000"/>
                </a:solidFill>
                <a:latin typeface="+mn-lt"/>
              </a:rPr>
              <a:t>Storage</a:t>
            </a:r>
            <a:r>
              <a:rPr lang="en-US" sz="1600" dirty="0" smtClean="0">
                <a:solidFill>
                  <a:srgbClr val="C00000"/>
                </a:solidFill>
                <a:latin typeface="+mn-lt"/>
              </a:rPr>
              <a:t>?  </a:t>
            </a:r>
            <a:r>
              <a:rPr lang="en-US" sz="1600" b="1" dirty="0" smtClean="0">
                <a:solidFill>
                  <a:srgbClr val="00B050"/>
                </a:solidFill>
                <a:latin typeface="+mn-lt"/>
              </a:rPr>
              <a:t>BLOB</a:t>
            </a:r>
            <a:r>
              <a:rPr lang="en-US" sz="1600" dirty="0" smtClean="0">
                <a:solidFill>
                  <a:srgbClr val="C00000"/>
                </a:solidFill>
                <a:latin typeface="+mn-lt"/>
              </a:rPr>
              <a:t> &amp; </a:t>
            </a:r>
            <a:r>
              <a:rPr lang="en-US" sz="1600" b="1" dirty="0" smtClean="0">
                <a:solidFill>
                  <a:srgbClr val="00B050"/>
                </a:solidFill>
                <a:latin typeface="+mn-lt"/>
              </a:rPr>
              <a:t>ADLS</a:t>
            </a:r>
            <a:r>
              <a:rPr lang="en-US" sz="1600" dirty="0" smtClean="0">
                <a:solidFill>
                  <a:srgbClr val="C00000"/>
                </a:solidFill>
                <a:latin typeface="+mn-lt"/>
              </a:rPr>
              <a:t> not by using DBFS.</a:t>
            </a:r>
          </a:p>
          <a:p>
            <a:r>
              <a:rPr lang="en-US" sz="2000" b="1" dirty="0" smtClean="0">
                <a:solidFill>
                  <a:srgbClr val="C00000"/>
                </a:solidFill>
              </a:rPr>
              <a:t>3. How </a:t>
            </a:r>
            <a:r>
              <a:rPr lang="en-US" sz="2000" b="1" dirty="0">
                <a:solidFill>
                  <a:srgbClr val="C00000"/>
                </a:solidFill>
              </a:rPr>
              <a:t>to integrate/amalgamate Azure/</a:t>
            </a:r>
            <a:r>
              <a:rPr lang="en-US" sz="2000" b="1" dirty="0" err="1">
                <a:solidFill>
                  <a:srgbClr val="C00000"/>
                </a:solidFill>
              </a:rPr>
              <a:t>anycloud</a:t>
            </a:r>
            <a:r>
              <a:rPr lang="en-US" sz="2000" b="1" dirty="0">
                <a:solidFill>
                  <a:srgbClr val="C00000"/>
                </a:solidFill>
              </a:rPr>
              <a:t> &amp; Databricks</a:t>
            </a:r>
            <a:r>
              <a:rPr lang="en-US" sz="2000" b="1" dirty="0" smtClean="0">
                <a:solidFill>
                  <a:srgbClr val="C00000"/>
                </a:solidFill>
              </a:rPr>
              <a:t>?</a:t>
            </a:r>
          </a:p>
          <a:p>
            <a:r>
              <a:rPr lang="en-US" sz="1600" dirty="0">
                <a:solidFill>
                  <a:srgbClr val="C00000"/>
                </a:solidFill>
              </a:rPr>
              <a:t> A. </a:t>
            </a:r>
            <a:r>
              <a:rPr lang="en-US" sz="1600" dirty="0" smtClean="0">
                <a:solidFill>
                  <a:srgbClr val="C00000"/>
                </a:solidFill>
              </a:rPr>
              <a:t>Databricks Data engineering extended learning (was restricted in Databricks free edition)</a:t>
            </a:r>
            <a:endParaRPr lang="en-US" sz="1600" dirty="0">
              <a:solidFill>
                <a:srgbClr val="C00000"/>
              </a:solidFill>
              <a:latin typeface="+mn-lt"/>
            </a:endParaRPr>
          </a:p>
          <a:p>
            <a:endParaRPr lang="en-US" sz="2000" b="1" dirty="0">
              <a:solidFill>
                <a:srgbClr val="C00000"/>
              </a:solidFill>
            </a:endParaRPr>
          </a:p>
          <a:p>
            <a:endParaRPr lang="en-US" sz="2000" b="1" dirty="0">
              <a:solidFill>
                <a:srgbClr val="C00000"/>
              </a:solidFill>
              <a:latin typeface="+mn-lt"/>
              <a:ea typeface="+mn-ea"/>
              <a:cs typeface="+mn-cs"/>
            </a:endParaRPr>
          </a:p>
        </p:txBody>
      </p:sp>
    </p:spTree>
    <p:extLst>
      <p:ext uri="{BB962C8B-B14F-4D97-AF65-F5344CB8AC3E}">
        <p14:creationId xmlns:p14="http://schemas.microsoft.com/office/powerpoint/2010/main" val="31567856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a:spLocks noGrp="1"/>
          </p:cNvSpPr>
          <p:nvPr>
            <p:ph type="title"/>
          </p:nvPr>
        </p:nvSpPr>
        <p:spPr>
          <a:xfrm>
            <a:off x="0" y="-17866"/>
            <a:ext cx="6777318" cy="369332"/>
          </a:xfrm>
        </p:spPr>
        <p:txBody>
          <a:bodyPr wrap="square">
            <a:spAutoFit/>
          </a:bodyPr>
          <a:lstStyle/>
          <a:p>
            <a:r>
              <a:rPr lang="en-US" sz="2000" b="1" dirty="0" smtClean="0">
                <a:solidFill>
                  <a:srgbClr val="C00000"/>
                </a:solidFill>
                <a:latin typeface="+mn-lt"/>
                <a:ea typeface="+mn-ea"/>
                <a:cs typeface="+mn-cs"/>
              </a:rPr>
              <a:t>Performance Optimization &amp; UI - Monitoring &amp; Logging ???</a:t>
            </a:r>
            <a:endParaRPr lang="en-US" sz="2000" b="1" dirty="0">
              <a:solidFill>
                <a:srgbClr val="C00000"/>
              </a:solidFill>
              <a:latin typeface="+mn-lt"/>
              <a:ea typeface="+mn-ea"/>
              <a:cs typeface="+mn-cs"/>
            </a:endParaRPr>
          </a:p>
        </p:txBody>
      </p:sp>
    </p:spTree>
    <p:extLst>
      <p:ext uri="{BB962C8B-B14F-4D97-AF65-F5344CB8AC3E}">
        <p14:creationId xmlns:p14="http://schemas.microsoft.com/office/powerpoint/2010/main" val="11646322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a:spLocks noGrp="1"/>
          </p:cNvSpPr>
          <p:nvPr>
            <p:ph type="title"/>
          </p:nvPr>
        </p:nvSpPr>
        <p:spPr>
          <a:xfrm>
            <a:off x="0" y="0"/>
            <a:ext cx="6777318" cy="369332"/>
          </a:xfrm>
        </p:spPr>
        <p:txBody>
          <a:bodyPr wrap="square">
            <a:spAutoFit/>
          </a:bodyPr>
          <a:lstStyle/>
          <a:p>
            <a:r>
              <a:rPr lang="en-US" sz="2000" b="1" dirty="0" smtClean="0">
                <a:solidFill>
                  <a:srgbClr val="C00000"/>
                </a:solidFill>
                <a:latin typeface="+mn-lt"/>
                <a:ea typeface="+mn-ea"/>
                <a:cs typeface="+mn-cs"/>
              </a:rPr>
              <a:t>Databricks Pricing ???</a:t>
            </a:r>
            <a:endParaRPr lang="en-US" sz="2000" b="1" dirty="0">
              <a:solidFill>
                <a:srgbClr val="C00000"/>
              </a:solidFill>
              <a:latin typeface="+mn-lt"/>
              <a:ea typeface="+mn-ea"/>
              <a:cs typeface="+mn-cs"/>
            </a:endParaRPr>
          </a:p>
        </p:txBody>
      </p:sp>
    </p:spTree>
    <p:extLst>
      <p:ext uri="{BB962C8B-B14F-4D97-AF65-F5344CB8AC3E}">
        <p14:creationId xmlns:p14="http://schemas.microsoft.com/office/powerpoint/2010/main" val="12640583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descr="Software versions comparison ch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2"/>
          <p:cNvSpPr txBox="1">
            <a:spLocks noChangeArrowheads="1"/>
          </p:cNvSpPr>
          <p:nvPr/>
        </p:nvSpPr>
        <p:spPr>
          <a:xfrm>
            <a:off x="86622" y="394083"/>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u="sng" dirty="0" smtClean="0"/>
              <a:t>Usecase1: Integrating Azure Storage &amp; Security with Databricks</a:t>
            </a:r>
          </a:p>
          <a:p>
            <a:pPr marL="457200" indent="-457200">
              <a:buAutoNum type="alphaUcPeriod"/>
            </a:pPr>
            <a:r>
              <a:rPr lang="en-US" sz="2400" dirty="0" smtClean="0"/>
              <a:t>Reading </a:t>
            </a:r>
            <a:r>
              <a:rPr lang="en-US" sz="2400" dirty="0" smtClean="0"/>
              <a:t>BLOB using SAS &amp; Writing ADLS data using access </a:t>
            </a:r>
            <a:r>
              <a:rPr lang="en-US" sz="2400" dirty="0" smtClean="0"/>
              <a:t>keys</a:t>
            </a:r>
          </a:p>
          <a:p>
            <a:pPr marL="457200" indent="-457200">
              <a:buAutoNum type="alphaUcPeriod"/>
            </a:pPr>
            <a:r>
              <a:rPr lang="en-US" sz="2400" dirty="0" smtClean="0"/>
              <a:t>Reading ADLS using other security methodologies</a:t>
            </a:r>
            <a:endParaRPr lang="en-IN" sz="2400" dirty="0"/>
          </a:p>
          <a:p>
            <a:endParaRPr lang="en-US" sz="3200" dirty="0"/>
          </a:p>
        </p:txBody>
      </p:sp>
      <p:sp>
        <p:nvSpPr>
          <p:cNvPr id="2" name="TextBox 1"/>
          <p:cNvSpPr txBox="1"/>
          <p:nvPr/>
        </p:nvSpPr>
        <p:spPr>
          <a:xfrm>
            <a:off x="36779" y="2539158"/>
            <a:ext cx="6237021" cy="3647152"/>
          </a:xfrm>
          <a:prstGeom prst="rect">
            <a:avLst/>
          </a:prstGeom>
          <a:noFill/>
        </p:spPr>
        <p:txBody>
          <a:bodyPr wrap="square" rtlCol="0">
            <a:spAutoFit/>
          </a:bodyPr>
          <a:lstStyle/>
          <a:p>
            <a:r>
              <a:rPr lang="en-IN" sz="1100" dirty="0" smtClean="0"/>
              <a:t>#Read data from BLOB using SAS token</a:t>
            </a:r>
          </a:p>
          <a:p>
            <a:r>
              <a:rPr lang="en-IN" sz="1100" dirty="0" err="1" smtClean="0"/>
              <a:t>storage_account</a:t>
            </a:r>
            <a:r>
              <a:rPr lang="en-IN" sz="1100" dirty="0" smtClean="0"/>
              <a:t> </a:t>
            </a:r>
            <a:r>
              <a:rPr lang="en-IN" sz="1100" dirty="0"/>
              <a:t>= "wd36blobstorageacct2"</a:t>
            </a:r>
          </a:p>
          <a:p>
            <a:r>
              <a:rPr lang="en-IN" sz="1100" dirty="0" err="1"/>
              <a:t>container_name</a:t>
            </a:r>
            <a:r>
              <a:rPr lang="en-IN" sz="1100" dirty="0"/>
              <a:t> = "container1"</a:t>
            </a:r>
          </a:p>
          <a:p>
            <a:r>
              <a:rPr lang="en-IN" sz="1100" dirty="0" err="1"/>
              <a:t>sas_token</a:t>
            </a:r>
            <a:r>
              <a:rPr lang="en-IN" sz="1100" dirty="0"/>
              <a:t> = "</a:t>
            </a:r>
            <a:r>
              <a:rPr lang="en-IN" sz="1100" dirty="0" err="1"/>
              <a:t>sv</a:t>
            </a:r>
            <a:r>
              <a:rPr lang="en-IN" sz="1100" dirty="0"/>
              <a:t>=2024-11-04&amp;ss=</a:t>
            </a:r>
            <a:r>
              <a:rPr lang="en-IN" sz="1100" dirty="0" err="1"/>
              <a:t>b&amp;srt</a:t>
            </a:r>
            <a:r>
              <a:rPr lang="en-IN" sz="1100" dirty="0"/>
              <a:t>=</a:t>
            </a:r>
            <a:r>
              <a:rPr lang="en-IN" sz="1100" dirty="0" err="1"/>
              <a:t>co&amp;sp</a:t>
            </a:r>
            <a:r>
              <a:rPr lang="en-IN" sz="1100" dirty="0"/>
              <a:t>=</a:t>
            </a:r>
            <a:r>
              <a:rPr lang="en-IN" sz="1100" dirty="0" err="1"/>
              <a:t>rwdlaciyx&amp;se</a:t>
            </a:r>
            <a:r>
              <a:rPr lang="en-IN" sz="1100" dirty="0"/>
              <a:t>=2026-04-06T01:24:57Z&amp;st=2026-04-05T17:09:57Z&amp;spr=</a:t>
            </a:r>
            <a:r>
              <a:rPr lang="en-IN" sz="1100" dirty="0" err="1"/>
              <a:t>https&amp;sig</a:t>
            </a:r>
            <a:r>
              <a:rPr lang="en-IN" sz="1100" dirty="0"/>
              <a:t>=IBrByOt9w7%2BQvZC%2F%2FmJFDSfgjEQc8YMIM17L2%2FVJDjY%3D"</a:t>
            </a:r>
          </a:p>
          <a:p>
            <a:r>
              <a:rPr lang="en-IN" sz="1100" dirty="0" err="1"/>
              <a:t>spark.conf.set</a:t>
            </a:r>
            <a:r>
              <a:rPr lang="en-IN" sz="1100" dirty="0"/>
              <a:t>(</a:t>
            </a:r>
            <a:r>
              <a:rPr lang="en-IN" sz="1100" dirty="0" err="1"/>
              <a:t>f"fs.azure.sas</a:t>
            </a:r>
            <a:r>
              <a:rPr lang="en-IN" sz="1100" dirty="0"/>
              <a:t>.{</a:t>
            </a:r>
            <a:r>
              <a:rPr lang="en-IN" sz="1100" dirty="0" err="1"/>
              <a:t>container_name</a:t>
            </a:r>
            <a:r>
              <a:rPr lang="en-IN" sz="1100" dirty="0"/>
              <a:t>}.{</a:t>
            </a:r>
            <a:r>
              <a:rPr lang="en-IN" sz="1100" dirty="0" err="1"/>
              <a:t>storage_account</a:t>
            </a:r>
            <a:r>
              <a:rPr lang="en-IN" sz="1100" dirty="0"/>
              <a:t>}.blob.core.windows.net",</a:t>
            </a:r>
            <a:r>
              <a:rPr lang="en-IN" sz="1100" dirty="0" err="1"/>
              <a:t>sas_token</a:t>
            </a:r>
            <a:r>
              <a:rPr lang="en-IN" sz="1100" dirty="0"/>
              <a:t>)</a:t>
            </a:r>
          </a:p>
          <a:p>
            <a:r>
              <a:rPr lang="en-IN" sz="1100" dirty="0"/>
              <a:t/>
            </a:r>
            <a:br>
              <a:rPr lang="en-IN" sz="1100" dirty="0"/>
            </a:br>
            <a:r>
              <a:rPr lang="en-IN" sz="1100" dirty="0"/>
              <a:t>path = </a:t>
            </a:r>
            <a:r>
              <a:rPr lang="en-IN" sz="1100" dirty="0" err="1"/>
              <a:t>f"wasbs</a:t>
            </a:r>
            <a:r>
              <a:rPr lang="en-IN" sz="1100" dirty="0"/>
              <a:t>://{</a:t>
            </a:r>
            <a:r>
              <a:rPr lang="en-IN" sz="1100" dirty="0" err="1"/>
              <a:t>container_name</a:t>
            </a:r>
            <a:r>
              <a:rPr lang="en-IN" sz="1100" dirty="0"/>
              <a:t>}@{</a:t>
            </a:r>
            <a:r>
              <a:rPr lang="en-IN" sz="1100" dirty="0" err="1"/>
              <a:t>storage_account</a:t>
            </a:r>
            <a:r>
              <a:rPr lang="en-IN" sz="1100" dirty="0"/>
              <a:t>}.blob.core.windows.net/</a:t>
            </a:r>
            <a:r>
              <a:rPr lang="en-IN" sz="1100" dirty="0" err="1"/>
              <a:t>sourcedir</a:t>
            </a:r>
            <a:r>
              <a:rPr lang="en-IN" sz="1100" dirty="0"/>
              <a:t>/"</a:t>
            </a:r>
          </a:p>
          <a:p>
            <a:r>
              <a:rPr lang="en-IN" sz="1100" dirty="0"/>
              <a:t/>
            </a:r>
            <a:br>
              <a:rPr lang="en-IN" sz="1100" dirty="0"/>
            </a:br>
            <a:r>
              <a:rPr lang="en-IN" sz="1100" dirty="0" err="1"/>
              <a:t>df</a:t>
            </a:r>
            <a:r>
              <a:rPr lang="en-IN" sz="1100" dirty="0"/>
              <a:t> = spark.read.csv(</a:t>
            </a:r>
            <a:r>
              <a:rPr lang="en-IN" sz="1100" dirty="0" err="1"/>
              <a:t>path,header</a:t>
            </a:r>
            <a:r>
              <a:rPr lang="en-IN" sz="1100" dirty="0"/>
              <a:t>=True)</a:t>
            </a:r>
          </a:p>
          <a:p>
            <a:r>
              <a:rPr lang="en-IN" sz="1100" dirty="0"/>
              <a:t>display(</a:t>
            </a:r>
            <a:r>
              <a:rPr lang="en-IN" sz="1100" dirty="0" err="1"/>
              <a:t>df</a:t>
            </a:r>
            <a:r>
              <a:rPr lang="en-IN" sz="1100" dirty="0" smtClean="0"/>
              <a:t>)</a:t>
            </a:r>
          </a:p>
          <a:p>
            <a:endParaRPr lang="en-IN" sz="1100" dirty="0"/>
          </a:p>
          <a:p>
            <a:r>
              <a:rPr lang="en-IN" sz="1100" dirty="0" smtClean="0"/>
              <a:t>#Write data into ADLS using Access key</a:t>
            </a:r>
          </a:p>
          <a:p>
            <a:r>
              <a:rPr lang="en-IN" sz="1100" dirty="0" err="1"/>
              <a:t>adlsacct</a:t>
            </a:r>
            <a:r>
              <a:rPr lang="en-IN" sz="1100" dirty="0"/>
              <a:t>='wd36blobstorageacct1'</a:t>
            </a:r>
          </a:p>
          <a:p>
            <a:r>
              <a:rPr lang="en-IN" sz="1100" dirty="0" err="1"/>
              <a:t>containername</a:t>
            </a:r>
            <a:r>
              <a:rPr lang="en-IN" sz="1100" dirty="0"/>
              <a:t>='container11'</a:t>
            </a:r>
          </a:p>
          <a:p>
            <a:r>
              <a:rPr lang="en-IN" sz="1100" dirty="0" err="1"/>
              <a:t>accesskey</a:t>
            </a:r>
            <a:r>
              <a:rPr lang="en-IN" sz="1100" dirty="0"/>
              <a:t>='eB248csrKyfpaJ4owuoLUAsMRin2G+p4KI8zgF2wnvdBX9icn73GnYUYVEbHjvOdfWMPgP9Uk99y+AStt5BO3Q=='</a:t>
            </a:r>
          </a:p>
          <a:p>
            <a:r>
              <a:rPr lang="en-IN" sz="1100" dirty="0" err="1"/>
              <a:t>spark.conf.set</a:t>
            </a:r>
            <a:r>
              <a:rPr lang="en-IN" sz="1100" dirty="0"/>
              <a:t>(</a:t>
            </a:r>
            <a:r>
              <a:rPr lang="en-IN" sz="1100" dirty="0" err="1"/>
              <a:t>f"fs.azure.account.key</a:t>
            </a:r>
            <a:r>
              <a:rPr lang="en-IN" sz="1100" dirty="0"/>
              <a:t>.{</a:t>
            </a:r>
            <a:r>
              <a:rPr lang="en-IN" sz="1100" dirty="0" err="1"/>
              <a:t>adlsacct</a:t>
            </a:r>
            <a:r>
              <a:rPr lang="en-IN" sz="1100" dirty="0"/>
              <a:t>}.dfs.core.windows.net",</a:t>
            </a:r>
            <a:r>
              <a:rPr lang="en-IN" sz="1100" dirty="0" err="1"/>
              <a:t>accesskey</a:t>
            </a:r>
            <a:r>
              <a:rPr lang="en-IN" sz="1100" dirty="0"/>
              <a:t>)</a:t>
            </a:r>
          </a:p>
          <a:p>
            <a:r>
              <a:rPr lang="en-IN" sz="1100" dirty="0"/>
              <a:t>path = </a:t>
            </a:r>
            <a:r>
              <a:rPr lang="en-IN" sz="1100" dirty="0" err="1"/>
              <a:t>f"abfss</a:t>
            </a:r>
            <a:r>
              <a:rPr lang="en-IN" sz="1100" dirty="0"/>
              <a:t>://{</a:t>
            </a:r>
            <a:r>
              <a:rPr lang="en-IN" sz="1100" dirty="0" err="1"/>
              <a:t>containername</a:t>
            </a:r>
            <a:r>
              <a:rPr lang="en-IN" sz="1100" dirty="0"/>
              <a:t>}@{</a:t>
            </a:r>
            <a:r>
              <a:rPr lang="en-IN" sz="1100" dirty="0" err="1"/>
              <a:t>adlsacct</a:t>
            </a:r>
            <a:r>
              <a:rPr lang="en-IN" sz="1100" dirty="0"/>
              <a:t>}.dfs.core.windows.net/</a:t>
            </a:r>
            <a:r>
              <a:rPr lang="en-IN" sz="1100" dirty="0" err="1"/>
              <a:t>targetdir</a:t>
            </a:r>
            <a:r>
              <a:rPr lang="en-IN" sz="1100" dirty="0"/>
              <a:t>/"</a:t>
            </a:r>
          </a:p>
          <a:p>
            <a:r>
              <a:rPr lang="en-IN" sz="1100" dirty="0" err="1"/>
              <a:t>df.write.mode</a:t>
            </a:r>
            <a:r>
              <a:rPr lang="en-IN" sz="1100" dirty="0"/>
              <a:t>("overwrite").csv(</a:t>
            </a:r>
            <a:r>
              <a:rPr lang="en-IN" sz="1100" dirty="0" err="1"/>
              <a:t>path,header</a:t>
            </a:r>
            <a:r>
              <a:rPr lang="en-IN" sz="1100" dirty="0"/>
              <a:t>=True</a:t>
            </a:r>
            <a:r>
              <a:rPr lang="en-IN" sz="1100" dirty="0" smtClean="0"/>
              <a:t>)</a:t>
            </a:r>
          </a:p>
          <a:p>
            <a:endParaRPr lang="en-IN" sz="1100" dirty="0"/>
          </a:p>
        </p:txBody>
      </p:sp>
      <p:sp>
        <p:nvSpPr>
          <p:cNvPr id="5" name="Rectangle 4"/>
          <p:cNvSpPr/>
          <p:nvPr/>
        </p:nvSpPr>
        <p:spPr>
          <a:xfrm>
            <a:off x="103714" y="1147664"/>
            <a:ext cx="11918950" cy="1384995"/>
          </a:xfrm>
          <a:prstGeom prst="rect">
            <a:avLst/>
          </a:prstGeom>
        </p:spPr>
        <p:txBody>
          <a:bodyPr wrap="square">
            <a:spAutoFit/>
          </a:bodyPr>
          <a:lstStyle/>
          <a:p>
            <a:pPr marL="342900" indent="-342900">
              <a:buAutoNum type="arabicPeriod"/>
            </a:pPr>
            <a:r>
              <a:rPr lang="en-IN" sz="1400" b="1" dirty="0" smtClean="0"/>
              <a:t>Create blob Container/</a:t>
            </a:r>
            <a:r>
              <a:rPr lang="en-IN" sz="1400" b="1" dirty="0" err="1" smtClean="0"/>
              <a:t>sourcedir</a:t>
            </a:r>
            <a:r>
              <a:rPr lang="en-IN" sz="1400" b="1" dirty="0" smtClean="0"/>
              <a:t>/</a:t>
            </a:r>
          </a:p>
          <a:p>
            <a:pPr marL="342900" indent="-342900">
              <a:buAutoNum type="arabicPeriod"/>
            </a:pPr>
            <a:r>
              <a:rPr lang="en-IN" sz="1400" b="1" dirty="0"/>
              <a:t>Import sample data inside the above dir. </a:t>
            </a:r>
            <a:r>
              <a:rPr lang="en-IN" sz="1400" b="1" dirty="0">
                <a:solidFill>
                  <a:srgbClr val="C00000"/>
                </a:solidFill>
                <a:hlinkClick r:id="rId2"/>
              </a:rPr>
              <a:t>https://</a:t>
            </a:r>
            <a:r>
              <a:rPr lang="en-IN" sz="1400" b="1" dirty="0" smtClean="0">
                <a:solidFill>
                  <a:srgbClr val="C00000"/>
                </a:solidFill>
                <a:hlinkClick r:id="rId2"/>
              </a:rPr>
              <a:t>drive.google.com/file/d/1X-uAU9Pyyssge8M_UtsSzcYZEb_5LSva/view?usp=drive_link</a:t>
            </a:r>
            <a:endParaRPr lang="en-IN" sz="1400" b="1" dirty="0" smtClean="0">
              <a:solidFill>
                <a:srgbClr val="C00000"/>
              </a:solidFill>
            </a:endParaRPr>
          </a:p>
          <a:p>
            <a:pPr marL="342900" indent="-342900">
              <a:buAutoNum type="arabicPeriod"/>
            </a:pPr>
            <a:r>
              <a:rPr lang="en-IN" sz="1400" b="1" dirty="0"/>
              <a:t>Create </a:t>
            </a:r>
            <a:r>
              <a:rPr lang="en-IN" sz="1400" b="1" dirty="0" err="1" smtClean="0"/>
              <a:t>adls</a:t>
            </a:r>
            <a:r>
              <a:rPr lang="en-IN" sz="1400" b="1" dirty="0" smtClean="0"/>
              <a:t> Container/</a:t>
            </a:r>
            <a:r>
              <a:rPr lang="en-IN" sz="1400" b="1" dirty="0" err="1" smtClean="0"/>
              <a:t>bronzedir</a:t>
            </a:r>
            <a:r>
              <a:rPr lang="en-IN" sz="1400" b="1" dirty="0" smtClean="0"/>
              <a:t>/</a:t>
            </a:r>
          </a:p>
          <a:p>
            <a:pPr marL="342900" indent="-342900">
              <a:buAutoNum type="arabicPeriod"/>
            </a:pPr>
            <a:r>
              <a:rPr lang="en-IN" sz="1400" b="1" dirty="0" smtClean="0"/>
              <a:t>Capture the SAS for blob &amp; </a:t>
            </a:r>
            <a:r>
              <a:rPr lang="en-IN" sz="1400" b="1" dirty="0" err="1" smtClean="0"/>
              <a:t>accesskeys</a:t>
            </a:r>
            <a:r>
              <a:rPr lang="en-IN" sz="1400" b="1" dirty="0" smtClean="0"/>
              <a:t> for </a:t>
            </a:r>
            <a:r>
              <a:rPr lang="en-IN" sz="1400" b="1" dirty="0" err="1" smtClean="0"/>
              <a:t>adls</a:t>
            </a:r>
            <a:r>
              <a:rPr lang="en-IN" sz="1400" b="1" dirty="0" smtClean="0"/>
              <a:t>.</a:t>
            </a:r>
          </a:p>
          <a:p>
            <a:pPr marL="342900" indent="-342900">
              <a:buAutoNum type="arabicPeriod"/>
            </a:pPr>
            <a:r>
              <a:rPr lang="en-IN" sz="1400" b="1" dirty="0" smtClean="0"/>
              <a:t>Setup the </a:t>
            </a:r>
            <a:r>
              <a:rPr lang="en-IN" sz="1400" b="1" dirty="0" err="1" smtClean="0"/>
              <a:t>config</a:t>
            </a:r>
            <a:r>
              <a:rPr lang="en-IN" sz="1400" b="1" dirty="0" smtClean="0"/>
              <a:t> with blob and </a:t>
            </a:r>
            <a:r>
              <a:rPr lang="en-IN" sz="1400" b="1" dirty="0" err="1" smtClean="0"/>
              <a:t>adls</a:t>
            </a:r>
            <a:r>
              <a:rPr lang="en-IN" sz="1400" b="1" dirty="0" smtClean="0"/>
              <a:t> </a:t>
            </a:r>
            <a:r>
              <a:rPr lang="en-IN" sz="1400" b="1" dirty="0" err="1" smtClean="0"/>
              <a:t>accesskeys</a:t>
            </a:r>
            <a:r>
              <a:rPr lang="en-IN" sz="1400" b="1" dirty="0"/>
              <a:t> </a:t>
            </a:r>
            <a:r>
              <a:rPr lang="en-IN" sz="1400" b="1" dirty="0" smtClean="0"/>
              <a:t>(as per the below code)</a:t>
            </a:r>
          </a:p>
          <a:p>
            <a:pPr marL="342900" indent="-342900">
              <a:buAutoNum type="arabicPeriod"/>
            </a:pPr>
            <a:r>
              <a:rPr lang="en-IN" sz="1400" b="1" dirty="0" smtClean="0"/>
              <a:t>Read the above data from source blob and write into the </a:t>
            </a:r>
            <a:r>
              <a:rPr lang="en-IN" sz="1400" b="1" dirty="0" err="1" smtClean="0"/>
              <a:t>abfss</a:t>
            </a:r>
            <a:r>
              <a:rPr lang="en-IN" sz="1400" b="1" dirty="0" smtClean="0"/>
              <a:t> bronze location</a:t>
            </a:r>
            <a:endParaRPr lang="cs-CZ" sz="1400" b="1" dirty="0">
              <a:solidFill>
                <a:srgbClr val="C00000"/>
              </a:solidFill>
            </a:endParaRPr>
          </a:p>
        </p:txBody>
      </p:sp>
      <p:grpSp>
        <p:nvGrpSpPr>
          <p:cNvPr id="28" name="Group 27"/>
          <p:cNvGrpSpPr/>
          <p:nvPr/>
        </p:nvGrpSpPr>
        <p:grpSpPr>
          <a:xfrm>
            <a:off x="6428817" y="2436761"/>
            <a:ext cx="5825157" cy="2640165"/>
            <a:chOff x="6335819" y="3245854"/>
            <a:chExt cx="5825157" cy="2640165"/>
          </a:xfrm>
        </p:grpSpPr>
        <p:sp>
          <p:nvSpPr>
            <p:cNvPr id="6" name="Rectangle 5"/>
            <p:cNvSpPr/>
            <p:nvPr/>
          </p:nvSpPr>
          <p:spPr>
            <a:xfrm>
              <a:off x="7277847" y="3687884"/>
              <a:ext cx="4821019" cy="1904999"/>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r>
                <a:rPr lang="en-US" b="1" dirty="0" smtClean="0">
                  <a:solidFill>
                    <a:schemeClr val="tx1"/>
                  </a:solidFill>
                </a:rPr>
                <a:t>                       </a:t>
              </a: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IN" b="1" dirty="0">
                <a:solidFill>
                  <a:schemeClr val="tx1"/>
                </a:solidFill>
              </a:endParaRPr>
            </a:p>
          </p:txBody>
        </p:sp>
        <p:grpSp>
          <p:nvGrpSpPr>
            <p:cNvPr id="8" name="Group 7"/>
            <p:cNvGrpSpPr/>
            <p:nvPr/>
          </p:nvGrpSpPr>
          <p:grpSpPr>
            <a:xfrm>
              <a:off x="11045100" y="4109484"/>
              <a:ext cx="770788" cy="1776535"/>
              <a:chOff x="2953580" y="4916280"/>
              <a:chExt cx="846372" cy="2149617"/>
            </a:xfrm>
          </p:grpSpPr>
          <p:pic>
            <p:nvPicPr>
              <p:cNvPr id="9" name="Picture 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87913" y="4916280"/>
                <a:ext cx="558651" cy="6179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1" name="TextBox 10"/>
              <p:cNvSpPr txBox="1"/>
              <p:nvPr/>
            </p:nvSpPr>
            <p:spPr>
              <a:xfrm>
                <a:off x="2953580" y="5762458"/>
                <a:ext cx="846372" cy="1303439"/>
              </a:xfrm>
              <a:prstGeom prst="rect">
                <a:avLst/>
              </a:prstGeom>
              <a:noFill/>
            </p:spPr>
            <p:txBody>
              <a:bodyPr wrap="none" rtlCol="0">
                <a:spAutoFit/>
              </a:bodyPr>
              <a:lstStyle/>
              <a:p>
                <a:pPr algn="ctr"/>
                <a:r>
                  <a:rPr lang="en-IN" sz="1600" b="1" i="1" u="sng" dirty="0" smtClean="0"/>
                  <a:t>Bronze</a:t>
                </a:r>
              </a:p>
              <a:p>
                <a:pPr algn="ctr"/>
                <a:r>
                  <a:rPr lang="en-IN" sz="1600" b="1" i="1" dirty="0" smtClean="0"/>
                  <a:t>ADLS</a:t>
                </a:r>
                <a:endParaRPr lang="en-IN" sz="1600" b="1" i="1" dirty="0"/>
              </a:p>
              <a:p>
                <a:pPr algn="ctr"/>
                <a:r>
                  <a:rPr lang="en-US" sz="1600" b="1" i="1" dirty="0" smtClean="0"/>
                  <a:t>Gen2</a:t>
                </a:r>
              </a:p>
              <a:p>
                <a:pPr algn="ctr"/>
                <a:r>
                  <a:rPr lang="en-US" sz="1600" b="1" i="1" strike="sngStrike" dirty="0" smtClean="0"/>
                  <a:t>DBFS</a:t>
                </a:r>
                <a:endParaRPr lang="en-US" sz="1600" b="1" i="1" strike="sngStrike" dirty="0"/>
              </a:p>
            </p:txBody>
          </p:sp>
        </p:grpSp>
        <p:cxnSp>
          <p:nvCxnSpPr>
            <p:cNvPr id="12" name="Elbow Connector 11"/>
            <p:cNvCxnSpPr>
              <a:stCxn id="13" idx="3"/>
            </p:cNvCxnSpPr>
            <p:nvPr/>
          </p:nvCxnSpPr>
          <p:spPr>
            <a:xfrm flipV="1">
              <a:off x="9504983" y="4447249"/>
              <a:ext cx="1556160" cy="3014"/>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pic>
          <p:nvPicPr>
            <p:cNvPr id="13"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1522" y="4082251"/>
              <a:ext cx="893461" cy="7360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5" name="Rectangle 14">
              <a:extLst>
                <a:ext uri="{FF2B5EF4-FFF2-40B4-BE49-F238E27FC236}">
                  <a16:creationId xmlns="" xmlns:a16="http://schemas.microsoft.com/office/drawing/2014/main" id="{C5A362DA-FB23-0441-E200-EAFDA192745D}"/>
                </a:ext>
              </a:extLst>
            </p:cNvPr>
            <p:cNvSpPr/>
            <p:nvPr/>
          </p:nvSpPr>
          <p:spPr>
            <a:xfrm>
              <a:off x="6335819" y="3245854"/>
              <a:ext cx="1137602" cy="2480518"/>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r>
                <a:rPr lang="en-US" sz="1400" b="1" dirty="0" smtClean="0">
                  <a:solidFill>
                    <a:schemeClr val="tx1"/>
                  </a:solidFill>
                </a:rPr>
                <a:t>Vendor</a:t>
              </a:r>
            </a:p>
            <a:p>
              <a:pPr algn="ctr"/>
              <a:r>
                <a:rPr lang="en-US" sz="1400" b="1" dirty="0" smtClean="0">
                  <a:solidFill>
                    <a:schemeClr val="tx1"/>
                  </a:solidFill>
                </a:rPr>
                <a:t>Source</a:t>
              </a:r>
              <a:endParaRPr lang="en-US" sz="1400"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IN" b="1" dirty="0">
                <a:solidFill>
                  <a:schemeClr val="tx1"/>
                </a:solidFill>
              </a:endParaRPr>
            </a:p>
          </p:txBody>
        </p:sp>
        <p:pic>
          <p:nvPicPr>
            <p:cNvPr id="16" name="Picture 12">
              <a:extLst>
                <a:ext uri="{FF2B5EF4-FFF2-40B4-BE49-F238E27FC236}">
                  <a16:creationId xmlns="" xmlns:a16="http://schemas.microsoft.com/office/drawing/2014/main" id="{3411ED06-EE4D-EEE0-D5D4-E76FF3A69A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67156" y="3672145"/>
              <a:ext cx="860269" cy="8802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8" name="Elbow Connector 32">
              <a:extLst>
                <a:ext uri="{FF2B5EF4-FFF2-40B4-BE49-F238E27FC236}">
                  <a16:creationId xmlns="" xmlns:a16="http://schemas.microsoft.com/office/drawing/2014/main" id="{3D80D3B3-5837-6738-CFF5-182FB8BF9117}"/>
                </a:ext>
              </a:extLst>
            </p:cNvPr>
            <p:cNvCxnSpPr>
              <a:stCxn id="16" idx="2"/>
              <a:endCxn id="13" idx="1"/>
            </p:cNvCxnSpPr>
            <p:nvPr/>
          </p:nvCxnSpPr>
          <p:spPr>
            <a:xfrm rot="5400000" flipH="1" flipV="1">
              <a:off x="7653355" y="3594199"/>
              <a:ext cx="102104" cy="1814231"/>
            </a:xfrm>
            <a:prstGeom prst="bentConnector4">
              <a:avLst>
                <a:gd name="adj1" fmla="val -223889"/>
                <a:gd name="adj2" fmla="val 61854"/>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6664120" y="4775939"/>
              <a:ext cx="1382110" cy="261610"/>
            </a:xfrm>
            <a:prstGeom prst="rect">
              <a:avLst/>
            </a:prstGeom>
          </p:spPr>
          <p:txBody>
            <a:bodyPr wrap="none">
              <a:spAutoFit/>
            </a:bodyPr>
            <a:lstStyle/>
            <a:p>
              <a:r>
                <a:rPr lang="en-US" sz="1100" b="1" i="1" dirty="0" smtClean="0"/>
                <a:t>Source </a:t>
              </a:r>
              <a:r>
                <a:rPr lang="en-US" sz="1100" b="1" i="1" dirty="0" smtClean="0">
                  <a:solidFill>
                    <a:srgbClr val="C00000"/>
                  </a:solidFill>
                </a:rPr>
                <a:t>push</a:t>
              </a:r>
              <a:r>
                <a:rPr lang="en-US" sz="1100" b="1" i="1" dirty="0" smtClean="0"/>
                <a:t> to BLOB</a:t>
              </a:r>
            </a:p>
          </p:txBody>
        </p:sp>
        <p:sp>
          <p:nvSpPr>
            <p:cNvPr id="22" name="Rectangle 21"/>
            <p:cNvSpPr/>
            <p:nvPr/>
          </p:nvSpPr>
          <p:spPr>
            <a:xfrm>
              <a:off x="8712998" y="4818274"/>
              <a:ext cx="689291" cy="646331"/>
            </a:xfrm>
            <a:prstGeom prst="rect">
              <a:avLst/>
            </a:prstGeom>
          </p:spPr>
          <p:txBody>
            <a:bodyPr wrap="none">
              <a:spAutoFit/>
            </a:bodyPr>
            <a:lstStyle/>
            <a:p>
              <a:r>
                <a:rPr lang="en-US" b="1" i="1" dirty="0" smtClean="0"/>
                <a:t>BLOB</a:t>
              </a:r>
            </a:p>
            <a:p>
              <a:r>
                <a:rPr lang="en-US" b="1" i="1" strike="sngStrike" dirty="0" smtClean="0"/>
                <a:t>DBFS</a:t>
              </a:r>
              <a:endParaRPr lang="en-IN" strike="sngStrike" dirty="0"/>
            </a:p>
          </p:txBody>
        </p:sp>
        <p:sp>
          <p:nvSpPr>
            <p:cNvPr id="25" name="Rectangle 24"/>
            <p:cNvSpPr/>
            <p:nvPr/>
          </p:nvSpPr>
          <p:spPr>
            <a:xfrm>
              <a:off x="8256344" y="3764087"/>
              <a:ext cx="1573379" cy="276999"/>
            </a:xfrm>
            <a:prstGeom prst="rect">
              <a:avLst/>
            </a:prstGeom>
          </p:spPr>
          <p:txBody>
            <a:bodyPr wrap="none">
              <a:spAutoFit/>
            </a:bodyPr>
            <a:lstStyle/>
            <a:p>
              <a:r>
                <a:rPr lang="en-US" sz="1200" b="1" i="1" dirty="0" smtClean="0">
                  <a:solidFill>
                    <a:srgbClr val="C00000"/>
                  </a:solidFill>
                </a:rPr>
                <a:t>Read Using </a:t>
              </a:r>
              <a:r>
                <a:rPr lang="en-US" sz="1200" b="1" i="1" dirty="0">
                  <a:solidFill>
                    <a:srgbClr val="C00000"/>
                  </a:solidFill>
                </a:rPr>
                <a:t>SAS token</a:t>
              </a:r>
              <a:endParaRPr lang="en-IN" sz="1200" dirty="0">
                <a:solidFill>
                  <a:srgbClr val="C00000"/>
                </a:solidFill>
              </a:endParaRPr>
            </a:p>
          </p:txBody>
        </p:sp>
        <p:sp>
          <p:nvSpPr>
            <p:cNvPr id="26" name="Rectangle 25"/>
            <p:cNvSpPr/>
            <p:nvPr/>
          </p:nvSpPr>
          <p:spPr>
            <a:xfrm>
              <a:off x="10458779" y="3737516"/>
              <a:ext cx="1702197" cy="276999"/>
            </a:xfrm>
            <a:prstGeom prst="rect">
              <a:avLst/>
            </a:prstGeom>
          </p:spPr>
          <p:txBody>
            <a:bodyPr wrap="none">
              <a:spAutoFit/>
            </a:bodyPr>
            <a:lstStyle/>
            <a:p>
              <a:r>
                <a:rPr lang="en-US" sz="1200" b="1" i="1" dirty="0" smtClean="0">
                  <a:solidFill>
                    <a:srgbClr val="C00000"/>
                  </a:solidFill>
                </a:rPr>
                <a:t>Write Using Access keys</a:t>
              </a:r>
              <a:endParaRPr lang="en-IN" sz="1200" dirty="0">
                <a:solidFill>
                  <a:srgbClr val="C00000"/>
                </a:solidFill>
              </a:endParaRPr>
            </a:p>
          </p:txBody>
        </p:sp>
        <p:sp>
          <p:nvSpPr>
            <p:cNvPr id="27" name="Rectangle 26"/>
            <p:cNvSpPr/>
            <p:nvPr/>
          </p:nvSpPr>
          <p:spPr>
            <a:xfrm>
              <a:off x="9043033" y="3404823"/>
              <a:ext cx="1508042" cy="369332"/>
            </a:xfrm>
            <a:prstGeom prst="rect">
              <a:avLst/>
            </a:prstGeom>
          </p:spPr>
          <p:txBody>
            <a:bodyPr wrap="none">
              <a:spAutoFit/>
            </a:bodyPr>
            <a:lstStyle/>
            <a:p>
              <a:r>
                <a:rPr lang="en-US" b="1" dirty="0"/>
                <a:t>Azure Storage</a:t>
              </a:r>
              <a:endParaRPr lang="en-IN" dirty="0"/>
            </a:p>
          </p:txBody>
        </p:sp>
      </p:grpSp>
      <p:sp>
        <p:nvSpPr>
          <p:cNvPr id="21" name="Rectangle 20"/>
          <p:cNvSpPr/>
          <p:nvPr/>
        </p:nvSpPr>
        <p:spPr>
          <a:xfrm>
            <a:off x="9759154" y="3637256"/>
            <a:ext cx="1292341" cy="1200329"/>
          </a:xfrm>
          <a:prstGeom prst="rect">
            <a:avLst/>
          </a:prstGeom>
        </p:spPr>
        <p:txBody>
          <a:bodyPr wrap="none">
            <a:spAutoFit/>
          </a:bodyPr>
          <a:lstStyle/>
          <a:p>
            <a:r>
              <a:rPr lang="en-US" b="1" i="1" dirty="0" smtClean="0"/>
              <a:t>    Azure</a:t>
            </a:r>
          </a:p>
          <a:p>
            <a:r>
              <a:rPr lang="en-US" b="1" i="1" dirty="0" smtClean="0"/>
              <a:t>Databricks</a:t>
            </a:r>
          </a:p>
          <a:p>
            <a:r>
              <a:rPr lang="en-US" b="1" i="1" dirty="0" smtClean="0"/>
              <a:t>   PySpark</a:t>
            </a:r>
          </a:p>
          <a:p>
            <a:r>
              <a:rPr lang="en-US" b="1" i="1" dirty="0" smtClean="0"/>
              <a:t>Pull -&gt; Push</a:t>
            </a:r>
            <a:endParaRPr lang="en-IN" dirty="0"/>
          </a:p>
        </p:txBody>
      </p:sp>
      <p:sp>
        <p:nvSpPr>
          <p:cNvPr id="3" name="Rectangle 2"/>
          <p:cNvSpPr/>
          <p:nvPr/>
        </p:nvSpPr>
        <p:spPr>
          <a:xfrm>
            <a:off x="8704520" y="5825490"/>
            <a:ext cx="1498660" cy="236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S3/ADLS/GCS</a:t>
            </a:r>
            <a:endParaRPr lang="en-IN" dirty="0"/>
          </a:p>
        </p:txBody>
      </p:sp>
      <p:sp>
        <p:nvSpPr>
          <p:cNvPr id="23" name="Rectangle 22"/>
          <p:cNvSpPr/>
          <p:nvPr/>
        </p:nvSpPr>
        <p:spPr>
          <a:xfrm>
            <a:off x="8885634" y="5490210"/>
            <a:ext cx="1037087" cy="236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DBFS</a:t>
            </a:r>
            <a:endParaRPr lang="en-IN" dirty="0"/>
          </a:p>
        </p:txBody>
      </p:sp>
      <p:sp>
        <p:nvSpPr>
          <p:cNvPr id="24" name="Rectangle 23"/>
          <p:cNvSpPr/>
          <p:nvPr/>
        </p:nvSpPr>
        <p:spPr>
          <a:xfrm>
            <a:off x="8733022" y="5162550"/>
            <a:ext cx="1441655" cy="236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Delta</a:t>
            </a:r>
            <a:endParaRPr lang="en-IN" dirty="0"/>
          </a:p>
        </p:txBody>
      </p:sp>
      <p:sp>
        <p:nvSpPr>
          <p:cNvPr id="29" name="Rectangle 28"/>
          <p:cNvSpPr/>
          <p:nvPr/>
        </p:nvSpPr>
        <p:spPr>
          <a:xfrm>
            <a:off x="7125370" y="4917279"/>
            <a:ext cx="882098" cy="363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err="1" smtClean="0"/>
              <a:t>Databricks</a:t>
            </a:r>
            <a:endParaRPr lang="en-IN" sz="1200" dirty="0" smtClean="0"/>
          </a:p>
          <a:p>
            <a:pPr algn="ctr"/>
            <a:r>
              <a:rPr lang="en-IN" sz="1200" dirty="0" smtClean="0"/>
              <a:t>Notebook</a:t>
            </a:r>
            <a:endParaRPr lang="en-IN" sz="1200" dirty="0"/>
          </a:p>
        </p:txBody>
      </p:sp>
      <p:cxnSp>
        <p:nvCxnSpPr>
          <p:cNvPr id="17" name="Straight Arrow Connector 16"/>
          <p:cNvCxnSpPr>
            <a:stCxn id="29" idx="3"/>
            <a:endCxn id="24" idx="1"/>
          </p:cNvCxnSpPr>
          <p:nvPr/>
        </p:nvCxnSpPr>
        <p:spPr>
          <a:xfrm>
            <a:off x="8007468" y="5098970"/>
            <a:ext cx="725554" cy="18169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29" idx="2"/>
            <a:endCxn id="3" idx="1"/>
          </p:cNvCxnSpPr>
          <p:nvPr/>
        </p:nvCxnSpPr>
        <p:spPr>
          <a:xfrm>
            <a:off x="7566419" y="5280660"/>
            <a:ext cx="1138101" cy="66294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7662822" y="5574268"/>
            <a:ext cx="696024" cy="276999"/>
          </a:xfrm>
          <a:prstGeom prst="rect">
            <a:avLst/>
          </a:prstGeom>
        </p:spPr>
        <p:txBody>
          <a:bodyPr wrap="none">
            <a:spAutoFit/>
          </a:bodyPr>
          <a:lstStyle/>
          <a:p>
            <a:r>
              <a:rPr lang="en-US" sz="1200" b="1" i="1" dirty="0" smtClean="0"/>
              <a:t>Security</a:t>
            </a:r>
            <a:endParaRPr lang="en-IN" sz="1200" dirty="0"/>
          </a:p>
        </p:txBody>
      </p:sp>
      <p:sp>
        <p:nvSpPr>
          <p:cNvPr id="36" name="Rectangle 35"/>
          <p:cNvSpPr/>
          <p:nvPr/>
        </p:nvSpPr>
        <p:spPr>
          <a:xfrm>
            <a:off x="8036998" y="4911923"/>
            <a:ext cx="696024" cy="461665"/>
          </a:xfrm>
          <a:prstGeom prst="rect">
            <a:avLst/>
          </a:prstGeom>
        </p:spPr>
        <p:txBody>
          <a:bodyPr wrap="none">
            <a:spAutoFit/>
          </a:bodyPr>
          <a:lstStyle/>
          <a:p>
            <a:r>
              <a:rPr lang="en-US" sz="1200" b="1" i="1" dirty="0" smtClean="0"/>
              <a:t>   No</a:t>
            </a:r>
          </a:p>
          <a:p>
            <a:r>
              <a:rPr lang="en-US" sz="1200" b="1" i="1" dirty="0" smtClean="0"/>
              <a:t>Security</a:t>
            </a:r>
            <a:endParaRPr lang="en-IN" sz="1200" dirty="0"/>
          </a:p>
        </p:txBody>
      </p:sp>
    </p:spTree>
    <p:extLst>
      <p:ext uri="{BB962C8B-B14F-4D97-AF65-F5344CB8AC3E}">
        <p14:creationId xmlns:p14="http://schemas.microsoft.com/office/powerpoint/2010/main" val="15302037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374" y="809811"/>
            <a:ext cx="10179725" cy="4764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1930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smtClean="0"/>
              <a:t>Azure Databricks – CDC, CDF, SCD</a:t>
            </a:r>
            <a:endParaRPr lang="en-US" sz="3200" dirty="0"/>
          </a:p>
        </p:txBody>
      </p:sp>
    </p:spTree>
    <p:extLst>
      <p:ext uri="{BB962C8B-B14F-4D97-AF65-F5344CB8AC3E}">
        <p14:creationId xmlns:p14="http://schemas.microsoft.com/office/powerpoint/2010/main" val="18333518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descr="Software versions comparison ch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2"/>
          <p:cNvSpPr txBox="1">
            <a:spLocks noChangeArrowheads="1"/>
          </p:cNvSpPr>
          <p:nvPr/>
        </p:nvSpPr>
        <p:spPr>
          <a:xfrm>
            <a:off x="-75747" y="0"/>
            <a:ext cx="12088286"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u="sng" dirty="0" smtClean="0"/>
              <a:t>Usecase2: Learning the Azure Databricks Additional Features/Differences</a:t>
            </a:r>
            <a:endParaRPr lang="en-US" sz="3200" dirty="0"/>
          </a:p>
        </p:txBody>
      </p:sp>
      <p:graphicFrame>
        <p:nvGraphicFramePr>
          <p:cNvPr id="5" name="Table 4"/>
          <p:cNvGraphicFramePr>
            <a:graphicFrameLocks noGrp="1"/>
          </p:cNvGraphicFramePr>
          <p:nvPr>
            <p:extLst>
              <p:ext uri="{D42A27DB-BD31-4B8C-83A1-F6EECF244321}">
                <p14:modId xmlns:p14="http://schemas.microsoft.com/office/powerpoint/2010/main" val="2288326374"/>
              </p:ext>
            </p:extLst>
          </p:nvPr>
        </p:nvGraphicFramePr>
        <p:xfrm>
          <a:off x="429260" y="748985"/>
          <a:ext cx="6350000" cy="762000"/>
        </p:xfrm>
        <a:graphic>
          <a:graphicData uri="http://schemas.openxmlformats.org/drawingml/2006/table">
            <a:tbl>
              <a:tblPr/>
              <a:tblGrid>
                <a:gridCol w="673100"/>
                <a:gridCol w="4102100"/>
                <a:gridCol w="1574800"/>
              </a:tblGrid>
              <a:tr h="190500">
                <a:tc>
                  <a:txBody>
                    <a:bodyPr/>
                    <a:lstStyle/>
                    <a:p>
                      <a:pPr algn="l" rtl="0" fontAlgn="ctr"/>
                      <a:r>
                        <a:rPr lang="en-IN" sz="1100" b="1" i="0" u="none" strike="noStrike" dirty="0">
                          <a:solidFill>
                            <a:srgbClr val="1F1F1F"/>
                          </a:solidFill>
                          <a:effectLst/>
                          <a:latin typeface="Arial"/>
                        </a:rPr>
                        <a:t>Feature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l" rtl="0" fontAlgn="ctr"/>
                      <a:r>
                        <a:rPr lang="en-IN" sz="1100" b="1" i="0" u="none" strike="noStrike">
                          <a:solidFill>
                            <a:srgbClr val="1F1F1F"/>
                          </a:solidFill>
                          <a:effectLst/>
                          <a:latin typeface="Arial"/>
                        </a:rPr>
                        <a:t>Purpose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l" rtl="0" fontAlgn="ctr"/>
                      <a:r>
                        <a:rPr lang="en-IN" sz="1100" b="1" i="0" u="none" strike="noStrike">
                          <a:solidFill>
                            <a:srgbClr val="1F1F1F"/>
                          </a:solidFill>
                          <a:effectLst/>
                          <a:latin typeface="Arial"/>
                        </a:rPr>
                        <a:t>Level</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r>
              <a:tr h="190500">
                <a:tc>
                  <a:txBody>
                    <a:bodyPr/>
                    <a:lstStyle/>
                    <a:p>
                      <a:pPr algn="l" rtl="0" fontAlgn="ctr"/>
                      <a:r>
                        <a:rPr lang="en-IN" sz="1100" b="1" i="0" u="none" strike="noStrike">
                          <a:solidFill>
                            <a:srgbClr val="1F1F1F"/>
                          </a:solidFill>
                          <a:effectLst/>
                          <a:latin typeface="Arial"/>
                        </a:rPr>
                        <a:t>CDC</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l" rtl="0" fontAlgn="ctr"/>
                      <a:r>
                        <a:rPr lang="en-US" sz="1100" b="0" i="0" u="none" strike="noStrike" dirty="0">
                          <a:solidFill>
                            <a:srgbClr val="1F1F1F"/>
                          </a:solidFill>
                          <a:effectLst/>
                          <a:latin typeface="Arial"/>
                        </a:rPr>
                        <a:t>Bringing changes </a:t>
                      </a:r>
                      <a:r>
                        <a:rPr lang="en-US" sz="1100" b="1" i="0" u="none" strike="noStrike" dirty="0">
                          <a:solidFill>
                            <a:srgbClr val="1F1F1F"/>
                          </a:solidFill>
                          <a:effectLst/>
                          <a:latin typeface="Arial"/>
                        </a:rPr>
                        <a:t>into</a:t>
                      </a:r>
                      <a:r>
                        <a:rPr lang="en-US" sz="1100" b="0" i="0" u="none" strike="noStrike" dirty="0">
                          <a:solidFill>
                            <a:srgbClr val="1F1F1F"/>
                          </a:solidFill>
                          <a:effectLst/>
                          <a:latin typeface="Arial"/>
                        </a:rPr>
                        <a:t> Databricks from the outside world.</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IN" sz="1100" b="0" i="0" u="none" strike="noStrike">
                          <a:solidFill>
                            <a:srgbClr val="1F1F1F"/>
                          </a:solidFill>
                          <a:effectLst/>
                          <a:latin typeface="Arial"/>
                        </a:rPr>
                        <a:t>Source → Bronze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0500">
                <a:tc>
                  <a:txBody>
                    <a:bodyPr/>
                    <a:lstStyle/>
                    <a:p>
                      <a:pPr algn="l" rtl="0" fontAlgn="ctr"/>
                      <a:r>
                        <a:rPr lang="en-IN" sz="1100" b="1" i="0" u="none" strike="noStrike">
                          <a:solidFill>
                            <a:srgbClr val="1F1F1F"/>
                          </a:solidFill>
                          <a:effectLst/>
                          <a:latin typeface="Arial"/>
                        </a:rPr>
                        <a:t>CDF</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l" rtl="0" fontAlgn="ctr"/>
                      <a:r>
                        <a:rPr lang="en-US" sz="1100" b="0" i="0" u="none" strike="noStrike">
                          <a:solidFill>
                            <a:srgbClr val="1F1F1F"/>
                          </a:solidFill>
                          <a:effectLst/>
                          <a:latin typeface="Arial"/>
                        </a:rPr>
                        <a:t>Exposing changes </a:t>
                      </a:r>
                      <a:r>
                        <a:rPr lang="en-US" sz="1100" b="1" i="0" u="none" strike="noStrike">
                          <a:solidFill>
                            <a:srgbClr val="1F1F1F"/>
                          </a:solidFill>
                          <a:effectLst/>
                          <a:latin typeface="Arial"/>
                        </a:rPr>
                        <a:t>from</a:t>
                      </a:r>
                      <a:r>
                        <a:rPr lang="en-US" sz="1100" b="0" i="0" u="none" strike="noStrike">
                          <a:solidFill>
                            <a:srgbClr val="1F1F1F"/>
                          </a:solidFill>
                          <a:effectLst/>
                          <a:latin typeface="Arial"/>
                        </a:rPr>
                        <a:t> a Delta table for downstream use.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IN" sz="1100" b="0" i="0" u="none" strike="noStrike" dirty="0">
                          <a:solidFill>
                            <a:srgbClr val="1F1F1F"/>
                          </a:solidFill>
                          <a:effectLst/>
                          <a:latin typeface="Arial"/>
                        </a:rPr>
                        <a:t>Bronze → Silver → Gold</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0500">
                <a:tc>
                  <a:txBody>
                    <a:bodyPr/>
                    <a:lstStyle/>
                    <a:p>
                      <a:pPr algn="l" rtl="0" fontAlgn="ctr"/>
                      <a:r>
                        <a:rPr lang="en-IN" sz="1100" b="1" i="0" u="none" strike="noStrike">
                          <a:solidFill>
                            <a:srgbClr val="1F1F1F"/>
                          </a:solidFill>
                          <a:effectLst/>
                          <a:latin typeface="Arial"/>
                        </a:rPr>
                        <a:t>SCD</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l" rtl="0" fontAlgn="ctr"/>
                      <a:r>
                        <a:rPr lang="en-US" sz="1100" b="0" i="0" u="none" strike="noStrike" dirty="0">
                          <a:solidFill>
                            <a:srgbClr val="1F1F1F"/>
                          </a:solidFill>
                          <a:effectLst/>
                          <a:latin typeface="Arial"/>
                        </a:rPr>
                        <a:t>Determining </a:t>
                      </a:r>
                      <a:r>
                        <a:rPr lang="en-US" sz="1100" b="1" i="0" u="none" strike="noStrike" dirty="0">
                          <a:solidFill>
                            <a:srgbClr val="1F1F1F"/>
                          </a:solidFill>
                          <a:effectLst/>
                          <a:latin typeface="Arial"/>
                        </a:rPr>
                        <a:t>how</a:t>
                      </a:r>
                      <a:r>
                        <a:rPr lang="en-US" sz="1100" b="0" i="0" u="none" strike="noStrike" dirty="0">
                          <a:solidFill>
                            <a:srgbClr val="1F1F1F"/>
                          </a:solidFill>
                          <a:effectLst/>
                          <a:latin typeface="Arial"/>
                        </a:rPr>
                        <a:t> to store those changes (overwrite vs. history).</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IN" sz="1100" b="0" i="0" u="none" strike="noStrike" dirty="0">
                          <a:solidFill>
                            <a:srgbClr val="1F1F1F"/>
                          </a:solidFill>
                          <a:effectLst/>
                          <a:latin typeface="Arial"/>
                        </a:rPr>
                        <a:t>Target Table Logic</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24106139"/>
              </p:ext>
            </p:extLst>
          </p:nvPr>
        </p:nvGraphicFramePr>
        <p:xfrm>
          <a:off x="205740" y="1939607"/>
          <a:ext cx="11689081" cy="1416838"/>
        </p:xfrm>
        <a:graphic>
          <a:graphicData uri="http://schemas.openxmlformats.org/drawingml/2006/table">
            <a:tbl>
              <a:tblPr/>
              <a:tblGrid>
                <a:gridCol w="1006091"/>
                <a:gridCol w="1781778"/>
                <a:gridCol w="1996820"/>
                <a:gridCol w="2511386"/>
                <a:gridCol w="2350105"/>
                <a:gridCol w="2042901"/>
              </a:tblGrid>
              <a:tr h="165818">
                <a:tc>
                  <a:txBody>
                    <a:bodyPr/>
                    <a:lstStyle/>
                    <a:p>
                      <a:pPr algn="ctr" fontAlgn="ctr"/>
                      <a:r>
                        <a:rPr lang="en-IN" sz="900" b="1" i="0" u="none" strike="noStrike" dirty="0">
                          <a:solidFill>
                            <a:srgbClr val="000000"/>
                          </a:solidFill>
                          <a:effectLst/>
                          <a:latin typeface="Calibri"/>
                        </a:rPr>
                        <a:t>Concept</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900" b="1" i="0" u="none" strike="noStrike" dirty="0">
                          <a:solidFill>
                            <a:srgbClr val="000000"/>
                          </a:solidFill>
                          <a:effectLst/>
                          <a:latin typeface="Calibri"/>
                        </a:rPr>
                        <a:t>Definition</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900" b="1" i="0" u="none" strike="noStrike" dirty="0">
                          <a:solidFill>
                            <a:srgbClr val="000000"/>
                          </a:solidFill>
                          <a:effectLst/>
                          <a:latin typeface="Calibri"/>
                        </a:rPr>
                        <a:t>What It Does</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900" b="1" i="0" u="none" strike="noStrike" dirty="0">
                          <a:solidFill>
                            <a:srgbClr val="000000"/>
                          </a:solidFill>
                          <a:effectLst/>
                          <a:latin typeface="Calibri"/>
                        </a:rPr>
                        <a:t>Key Columns / Mechanics</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900" b="1" i="0" u="none" strike="noStrike" dirty="0">
                          <a:solidFill>
                            <a:srgbClr val="000000"/>
                          </a:solidFill>
                          <a:effectLst/>
                          <a:latin typeface="Calibri"/>
                        </a:rPr>
                        <a:t>Telecom Devices Example</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900" b="1" i="0" u="none" strike="noStrike" dirty="0">
                          <a:solidFill>
                            <a:srgbClr val="000000"/>
                          </a:solidFill>
                          <a:effectLst/>
                          <a:latin typeface="Calibri"/>
                        </a:rPr>
                        <a:t>When to Use</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r>
              <a:tr h="261163">
                <a:tc>
                  <a:txBody>
                    <a:bodyPr/>
                    <a:lstStyle/>
                    <a:p>
                      <a:pPr algn="l" fontAlgn="ctr"/>
                      <a:r>
                        <a:rPr lang="en-IN" sz="900" b="1" i="0" u="none" strike="noStrike">
                          <a:solidFill>
                            <a:srgbClr val="000000"/>
                          </a:solidFill>
                          <a:effectLst/>
                          <a:latin typeface="Calibri"/>
                        </a:rPr>
                        <a:t>CDC (Change Data Capture)</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ctr"/>
                      <a:r>
                        <a:rPr lang="en-IN" sz="900" b="0" i="0" u="none" strike="noStrike">
                          <a:solidFill>
                            <a:srgbClr val="000000"/>
                          </a:solidFill>
                          <a:effectLst/>
                          <a:latin typeface="Calibri"/>
                        </a:rPr>
                        <a:t>Technique to capture changes (insert, update, delete) from source systems</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a:rPr>
                        <a:t>Identifies what changed in source DB</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900" b="0" i="0" u="none" strike="noStrike">
                          <a:solidFill>
                            <a:srgbClr val="000000"/>
                          </a:solidFill>
                          <a:effectLst/>
                          <a:latin typeface="Calibri"/>
                        </a:rPr>
                        <a:t>Depends on source (logs, triggers, timestamps)</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a:rPr>
                        <a:t>Device status changes from </a:t>
                      </a:r>
                      <a:r>
                        <a:rPr lang="en-US" sz="900" b="0" i="1" u="none" strike="noStrike">
                          <a:solidFill>
                            <a:srgbClr val="000000"/>
                          </a:solidFill>
                          <a:effectLst/>
                          <a:latin typeface="Calibri"/>
                        </a:rPr>
                        <a:t>Active → Inactive</a:t>
                      </a:r>
                      <a:r>
                        <a:rPr lang="en-US" sz="900" b="0" i="0" u="none" strike="noStrike">
                          <a:solidFill>
                            <a:srgbClr val="000000"/>
                          </a:solidFill>
                          <a:effectLst/>
                          <a:latin typeface="Calibri"/>
                        </a:rPr>
                        <a:t> captured as an update event</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a:rPr>
                        <a:t>Real-time ingestion from OLTP systems</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4836">
                <a:tc>
                  <a:txBody>
                    <a:bodyPr/>
                    <a:lstStyle/>
                    <a:p>
                      <a:pPr algn="l" fontAlgn="ctr"/>
                      <a:r>
                        <a:rPr lang="en-IN" sz="900" b="1" i="0" u="none" strike="noStrike">
                          <a:solidFill>
                            <a:srgbClr val="000000"/>
                          </a:solidFill>
                          <a:effectLst/>
                          <a:latin typeface="Calibri"/>
                        </a:rPr>
                        <a:t>CDF (Change Data Feed)</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ctr"/>
                      <a:r>
                        <a:rPr lang="en-US" sz="900" b="0" i="0" u="none" strike="noStrike">
                          <a:solidFill>
                            <a:srgbClr val="000000"/>
                          </a:solidFill>
                          <a:effectLst/>
                          <a:latin typeface="Calibri"/>
                        </a:rPr>
                        <a:t>Delta feature that records row-level changes in a table</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a:rPr>
                        <a:t>Exposes incremental changes for downstream processing</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Arial Unicode MS"/>
                        </a:rPr>
                        <a:t>_change_type</a:t>
                      </a:r>
                      <a:r>
                        <a:rPr lang="en-US" sz="900" b="0" i="0" u="none" strike="noStrike">
                          <a:solidFill>
                            <a:srgbClr val="000000"/>
                          </a:solidFill>
                          <a:effectLst/>
                          <a:latin typeface="Calibri"/>
                        </a:rPr>
                        <a:t> → type of change</a:t>
                      </a:r>
                      <a:r>
                        <a:rPr lang="en-US" sz="800" b="0" i="0" u="none" strike="noStrike">
                          <a:solidFill>
                            <a:srgbClr val="000000"/>
                          </a:solidFill>
                          <a:effectLst/>
                          <a:latin typeface="Arial Unicode MS"/>
                        </a:rPr>
                        <a:t>_commit_version</a:t>
                      </a:r>
                      <a:r>
                        <a:rPr lang="en-US" sz="900" b="0" i="0" u="none" strike="noStrike">
                          <a:solidFill>
                            <a:srgbClr val="000000"/>
                          </a:solidFill>
                          <a:effectLst/>
                          <a:latin typeface="Calibri"/>
                        </a:rPr>
                        <a:t> → version of transaction</a:t>
                      </a:r>
                      <a:r>
                        <a:rPr lang="en-US" sz="800" b="0" i="0" u="none" strike="noStrike">
                          <a:solidFill>
                            <a:srgbClr val="000000"/>
                          </a:solidFill>
                          <a:effectLst/>
                          <a:latin typeface="Arial Unicode MS"/>
                        </a:rPr>
                        <a:t>_commit_timestamp</a:t>
                      </a:r>
                      <a:r>
                        <a:rPr lang="en-US" sz="900" b="0" i="0" u="none" strike="noStrike">
                          <a:solidFill>
                            <a:srgbClr val="000000"/>
                          </a:solidFill>
                          <a:effectLst/>
                          <a:latin typeface="Calibri"/>
                        </a:rPr>
                        <a:t> → time of change</a:t>
                      </a:r>
                      <a:endParaRPr lang="en-US" sz="800" b="0" i="0" u="none" strike="noStrike">
                        <a:solidFill>
                          <a:srgbClr val="000000"/>
                        </a:solidFill>
                        <a:effectLst/>
                        <a:latin typeface="Arial Unicode MS"/>
                      </a:endParaRP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a:rPr>
                        <a:t>Example rows:• insert → new device added• update_preimage → old value• update_postimage → new value</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900" b="0" i="0" u="none" strike="noStrike">
                          <a:solidFill>
                            <a:srgbClr val="000000"/>
                          </a:solidFill>
                          <a:effectLst/>
                          <a:latin typeface="Calibri"/>
                        </a:rPr>
                        <a:t>Incremental processing in Delta Lake pipelines</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5818">
                <a:tc>
                  <a:txBody>
                    <a:bodyPr/>
                    <a:lstStyle/>
                    <a:p>
                      <a:pPr algn="l" fontAlgn="ctr"/>
                      <a:r>
                        <a:rPr lang="en-IN" sz="900" b="1" i="0" u="none" strike="noStrike">
                          <a:solidFill>
                            <a:srgbClr val="000000"/>
                          </a:solidFill>
                          <a:effectLst/>
                          <a:latin typeface="Calibri"/>
                        </a:rPr>
                        <a:t>SCD Type 1</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ctr"/>
                      <a:r>
                        <a:rPr lang="en-US" sz="900" b="0" i="0" u="none" strike="noStrike">
                          <a:solidFill>
                            <a:srgbClr val="000000"/>
                          </a:solidFill>
                          <a:effectLst/>
                          <a:latin typeface="Calibri"/>
                        </a:rPr>
                        <a:t>Overwrites old data with new data</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900" b="0" i="0" u="none" strike="noStrike">
                          <a:solidFill>
                            <a:srgbClr val="000000"/>
                          </a:solidFill>
                          <a:effectLst/>
                          <a:latin typeface="Calibri"/>
                        </a:rPr>
                        <a:t>Maintains only latest snapshot</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a:rPr>
                        <a:t>Uses latest records (typically </a:t>
                      </a:r>
                      <a:r>
                        <a:rPr lang="en-US" sz="800" b="0" i="0" u="none" strike="noStrike">
                          <a:solidFill>
                            <a:srgbClr val="000000"/>
                          </a:solidFill>
                          <a:effectLst/>
                          <a:latin typeface="Arial Unicode MS"/>
                        </a:rPr>
                        <a:t>update_postimage</a:t>
                      </a:r>
                      <a:r>
                        <a:rPr lang="en-US" sz="900" b="0" i="0" u="none" strike="noStrike">
                          <a:solidFill>
                            <a:srgbClr val="000000"/>
                          </a:solidFill>
                          <a:effectLst/>
                          <a:latin typeface="Calibri"/>
                        </a:rPr>
                        <a:t>)</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a:rPr>
                        <a:t>Device model updated → old model replaced</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a:rPr>
                        <a:t>When history is NOT needed (current state reporting)</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5818">
                <a:tc>
                  <a:txBody>
                    <a:bodyPr/>
                    <a:lstStyle/>
                    <a:p>
                      <a:pPr algn="l" fontAlgn="ctr"/>
                      <a:r>
                        <a:rPr lang="en-IN" sz="900" b="1" i="0" u="none" strike="noStrike">
                          <a:solidFill>
                            <a:srgbClr val="000000"/>
                          </a:solidFill>
                          <a:effectLst/>
                          <a:latin typeface="Calibri"/>
                        </a:rPr>
                        <a:t>SCD Type 2</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ctr"/>
                      <a:r>
                        <a:rPr lang="en-US" sz="900" b="0" i="0" u="none" strike="noStrike">
                          <a:solidFill>
                            <a:srgbClr val="000000"/>
                          </a:solidFill>
                          <a:effectLst/>
                          <a:latin typeface="Calibri"/>
                        </a:rPr>
                        <a:t>Preserves historical versions of data</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a:rPr>
                        <a:t>Tracks changes with validity period</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a:rPr>
                        <a:t>Uses sequence column (e.g., timestamp/version) to manage history</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a:rPr>
                        <a:t>Device model change → old row expired, new row inserted</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900" b="0" i="0" u="none" strike="noStrike" dirty="0">
                          <a:solidFill>
                            <a:srgbClr val="000000"/>
                          </a:solidFill>
                          <a:effectLst/>
                          <a:latin typeface="Calibri"/>
                        </a:rPr>
                        <a:t>When audit/history is required</a:t>
                      </a:r>
                    </a:p>
                  </a:txBody>
                  <a:tcPr marL="4145" marR="4145" marT="41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684202311"/>
              </p:ext>
            </p:extLst>
          </p:nvPr>
        </p:nvGraphicFramePr>
        <p:xfrm>
          <a:off x="220980" y="3759579"/>
          <a:ext cx="5433059" cy="1413070"/>
        </p:xfrm>
        <a:graphic>
          <a:graphicData uri="http://schemas.openxmlformats.org/drawingml/2006/table">
            <a:tbl>
              <a:tblPr/>
              <a:tblGrid>
                <a:gridCol w="1066800"/>
                <a:gridCol w="1844040"/>
                <a:gridCol w="2522219"/>
              </a:tblGrid>
              <a:tr h="282614">
                <a:tc>
                  <a:txBody>
                    <a:bodyPr/>
                    <a:lstStyle/>
                    <a:p>
                      <a:pPr algn="ctr" fontAlgn="ctr"/>
                      <a:r>
                        <a:rPr lang="en-IN" sz="1000" b="1" i="0" u="none" strike="noStrike" dirty="0">
                          <a:solidFill>
                            <a:srgbClr val="000000"/>
                          </a:solidFill>
                          <a:effectLst/>
                          <a:latin typeface="Calibri"/>
                        </a:rPr>
                        <a:t>Value</a:t>
                      </a:r>
                    </a:p>
                  </a:txBody>
                  <a:tcPr marL="7065" marR="7065" marT="7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1000" b="1" i="0" u="none" strike="noStrike">
                          <a:solidFill>
                            <a:srgbClr val="000000"/>
                          </a:solidFill>
                          <a:effectLst/>
                          <a:latin typeface="Calibri"/>
                        </a:rPr>
                        <a:t>Meaning</a:t>
                      </a:r>
                    </a:p>
                  </a:txBody>
                  <a:tcPr marL="7065" marR="7065" marT="7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1000" b="1" i="0" u="none" strike="noStrike" dirty="0" smtClean="0">
                          <a:solidFill>
                            <a:srgbClr val="000000"/>
                          </a:solidFill>
                          <a:effectLst/>
                          <a:latin typeface="Calibri"/>
                        </a:rPr>
                        <a:t>Example</a:t>
                      </a:r>
                      <a:endParaRPr lang="en-IN" sz="1000" b="1" i="0" u="none" strike="noStrike" dirty="0">
                        <a:solidFill>
                          <a:srgbClr val="000000"/>
                        </a:solidFill>
                        <a:effectLst/>
                        <a:latin typeface="Calibri"/>
                      </a:endParaRPr>
                    </a:p>
                  </a:txBody>
                  <a:tcPr marL="7065" marR="7065" marT="7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r>
              <a:tr h="282614">
                <a:tc>
                  <a:txBody>
                    <a:bodyPr/>
                    <a:lstStyle/>
                    <a:p>
                      <a:pPr algn="l" fontAlgn="ctr"/>
                      <a:r>
                        <a:rPr lang="en-IN" sz="900" b="1" i="0" u="none" strike="noStrike" dirty="0">
                          <a:solidFill>
                            <a:srgbClr val="000000"/>
                          </a:solidFill>
                          <a:effectLst/>
                          <a:latin typeface="Arial Unicode MS"/>
                        </a:rPr>
                        <a:t>insert</a:t>
                      </a:r>
                    </a:p>
                  </a:txBody>
                  <a:tcPr marL="7065" marR="7065" marT="7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ctr"/>
                      <a:r>
                        <a:rPr lang="en-IN" sz="1000" b="0" i="0" u="none" strike="noStrike">
                          <a:solidFill>
                            <a:srgbClr val="000000"/>
                          </a:solidFill>
                          <a:effectLst/>
                          <a:latin typeface="Calibri"/>
                        </a:rPr>
                        <a:t>New row inserted</a:t>
                      </a:r>
                    </a:p>
                  </a:txBody>
                  <a:tcPr marL="7065" marR="7065" marT="7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Calibri"/>
                        </a:rPr>
                        <a:t>New device added (device_id = 4)</a:t>
                      </a:r>
                    </a:p>
                  </a:txBody>
                  <a:tcPr marL="7065" marR="7065" marT="7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82614">
                <a:tc>
                  <a:txBody>
                    <a:bodyPr/>
                    <a:lstStyle/>
                    <a:p>
                      <a:pPr algn="l" fontAlgn="ctr"/>
                      <a:r>
                        <a:rPr lang="en-IN" sz="900" b="1" i="0" u="none" strike="noStrike" dirty="0" err="1">
                          <a:solidFill>
                            <a:srgbClr val="000000"/>
                          </a:solidFill>
                          <a:effectLst/>
                          <a:latin typeface="Arial Unicode MS"/>
                        </a:rPr>
                        <a:t>update_preimage</a:t>
                      </a:r>
                      <a:endParaRPr lang="en-IN" sz="900" b="1" i="0" u="none" strike="noStrike" dirty="0">
                        <a:solidFill>
                          <a:srgbClr val="000000"/>
                        </a:solidFill>
                        <a:effectLst/>
                        <a:latin typeface="Arial Unicode MS"/>
                      </a:endParaRPr>
                    </a:p>
                  </a:txBody>
                  <a:tcPr marL="7065" marR="7065" marT="7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ctr"/>
                      <a:r>
                        <a:rPr lang="en-IN" sz="1000" b="0" i="0" u="none" strike="noStrike">
                          <a:solidFill>
                            <a:srgbClr val="000000"/>
                          </a:solidFill>
                          <a:effectLst/>
                          <a:latin typeface="Calibri"/>
                        </a:rPr>
                        <a:t>Old value before update</a:t>
                      </a:r>
                    </a:p>
                  </a:txBody>
                  <a:tcPr marL="7065" marR="7065" marT="7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1000" b="0" i="0" u="none" strike="noStrike" dirty="0">
                          <a:solidFill>
                            <a:srgbClr val="000000"/>
                          </a:solidFill>
                          <a:effectLst/>
                          <a:latin typeface="Calibri"/>
                        </a:rPr>
                        <a:t>Model = A2633 (before change)</a:t>
                      </a:r>
                    </a:p>
                  </a:txBody>
                  <a:tcPr marL="7065" marR="7065" marT="7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82614">
                <a:tc>
                  <a:txBody>
                    <a:bodyPr/>
                    <a:lstStyle/>
                    <a:p>
                      <a:pPr algn="l" fontAlgn="ctr"/>
                      <a:r>
                        <a:rPr lang="en-IN" sz="900" b="1" i="0" u="none" strike="noStrike" dirty="0" err="1">
                          <a:solidFill>
                            <a:srgbClr val="000000"/>
                          </a:solidFill>
                          <a:effectLst/>
                          <a:latin typeface="Arial Unicode MS"/>
                        </a:rPr>
                        <a:t>update_postimage</a:t>
                      </a:r>
                      <a:endParaRPr lang="en-IN" sz="900" b="1" i="0" u="none" strike="noStrike" dirty="0">
                        <a:solidFill>
                          <a:srgbClr val="000000"/>
                        </a:solidFill>
                        <a:effectLst/>
                        <a:latin typeface="Arial Unicode MS"/>
                      </a:endParaRPr>
                    </a:p>
                  </a:txBody>
                  <a:tcPr marL="7065" marR="7065" marT="7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ctr"/>
                      <a:r>
                        <a:rPr lang="en-IN" sz="1000" b="0" i="0" u="none" strike="noStrike">
                          <a:solidFill>
                            <a:srgbClr val="000000"/>
                          </a:solidFill>
                          <a:effectLst/>
                          <a:latin typeface="Calibri"/>
                        </a:rPr>
                        <a:t>New value after update</a:t>
                      </a:r>
                    </a:p>
                  </a:txBody>
                  <a:tcPr marL="7065" marR="7065" marT="7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1000" b="0" i="0" u="none" strike="noStrike">
                          <a:solidFill>
                            <a:srgbClr val="000000"/>
                          </a:solidFill>
                          <a:effectLst/>
                          <a:latin typeface="Calibri"/>
                        </a:rPr>
                        <a:t>Model = A2633-Pro (after change)</a:t>
                      </a:r>
                    </a:p>
                  </a:txBody>
                  <a:tcPr marL="7065" marR="7065" marT="7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82614">
                <a:tc>
                  <a:txBody>
                    <a:bodyPr/>
                    <a:lstStyle/>
                    <a:p>
                      <a:pPr algn="l" fontAlgn="ctr"/>
                      <a:r>
                        <a:rPr lang="en-IN" sz="900" b="1" i="0" u="none" strike="noStrike" dirty="0">
                          <a:solidFill>
                            <a:srgbClr val="000000"/>
                          </a:solidFill>
                          <a:effectLst/>
                          <a:latin typeface="Arial Unicode MS"/>
                        </a:rPr>
                        <a:t>delete</a:t>
                      </a:r>
                    </a:p>
                  </a:txBody>
                  <a:tcPr marL="7065" marR="7065" marT="7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ctr"/>
                      <a:r>
                        <a:rPr lang="en-IN" sz="1000" b="0" i="0" u="none" strike="noStrike">
                          <a:solidFill>
                            <a:srgbClr val="000000"/>
                          </a:solidFill>
                          <a:effectLst/>
                          <a:latin typeface="Calibri"/>
                        </a:rPr>
                        <a:t>Row deleted</a:t>
                      </a:r>
                    </a:p>
                  </a:txBody>
                  <a:tcPr marL="7065" marR="7065" marT="7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1000" b="0" i="0" u="none" strike="noStrike" dirty="0">
                          <a:solidFill>
                            <a:srgbClr val="000000"/>
                          </a:solidFill>
                          <a:effectLst/>
                          <a:latin typeface="Calibri"/>
                        </a:rPr>
                        <a:t>Device removed from inventory</a:t>
                      </a:r>
                    </a:p>
                  </a:txBody>
                  <a:tcPr marL="7065" marR="7065" marT="7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4771260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49" y="110859"/>
            <a:ext cx="10661596" cy="748245"/>
          </a:xfrm>
        </p:spPr>
        <p:txBody>
          <a:bodyPr>
            <a:normAutofit fontScale="90000"/>
          </a:bodyPr>
          <a:lstStyle/>
          <a:p>
            <a:pPr algn="ctr"/>
            <a:r>
              <a:rPr lang="en-US" sz="2700" b="1" u="sng" dirty="0">
                <a:solidFill>
                  <a:srgbClr val="002060"/>
                </a:solidFill>
              </a:rPr>
              <a:t>Healthcare &amp; Life Science Project </a:t>
            </a:r>
            <a:r>
              <a:rPr lang="en-US" sz="2700" u="sng" dirty="0">
                <a:solidFill>
                  <a:srgbClr val="002060"/>
                </a:solidFill>
              </a:rPr>
              <a:t>(BLOB, Datalake(ADLS), Databricks (Delta))</a:t>
            </a:r>
            <a:r>
              <a:rPr lang="en-US" sz="2700" dirty="0">
                <a:solidFill>
                  <a:srgbClr val="C00000"/>
                </a:solidFill>
              </a:rPr>
              <a:t/>
            </a:r>
            <a:br>
              <a:rPr lang="en-US" sz="2700" dirty="0">
                <a:solidFill>
                  <a:srgbClr val="C00000"/>
                </a:solidFill>
              </a:rPr>
            </a:br>
            <a:r>
              <a:rPr lang="en-US" sz="2700" b="1" dirty="0">
                <a:solidFill>
                  <a:srgbClr val="C00000"/>
                </a:solidFill>
              </a:rPr>
              <a:t>Implementation </a:t>
            </a:r>
            <a:r>
              <a:rPr lang="en-US" sz="2700" b="1" u="sng" dirty="0">
                <a:solidFill>
                  <a:srgbClr val="C00000"/>
                </a:solidFill>
              </a:rPr>
              <a:t>Medallion</a:t>
            </a:r>
            <a:r>
              <a:rPr lang="en-US" sz="2700" b="1" dirty="0">
                <a:solidFill>
                  <a:srgbClr val="C00000"/>
                </a:solidFill>
              </a:rPr>
              <a:t> (</a:t>
            </a:r>
            <a:r>
              <a:rPr lang="en-US" sz="2000" b="1" dirty="0">
                <a:solidFill>
                  <a:srgbClr val="C00000"/>
                </a:solidFill>
              </a:rPr>
              <a:t>Parallel Pipeline1&amp;2</a:t>
            </a:r>
            <a:r>
              <a:rPr lang="en-US" sz="2700" b="1" dirty="0">
                <a:solidFill>
                  <a:srgbClr val="C00000"/>
                </a:solidFill>
              </a:rPr>
              <a:t>) &amp; Understanding of </a:t>
            </a:r>
            <a:r>
              <a:rPr lang="en-US" sz="2700" b="1" u="sng" dirty="0" err="1">
                <a:solidFill>
                  <a:srgbClr val="C00000"/>
                </a:solidFill>
              </a:rPr>
              <a:t>Deltalake</a:t>
            </a:r>
            <a:endParaRPr lang="en-IN" b="1" u="sng" dirty="0">
              <a:solidFill>
                <a:srgbClr val="C00000"/>
              </a:solidFill>
            </a:endParaRPr>
          </a:p>
        </p:txBody>
      </p:sp>
      <p:sp>
        <p:nvSpPr>
          <p:cNvPr id="3" name="Rectangle 2"/>
          <p:cNvSpPr/>
          <p:nvPr/>
        </p:nvSpPr>
        <p:spPr>
          <a:xfrm>
            <a:off x="4130670" y="4141699"/>
            <a:ext cx="7896225" cy="1904999"/>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r>
              <a:rPr lang="en-US" b="1" dirty="0">
                <a:solidFill>
                  <a:schemeClr val="tx1"/>
                </a:solidFill>
              </a:rPr>
              <a:t>Storage</a:t>
            </a: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IN" b="1" dirty="0">
              <a:solidFill>
                <a:schemeClr val="tx1"/>
              </a:solidFill>
            </a:endParaRPr>
          </a:p>
        </p:txBody>
      </p:sp>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4389" y="4492623"/>
            <a:ext cx="802934" cy="6612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3139" y="4492623"/>
            <a:ext cx="802934" cy="6612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grpSp>
        <p:nvGrpSpPr>
          <p:cNvPr id="9" name="Group 8"/>
          <p:cNvGrpSpPr/>
          <p:nvPr/>
        </p:nvGrpSpPr>
        <p:grpSpPr>
          <a:xfrm>
            <a:off x="6100025" y="4571212"/>
            <a:ext cx="960519" cy="1147075"/>
            <a:chOff x="2848478" y="4916280"/>
            <a:chExt cx="1056570" cy="1387968"/>
          </a:xfrm>
        </p:grpSpPr>
        <p:pic>
          <p:nvPicPr>
            <p:cNvPr id="10" name="Picture 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87913" y="4916280"/>
              <a:ext cx="558651" cy="6179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1" name="TextBox 10"/>
            <p:cNvSpPr txBox="1"/>
            <p:nvPr/>
          </p:nvSpPr>
          <p:spPr>
            <a:xfrm>
              <a:off x="2848478" y="5578046"/>
              <a:ext cx="1056570" cy="726202"/>
            </a:xfrm>
            <a:prstGeom prst="rect">
              <a:avLst/>
            </a:prstGeom>
            <a:noFill/>
          </p:spPr>
          <p:txBody>
            <a:bodyPr wrap="none" rtlCol="0">
              <a:spAutoFit/>
            </a:bodyPr>
            <a:lstStyle/>
            <a:p>
              <a:pPr algn="ctr"/>
              <a:r>
                <a:rPr lang="en-US" sz="1100" dirty="0"/>
                <a:t>Azure</a:t>
              </a:r>
              <a:r>
                <a:rPr lang="en-IN" sz="1100" dirty="0"/>
                <a:t> ADLS</a:t>
              </a:r>
            </a:p>
            <a:p>
              <a:pPr algn="ctr"/>
              <a:r>
                <a:rPr lang="en-US" sz="1100" dirty="0"/>
                <a:t>Gen2 Storage</a:t>
              </a:r>
            </a:p>
            <a:p>
              <a:pPr algn="ctr"/>
              <a:r>
                <a:rPr lang="en-US" sz="1100" dirty="0"/>
                <a:t>parquet</a:t>
              </a:r>
            </a:p>
          </p:txBody>
        </p:sp>
      </p:grpSp>
      <p:sp>
        <p:nvSpPr>
          <p:cNvPr id="12" name="Rectangle 11"/>
          <p:cNvSpPr/>
          <p:nvPr/>
        </p:nvSpPr>
        <p:spPr>
          <a:xfrm>
            <a:off x="5403795" y="1202413"/>
            <a:ext cx="5276850" cy="2849154"/>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r>
              <a:rPr lang="en-US" b="1" dirty="0">
                <a:solidFill>
                  <a:schemeClr val="tx1"/>
                </a:solidFill>
              </a:rPr>
              <a:t>Process</a:t>
            </a: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p:txBody>
      </p:sp>
      <p:pic>
        <p:nvPicPr>
          <p:cNvPr id="13"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2327" y="2772616"/>
            <a:ext cx="4153755" cy="11894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4"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84389" y="1625189"/>
            <a:ext cx="981075" cy="10858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cxnSp>
        <p:nvCxnSpPr>
          <p:cNvPr id="16" name="Elbow Connector 15"/>
          <p:cNvCxnSpPr>
            <a:stCxn id="25" idx="3"/>
          </p:cNvCxnSpPr>
          <p:nvPr/>
        </p:nvCxnSpPr>
        <p:spPr>
          <a:xfrm flipV="1">
            <a:off x="5104308" y="4828851"/>
            <a:ext cx="1118637" cy="3014"/>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8" name="Elbow Connector 17"/>
          <p:cNvCxnSpPr>
            <a:stCxn id="10" idx="3"/>
            <a:endCxn id="4" idx="1"/>
          </p:cNvCxnSpPr>
          <p:nvPr/>
        </p:nvCxnSpPr>
        <p:spPr>
          <a:xfrm flipV="1">
            <a:off x="6825557" y="4823243"/>
            <a:ext cx="758832" cy="3334"/>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9" name="Elbow Connector 18"/>
          <p:cNvCxnSpPr>
            <a:endCxn id="5" idx="1"/>
          </p:cNvCxnSpPr>
          <p:nvPr/>
        </p:nvCxnSpPr>
        <p:spPr>
          <a:xfrm>
            <a:off x="8387323" y="4813718"/>
            <a:ext cx="625816" cy="9525"/>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2524486" y="4783397"/>
            <a:ext cx="1484702" cy="769441"/>
          </a:xfrm>
          <a:prstGeom prst="rect">
            <a:avLst/>
          </a:prstGeom>
        </p:spPr>
        <p:txBody>
          <a:bodyPr wrap="none">
            <a:spAutoFit/>
          </a:bodyPr>
          <a:lstStyle/>
          <a:p>
            <a:r>
              <a:rPr lang="en-US" sz="1100" b="1" i="1" u="sng" dirty="0"/>
              <a:t>Pipeline1:</a:t>
            </a:r>
          </a:p>
          <a:p>
            <a:r>
              <a:rPr lang="en-US" sz="1100" b="1" i="1" dirty="0"/>
              <a:t>Source</a:t>
            </a:r>
          </a:p>
          <a:p>
            <a:r>
              <a:rPr lang="en-US" sz="1100" b="1" i="1" dirty="0"/>
              <a:t>pushed drugs.csv data</a:t>
            </a:r>
          </a:p>
          <a:p>
            <a:r>
              <a:rPr lang="en-US" sz="1100" b="1" i="1" dirty="0"/>
              <a:t>into BLOB container</a:t>
            </a:r>
            <a:endParaRPr lang="en-IN" sz="1100" dirty="0"/>
          </a:p>
        </p:txBody>
      </p:sp>
      <p:sp>
        <p:nvSpPr>
          <p:cNvPr id="28" name="Rectangle 27"/>
          <p:cNvSpPr/>
          <p:nvPr/>
        </p:nvSpPr>
        <p:spPr>
          <a:xfrm>
            <a:off x="6954744" y="4830203"/>
            <a:ext cx="500458" cy="430887"/>
          </a:xfrm>
          <a:prstGeom prst="rect">
            <a:avLst/>
          </a:prstGeom>
        </p:spPr>
        <p:txBody>
          <a:bodyPr wrap="none">
            <a:spAutoFit/>
          </a:bodyPr>
          <a:lstStyle/>
          <a:p>
            <a:r>
              <a:rPr lang="en-US" sz="1100" b="1" i="1" dirty="0"/>
              <a:t>  ETL</a:t>
            </a:r>
          </a:p>
          <a:p>
            <a:r>
              <a:rPr lang="en-US" sz="1100" b="1" i="1" dirty="0"/>
              <a:t>Delta</a:t>
            </a:r>
            <a:endParaRPr lang="en-IN" sz="1100" dirty="0"/>
          </a:p>
        </p:txBody>
      </p:sp>
      <p:sp>
        <p:nvSpPr>
          <p:cNvPr id="29" name="TextBox 28"/>
          <p:cNvSpPr txBox="1"/>
          <p:nvPr/>
        </p:nvSpPr>
        <p:spPr>
          <a:xfrm>
            <a:off x="7552435" y="5140418"/>
            <a:ext cx="960519" cy="600164"/>
          </a:xfrm>
          <a:prstGeom prst="rect">
            <a:avLst/>
          </a:prstGeom>
          <a:noFill/>
        </p:spPr>
        <p:txBody>
          <a:bodyPr wrap="none" rtlCol="0">
            <a:spAutoFit/>
          </a:bodyPr>
          <a:lstStyle/>
          <a:p>
            <a:pPr algn="ctr"/>
            <a:r>
              <a:rPr lang="en-US" sz="1100" dirty="0"/>
              <a:t>Azure</a:t>
            </a:r>
            <a:r>
              <a:rPr lang="en-IN" sz="1100" dirty="0"/>
              <a:t> ADLS</a:t>
            </a:r>
          </a:p>
          <a:p>
            <a:pPr algn="ctr"/>
            <a:r>
              <a:rPr lang="en-US" sz="1100" dirty="0"/>
              <a:t>Gen2 Storage</a:t>
            </a:r>
          </a:p>
          <a:p>
            <a:pPr algn="ctr"/>
            <a:r>
              <a:rPr lang="en-US" sz="1100" dirty="0"/>
              <a:t>Delta</a:t>
            </a:r>
          </a:p>
        </p:txBody>
      </p:sp>
      <p:sp>
        <p:nvSpPr>
          <p:cNvPr id="30" name="TextBox 29"/>
          <p:cNvSpPr txBox="1"/>
          <p:nvPr/>
        </p:nvSpPr>
        <p:spPr>
          <a:xfrm>
            <a:off x="8981185" y="5140425"/>
            <a:ext cx="960519" cy="600164"/>
          </a:xfrm>
          <a:prstGeom prst="rect">
            <a:avLst/>
          </a:prstGeom>
          <a:noFill/>
        </p:spPr>
        <p:txBody>
          <a:bodyPr wrap="none" rtlCol="0">
            <a:spAutoFit/>
          </a:bodyPr>
          <a:lstStyle/>
          <a:p>
            <a:pPr algn="ctr"/>
            <a:r>
              <a:rPr lang="en-US" sz="1100" dirty="0"/>
              <a:t>Azure</a:t>
            </a:r>
            <a:r>
              <a:rPr lang="en-IN" sz="1100" dirty="0"/>
              <a:t> ADLS</a:t>
            </a:r>
          </a:p>
          <a:p>
            <a:pPr algn="ctr"/>
            <a:r>
              <a:rPr lang="en-US" sz="1100" dirty="0"/>
              <a:t>Gen2 Storage</a:t>
            </a:r>
          </a:p>
          <a:p>
            <a:pPr algn="ctr"/>
            <a:r>
              <a:rPr lang="en-US" sz="1100" dirty="0"/>
              <a:t>Delta</a:t>
            </a:r>
          </a:p>
        </p:txBody>
      </p:sp>
      <p:sp>
        <p:nvSpPr>
          <p:cNvPr id="23" name="Rectangle 22"/>
          <p:cNvSpPr/>
          <p:nvPr/>
        </p:nvSpPr>
        <p:spPr>
          <a:xfrm>
            <a:off x="5943600" y="4306334"/>
            <a:ext cx="4123765" cy="135611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p:cNvSpPr/>
          <p:nvPr/>
        </p:nvSpPr>
        <p:spPr>
          <a:xfrm>
            <a:off x="10067365" y="4299755"/>
            <a:ext cx="1402948" cy="577081"/>
          </a:xfrm>
          <a:prstGeom prst="rect">
            <a:avLst/>
          </a:prstGeom>
          <a:solidFill>
            <a:schemeClr val="bg2">
              <a:lumMod val="75000"/>
            </a:schemeClr>
          </a:solidFill>
        </p:spPr>
        <p:txBody>
          <a:bodyPr wrap="none">
            <a:spAutoFit/>
          </a:bodyPr>
          <a:lstStyle/>
          <a:p>
            <a:r>
              <a:rPr lang="en-US" sz="1050" b="1" dirty="0">
                <a:solidFill>
                  <a:srgbClr val="C00000"/>
                </a:solidFill>
              </a:rPr>
              <a:t>1. medallionproject3</a:t>
            </a:r>
          </a:p>
          <a:p>
            <a:r>
              <a:rPr lang="en-US" sz="1050" b="1" dirty="0">
                <a:solidFill>
                  <a:srgbClr val="C00000"/>
                </a:solidFill>
              </a:rPr>
              <a:t>Storage account</a:t>
            </a:r>
          </a:p>
          <a:p>
            <a:r>
              <a:rPr lang="en-US" sz="1050" b="1" dirty="0">
                <a:solidFill>
                  <a:srgbClr val="C00000"/>
                </a:solidFill>
              </a:rPr>
              <a:t>2. Create 3 containers</a:t>
            </a:r>
          </a:p>
        </p:txBody>
      </p:sp>
      <p:sp>
        <p:nvSpPr>
          <p:cNvPr id="36" name="Rectangle 35"/>
          <p:cNvSpPr/>
          <p:nvPr/>
        </p:nvSpPr>
        <p:spPr>
          <a:xfrm>
            <a:off x="8630112" y="1627480"/>
            <a:ext cx="3079689" cy="253916"/>
          </a:xfrm>
          <a:prstGeom prst="rect">
            <a:avLst/>
          </a:prstGeom>
          <a:solidFill>
            <a:schemeClr val="bg2">
              <a:lumMod val="75000"/>
            </a:schemeClr>
          </a:solidFill>
        </p:spPr>
        <p:txBody>
          <a:bodyPr wrap="none">
            <a:spAutoFit/>
          </a:bodyPr>
          <a:lstStyle/>
          <a:p>
            <a:r>
              <a:rPr lang="en-US" sz="1050" b="1" dirty="0">
                <a:solidFill>
                  <a:srgbClr val="C00000"/>
                </a:solidFill>
              </a:rPr>
              <a:t>4. Use </a:t>
            </a:r>
            <a:r>
              <a:rPr lang="en-US" sz="1050" b="1" dirty="0" err="1">
                <a:solidFill>
                  <a:srgbClr val="C00000"/>
                </a:solidFill>
              </a:rPr>
              <a:t>Deltalake</a:t>
            </a:r>
            <a:r>
              <a:rPr lang="en-US" sz="1050" b="1" dirty="0">
                <a:solidFill>
                  <a:srgbClr val="C00000"/>
                </a:solidFill>
              </a:rPr>
              <a:t> library to access the container data</a:t>
            </a:r>
            <a:endParaRPr lang="en-IN" sz="1050" dirty="0"/>
          </a:p>
        </p:txBody>
      </p:sp>
      <p:sp>
        <p:nvSpPr>
          <p:cNvPr id="37" name="Rectangle 36"/>
          <p:cNvSpPr/>
          <p:nvPr/>
        </p:nvSpPr>
        <p:spPr>
          <a:xfrm>
            <a:off x="10219765" y="2724379"/>
            <a:ext cx="1967205" cy="577081"/>
          </a:xfrm>
          <a:prstGeom prst="rect">
            <a:avLst/>
          </a:prstGeom>
          <a:solidFill>
            <a:schemeClr val="bg2">
              <a:lumMod val="75000"/>
            </a:schemeClr>
          </a:solidFill>
        </p:spPr>
        <p:txBody>
          <a:bodyPr wrap="none">
            <a:spAutoFit/>
          </a:bodyPr>
          <a:lstStyle/>
          <a:p>
            <a:r>
              <a:rPr lang="en-US" sz="1050" b="1" dirty="0">
                <a:solidFill>
                  <a:srgbClr val="C00000"/>
                </a:solidFill>
              </a:rPr>
              <a:t>3. Using mounts created on top</a:t>
            </a:r>
          </a:p>
          <a:p>
            <a:r>
              <a:rPr lang="en-US" sz="1050" b="1" dirty="0">
                <a:solidFill>
                  <a:srgbClr val="C00000"/>
                </a:solidFill>
              </a:rPr>
              <a:t>Of the containers, we are going </a:t>
            </a:r>
          </a:p>
          <a:p>
            <a:r>
              <a:rPr lang="en-US" sz="1050" b="1" dirty="0">
                <a:solidFill>
                  <a:srgbClr val="C00000"/>
                </a:solidFill>
              </a:rPr>
              <a:t>to access the data</a:t>
            </a:r>
            <a:endParaRPr lang="en-IN" sz="1050" dirty="0"/>
          </a:p>
        </p:txBody>
      </p:sp>
      <p:sp>
        <p:nvSpPr>
          <p:cNvPr id="38" name="TextBox 37"/>
          <p:cNvSpPr txBox="1"/>
          <p:nvPr/>
        </p:nvSpPr>
        <p:spPr>
          <a:xfrm>
            <a:off x="158239" y="904205"/>
            <a:ext cx="3393878" cy="1446550"/>
          </a:xfrm>
          <a:prstGeom prst="rect">
            <a:avLst/>
          </a:prstGeom>
          <a:noFill/>
        </p:spPr>
        <p:txBody>
          <a:bodyPr wrap="none" rtlCol="0">
            <a:spAutoFit/>
          </a:bodyPr>
          <a:lstStyle/>
          <a:p>
            <a:r>
              <a:rPr lang="en-US" sz="1100" b="1" u="sng" dirty="0"/>
              <a:t>Create a Databricks notebook (delta_lake_concepts_1)</a:t>
            </a:r>
          </a:p>
          <a:p>
            <a:endParaRPr lang="en-US" sz="1100" b="1" u="sng" dirty="0"/>
          </a:p>
          <a:p>
            <a:r>
              <a:rPr lang="en-US" sz="1100" b="1" dirty="0">
                <a:solidFill>
                  <a:srgbClr val="C00000"/>
                </a:solidFill>
              </a:rPr>
              <a:t>1. Create medallionproject3 Storage account</a:t>
            </a:r>
          </a:p>
          <a:p>
            <a:r>
              <a:rPr lang="en-US" sz="1100" b="1" dirty="0">
                <a:solidFill>
                  <a:srgbClr val="C00000"/>
                </a:solidFill>
              </a:rPr>
              <a:t>2. Create 3 containers</a:t>
            </a:r>
          </a:p>
          <a:p>
            <a:r>
              <a:rPr lang="en-US" sz="1100" b="1" dirty="0">
                <a:solidFill>
                  <a:srgbClr val="C00000"/>
                </a:solidFill>
              </a:rPr>
              <a:t>3. Using the access/</a:t>
            </a:r>
            <a:r>
              <a:rPr lang="en-US" sz="1100" b="1" dirty="0" err="1">
                <a:solidFill>
                  <a:srgbClr val="C00000"/>
                </a:solidFill>
              </a:rPr>
              <a:t>oauth</a:t>
            </a:r>
            <a:r>
              <a:rPr lang="en-US" sz="1100" b="1" dirty="0">
                <a:solidFill>
                  <a:srgbClr val="C00000"/>
                </a:solidFill>
              </a:rPr>
              <a:t>/</a:t>
            </a:r>
            <a:r>
              <a:rPr lang="en-US" sz="1100" b="1" dirty="0" err="1">
                <a:solidFill>
                  <a:srgbClr val="C00000"/>
                </a:solidFill>
              </a:rPr>
              <a:t>rbac</a:t>
            </a:r>
            <a:r>
              <a:rPr lang="en-US" sz="1100" b="1" dirty="0">
                <a:solidFill>
                  <a:srgbClr val="C00000"/>
                </a:solidFill>
              </a:rPr>
              <a:t> SP access we are going </a:t>
            </a:r>
          </a:p>
          <a:p>
            <a:r>
              <a:rPr lang="en-US" sz="1100" b="1" dirty="0">
                <a:solidFill>
                  <a:srgbClr val="C00000"/>
                </a:solidFill>
              </a:rPr>
              <a:t>to access the data</a:t>
            </a:r>
            <a:endParaRPr lang="en-IN" sz="1100" dirty="0"/>
          </a:p>
          <a:p>
            <a:r>
              <a:rPr lang="en-US" sz="1100" b="1" dirty="0">
                <a:solidFill>
                  <a:srgbClr val="C00000"/>
                </a:solidFill>
              </a:rPr>
              <a:t>4. Use </a:t>
            </a:r>
            <a:r>
              <a:rPr lang="en-US" sz="1100" b="1" dirty="0" err="1">
                <a:solidFill>
                  <a:srgbClr val="C00000"/>
                </a:solidFill>
              </a:rPr>
              <a:t>Deltalake</a:t>
            </a:r>
            <a:r>
              <a:rPr lang="en-US" sz="1100" b="1" dirty="0">
                <a:solidFill>
                  <a:srgbClr val="C00000"/>
                </a:solidFill>
              </a:rPr>
              <a:t> library to access the container data</a:t>
            </a:r>
            <a:endParaRPr lang="en-IN" sz="1100" dirty="0"/>
          </a:p>
          <a:p>
            <a:endParaRPr lang="en-IN" sz="1100" b="1" u="sng" dirty="0"/>
          </a:p>
        </p:txBody>
      </p:sp>
      <p:pic>
        <p:nvPicPr>
          <p:cNvPr id="25"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2422" y="4463853"/>
            <a:ext cx="891886" cy="7360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27" name="Rectangle 26"/>
          <p:cNvSpPr/>
          <p:nvPr/>
        </p:nvSpPr>
        <p:spPr>
          <a:xfrm>
            <a:off x="5207507" y="4809123"/>
            <a:ext cx="649537" cy="261610"/>
          </a:xfrm>
          <a:prstGeom prst="rect">
            <a:avLst/>
          </a:prstGeom>
        </p:spPr>
        <p:txBody>
          <a:bodyPr wrap="none">
            <a:spAutoFit/>
          </a:bodyPr>
          <a:lstStyle/>
          <a:p>
            <a:r>
              <a:rPr lang="en-US" sz="1100" b="1" i="1" dirty="0"/>
              <a:t>Parquet</a:t>
            </a:r>
            <a:endParaRPr lang="en-IN" sz="1100" dirty="0"/>
          </a:p>
        </p:txBody>
      </p:sp>
      <p:sp>
        <p:nvSpPr>
          <p:cNvPr id="7" name="Rectangle 6"/>
          <p:cNvSpPr/>
          <p:nvPr/>
        </p:nvSpPr>
        <p:spPr>
          <a:xfrm>
            <a:off x="4287269" y="5212279"/>
            <a:ext cx="742191" cy="369332"/>
          </a:xfrm>
          <a:prstGeom prst="rect">
            <a:avLst/>
          </a:prstGeom>
        </p:spPr>
        <p:txBody>
          <a:bodyPr wrap="none">
            <a:spAutoFit/>
          </a:bodyPr>
          <a:lstStyle/>
          <a:p>
            <a:r>
              <a:rPr lang="en-US" b="1" i="1" dirty="0"/>
              <a:t>BLOB </a:t>
            </a:r>
            <a:endParaRPr lang="en-IN" dirty="0"/>
          </a:p>
        </p:txBody>
      </p:sp>
      <p:sp>
        <p:nvSpPr>
          <p:cNvPr id="8" name="Rectangle 7"/>
          <p:cNvSpPr/>
          <p:nvPr/>
        </p:nvSpPr>
        <p:spPr>
          <a:xfrm>
            <a:off x="4172518" y="5659082"/>
            <a:ext cx="2383858" cy="369332"/>
          </a:xfrm>
          <a:prstGeom prst="rect">
            <a:avLst/>
          </a:prstGeom>
        </p:spPr>
        <p:txBody>
          <a:bodyPr wrap="none">
            <a:spAutoFit/>
          </a:bodyPr>
          <a:lstStyle/>
          <a:p>
            <a:r>
              <a:rPr lang="en-IN" dirty="0"/>
              <a:t>source-to-bronze-load1</a:t>
            </a:r>
          </a:p>
        </p:txBody>
      </p:sp>
      <p:sp>
        <p:nvSpPr>
          <p:cNvPr id="6" name="Rectangle 5">
            <a:extLst>
              <a:ext uri="{FF2B5EF4-FFF2-40B4-BE49-F238E27FC236}">
                <a16:creationId xmlns="" xmlns:a16="http://schemas.microsoft.com/office/drawing/2014/main" id="{90780B62-AD3C-E9A6-FEE5-00CCBA16ECF4}"/>
              </a:ext>
            </a:extLst>
          </p:cNvPr>
          <p:cNvSpPr/>
          <p:nvPr/>
        </p:nvSpPr>
        <p:spPr>
          <a:xfrm>
            <a:off x="2524486" y="5646938"/>
            <a:ext cx="1638590" cy="600164"/>
          </a:xfrm>
          <a:prstGeom prst="rect">
            <a:avLst/>
          </a:prstGeom>
        </p:spPr>
        <p:txBody>
          <a:bodyPr wrap="none">
            <a:spAutoFit/>
          </a:bodyPr>
          <a:lstStyle/>
          <a:p>
            <a:r>
              <a:rPr lang="en-US" sz="1100" b="1" i="1" u="sng" dirty="0"/>
              <a:t>Pipeline2:</a:t>
            </a:r>
          </a:p>
          <a:p>
            <a:r>
              <a:rPr lang="en-US" sz="1100" b="1" i="1" dirty="0"/>
              <a:t>pushed patients.csv data</a:t>
            </a:r>
          </a:p>
          <a:p>
            <a:r>
              <a:rPr lang="en-US" sz="1100" b="1" i="1" dirty="0"/>
              <a:t>into BLOB container</a:t>
            </a:r>
            <a:endParaRPr lang="en-IN" sz="1100" dirty="0"/>
          </a:p>
        </p:txBody>
      </p:sp>
      <p:pic>
        <p:nvPicPr>
          <p:cNvPr id="15" name="Picture 8">
            <a:extLst>
              <a:ext uri="{FF2B5EF4-FFF2-40B4-BE49-F238E27FC236}">
                <a16:creationId xmlns="" xmlns:a16="http://schemas.microsoft.com/office/drawing/2014/main" id="{5A4967E9-59C8-DF0C-BB97-153B06E101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99541" y="4984389"/>
            <a:ext cx="1137847" cy="7871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7" name="Rectangle 16">
            <a:extLst>
              <a:ext uri="{FF2B5EF4-FFF2-40B4-BE49-F238E27FC236}">
                <a16:creationId xmlns="" xmlns:a16="http://schemas.microsoft.com/office/drawing/2014/main" id="{C5A362DA-FB23-0441-E200-EAFDA192745D}"/>
              </a:ext>
            </a:extLst>
          </p:cNvPr>
          <p:cNvSpPr/>
          <p:nvPr/>
        </p:nvSpPr>
        <p:spPr>
          <a:xfrm>
            <a:off x="2073269" y="2298088"/>
            <a:ext cx="940369" cy="2480518"/>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r>
              <a:rPr lang="en-US" b="1" dirty="0">
                <a:solidFill>
                  <a:schemeClr val="tx1"/>
                </a:solidFill>
              </a:rPr>
              <a:t>Source</a:t>
            </a: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IN" b="1" dirty="0">
              <a:solidFill>
                <a:schemeClr val="tx1"/>
              </a:solidFill>
            </a:endParaRPr>
          </a:p>
        </p:txBody>
      </p:sp>
      <p:pic>
        <p:nvPicPr>
          <p:cNvPr id="20" name="Picture 12">
            <a:extLst>
              <a:ext uri="{FF2B5EF4-FFF2-40B4-BE49-F238E27FC236}">
                <a16:creationId xmlns="" xmlns:a16="http://schemas.microsoft.com/office/drawing/2014/main" id="{3411ED06-EE4D-EEE0-D5D4-E76FF3A69AA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04551" y="2724379"/>
            <a:ext cx="858753" cy="8802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1" name="Elbow Connector 32">
            <a:extLst>
              <a:ext uri="{FF2B5EF4-FFF2-40B4-BE49-F238E27FC236}">
                <a16:creationId xmlns="" xmlns:a16="http://schemas.microsoft.com/office/drawing/2014/main" id="{3D80D3B3-5837-6738-CFF5-182FB8BF9117}"/>
              </a:ext>
            </a:extLst>
          </p:cNvPr>
          <p:cNvCxnSpPr>
            <a:stCxn id="20" idx="2"/>
          </p:cNvCxnSpPr>
          <p:nvPr/>
        </p:nvCxnSpPr>
        <p:spPr>
          <a:xfrm rot="16200000" flipH="1">
            <a:off x="2861415" y="3277113"/>
            <a:ext cx="1027031" cy="1682005"/>
          </a:xfrm>
          <a:prstGeom prst="bentConnector2">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2" name="8-Point Star 33">
            <a:extLst>
              <a:ext uri="{FF2B5EF4-FFF2-40B4-BE49-F238E27FC236}">
                <a16:creationId xmlns="" xmlns:a16="http://schemas.microsoft.com/office/drawing/2014/main" id="{AF4A735C-2C01-959E-ADF3-4297F92CB4D3}"/>
              </a:ext>
            </a:extLst>
          </p:cNvPr>
          <p:cNvSpPr/>
          <p:nvPr/>
        </p:nvSpPr>
        <p:spPr>
          <a:xfrm>
            <a:off x="3083200" y="4274930"/>
            <a:ext cx="352541" cy="320492"/>
          </a:xfrm>
          <a:prstGeom prst="star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endParaRPr lang="en-IN" b="1" dirty="0">
              <a:solidFill>
                <a:schemeClr val="tx1"/>
              </a:solidFill>
            </a:endParaRPr>
          </a:p>
        </p:txBody>
      </p:sp>
      <p:grpSp>
        <p:nvGrpSpPr>
          <p:cNvPr id="24" name="Group 23">
            <a:extLst>
              <a:ext uri="{FF2B5EF4-FFF2-40B4-BE49-F238E27FC236}">
                <a16:creationId xmlns="" xmlns:a16="http://schemas.microsoft.com/office/drawing/2014/main" id="{AD135829-449A-8693-C28F-5F96EB84C8A6}"/>
              </a:ext>
            </a:extLst>
          </p:cNvPr>
          <p:cNvGrpSpPr/>
          <p:nvPr/>
        </p:nvGrpSpPr>
        <p:grpSpPr>
          <a:xfrm>
            <a:off x="6096000" y="6105885"/>
            <a:ext cx="940194" cy="797016"/>
            <a:chOff x="2859660" y="4916280"/>
            <a:chExt cx="1034212" cy="964393"/>
          </a:xfrm>
        </p:grpSpPr>
        <p:pic>
          <p:nvPicPr>
            <p:cNvPr id="31" name="Picture 14">
              <a:extLst>
                <a:ext uri="{FF2B5EF4-FFF2-40B4-BE49-F238E27FC236}">
                  <a16:creationId xmlns="" xmlns:a16="http://schemas.microsoft.com/office/drawing/2014/main" id="{7C5EF2D0-0036-B834-876B-A3306B2917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87913" y="4916280"/>
              <a:ext cx="558651" cy="6179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32" name="TextBox 31">
              <a:extLst>
                <a:ext uri="{FF2B5EF4-FFF2-40B4-BE49-F238E27FC236}">
                  <a16:creationId xmlns="" xmlns:a16="http://schemas.microsoft.com/office/drawing/2014/main" id="{D75755C6-3318-11E1-0E6A-63629FAA9213}"/>
                </a:ext>
              </a:extLst>
            </p:cNvPr>
            <p:cNvSpPr txBox="1"/>
            <p:nvPr/>
          </p:nvSpPr>
          <p:spPr>
            <a:xfrm>
              <a:off x="2859660" y="5545503"/>
              <a:ext cx="1034212" cy="335170"/>
            </a:xfrm>
            <a:prstGeom prst="rect">
              <a:avLst/>
            </a:prstGeom>
            <a:noFill/>
          </p:spPr>
          <p:txBody>
            <a:bodyPr wrap="none" rtlCol="0">
              <a:spAutoFit/>
            </a:bodyPr>
            <a:lstStyle/>
            <a:p>
              <a:pPr algn="ctr"/>
              <a:r>
                <a:rPr lang="en-US" sz="1200" dirty="0"/>
                <a:t>Delta Tables</a:t>
              </a:r>
              <a:endParaRPr lang="en-US" sz="1200" b="1" dirty="0"/>
            </a:p>
          </p:txBody>
        </p:sp>
      </p:grpSp>
      <p:sp>
        <p:nvSpPr>
          <p:cNvPr id="33" name="Rectangle 32">
            <a:extLst>
              <a:ext uri="{FF2B5EF4-FFF2-40B4-BE49-F238E27FC236}">
                <a16:creationId xmlns="" xmlns:a16="http://schemas.microsoft.com/office/drawing/2014/main" id="{DA559668-124D-5D19-D407-2D7161BF1641}"/>
              </a:ext>
            </a:extLst>
          </p:cNvPr>
          <p:cNvSpPr/>
          <p:nvPr/>
        </p:nvSpPr>
        <p:spPr>
          <a:xfrm>
            <a:off x="8437449" y="4830203"/>
            <a:ext cx="667170" cy="938719"/>
          </a:xfrm>
          <a:prstGeom prst="rect">
            <a:avLst/>
          </a:prstGeom>
        </p:spPr>
        <p:txBody>
          <a:bodyPr wrap="none">
            <a:spAutoFit/>
          </a:bodyPr>
          <a:lstStyle/>
          <a:p>
            <a:r>
              <a:rPr lang="en-US" sz="1100" b="1" i="1" dirty="0"/>
              <a:t>Flatten</a:t>
            </a:r>
          </a:p>
          <a:p>
            <a:r>
              <a:rPr lang="en-US" sz="1100" b="1" i="1" dirty="0"/>
              <a:t>Joined</a:t>
            </a:r>
          </a:p>
          <a:p>
            <a:r>
              <a:rPr lang="en-US" sz="1100" b="1" i="1" dirty="0"/>
              <a:t>Patients</a:t>
            </a:r>
          </a:p>
          <a:p>
            <a:r>
              <a:rPr lang="en-US" sz="1100" b="1" i="1" dirty="0"/>
              <a:t>      &amp;</a:t>
            </a:r>
          </a:p>
          <a:p>
            <a:r>
              <a:rPr lang="en-US" sz="1100" b="1" i="1" dirty="0"/>
              <a:t>  Drugs</a:t>
            </a:r>
            <a:endParaRPr lang="en-IN" sz="1100" dirty="0"/>
          </a:p>
        </p:txBody>
      </p:sp>
    </p:spTree>
    <p:extLst>
      <p:ext uri="{BB962C8B-B14F-4D97-AF65-F5344CB8AC3E}">
        <p14:creationId xmlns:p14="http://schemas.microsoft.com/office/powerpoint/2010/main" val="391988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410480</TotalTime>
  <Words>8066</Words>
  <Application>Microsoft Office PowerPoint</Application>
  <PresentationFormat>Custom</PresentationFormat>
  <Paragraphs>1483</Paragraphs>
  <Slides>78</Slides>
  <Notes>28</Notes>
  <HiddenSlides>2</HiddenSlides>
  <MMClips>0</MMClips>
  <ScaleCrop>false</ScaleCrop>
  <HeadingPairs>
    <vt:vector size="4" baseType="variant">
      <vt:variant>
        <vt:lpstr>Theme</vt:lpstr>
      </vt:variant>
      <vt:variant>
        <vt:i4>4</vt:i4>
      </vt:variant>
      <vt:variant>
        <vt:lpstr>Slide Titles</vt:lpstr>
      </vt:variant>
      <vt:variant>
        <vt:i4>78</vt:i4>
      </vt:variant>
    </vt:vector>
  </HeadingPairs>
  <TitlesOfParts>
    <vt:vector size="82" baseType="lpstr">
      <vt:lpstr>Office Theme</vt:lpstr>
      <vt:lpstr>1_Office Theme</vt:lpstr>
      <vt:lpstr>2_Office Theme</vt:lpstr>
      <vt:lpstr>3_Office Theme</vt:lpstr>
      <vt:lpstr>Cloud Computing</vt:lpstr>
      <vt:lpstr>All about Cloud Computing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Azure – Account Creation</vt:lpstr>
      <vt:lpstr>PowerPoint Presentation</vt:lpstr>
      <vt:lpstr>PowerPoint Presentation</vt:lpstr>
      <vt:lpstr>About Azure</vt:lpstr>
      <vt:lpstr>Azure Data Engineering/AI/BI Services (Software)</vt:lpstr>
      <vt:lpstr>        Azure – Resource Hierarchy</vt:lpstr>
      <vt:lpstr>PowerPoint Presentation</vt:lpstr>
      <vt:lpstr>PowerPoint Presentation</vt:lpstr>
      <vt:lpstr>PowerPoint Presentation</vt:lpstr>
      <vt:lpstr>PowerPoint Presentation</vt:lpstr>
      <vt:lpstr>PowerPoint Presentation</vt:lpstr>
      <vt:lpstr>PowerPoint Presentation</vt:lpstr>
      <vt:lpstr>        Azure – Connectivity</vt:lpstr>
      <vt:lpstr>PowerPoint Presentation</vt:lpstr>
      <vt:lpstr>PowerPoint Presentation</vt:lpstr>
      <vt:lpstr>Cloud SDK &amp; CLIs </vt:lpstr>
      <vt:lpstr>1. Download &amp; Install az SDK - Classroom - Practice</vt:lpstr>
      <vt:lpstr>3. Az Commands list - Classroom - Practice</vt:lpstr>
      <vt:lpstr>Az – SECURITY</vt:lpstr>
      <vt:lpstr>PowerPoint Presentation</vt:lpstr>
      <vt:lpstr>PowerPoint Presentation</vt:lpstr>
      <vt:lpstr>    IAM (RBAC) – Ms Entra/Ms AD</vt:lpstr>
      <vt:lpstr>RBAC – IAM (Identity) (User/group/role management)</vt:lpstr>
      <vt:lpstr>RBAC – IAM (Access) (Role Assignment)</vt:lpstr>
      <vt:lpstr>Azure Data Lake  (Cloud Engg./Platform Engg.) BLOB/ADLS Gen2</vt:lpstr>
      <vt:lpstr>PowerPoint Presentation</vt:lpstr>
      <vt:lpstr>PowerPoint Presentation</vt:lpstr>
      <vt:lpstr>Azure Storage Container Basic Characteristics</vt:lpstr>
      <vt:lpstr>Storage Tiers (Storage Classes in GCP Standard/Nearline(30d)/Coldline(90d)/Archival(365d))</vt:lpstr>
      <vt:lpstr>Redundancy (Location) Types</vt:lpstr>
      <vt:lpstr>PowerPoint Presentation</vt:lpstr>
      <vt:lpstr>PowerPoint Presentation</vt:lpstr>
      <vt:lpstr>PowerPoint Presentation</vt:lpstr>
      <vt:lpstr>PowerPoint Presentation</vt:lpstr>
      <vt:lpstr>PowerPoint Presentation</vt:lpstr>
      <vt:lpstr>PowerPoint Presentation</vt:lpstr>
      <vt:lpstr>Azure  Virtual (Pvt) Network  (GCP - VPC)</vt:lpstr>
      <vt:lpstr> Azure – Infra &amp; Network Hierarchy</vt:lpstr>
      <vt:lpstr>PowerPoint Presentation</vt:lpstr>
      <vt:lpstr>PowerPoint Presentation</vt:lpstr>
      <vt:lpstr>Azure VM</vt:lpstr>
      <vt:lpstr>PowerPoint Presentation</vt:lpstr>
      <vt:lpstr>Virtual Machine</vt:lpstr>
      <vt:lpstr>PowerPoint Presentation</vt:lpstr>
      <vt:lpstr>Azure Databricks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Creating DBFS Catalog &amp; Volume for source data handling</vt:lpstr>
      <vt:lpstr>2. Upload sample data into Databricks DBFS Volume created in the previous slide</vt:lpstr>
      <vt:lpstr>Cluster Configurations (Compute -&gt; New Compute)</vt:lpstr>
      <vt:lpstr>PowerPoint Presentation</vt:lpstr>
      <vt:lpstr>Databricks Pricing Calculation &amp; Cluster Tiers</vt:lpstr>
      <vt:lpstr>Whats Next, post Core Cloud Engineer???</vt:lpstr>
      <vt:lpstr>Performance Optimization &amp; UI - Monitoring &amp; Logging ???</vt:lpstr>
      <vt:lpstr>Databricks Pricing ???</vt:lpstr>
      <vt:lpstr>PowerPoint Presentation</vt:lpstr>
      <vt:lpstr>PowerPoint Presentation</vt:lpstr>
      <vt:lpstr>PowerPoint Presentation</vt:lpstr>
      <vt:lpstr>PowerPoint Presentation</vt:lpstr>
      <vt:lpstr>Healthcare &amp; Life Science Project (BLOB, Datalake(ADLS), Databricks (Delta)) Implementation Medallion (Parallel Pipeline1&amp;2) &amp; Understanding of Deltalake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mohamed irfan</cp:lastModifiedBy>
  <cp:revision>1173</cp:revision>
  <dcterms:created xsi:type="dcterms:W3CDTF">2019-02-11T01:32:33Z</dcterms:created>
  <dcterms:modified xsi:type="dcterms:W3CDTF">2026-04-09T14:01:25Z</dcterms:modified>
</cp:coreProperties>
</file>