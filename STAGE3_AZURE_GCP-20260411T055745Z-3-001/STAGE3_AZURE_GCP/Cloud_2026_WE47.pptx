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6.xml" ContentType="application/inkml+xml"/>
  <Override PartName="/ppt/notesSlides/notesSlide3.xml" ContentType="application/vnd.openxmlformats-officedocument.presentationml.notesSlide+xml"/>
  <Override PartName="/ppt/ink/ink7.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8.xml" ContentType="application/inkml+xml"/>
  <Override PartName="/ppt/notesSlides/notesSlide6.xml" ContentType="application/vnd.openxmlformats-officedocument.presentationml.notesSlide+xml"/>
  <Override PartName="/ppt/ink/ink9.xml" ContentType="application/inkml+xml"/>
  <Override PartName="/ppt/notesSlides/notesSlide7.xml" ContentType="application/vnd.openxmlformats-officedocument.presentationml.notesSlide+xml"/>
  <Override PartName="/ppt/ink/ink10.xml" ContentType="application/inkml+xml"/>
  <Override PartName="/ppt/notesSlides/notesSlide8.xml" ContentType="application/vnd.openxmlformats-officedocument.presentationml.notesSlide+xml"/>
  <Override PartName="/ppt/ink/ink11.xml" ContentType="application/inkml+xml"/>
  <Override PartName="/ppt/notesSlides/notesSlide9.xml" ContentType="application/vnd.openxmlformats-officedocument.presentationml.notesSlide+xml"/>
  <Override PartName="/ppt/ink/ink1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3.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16.xml" ContentType="application/vnd.openxmlformats-officedocument.presentationml.notesSlide+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17.xml" ContentType="application/vnd.openxmlformats-officedocument.presentationml.notesSlide+xml"/>
  <Override PartName="/ppt/ink/ink23.xml" ContentType="application/inkml+xml"/>
  <Override PartName="/ppt/notesSlides/notesSlide18.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notesSlides/notesSlide19.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30.xml" ContentType="application/inkml+xml"/>
  <Override PartName="/ppt/ink/ink31.xml" ContentType="application/inkml+xml"/>
  <Override PartName="/ppt/ink/ink32.xml" ContentType="application/inkml+xml"/>
  <Override PartName="/ppt/notesSlides/notesSlide22.xml" ContentType="application/vnd.openxmlformats-officedocument.presentationml.notesSlide+xml"/>
  <Override PartName="/ppt/ink/ink33.xml" ContentType="application/inkml+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ink/ink34.xml" ContentType="application/inkml+xml"/>
  <Override PartName="/ppt/notesSlides/notesSlide23.xml" ContentType="application/vnd.openxmlformats-officedocument.presentationml.notesSlide+xml"/>
  <Override PartName="/ppt/ink/ink35.xml" ContentType="application/inkml+xml"/>
  <Override PartName="/ppt/notesSlides/notesSlide24.xml" ContentType="application/vnd.openxmlformats-officedocument.presentationml.notesSlide+xml"/>
  <Override PartName="/ppt/ink/ink36.xml" ContentType="application/inkml+xml"/>
  <Override PartName="/ppt/notesSlides/notesSlide25.xml" ContentType="application/vnd.openxmlformats-officedocument.presentationml.notesSlide+xml"/>
  <Override PartName="/ppt/ink/ink3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72"/>
  </p:notesMasterIdLst>
  <p:handoutMasterIdLst>
    <p:handoutMasterId r:id="rId73"/>
  </p:handoutMasterIdLst>
  <p:sldIdLst>
    <p:sldId id="741" r:id="rId4"/>
    <p:sldId id="968" r:id="rId5"/>
    <p:sldId id="283" r:id="rId6"/>
    <p:sldId id="273" r:id="rId7"/>
    <p:sldId id="256" r:id="rId8"/>
    <p:sldId id="269" r:id="rId9"/>
    <p:sldId id="445" r:id="rId10"/>
    <p:sldId id="284" r:id="rId11"/>
    <p:sldId id="446" r:id="rId12"/>
    <p:sldId id="969" r:id="rId13"/>
    <p:sldId id="980" r:id="rId14"/>
    <p:sldId id="970" r:id="rId15"/>
    <p:sldId id="971" r:id="rId16"/>
    <p:sldId id="972" r:id="rId17"/>
    <p:sldId id="981" r:id="rId18"/>
    <p:sldId id="982" r:id="rId19"/>
    <p:sldId id="983" r:id="rId20"/>
    <p:sldId id="984" r:id="rId21"/>
    <p:sldId id="985" r:id="rId22"/>
    <p:sldId id="986" r:id="rId23"/>
    <p:sldId id="987" r:id="rId24"/>
    <p:sldId id="988" r:id="rId25"/>
    <p:sldId id="989" r:id="rId26"/>
    <p:sldId id="990" r:id="rId27"/>
    <p:sldId id="991" r:id="rId28"/>
    <p:sldId id="992" r:id="rId29"/>
    <p:sldId id="993" r:id="rId30"/>
    <p:sldId id="994" r:id="rId31"/>
    <p:sldId id="995" r:id="rId32"/>
    <p:sldId id="996" r:id="rId33"/>
    <p:sldId id="997" r:id="rId34"/>
    <p:sldId id="998" r:id="rId35"/>
    <p:sldId id="999" r:id="rId36"/>
    <p:sldId id="1000" r:id="rId37"/>
    <p:sldId id="1001" r:id="rId38"/>
    <p:sldId id="1002" r:id="rId39"/>
    <p:sldId id="1003" r:id="rId40"/>
    <p:sldId id="1023" r:id="rId41"/>
    <p:sldId id="1004" r:id="rId42"/>
    <p:sldId id="1005" r:id="rId43"/>
    <p:sldId id="1006" r:id="rId44"/>
    <p:sldId id="1007" r:id="rId45"/>
    <p:sldId id="1008" r:id="rId46"/>
    <p:sldId id="1009" r:id="rId47"/>
    <p:sldId id="1010" r:id="rId48"/>
    <p:sldId id="1011" r:id="rId49"/>
    <p:sldId id="1012" r:id="rId50"/>
    <p:sldId id="1013" r:id="rId51"/>
    <p:sldId id="1014" r:id="rId52"/>
    <p:sldId id="1015" r:id="rId53"/>
    <p:sldId id="1016" r:id="rId54"/>
    <p:sldId id="1017" r:id="rId55"/>
    <p:sldId id="1018" r:id="rId56"/>
    <p:sldId id="1019" r:id="rId57"/>
    <p:sldId id="1024" r:id="rId58"/>
    <p:sldId id="1025" r:id="rId59"/>
    <p:sldId id="1026" r:id="rId60"/>
    <p:sldId id="1027" r:id="rId61"/>
    <p:sldId id="1028" r:id="rId62"/>
    <p:sldId id="1029" r:id="rId63"/>
    <p:sldId id="1030" r:id="rId64"/>
    <p:sldId id="1031" r:id="rId65"/>
    <p:sldId id="1032" r:id="rId66"/>
    <p:sldId id="1033" r:id="rId67"/>
    <p:sldId id="1034" r:id="rId68"/>
    <p:sldId id="1035" r:id="rId69"/>
    <p:sldId id="1036" r:id="rId70"/>
    <p:sldId id="1037"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8F8F8"/>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680" autoAdjust="0"/>
  </p:normalViewPr>
  <p:slideViewPr>
    <p:cSldViewPr snapToGrid="0">
      <p:cViewPr>
        <p:scale>
          <a:sx n="75" d="100"/>
          <a:sy n="75" d="100"/>
        </p:scale>
        <p:origin x="-941" y="-341"/>
      </p:cViewPr>
      <p:guideLst>
        <p:guide orient="horz" pos="2160"/>
        <p:guide pos="3840"/>
      </p:guideLst>
    </p:cSldViewPr>
  </p:slideViewPr>
  <p:outlineViewPr>
    <p:cViewPr>
      <p:scale>
        <a:sx n="33" d="100"/>
        <a:sy n="33" d="100"/>
      </p:scale>
      <p:origin x="0" y="5808"/>
    </p:cViewPr>
  </p:outlineViewPr>
  <p:notesTextViewPr>
    <p:cViewPr>
      <p:scale>
        <a:sx n="1" d="1"/>
        <a:sy n="1" d="1"/>
      </p:scale>
      <p:origin x="0" y="0"/>
    </p:cViewPr>
  </p:notesTextViewPr>
  <p:sorterViewPr>
    <p:cViewPr>
      <p:scale>
        <a:sx n="100" d="100"/>
        <a:sy n="100" d="100"/>
      </p:scale>
      <p:origin x="0" y="24586"/>
    </p:cViewPr>
  </p:sorterViewPr>
  <p:notesViewPr>
    <p:cSldViewPr snapToGrid="0">
      <p:cViewPr varScale="1">
        <p:scale>
          <a:sx n="67" d="100"/>
          <a:sy n="67" d="100"/>
        </p:scale>
        <p:origin x="-3168"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9EC51A-D321-4D01-82FD-BF10FF1FF867}" type="doc">
      <dgm:prSet loTypeId="urn:microsoft.com/office/officeart/2005/8/layout/hChevron3" loCatId="process" qsTypeId="urn:microsoft.com/office/officeart/2005/8/quickstyle/simple1" qsCatId="simple" csTypeId="urn:microsoft.com/office/officeart/2005/8/colors/accent1_2" csCatId="accent1" phldr="1"/>
      <dgm:spPr/>
    </dgm:pt>
    <dgm:pt modelId="{5AB2BB73-455C-4C1C-B0FE-7700875CCE2B}">
      <dgm:prSet phldrT="[Text]"/>
      <dgm:spPr>
        <a:solidFill>
          <a:schemeClr val="tx2"/>
        </a:solidFill>
      </dgm:spPr>
      <dgm:t>
        <a:bodyPr/>
        <a:lstStyle/>
        <a:p>
          <a:r>
            <a:rPr lang="en-US" b="1" dirty="0" err="1" smtClean="0">
              <a:solidFill>
                <a:srgbClr val="FF0000"/>
              </a:solidFill>
            </a:rPr>
            <a:t>Datalake</a:t>
          </a:r>
          <a:endParaRPr lang="en-US" b="1" dirty="0" smtClean="0">
            <a:solidFill>
              <a:srgbClr val="FF0000"/>
            </a:solidFill>
          </a:endParaRPr>
        </a:p>
        <a:p>
          <a:r>
            <a:rPr lang="en-IN" dirty="0" smtClean="0"/>
            <a:t>ADLS/BLOB</a:t>
          </a:r>
          <a:endParaRPr lang="en-IN" dirty="0"/>
        </a:p>
      </dgm:t>
    </dgm:pt>
    <dgm:pt modelId="{BB0DD30E-AC0B-4E3E-B5D2-FEA24B96FF72}" type="parTrans" cxnId="{4FEC5606-D232-4CDB-925C-8DBE2D62AB38}">
      <dgm:prSet/>
      <dgm:spPr/>
      <dgm:t>
        <a:bodyPr/>
        <a:lstStyle/>
        <a:p>
          <a:endParaRPr lang="en-IN"/>
        </a:p>
      </dgm:t>
    </dgm:pt>
    <dgm:pt modelId="{F15A1044-D3BE-47AB-A1C3-0D317EC65F91}" type="sibTrans" cxnId="{4FEC5606-D232-4CDB-925C-8DBE2D62AB38}">
      <dgm:prSet/>
      <dgm:spPr/>
      <dgm:t>
        <a:bodyPr/>
        <a:lstStyle/>
        <a:p>
          <a:endParaRPr lang="en-IN"/>
        </a:p>
      </dgm:t>
    </dgm:pt>
    <dgm:pt modelId="{938F6D84-86EF-4E45-8708-2EEF09BDF159}">
      <dgm:prSet phldrT="[Text]"/>
      <dgm:spPr>
        <a:solidFill>
          <a:schemeClr val="tx2"/>
        </a:solidFill>
      </dgm:spPr>
      <dgm:t>
        <a:bodyPr/>
        <a:lstStyle/>
        <a:p>
          <a:r>
            <a:rPr lang="en-US" b="1" err="1" smtClean="0">
              <a:solidFill>
                <a:srgbClr val="FF0000"/>
              </a:solidFill>
            </a:rPr>
            <a:t>Databricks</a:t>
          </a:r>
          <a:r>
            <a:rPr lang="en-US" b="1" smtClean="0">
              <a:solidFill>
                <a:srgbClr val="FF0000"/>
              </a:solidFill>
            </a:rPr>
            <a:t> </a:t>
          </a:r>
          <a:endParaRPr lang="en-IN" dirty="0"/>
        </a:p>
      </dgm:t>
    </dgm:pt>
    <dgm:pt modelId="{234D800C-F220-43D5-9AF2-B55D0C298F54}" type="parTrans" cxnId="{778A4C54-2AC4-4B3F-8084-D4BE230B54D5}">
      <dgm:prSet/>
      <dgm:spPr/>
      <dgm:t>
        <a:bodyPr/>
        <a:lstStyle/>
        <a:p>
          <a:endParaRPr lang="en-IN"/>
        </a:p>
      </dgm:t>
    </dgm:pt>
    <dgm:pt modelId="{26F1733D-D498-4FD7-ACDB-38510417AB99}" type="sibTrans" cxnId="{778A4C54-2AC4-4B3F-8084-D4BE230B54D5}">
      <dgm:prSet/>
      <dgm:spPr/>
      <dgm:t>
        <a:bodyPr/>
        <a:lstStyle/>
        <a:p>
          <a:endParaRPr lang="en-IN"/>
        </a:p>
      </dgm:t>
    </dgm:pt>
    <dgm:pt modelId="{9F0BBBCA-F1DF-4C2F-AF40-B895DA1CC893}">
      <dgm:prSet phldrT="[Text]"/>
      <dgm:spPr>
        <a:solidFill>
          <a:schemeClr val="tx2"/>
        </a:solidFill>
      </dgm:spPr>
      <dgm:t>
        <a:bodyPr/>
        <a:lstStyle/>
        <a:p>
          <a:r>
            <a:rPr lang="en-US" b="1" dirty="0" smtClean="0"/>
            <a:t>Data Factory</a:t>
          </a:r>
          <a:endParaRPr lang="en-US" b="1" dirty="0"/>
        </a:p>
      </dgm:t>
    </dgm:pt>
    <dgm:pt modelId="{39288F10-222C-41B8-ACFA-935BB89BC651}" type="parTrans" cxnId="{7A7D1850-BD34-4E4E-8AF3-E0F99DD178A8}">
      <dgm:prSet/>
      <dgm:spPr/>
      <dgm:t>
        <a:bodyPr/>
        <a:lstStyle/>
        <a:p>
          <a:endParaRPr lang="en-IN"/>
        </a:p>
      </dgm:t>
    </dgm:pt>
    <dgm:pt modelId="{D5A3218F-1E04-41E5-8152-E718823F52C7}" type="sibTrans" cxnId="{7A7D1850-BD34-4E4E-8AF3-E0F99DD178A8}">
      <dgm:prSet/>
      <dgm:spPr/>
      <dgm:t>
        <a:bodyPr/>
        <a:lstStyle/>
        <a:p>
          <a:endParaRPr lang="en-IN"/>
        </a:p>
      </dgm:t>
    </dgm:pt>
    <dgm:pt modelId="{A285FFC1-4BB4-466B-BD51-578F2DBB4EDB}">
      <dgm:prSet phldrT="[Text]"/>
      <dgm:spPr>
        <a:solidFill>
          <a:schemeClr val="tx2"/>
        </a:solidFill>
      </dgm:spPr>
      <dgm:t>
        <a:bodyPr/>
        <a:lstStyle/>
        <a:p>
          <a:r>
            <a:rPr lang="en-US" b="1" dirty="0" smtClean="0"/>
            <a:t>Azure Synapse</a:t>
          </a:r>
          <a:endParaRPr lang="en-US" b="1" dirty="0"/>
        </a:p>
      </dgm:t>
    </dgm:pt>
    <dgm:pt modelId="{55A9BA14-0FA1-49B7-8A7C-C248EE2DF531}" type="parTrans" cxnId="{5FDC387F-CA4E-4203-BE25-44425FDB3500}">
      <dgm:prSet/>
      <dgm:spPr/>
      <dgm:t>
        <a:bodyPr/>
        <a:lstStyle/>
        <a:p>
          <a:endParaRPr lang="en-IN"/>
        </a:p>
      </dgm:t>
    </dgm:pt>
    <dgm:pt modelId="{75AD0DCD-8092-4CF9-BA34-AF74E9D9FA38}" type="sibTrans" cxnId="{5FDC387F-CA4E-4203-BE25-44425FDB3500}">
      <dgm:prSet/>
      <dgm:spPr/>
      <dgm:t>
        <a:bodyPr/>
        <a:lstStyle/>
        <a:p>
          <a:endParaRPr lang="en-IN"/>
        </a:p>
      </dgm:t>
    </dgm:pt>
    <dgm:pt modelId="{40D501FE-2120-425E-A7AC-0A5F1F1B1522}">
      <dgm:prSet phldrT="[Text]"/>
      <dgm:spPr/>
      <dgm:t>
        <a:bodyPr/>
        <a:lstStyle/>
        <a:p>
          <a:r>
            <a:rPr lang="en-US" b="1" dirty="0"/>
            <a:t>Power </a:t>
          </a:r>
          <a:r>
            <a:rPr lang="en-US" b="1" dirty="0" smtClean="0"/>
            <a:t>BI</a:t>
          </a:r>
          <a:endParaRPr lang="en-US" b="1" dirty="0"/>
        </a:p>
      </dgm:t>
    </dgm:pt>
    <dgm:pt modelId="{76AD4105-1D92-4CE8-969C-0D9AEBD6A9A3}" type="parTrans" cxnId="{2369EDC6-6A5F-4F94-95F4-249C34518594}">
      <dgm:prSet/>
      <dgm:spPr/>
      <dgm:t>
        <a:bodyPr/>
        <a:lstStyle/>
        <a:p>
          <a:endParaRPr lang="en-IN"/>
        </a:p>
      </dgm:t>
    </dgm:pt>
    <dgm:pt modelId="{99B2A7AC-923E-4DA7-B9E3-01341F25EC09}" type="sibTrans" cxnId="{2369EDC6-6A5F-4F94-95F4-249C34518594}">
      <dgm:prSet/>
      <dgm:spPr/>
      <dgm:t>
        <a:bodyPr/>
        <a:lstStyle/>
        <a:p>
          <a:endParaRPr lang="en-IN"/>
        </a:p>
      </dgm:t>
    </dgm:pt>
    <dgm:pt modelId="{FB24520F-5CAF-46DD-A3C1-790D352C6358}" type="pres">
      <dgm:prSet presAssocID="{6E9EC51A-D321-4D01-82FD-BF10FF1FF867}" presName="Name0" presStyleCnt="0">
        <dgm:presLayoutVars>
          <dgm:dir/>
          <dgm:resizeHandles val="exact"/>
        </dgm:presLayoutVars>
      </dgm:prSet>
      <dgm:spPr/>
    </dgm:pt>
    <dgm:pt modelId="{9542FDF3-DCB4-4AD3-90C8-1939ECF08559}" type="pres">
      <dgm:prSet presAssocID="{5AB2BB73-455C-4C1C-B0FE-7700875CCE2B}" presName="parTxOnly" presStyleLbl="node1" presStyleIdx="0" presStyleCnt="5" custLinFactNeighborY="1387">
        <dgm:presLayoutVars>
          <dgm:bulletEnabled val="1"/>
        </dgm:presLayoutVars>
      </dgm:prSet>
      <dgm:spPr/>
      <dgm:t>
        <a:bodyPr/>
        <a:lstStyle/>
        <a:p>
          <a:endParaRPr lang="en-IN"/>
        </a:p>
      </dgm:t>
    </dgm:pt>
    <dgm:pt modelId="{731DE787-1263-46F8-B6AA-3121E5FB9630}" type="pres">
      <dgm:prSet presAssocID="{F15A1044-D3BE-47AB-A1C3-0D317EC65F91}" presName="parSpace" presStyleCnt="0"/>
      <dgm:spPr/>
    </dgm:pt>
    <dgm:pt modelId="{4F6565C1-D37B-4578-8706-113D96F977CD}" type="pres">
      <dgm:prSet presAssocID="{938F6D84-86EF-4E45-8708-2EEF09BDF159}" presName="parTxOnly" presStyleLbl="node1" presStyleIdx="1" presStyleCnt="5">
        <dgm:presLayoutVars>
          <dgm:bulletEnabled val="1"/>
        </dgm:presLayoutVars>
      </dgm:prSet>
      <dgm:spPr/>
      <dgm:t>
        <a:bodyPr/>
        <a:lstStyle/>
        <a:p>
          <a:endParaRPr lang="en-IN"/>
        </a:p>
      </dgm:t>
    </dgm:pt>
    <dgm:pt modelId="{2F5E6D4A-65E5-45BC-B41E-2B91B351373B}" type="pres">
      <dgm:prSet presAssocID="{26F1733D-D498-4FD7-ACDB-38510417AB99}" presName="parSpace" presStyleCnt="0"/>
      <dgm:spPr/>
    </dgm:pt>
    <dgm:pt modelId="{AA1AD8AB-7962-40A4-97A1-4C6652BD8081}" type="pres">
      <dgm:prSet presAssocID="{9F0BBBCA-F1DF-4C2F-AF40-B895DA1CC893}" presName="parTxOnly" presStyleLbl="node1" presStyleIdx="2" presStyleCnt="5">
        <dgm:presLayoutVars>
          <dgm:bulletEnabled val="1"/>
        </dgm:presLayoutVars>
      </dgm:prSet>
      <dgm:spPr/>
      <dgm:t>
        <a:bodyPr/>
        <a:lstStyle/>
        <a:p>
          <a:endParaRPr lang="en-IN"/>
        </a:p>
      </dgm:t>
    </dgm:pt>
    <dgm:pt modelId="{FD244DE8-127B-4082-866D-FA0E4C54F91C}" type="pres">
      <dgm:prSet presAssocID="{D5A3218F-1E04-41E5-8152-E718823F52C7}" presName="parSpace" presStyleCnt="0"/>
      <dgm:spPr/>
    </dgm:pt>
    <dgm:pt modelId="{0253A958-95F4-4824-A139-52603D240F83}" type="pres">
      <dgm:prSet presAssocID="{A285FFC1-4BB4-466B-BD51-578F2DBB4EDB}" presName="parTxOnly" presStyleLbl="node1" presStyleIdx="3" presStyleCnt="5">
        <dgm:presLayoutVars>
          <dgm:bulletEnabled val="1"/>
        </dgm:presLayoutVars>
      </dgm:prSet>
      <dgm:spPr/>
      <dgm:t>
        <a:bodyPr/>
        <a:lstStyle/>
        <a:p>
          <a:endParaRPr lang="en-IN"/>
        </a:p>
      </dgm:t>
    </dgm:pt>
    <dgm:pt modelId="{003A22A9-E428-4D91-9B03-AF7E577AA39E}" type="pres">
      <dgm:prSet presAssocID="{75AD0DCD-8092-4CF9-BA34-AF74E9D9FA38}" presName="parSpace" presStyleCnt="0"/>
      <dgm:spPr/>
    </dgm:pt>
    <dgm:pt modelId="{009DA479-0750-4E31-B911-4A762B6F1C55}" type="pres">
      <dgm:prSet presAssocID="{40D501FE-2120-425E-A7AC-0A5F1F1B1522}" presName="parTxOnly" presStyleLbl="node1" presStyleIdx="4" presStyleCnt="5">
        <dgm:presLayoutVars>
          <dgm:bulletEnabled val="1"/>
        </dgm:presLayoutVars>
      </dgm:prSet>
      <dgm:spPr/>
      <dgm:t>
        <a:bodyPr/>
        <a:lstStyle/>
        <a:p>
          <a:endParaRPr lang="en-IN"/>
        </a:p>
      </dgm:t>
    </dgm:pt>
  </dgm:ptLst>
  <dgm:cxnLst>
    <dgm:cxn modelId="{4F24026C-BFE6-42A7-B0E1-4486E5D20DEC}" type="presOf" srcId="{5AB2BB73-455C-4C1C-B0FE-7700875CCE2B}" destId="{9542FDF3-DCB4-4AD3-90C8-1939ECF08559}" srcOrd="0" destOrd="0" presId="urn:microsoft.com/office/officeart/2005/8/layout/hChevron3"/>
    <dgm:cxn modelId="{778A4C54-2AC4-4B3F-8084-D4BE230B54D5}" srcId="{6E9EC51A-D321-4D01-82FD-BF10FF1FF867}" destId="{938F6D84-86EF-4E45-8708-2EEF09BDF159}" srcOrd="1" destOrd="0" parTransId="{234D800C-F220-43D5-9AF2-B55D0C298F54}" sibTransId="{26F1733D-D498-4FD7-ACDB-38510417AB99}"/>
    <dgm:cxn modelId="{5FDC387F-CA4E-4203-BE25-44425FDB3500}" srcId="{6E9EC51A-D321-4D01-82FD-BF10FF1FF867}" destId="{A285FFC1-4BB4-466B-BD51-578F2DBB4EDB}" srcOrd="3" destOrd="0" parTransId="{55A9BA14-0FA1-49B7-8A7C-C248EE2DF531}" sibTransId="{75AD0DCD-8092-4CF9-BA34-AF74E9D9FA38}"/>
    <dgm:cxn modelId="{01A452D4-6204-48B0-8817-D9434FBF3F8B}" type="presOf" srcId="{9F0BBBCA-F1DF-4C2F-AF40-B895DA1CC893}" destId="{AA1AD8AB-7962-40A4-97A1-4C6652BD8081}" srcOrd="0" destOrd="0" presId="urn:microsoft.com/office/officeart/2005/8/layout/hChevron3"/>
    <dgm:cxn modelId="{4FEC5606-D232-4CDB-925C-8DBE2D62AB38}" srcId="{6E9EC51A-D321-4D01-82FD-BF10FF1FF867}" destId="{5AB2BB73-455C-4C1C-B0FE-7700875CCE2B}" srcOrd="0" destOrd="0" parTransId="{BB0DD30E-AC0B-4E3E-B5D2-FEA24B96FF72}" sibTransId="{F15A1044-D3BE-47AB-A1C3-0D317EC65F91}"/>
    <dgm:cxn modelId="{8ED4B8F5-F07D-4E2C-B964-776A17FB74AF}" type="presOf" srcId="{40D501FE-2120-425E-A7AC-0A5F1F1B1522}" destId="{009DA479-0750-4E31-B911-4A762B6F1C55}" srcOrd="0" destOrd="0" presId="urn:microsoft.com/office/officeart/2005/8/layout/hChevron3"/>
    <dgm:cxn modelId="{ED9C5A64-D701-420F-BF1C-BEC5D16714E9}" type="presOf" srcId="{938F6D84-86EF-4E45-8708-2EEF09BDF159}" destId="{4F6565C1-D37B-4578-8706-113D96F977CD}" srcOrd="0" destOrd="0" presId="urn:microsoft.com/office/officeart/2005/8/layout/hChevron3"/>
    <dgm:cxn modelId="{9DA5DC20-E734-4218-8E05-A6DCE3C4A75C}" type="presOf" srcId="{A285FFC1-4BB4-466B-BD51-578F2DBB4EDB}" destId="{0253A958-95F4-4824-A139-52603D240F83}" srcOrd="0" destOrd="0" presId="urn:microsoft.com/office/officeart/2005/8/layout/hChevron3"/>
    <dgm:cxn modelId="{7A7D1850-BD34-4E4E-8AF3-E0F99DD178A8}" srcId="{6E9EC51A-D321-4D01-82FD-BF10FF1FF867}" destId="{9F0BBBCA-F1DF-4C2F-AF40-B895DA1CC893}" srcOrd="2" destOrd="0" parTransId="{39288F10-222C-41B8-ACFA-935BB89BC651}" sibTransId="{D5A3218F-1E04-41E5-8152-E718823F52C7}"/>
    <dgm:cxn modelId="{3531832E-3800-4533-8DF5-10BF23EC3C9E}" type="presOf" srcId="{6E9EC51A-D321-4D01-82FD-BF10FF1FF867}" destId="{FB24520F-5CAF-46DD-A3C1-790D352C6358}" srcOrd="0" destOrd="0" presId="urn:microsoft.com/office/officeart/2005/8/layout/hChevron3"/>
    <dgm:cxn modelId="{2369EDC6-6A5F-4F94-95F4-249C34518594}" srcId="{6E9EC51A-D321-4D01-82FD-BF10FF1FF867}" destId="{40D501FE-2120-425E-A7AC-0A5F1F1B1522}" srcOrd="4" destOrd="0" parTransId="{76AD4105-1D92-4CE8-969C-0D9AEBD6A9A3}" sibTransId="{99B2A7AC-923E-4DA7-B9E3-01341F25EC09}"/>
    <dgm:cxn modelId="{89759700-56AF-48DC-BE89-E111E9405F8A}" type="presParOf" srcId="{FB24520F-5CAF-46DD-A3C1-790D352C6358}" destId="{9542FDF3-DCB4-4AD3-90C8-1939ECF08559}" srcOrd="0" destOrd="0" presId="urn:microsoft.com/office/officeart/2005/8/layout/hChevron3"/>
    <dgm:cxn modelId="{B6118DD6-F73D-40A6-9F7D-EDF46997B39D}" type="presParOf" srcId="{FB24520F-5CAF-46DD-A3C1-790D352C6358}" destId="{731DE787-1263-46F8-B6AA-3121E5FB9630}" srcOrd="1" destOrd="0" presId="urn:microsoft.com/office/officeart/2005/8/layout/hChevron3"/>
    <dgm:cxn modelId="{F511C40A-9D59-47B4-9F57-7216B61A116D}" type="presParOf" srcId="{FB24520F-5CAF-46DD-A3C1-790D352C6358}" destId="{4F6565C1-D37B-4578-8706-113D96F977CD}" srcOrd="2" destOrd="0" presId="urn:microsoft.com/office/officeart/2005/8/layout/hChevron3"/>
    <dgm:cxn modelId="{547B5DCC-C79B-4D54-9AF2-35DC4EBF61D4}" type="presParOf" srcId="{FB24520F-5CAF-46DD-A3C1-790D352C6358}" destId="{2F5E6D4A-65E5-45BC-B41E-2B91B351373B}" srcOrd="3" destOrd="0" presId="urn:microsoft.com/office/officeart/2005/8/layout/hChevron3"/>
    <dgm:cxn modelId="{51BD4AF8-815E-495D-A7F2-76102DFE1AF7}" type="presParOf" srcId="{FB24520F-5CAF-46DD-A3C1-790D352C6358}" destId="{AA1AD8AB-7962-40A4-97A1-4C6652BD8081}" srcOrd="4" destOrd="0" presId="urn:microsoft.com/office/officeart/2005/8/layout/hChevron3"/>
    <dgm:cxn modelId="{70631228-07B4-47E9-9D6B-8EA986938CB7}" type="presParOf" srcId="{FB24520F-5CAF-46DD-A3C1-790D352C6358}" destId="{FD244DE8-127B-4082-866D-FA0E4C54F91C}" srcOrd="5" destOrd="0" presId="urn:microsoft.com/office/officeart/2005/8/layout/hChevron3"/>
    <dgm:cxn modelId="{69051DC9-5331-4957-B4AA-AA04C0FB3566}" type="presParOf" srcId="{FB24520F-5CAF-46DD-A3C1-790D352C6358}" destId="{0253A958-95F4-4824-A139-52603D240F83}" srcOrd="6" destOrd="0" presId="urn:microsoft.com/office/officeart/2005/8/layout/hChevron3"/>
    <dgm:cxn modelId="{9AF74174-AD0A-4083-9D67-5A93A2EDB108}" type="presParOf" srcId="{FB24520F-5CAF-46DD-A3C1-790D352C6358}" destId="{003A22A9-E428-4D91-9B03-AF7E577AA39E}" srcOrd="7" destOrd="0" presId="urn:microsoft.com/office/officeart/2005/8/layout/hChevron3"/>
    <dgm:cxn modelId="{B434CD67-CF79-4849-A579-A375D6B4035D}" type="presParOf" srcId="{FB24520F-5CAF-46DD-A3C1-790D352C6358}" destId="{009DA479-0750-4E31-B911-4A762B6F1C55}"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9EC51A-D321-4D01-82FD-BF10FF1FF867}" type="doc">
      <dgm:prSet loTypeId="urn:microsoft.com/office/officeart/2005/8/layout/hChevron3" loCatId="process" qsTypeId="urn:microsoft.com/office/officeart/2005/8/quickstyle/simple1" qsCatId="simple" csTypeId="urn:microsoft.com/office/officeart/2005/8/colors/accent1_2" csCatId="accent1" phldr="1"/>
      <dgm:spPr/>
    </dgm:pt>
    <dgm:pt modelId="{5AB2BB73-455C-4C1C-B0FE-7700875CCE2B}">
      <dgm:prSet phldrT="[Text]" custT="1"/>
      <dgm:spPr>
        <a:solidFill>
          <a:schemeClr val="tx2"/>
        </a:solidFill>
      </dgm:spPr>
      <dgm:t>
        <a:bodyPr/>
        <a:lstStyle/>
        <a:p>
          <a:r>
            <a:rPr lang="en-US" sz="1400" b="1" dirty="0" smtClean="0">
              <a:solidFill>
                <a:srgbClr val="00B050"/>
              </a:solidFill>
            </a:rPr>
            <a:t>Connectivity</a:t>
          </a:r>
          <a:r>
            <a:rPr lang="en-US" sz="1400" b="1" dirty="0" smtClean="0"/>
            <a:t> &amp; </a:t>
          </a:r>
          <a:r>
            <a:rPr lang="en-US" sz="1400" b="1" dirty="0" smtClean="0">
              <a:solidFill>
                <a:srgbClr val="00B050"/>
              </a:solidFill>
            </a:rPr>
            <a:t>Access pattern</a:t>
          </a:r>
          <a:endParaRPr lang="en-US" sz="1400" b="1" dirty="0">
            <a:solidFill>
              <a:srgbClr val="00B050"/>
            </a:solidFill>
          </a:endParaRPr>
        </a:p>
        <a:p>
          <a:r>
            <a:rPr lang="en-US" sz="1400" b="1" dirty="0" smtClean="0">
              <a:solidFill>
                <a:srgbClr val="00B050"/>
              </a:solidFill>
            </a:rPr>
            <a:t>Hierarchy</a:t>
          </a:r>
          <a:r>
            <a:rPr lang="en-US" sz="1400" b="1" dirty="0" smtClean="0">
              <a:solidFill>
                <a:schemeClr val="bg1"/>
              </a:solidFill>
            </a:rPr>
            <a:t> &amp; </a:t>
          </a:r>
          <a:r>
            <a:rPr lang="en-US" sz="1400" b="1" dirty="0" smtClean="0">
              <a:solidFill>
                <a:srgbClr val="00B050"/>
              </a:solidFill>
            </a:rPr>
            <a:t>CLI</a:t>
          </a:r>
          <a:endParaRPr lang="en-IN" sz="1400" dirty="0">
            <a:solidFill>
              <a:srgbClr val="00B050"/>
            </a:solidFill>
          </a:endParaRPr>
        </a:p>
      </dgm:t>
    </dgm:pt>
    <dgm:pt modelId="{BB0DD30E-AC0B-4E3E-B5D2-FEA24B96FF72}" type="parTrans" cxnId="{4FEC5606-D232-4CDB-925C-8DBE2D62AB38}">
      <dgm:prSet/>
      <dgm:spPr/>
      <dgm:t>
        <a:bodyPr/>
        <a:lstStyle/>
        <a:p>
          <a:endParaRPr lang="en-IN" sz="1400"/>
        </a:p>
      </dgm:t>
    </dgm:pt>
    <dgm:pt modelId="{F15A1044-D3BE-47AB-A1C3-0D317EC65F91}" type="sibTrans" cxnId="{4FEC5606-D232-4CDB-925C-8DBE2D62AB38}">
      <dgm:prSet/>
      <dgm:spPr/>
      <dgm:t>
        <a:bodyPr/>
        <a:lstStyle/>
        <a:p>
          <a:endParaRPr lang="en-IN" sz="1400"/>
        </a:p>
      </dgm:t>
    </dgm:pt>
    <dgm:pt modelId="{938F6D84-86EF-4E45-8708-2EEF09BDF159}">
      <dgm:prSet phldrT="[Text]" custT="1"/>
      <dgm:spPr>
        <a:solidFill>
          <a:schemeClr val="tx2"/>
        </a:solidFill>
      </dgm:spPr>
      <dgm:t>
        <a:bodyPr/>
        <a:lstStyle/>
        <a:p>
          <a:r>
            <a:rPr lang="en-US" sz="1400" b="1" dirty="0" smtClean="0">
              <a:solidFill>
                <a:srgbClr val="00B050"/>
              </a:solidFill>
            </a:rPr>
            <a:t>Core Security</a:t>
          </a:r>
        </a:p>
        <a:p>
          <a:r>
            <a:rPr lang="en-US" sz="1400" b="1" dirty="0" smtClean="0">
              <a:solidFill>
                <a:srgbClr val="00B050"/>
              </a:solidFill>
            </a:rPr>
            <a:t>IAM &amp; RBAC</a:t>
          </a:r>
          <a:endParaRPr lang="en-US" sz="1400" b="1" dirty="0">
            <a:solidFill>
              <a:srgbClr val="00B050"/>
            </a:solidFill>
          </a:endParaRPr>
        </a:p>
      </dgm:t>
    </dgm:pt>
    <dgm:pt modelId="{234D800C-F220-43D5-9AF2-B55D0C298F54}" type="parTrans" cxnId="{778A4C54-2AC4-4B3F-8084-D4BE230B54D5}">
      <dgm:prSet/>
      <dgm:spPr/>
      <dgm:t>
        <a:bodyPr/>
        <a:lstStyle/>
        <a:p>
          <a:endParaRPr lang="en-IN" sz="1400"/>
        </a:p>
      </dgm:t>
    </dgm:pt>
    <dgm:pt modelId="{26F1733D-D498-4FD7-ACDB-38510417AB99}" type="sibTrans" cxnId="{778A4C54-2AC4-4B3F-8084-D4BE230B54D5}">
      <dgm:prSet/>
      <dgm:spPr/>
      <dgm:t>
        <a:bodyPr/>
        <a:lstStyle/>
        <a:p>
          <a:endParaRPr lang="en-IN" sz="1400"/>
        </a:p>
      </dgm:t>
    </dgm:pt>
    <dgm:pt modelId="{9F0BBBCA-F1DF-4C2F-AF40-B895DA1CC893}">
      <dgm:prSet phldrT="[Text]" custT="1"/>
      <dgm:spPr>
        <a:solidFill>
          <a:schemeClr val="tx2"/>
        </a:solidFill>
      </dgm:spPr>
      <dgm:t>
        <a:bodyPr/>
        <a:lstStyle/>
        <a:p>
          <a:r>
            <a:rPr lang="en-US" sz="1400" b="1" dirty="0" smtClean="0">
              <a:solidFill>
                <a:srgbClr val="00B050"/>
              </a:solidFill>
            </a:rPr>
            <a:t>Storage </a:t>
          </a:r>
        </a:p>
        <a:p>
          <a:r>
            <a:rPr lang="en-US" sz="1400" b="1" dirty="0" smtClean="0"/>
            <a:t>(Admin)</a:t>
          </a:r>
          <a:endParaRPr lang="en-US" sz="1400" b="1" dirty="0"/>
        </a:p>
      </dgm:t>
    </dgm:pt>
    <dgm:pt modelId="{39288F10-222C-41B8-ACFA-935BB89BC651}" type="parTrans" cxnId="{7A7D1850-BD34-4E4E-8AF3-E0F99DD178A8}">
      <dgm:prSet/>
      <dgm:spPr/>
      <dgm:t>
        <a:bodyPr/>
        <a:lstStyle/>
        <a:p>
          <a:endParaRPr lang="en-IN" sz="1400"/>
        </a:p>
      </dgm:t>
    </dgm:pt>
    <dgm:pt modelId="{D5A3218F-1E04-41E5-8152-E718823F52C7}" type="sibTrans" cxnId="{7A7D1850-BD34-4E4E-8AF3-E0F99DD178A8}">
      <dgm:prSet/>
      <dgm:spPr/>
      <dgm:t>
        <a:bodyPr/>
        <a:lstStyle/>
        <a:p>
          <a:endParaRPr lang="en-IN" sz="1400"/>
        </a:p>
      </dgm:t>
    </dgm:pt>
    <dgm:pt modelId="{A285FFC1-4BB4-466B-BD51-578F2DBB4EDB}">
      <dgm:prSet phldrT="[Text]" custT="1"/>
      <dgm:spPr>
        <a:solidFill>
          <a:schemeClr val="tx2"/>
        </a:solidFill>
      </dgm:spPr>
      <dgm:t>
        <a:bodyPr/>
        <a:lstStyle/>
        <a:p>
          <a:r>
            <a:rPr lang="en-US" sz="1400" b="1" dirty="0" smtClean="0"/>
            <a:t>Compute</a:t>
          </a:r>
          <a:endParaRPr lang="en-US" sz="1400" b="1" dirty="0"/>
        </a:p>
      </dgm:t>
    </dgm:pt>
    <dgm:pt modelId="{55A9BA14-0FA1-49B7-8A7C-C248EE2DF531}" type="parTrans" cxnId="{5FDC387F-CA4E-4203-BE25-44425FDB3500}">
      <dgm:prSet/>
      <dgm:spPr/>
      <dgm:t>
        <a:bodyPr/>
        <a:lstStyle/>
        <a:p>
          <a:endParaRPr lang="en-IN" sz="1400"/>
        </a:p>
      </dgm:t>
    </dgm:pt>
    <dgm:pt modelId="{75AD0DCD-8092-4CF9-BA34-AF74E9D9FA38}" type="sibTrans" cxnId="{5FDC387F-CA4E-4203-BE25-44425FDB3500}">
      <dgm:prSet/>
      <dgm:spPr/>
      <dgm:t>
        <a:bodyPr/>
        <a:lstStyle/>
        <a:p>
          <a:endParaRPr lang="en-IN" sz="1400"/>
        </a:p>
      </dgm:t>
    </dgm:pt>
    <dgm:pt modelId="{40D501FE-2120-425E-A7AC-0A5F1F1B1522}">
      <dgm:prSet phldrT="[Text]" custT="1"/>
      <dgm:spPr>
        <a:solidFill>
          <a:schemeClr val="tx2"/>
        </a:solidFill>
      </dgm:spPr>
      <dgm:t>
        <a:bodyPr/>
        <a:lstStyle/>
        <a:p>
          <a:r>
            <a:rPr lang="en-US" sz="1400" b="1" dirty="0" smtClean="0"/>
            <a:t>Network</a:t>
          </a:r>
          <a:endParaRPr lang="en-US" sz="1400" b="1" dirty="0"/>
        </a:p>
      </dgm:t>
    </dgm:pt>
    <dgm:pt modelId="{76AD4105-1D92-4CE8-969C-0D9AEBD6A9A3}" type="parTrans" cxnId="{2369EDC6-6A5F-4F94-95F4-249C34518594}">
      <dgm:prSet/>
      <dgm:spPr/>
      <dgm:t>
        <a:bodyPr/>
        <a:lstStyle/>
        <a:p>
          <a:endParaRPr lang="en-IN" sz="1400"/>
        </a:p>
      </dgm:t>
    </dgm:pt>
    <dgm:pt modelId="{99B2A7AC-923E-4DA7-B9E3-01341F25EC09}" type="sibTrans" cxnId="{2369EDC6-6A5F-4F94-95F4-249C34518594}">
      <dgm:prSet/>
      <dgm:spPr/>
      <dgm:t>
        <a:bodyPr/>
        <a:lstStyle/>
        <a:p>
          <a:endParaRPr lang="en-IN" sz="1400"/>
        </a:p>
      </dgm:t>
    </dgm:pt>
    <dgm:pt modelId="{FB24520F-5CAF-46DD-A3C1-790D352C6358}" type="pres">
      <dgm:prSet presAssocID="{6E9EC51A-D321-4D01-82FD-BF10FF1FF867}" presName="Name0" presStyleCnt="0">
        <dgm:presLayoutVars>
          <dgm:dir/>
          <dgm:resizeHandles val="exact"/>
        </dgm:presLayoutVars>
      </dgm:prSet>
      <dgm:spPr/>
    </dgm:pt>
    <dgm:pt modelId="{9542FDF3-DCB4-4AD3-90C8-1939ECF08559}" type="pres">
      <dgm:prSet presAssocID="{5AB2BB73-455C-4C1C-B0FE-7700875CCE2B}" presName="parTxOnly" presStyleLbl="node1" presStyleIdx="0" presStyleCnt="5">
        <dgm:presLayoutVars>
          <dgm:bulletEnabled val="1"/>
        </dgm:presLayoutVars>
      </dgm:prSet>
      <dgm:spPr/>
      <dgm:t>
        <a:bodyPr/>
        <a:lstStyle/>
        <a:p>
          <a:endParaRPr lang="en-IN"/>
        </a:p>
      </dgm:t>
    </dgm:pt>
    <dgm:pt modelId="{731DE787-1263-46F8-B6AA-3121E5FB9630}" type="pres">
      <dgm:prSet presAssocID="{F15A1044-D3BE-47AB-A1C3-0D317EC65F91}" presName="parSpace" presStyleCnt="0"/>
      <dgm:spPr/>
    </dgm:pt>
    <dgm:pt modelId="{4F6565C1-D37B-4578-8706-113D96F977CD}" type="pres">
      <dgm:prSet presAssocID="{938F6D84-86EF-4E45-8708-2EEF09BDF159}" presName="parTxOnly" presStyleLbl="node1" presStyleIdx="1" presStyleCnt="5">
        <dgm:presLayoutVars>
          <dgm:bulletEnabled val="1"/>
        </dgm:presLayoutVars>
      </dgm:prSet>
      <dgm:spPr/>
      <dgm:t>
        <a:bodyPr/>
        <a:lstStyle/>
        <a:p>
          <a:endParaRPr lang="en-IN"/>
        </a:p>
      </dgm:t>
    </dgm:pt>
    <dgm:pt modelId="{2F5E6D4A-65E5-45BC-B41E-2B91B351373B}" type="pres">
      <dgm:prSet presAssocID="{26F1733D-D498-4FD7-ACDB-38510417AB99}" presName="parSpace" presStyleCnt="0"/>
      <dgm:spPr/>
    </dgm:pt>
    <dgm:pt modelId="{AA1AD8AB-7962-40A4-97A1-4C6652BD8081}" type="pres">
      <dgm:prSet presAssocID="{9F0BBBCA-F1DF-4C2F-AF40-B895DA1CC893}" presName="parTxOnly" presStyleLbl="node1" presStyleIdx="2" presStyleCnt="5">
        <dgm:presLayoutVars>
          <dgm:bulletEnabled val="1"/>
        </dgm:presLayoutVars>
      </dgm:prSet>
      <dgm:spPr/>
      <dgm:t>
        <a:bodyPr/>
        <a:lstStyle/>
        <a:p>
          <a:endParaRPr lang="en-IN"/>
        </a:p>
      </dgm:t>
    </dgm:pt>
    <dgm:pt modelId="{FD244DE8-127B-4082-866D-FA0E4C54F91C}" type="pres">
      <dgm:prSet presAssocID="{D5A3218F-1E04-41E5-8152-E718823F52C7}" presName="parSpace" presStyleCnt="0"/>
      <dgm:spPr/>
    </dgm:pt>
    <dgm:pt modelId="{0253A958-95F4-4824-A139-52603D240F83}" type="pres">
      <dgm:prSet presAssocID="{A285FFC1-4BB4-466B-BD51-578F2DBB4EDB}" presName="parTxOnly" presStyleLbl="node1" presStyleIdx="3" presStyleCnt="5">
        <dgm:presLayoutVars>
          <dgm:bulletEnabled val="1"/>
        </dgm:presLayoutVars>
      </dgm:prSet>
      <dgm:spPr/>
      <dgm:t>
        <a:bodyPr/>
        <a:lstStyle/>
        <a:p>
          <a:endParaRPr lang="en-IN"/>
        </a:p>
      </dgm:t>
    </dgm:pt>
    <dgm:pt modelId="{003A22A9-E428-4D91-9B03-AF7E577AA39E}" type="pres">
      <dgm:prSet presAssocID="{75AD0DCD-8092-4CF9-BA34-AF74E9D9FA38}" presName="parSpace" presStyleCnt="0"/>
      <dgm:spPr/>
    </dgm:pt>
    <dgm:pt modelId="{009DA479-0750-4E31-B911-4A762B6F1C55}" type="pres">
      <dgm:prSet presAssocID="{40D501FE-2120-425E-A7AC-0A5F1F1B1522}" presName="parTxOnly" presStyleLbl="node1" presStyleIdx="4" presStyleCnt="5">
        <dgm:presLayoutVars>
          <dgm:bulletEnabled val="1"/>
        </dgm:presLayoutVars>
      </dgm:prSet>
      <dgm:spPr/>
      <dgm:t>
        <a:bodyPr/>
        <a:lstStyle/>
        <a:p>
          <a:endParaRPr lang="en-IN"/>
        </a:p>
      </dgm:t>
    </dgm:pt>
  </dgm:ptLst>
  <dgm:cxnLst>
    <dgm:cxn modelId="{778A4C54-2AC4-4B3F-8084-D4BE230B54D5}" srcId="{6E9EC51A-D321-4D01-82FD-BF10FF1FF867}" destId="{938F6D84-86EF-4E45-8708-2EEF09BDF159}" srcOrd="1" destOrd="0" parTransId="{234D800C-F220-43D5-9AF2-B55D0C298F54}" sibTransId="{26F1733D-D498-4FD7-ACDB-38510417AB99}"/>
    <dgm:cxn modelId="{200D7690-B7CD-4388-9E8D-9953FBAFD97A}" type="presOf" srcId="{9F0BBBCA-F1DF-4C2F-AF40-B895DA1CC893}" destId="{AA1AD8AB-7962-40A4-97A1-4C6652BD8081}" srcOrd="0" destOrd="0" presId="urn:microsoft.com/office/officeart/2005/8/layout/hChevron3"/>
    <dgm:cxn modelId="{5FDC387F-CA4E-4203-BE25-44425FDB3500}" srcId="{6E9EC51A-D321-4D01-82FD-BF10FF1FF867}" destId="{A285FFC1-4BB4-466B-BD51-578F2DBB4EDB}" srcOrd="3" destOrd="0" parTransId="{55A9BA14-0FA1-49B7-8A7C-C248EE2DF531}" sibTransId="{75AD0DCD-8092-4CF9-BA34-AF74E9D9FA38}"/>
    <dgm:cxn modelId="{4FEC5606-D232-4CDB-925C-8DBE2D62AB38}" srcId="{6E9EC51A-D321-4D01-82FD-BF10FF1FF867}" destId="{5AB2BB73-455C-4C1C-B0FE-7700875CCE2B}" srcOrd="0" destOrd="0" parTransId="{BB0DD30E-AC0B-4E3E-B5D2-FEA24B96FF72}" sibTransId="{F15A1044-D3BE-47AB-A1C3-0D317EC65F91}"/>
    <dgm:cxn modelId="{0F3603C1-E02A-49F1-885E-6BE3DCFFCE34}" type="presOf" srcId="{938F6D84-86EF-4E45-8708-2EEF09BDF159}" destId="{4F6565C1-D37B-4578-8706-113D96F977CD}" srcOrd="0" destOrd="0" presId="urn:microsoft.com/office/officeart/2005/8/layout/hChevron3"/>
    <dgm:cxn modelId="{7A7D1850-BD34-4E4E-8AF3-E0F99DD178A8}" srcId="{6E9EC51A-D321-4D01-82FD-BF10FF1FF867}" destId="{9F0BBBCA-F1DF-4C2F-AF40-B895DA1CC893}" srcOrd="2" destOrd="0" parTransId="{39288F10-222C-41B8-ACFA-935BB89BC651}" sibTransId="{D5A3218F-1E04-41E5-8152-E718823F52C7}"/>
    <dgm:cxn modelId="{C1DEF76A-9C98-4413-8410-F35F7B37F57F}" type="presOf" srcId="{5AB2BB73-455C-4C1C-B0FE-7700875CCE2B}" destId="{9542FDF3-DCB4-4AD3-90C8-1939ECF08559}" srcOrd="0" destOrd="0" presId="urn:microsoft.com/office/officeart/2005/8/layout/hChevron3"/>
    <dgm:cxn modelId="{409C17E2-AC2E-47D1-B389-9A9C81DC1C55}" type="presOf" srcId="{40D501FE-2120-425E-A7AC-0A5F1F1B1522}" destId="{009DA479-0750-4E31-B911-4A762B6F1C55}" srcOrd="0" destOrd="0" presId="urn:microsoft.com/office/officeart/2005/8/layout/hChevron3"/>
    <dgm:cxn modelId="{CB8B2C49-3132-40F3-BAFB-0F5F23980B83}" type="presOf" srcId="{6E9EC51A-D321-4D01-82FD-BF10FF1FF867}" destId="{FB24520F-5CAF-46DD-A3C1-790D352C6358}" srcOrd="0" destOrd="0" presId="urn:microsoft.com/office/officeart/2005/8/layout/hChevron3"/>
    <dgm:cxn modelId="{2369EDC6-6A5F-4F94-95F4-249C34518594}" srcId="{6E9EC51A-D321-4D01-82FD-BF10FF1FF867}" destId="{40D501FE-2120-425E-A7AC-0A5F1F1B1522}" srcOrd="4" destOrd="0" parTransId="{76AD4105-1D92-4CE8-969C-0D9AEBD6A9A3}" sibTransId="{99B2A7AC-923E-4DA7-B9E3-01341F25EC09}"/>
    <dgm:cxn modelId="{DF6850BF-E71E-4864-BF90-45EAE9E172F8}" type="presOf" srcId="{A285FFC1-4BB4-466B-BD51-578F2DBB4EDB}" destId="{0253A958-95F4-4824-A139-52603D240F83}" srcOrd="0" destOrd="0" presId="urn:microsoft.com/office/officeart/2005/8/layout/hChevron3"/>
    <dgm:cxn modelId="{CAE9A9FF-7423-4F7A-B8A9-BE26FC1326CD}" type="presParOf" srcId="{FB24520F-5CAF-46DD-A3C1-790D352C6358}" destId="{9542FDF3-DCB4-4AD3-90C8-1939ECF08559}" srcOrd="0" destOrd="0" presId="urn:microsoft.com/office/officeart/2005/8/layout/hChevron3"/>
    <dgm:cxn modelId="{A8C547A5-3A61-49B9-8E06-58563E1B8F2A}" type="presParOf" srcId="{FB24520F-5CAF-46DD-A3C1-790D352C6358}" destId="{731DE787-1263-46F8-B6AA-3121E5FB9630}" srcOrd="1" destOrd="0" presId="urn:microsoft.com/office/officeart/2005/8/layout/hChevron3"/>
    <dgm:cxn modelId="{18649C65-CA4F-456E-B9A7-22E802B56729}" type="presParOf" srcId="{FB24520F-5CAF-46DD-A3C1-790D352C6358}" destId="{4F6565C1-D37B-4578-8706-113D96F977CD}" srcOrd="2" destOrd="0" presId="urn:microsoft.com/office/officeart/2005/8/layout/hChevron3"/>
    <dgm:cxn modelId="{0897786D-3A6E-4821-86A3-C244237AE006}" type="presParOf" srcId="{FB24520F-5CAF-46DD-A3C1-790D352C6358}" destId="{2F5E6D4A-65E5-45BC-B41E-2B91B351373B}" srcOrd="3" destOrd="0" presId="urn:microsoft.com/office/officeart/2005/8/layout/hChevron3"/>
    <dgm:cxn modelId="{B3740BD1-D7E5-42DB-8FC9-E27C5D76F344}" type="presParOf" srcId="{FB24520F-5CAF-46DD-A3C1-790D352C6358}" destId="{AA1AD8AB-7962-40A4-97A1-4C6652BD8081}" srcOrd="4" destOrd="0" presId="urn:microsoft.com/office/officeart/2005/8/layout/hChevron3"/>
    <dgm:cxn modelId="{6F738B27-129E-4664-BCC3-D3F01944ECF7}" type="presParOf" srcId="{FB24520F-5CAF-46DD-A3C1-790D352C6358}" destId="{FD244DE8-127B-4082-866D-FA0E4C54F91C}" srcOrd="5" destOrd="0" presId="urn:microsoft.com/office/officeart/2005/8/layout/hChevron3"/>
    <dgm:cxn modelId="{89530782-E482-4A76-AA5A-EBF4E3E38264}" type="presParOf" srcId="{FB24520F-5CAF-46DD-A3C1-790D352C6358}" destId="{0253A958-95F4-4824-A139-52603D240F83}" srcOrd="6" destOrd="0" presId="urn:microsoft.com/office/officeart/2005/8/layout/hChevron3"/>
    <dgm:cxn modelId="{79415E5D-4864-4941-B9D2-6F0EF4FBD3C6}" type="presParOf" srcId="{FB24520F-5CAF-46DD-A3C1-790D352C6358}" destId="{003A22A9-E428-4D91-9B03-AF7E577AA39E}" srcOrd="7" destOrd="0" presId="urn:microsoft.com/office/officeart/2005/8/layout/hChevron3"/>
    <dgm:cxn modelId="{5496F684-9E42-4D38-8566-79699D9F39B3}" type="presParOf" srcId="{FB24520F-5CAF-46DD-A3C1-790D352C6358}" destId="{009DA479-0750-4E31-B911-4A762B6F1C55}" srcOrd="8"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9EC51A-D321-4D01-82FD-BF10FF1FF867}" type="doc">
      <dgm:prSet loTypeId="urn:microsoft.com/office/officeart/2005/8/layout/hChevron3" loCatId="process" qsTypeId="urn:microsoft.com/office/officeart/2005/8/quickstyle/simple1" qsCatId="simple" csTypeId="urn:microsoft.com/office/officeart/2005/8/colors/accent1_2" csCatId="accent1" phldr="1"/>
      <dgm:spPr/>
    </dgm:pt>
    <dgm:pt modelId="{5AB2BB73-455C-4C1C-B0FE-7700875CCE2B}">
      <dgm:prSet phldrT="[Text]"/>
      <dgm:spPr>
        <a:solidFill>
          <a:schemeClr val="tx2"/>
        </a:solidFill>
      </dgm:spPr>
      <dgm:t>
        <a:bodyPr/>
        <a:lstStyle/>
        <a:p>
          <a:r>
            <a:rPr lang="en-US" b="1" dirty="0" err="1" smtClean="0">
              <a:solidFill>
                <a:srgbClr val="FF0000"/>
              </a:solidFill>
            </a:rPr>
            <a:t>EventHub</a:t>
          </a:r>
          <a:endParaRPr lang="en-IN" dirty="0"/>
        </a:p>
      </dgm:t>
    </dgm:pt>
    <dgm:pt modelId="{BB0DD30E-AC0B-4E3E-B5D2-FEA24B96FF72}" type="parTrans" cxnId="{4FEC5606-D232-4CDB-925C-8DBE2D62AB38}">
      <dgm:prSet/>
      <dgm:spPr/>
      <dgm:t>
        <a:bodyPr/>
        <a:lstStyle/>
        <a:p>
          <a:endParaRPr lang="en-IN"/>
        </a:p>
      </dgm:t>
    </dgm:pt>
    <dgm:pt modelId="{F15A1044-D3BE-47AB-A1C3-0D317EC65F91}" type="sibTrans" cxnId="{4FEC5606-D232-4CDB-925C-8DBE2D62AB38}">
      <dgm:prSet/>
      <dgm:spPr/>
      <dgm:t>
        <a:bodyPr/>
        <a:lstStyle/>
        <a:p>
          <a:endParaRPr lang="en-IN"/>
        </a:p>
      </dgm:t>
    </dgm:pt>
    <dgm:pt modelId="{938F6D84-86EF-4E45-8708-2EEF09BDF159}">
      <dgm:prSet phldrT="[Text]"/>
      <dgm:spPr>
        <a:solidFill>
          <a:schemeClr val="tx2"/>
        </a:solidFill>
      </dgm:spPr>
      <dgm:t>
        <a:bodyPr/>
        <a:lstStyle/>
        <a:p>
          <a:r>
            <a:rPr lang="en-US" b="1" dirty="0" smtClean="0">
              <a:solidFill>
                <a:srgbClr val="FF0000"/>
              </a:solidFill>
            </a:rPr>
            <a:t>Function App</a:t>
          </a:r>
          <a:endParaRPr lang="en-IN" dirty="0"/>
        </a:p>
      </dgm:t>
    </dgm:pt>
    <dgm:pt modelId="{234D800C-F220-43D5-9AF2-B55D0C298F54}" type="parTrans" cxnId="{778A4C54-2AC4-4B3F-8084-D4BE230B54D5}">
      <dgm:prSet/>
      <dgm:spPr/>
      <dgm:t>
        <a:bodyPr/>
        <a:lstStyle/>
        <a:p>
          <a:endParaRPr lang="en-IN"/>
        </a:p>
      </dgm:t>
    </dgm:pt>
    <dgm:pt modelId="{26F1733D-D498-4FD7-ACDB-38510417AB99}" type="sibTrans" cxnId="{778A4C54-2AC4-4B3F-8084-D4BE230B54D5}">
      <dgm:prSet/>
      <dgm:spPr/>
      <dgm:t>
        <a:bodyPr/>
        <a:lstStyle/>
        <a:p>
          <a:endParaRPr lang="en-IN"/>
        </a:p>
      </dgm:t>
    </dgm:pt>
    <dgm:pt modelId="{9F0BBBCA-F1DF-4C2F-AF40-B895DA1CC893}">
      <dgm:prSet phldrT="[Text]"/>
      <dgm:spPr>
        <a:solidFill>
          <a:schemeClr val="tx2"/>
        </a:solidFill>
      </dgm:spPr>
      <dgm:t>
        <a:bodyPr/>
        <a:lstStyle/>
        <a:p>
          <a:r>
            <a:rPr lang="en-US" b="1" dirty="0" smtClean="0"/>
            <a:t>Stream Analytics</a:t>
          </a:r>
          <a:endParaRPr lang="en-US" b="1" dirty="0"/>
        </a:p>
      </dgm:t>
    </dgm:pt>
    <dgm:pt modelId="{39288F10-222C-41B8-ACFA-935BB89BC651}" type="parTrans" cxnId="{7A7D1850-BD34-4E4E-8AF3-E0F99DD178A8}">
      <dgm:prSet/>
      <dgm:spPr/>
      <dgm:t>
        <a:bodyPr/>
        <a:lstStyle/>
        <a:p>
          <a:endParaRPr lang="en-IN"/>
        </a:p>
      </dgm:t>
    </dgm:pt>
    <dgm:pt modelId="{D5A3218F-1E04-41E5-8152-E718823F52C7}" type="sibTrans" cxnId="{7A7D1850-BD34-4E4E-8AF3-E0F99DD178A8}">
      <dgm:prSet/>
      <dgm:spPr/>
      <dgm:t>
        <a:bodyPr/>
        <a:lstStyle/>
        <a:p>
          <a:endParaRPr lang="en-IN"/>
        </a:p>
      </dgm:t>
    </dgm:pt>
    <dgm:pt modelId="{A285FFC1-4BB4-466B-BD51-578F2DBB4EDB}">
      <dgm:prSet phldrT="[Text]"/>
      <dgm:spPr>
        <a:solidFill>
          <a:schemeClr val="tx2"/>
        </a:solidFill>
      </dgm:spPr>
      <dgm:t>
        <a:bodyPr/>
        <a:lstStyle/>
        <a:p>
          <a:r>
            <a:rPr lang="en-US" b="1" dirty="0" smtClean="0"/>
            <a:t>Purview</a:t>
          </a:r>
          <a:endParaRPr lang="en-US" b="1" dirty="0"/>
        </a:p>
      </dgm:t>
    </dgm:pt>
    <dgm:pt modelId="{55A9BA14-0FA1-49B7-8A7C-C248EE2DF531}" type="parTrans" cxnId="{5FDC387F-CA4E-4203-BE25-44425FDB3500}">
      <dgm:prSet/>
      <dgm:spPr/>
      <dgm:t>
        <a:bodyPr/>
        <a:lstStyle/>
        <a:p>
          <a:endParaRPr lang="en-IN"/>
        </a:p>
      </dgm:t>
    </dgm:pt>
    <dgm:pt modelId="{75AD0DCD-8092-4CF9-BA34-AF74E9D9FA38}" type="sibTrans" cxnId="{5FDC387F-CA4E-4203-BE25-44425FDB3500}">
      <dgm:prSet/>
      <dgm:spPr/>
      <dgm:t>
        <a:bodyPr/>
        <a:lstStyle/>
        <a:p>
          <a:endParaRPr lang="en-IN"/>
        </a:p>
      </dgm:t>
    </dgm:pt>
    <dgm:pt modelId="{40D501FE-2120-425E-A7AC-0A5F1F1B1522}">
      <dgm:prSet phldrT="[Text]"/>
      <dgm:spPr/>
      <dgm:t>
        <a:bodyPr/>
        <a:lstStyle/>
        <a:p>
          <a:r>
            <a:rPr lang="en-US" b="1" dirty="0" err="1" smtClean="0"/>
            <a:t>OpenAI</a:t>
          </a:r>
          <a:r>
            <a:rPr lang="en-US" b="1" dirty="0" smtClean="0"/>
            <a:t> &amp; Foundry</a:t>
          </a:r>
          <a:endParaRPr lang="en-US" b="1" dirty="0"/>
        </a:p>
      </dgm:t>
    </dgm:pt>
    <dgm:pt modelId="{76AD4105-1D92-4CE8-969C-0D9AEBD6A9A3}" type="parTrans" cxnId="{2369EDC6-6A5F-4F94-95F4-249C34518594}">
      <dgm:prSet/>
      <dgm:spPr/>
      <dgm:t>
        <a:bodyPr/>
        <a:lstStyle/>
        <a:p>
          <a:endParaRPr lang="en-IN"/>
        </a:p>
      </dgm:t>
    </dgm:pt>
    <dgm:pt modelId="{99B2A7AC-923E-4DA7-B9E3-01341F25EC09}" type="sibTrans" cxnId="{2369EDC6-6A5F-4F94-95F4-249C34518594}">
      <dgm:prSet/>
      <dgm:spPr/>
      <dgm:t>
        <a:bodyPr/>
        <a:lstStyle/>
        <a:p>
          <a:endParaRPr lang="en-IN"/>
        </a:p>
      </dgm:t>
    </dgm:pt>
    <dgm:pt modelId="{FB24520F-5CAF-46DD-A3C1-790D352C6358}" type="pres">
      <dgm:prSet presAssocID="{6E9EC51A-D321-4D01-82FD-BF10FF1FF867}" presName="Name0" presStyleCnt="0">
        <dgm:presLayoutVars>
          <dgm:dir/>
          <dgm:resizeHandles val="exact"/>
        </dgm:presLayoutVars>
      </dgm:prSet>
      <dgm:spPr/>
    </dgm:pt>
    <dgm:pt modelId="{9542FDF3-DCB4-4AD3-90C8-1939ECF08559}" type="pres">
      <dgm:prSet presAssocID="{5AB2BB73-455C-4C1C-B0FE-7700875CCE2B}" presName="parTxOnly" presStyleLbl="node1" presStyleIdx="0" presStyleCnt="5" custLinFactNeighborY="1387">
        <dgm:presLayoutVars>
          <dgm:bulletEnabled val="1"/>
        </dgm:presLayoutVars>
      </dgm:prSet>
      <dgm:spPr/>
      <dgm:t>
        <a:bodyPr/>
        <a:lstStyle/>
        <a:p>
          <a:endParaRPr lang="en-IN"/>
        </a:p>
      </dgm:t>
    </dgm:pt>
    <dgm:pt modelId="{731DE787-1263-46F8-B6AA-3121E5FB9630}" type="pres">
      <dgm:prSet presAssocID="{F15A1044-D3BE-47AB-A1C3-0D317EC65F91}" presName="parSpace" presStyleCnt="0"/>
      <dgm:spPr/>
    </dgm:pt>
    <dgm:pt modelId="{4F6565C1-D37B-4578-8706-113D96F977CD}" type="pres">
      <dgm:prSet presAssocID="{938F6D84-86EF-4E45-8708-2EEF09BDF159}" presName="parTxOnly" presStyleLbl="node1" presStyleIdx="1" presStyleCnt="5">
        <dgm:presLayoutVars>
          <dgm:bulletEnabled val="1"/>
        </dgm:presLayoutVars>
      </dgm:prSet>
      <dgm:spPr/>
      <dgm:t>
        <a:bodyPr/>
        <a:lstStyle/>
        <a:p>
          <a:endParaRPr lang="en-IN"/>
        </a:p>
      </dgm:t>
    </dgm:pt>
    <dgm:pt modelId="{2F5E6D4A-65E5-45BC-B41E-2B91B351373B}" type="pres">
      <dgm:prSet presAssocID="{26F1733D-D498-4FD7-ACDB-38510417AB99}" presName="parSpace" presStyleCnt="0"/>
      <dgm:spPr/>
    </dgm:pt>
    <dgm:pt modelId="{AA1AD8AB-7962-40A4-97A1-4C6652BD8081}" type="pres">
      <dgm:prSet presAssocID="{9F0BBBCA-F1DF-4C2F-AF40-B895DA1CC893}" presName="parTxOnly" presStyleLbl="node1" presStyleIdx="2" presStyleCnt="5">
        <dgm:presLayoutVars>
          <dgm:bulletEnabled val="1"/>
        </dgm:presLayoutVars>
      </dgm:prSet>
      <dgm:spPr/>
      <dgm:t>
        <a:bodyPr/>
        <a:lstStyle/>
        <a:p>
          <a:endParaRPr lang="en-IN"/>
        </a:p>
      </dgm:t>
    </dgm:pt>
    <dgm:pt modelId="{FD244DE8-127B-4082-866D-FA0E4C54F91C}" type="pres">
      <dgm:prSet presAssocID="{D5A3218F-1E04-41E5-8152-E718823F52C7}" presName="parSpace" presStyleCnt="0"/>
      <dgm:spPr/>
    </dgm:pt>
    <dgm:pt modelId="{0253A958-95F4-4824-A139-52603D240F83}" type="pres">
      <dgm:prSet presAssocID="{A285FFC1-4BB4-466B-BD51-578F2DBB4EDB}" presName="parTxOnly" presStyleLbl="node1" presStyleIdx="3" presStyleCnt="5">
        <dgm:presLayoutVars>
          <dgm:bulletEnabled val="1"/>
        </dgm:presLayoutVars>
      </dgm:prSet>
      <dgm:spPr/>
      <dgm:t>
        <a:bodyPr/>
        <a:lstStyle/>
        <a:p>
          <a:endParaRPr lang="en-IN"/>
        </a:p>
      </dgm:t>
    </dgm:pt>
    <dgm:pt modelId="{003A22A9-E428-4D91-9B03-AF7E577AA39E}" type="pres">
      <dgm:prSet presAssocID="{75AD0DCD-8092-4CF9-BA34-AF74E9D9FA38}" presName="parSpace" presStyleCnt="0"/>
      <dgm:spPr/>
    </dgm:pt>
    <dgm:pt modelId="{009DA479-0750-4E31-B911-4A762B6F1C55}" type="pres">
      <dgm:prSet presAssocID="{40D501FE-2120-425E-A7AC-0A5F1F1B1522}" presName="parTxOnly" presStyleLbl="node1" presStyleIdx="4" presStyleCnt="5">
        <dgm:presLayoutVars>
          <dgm:bulletEnabled val="1"/>
        </dgm:presLayoutVars>
      </dgm:prSet>
      <dgm:spPr/>
      <dgm:t>
        <a:bodyPr/>
        <a:lstStyle/>
        <a:p>
          <a:endParaRPr lang="en-IN"/>
        </a:p>
      </dgm:t>
    </dgm:pt>
  </dgm:ptLst>
  <dgm:cxnLst>
    <dgm:cxn modelId="{73DE531A-3AC4-4890-AD94-9D4C11F3C010}" type="presOf" srcId="{A285FFC1-4BB4-466B-BD51-578F2DBB4EDB}" destId="{0253A958-95F4-4824-A139-52603D240F83}" srcOrd="0" destOrd="0" presId="urn:microsoft.com/office/officeart/2005/8/layout/hChevron3"/>
    <dgm:cxn modelId="{F31E4778-6814-46DD-9BF1-56A615CF4C6A}" type="presOf" srcId="{6E9EC51A-D321-4D01-82FD-BF10FF1FF867}" destId="{FB24520F-5CAF-46DD-A3C1-790D352C6358}" srcOrd="0" destOrd="0" presId="urn:microsoft.com/office/officeart/2005/8/layout/hChevron3"/>
    <dgm:cxn modelId="{778A4C54-2AC4-4B3F-8084-D4BE230B54D5}" srcId="{6E9EC51A-D321-4D01-82FD-BF10FF1FF867}" destId="{938F6D84-86EF-4E45-8708-2EEF09BDF159}" srcOrd="1" destOrd="0" parTransId="{234D800C-F220-43D5-9AF2-B55D0C298F54}" sibTransId="{26F1733D-D498-4FD7-ACDB-38510417AB99}"/>
    <dgm:cxn modelId="{5FDC387F-CA4E-4203-BE25-44425FDB3500}" srcId="{6E9EC51A-D321-4D01-82FD-BF10FF1FF867}" destId="{A285FFC1-4BB4-466B-BD51-578F2DBB4EDB}" srcOrd="3" destOrd="0" parTransId="{55A9BA14-0FA1-49B7-8A7C-C248EE2DF531}" sibTransId="{75AD0DCD-8092-4CF9-BA34-AF74E9D9FA38}"/>
    <dgm:cxn modelId="{AC7E0EE3-FAB3-4F22-ABE0-FEA17EE2DBC1}" type="presOf" srcId="{9F0BBBCA-F1DF-4C2F-AF40-B895DA1CC893}" destId="{AA1AD8AB-7962-40A4-97A1-4C6652BD8081}" srcOrd="0" destOrd="0" presId="urn:microsoft.com/office/officeart/2005/8/layout/hChevron3"/>
    <dgm:cxn modelId="{4FEC5606-D232-4CDB-925C-8DBE2D62AB38}" srcId="{6E9EC51A-D321-4D01-82FD-BF10FF1FF867}" destId="{5AB2BB73-455C-4C1C-B0FE-7700875CCE2B}" srcOrd="0" destOrd="0" parTransId="{BB0DD30E-AC0B-4E3E-B5D2-FEA24B96FF72}" sibTransId="{F15A1044-D3BE-47AB-A1C3-0D317EC65F91}"/>
    <dgm:cxn modelId="{538AFDD2-2AA8-410E-B5DD-FDA3992F0532}" type="presOf" srcId="{5AB2BB73-455C-4C1C-B0FE-7700875CCE2B}" destId="{9542FDF3-DCB4-4AD3-90C8-1939ECF08559}" srcOrd="0" destOrd="0" presId="urn:microsoft.com/office/officeart/2005/8/layout/hChevron3"/>
    <dgm:cxn modelId="{56EBC784-7FF5-4378-B44C-166538DCCA28}" type="presOf" srcId="{40D501FE-2120-425E-A7AC-0A5F1F1B1522}" destId="{009DA479-0750-4E31-B911-4A762B6F1C55}" srcOrd="0" destOrd="0" presId="urn:microsoft.com/office/officeart/2005/8/layout/hChevron3"/>
    <dgm:cxn modelId="{7A7D1850-BD34-4E4E-8AF3-E0F99DD178A8}" srcId="{6E9EC51A-D321-4D01-82FD-BF10FF1FF867}" destId="{9F0BBBCA-F1DF-4C2F-AF40-B895DA1CC893}" srcOrd="2" destOrd="0" parTransId="{39288F10-222C-41B8-ACFA-935BB89BC651}" sibTransId="{D5A3218F-1E04-41E5-8152-E718823F52C7}"/>
    <dgm:cxn modelId="{022D3F25-7EE8-4F3B-9234-4ED30693144F}" type="presOf" srcId="{938F6D84-86EF-4E45-8708-2EEF09BDF159}" destId="{4F6565C1-D37B-4578-8706-113D96F977CD}" srcOrd="0" destOrd="0" presId="urn:microsoft.com/office/officeart/2005/8/layout/hChevron3"/>
    <dgm:cxn modelId="{2369EDC6-6A5F-4F94-95F4-249C34518594}" srcId="{6E9EC51A-D321-4D01-82FD-BF10FF1FF867}" destId="{40D501FE-2120-425E-A7AC-0A5F1F1B1522}" srcOrd="4" destOrd="0" parTransId="{76AD4105-1D92-4CE8-969C-0D9AEBD6A9A3}" sibTransId="{99B2A7AC-923E-4DA7-B9E3-01341F25EC09}"/>
    <dgm:cxn modelId="{74A74099-0BE2-4A48-AA78-3D364E8F8731}" type="presParOf" srcId="{FB24520F-5CAF-46DD-A3C1-790D352C6358}" destId="{9542FDF3-DCB4-4AD3-90C8-1939ECF08559}" srcOrd="0" destOrd="0" presId="urn:microsoft.com/office/officeart/2005/8/layout/hChevron3"/>
    <dgm:cxn modelId="{435085B0-01E4-4CA1-AB1A-A4C9A0BED707}" type="presParOf" srcId="{FB24520F-5CAF-46DD-A3C1-790D352C6358}" destId="{731DE787-1263-46F8-B6AA-3121E5FB9630}" srcOrd="1" destOrd="0" presId="urn:microsoft.com/office/officeart/2005/8/layout/hChevron3"/>
    <dgm:cxn modelId="{08CFD1DE-109C-438F-A7A5-44073DC77123}" type="presParOf" srcId="{FB24520F-5CAF-46DD-A3C1-790D352C6358}" destId="{4F6565C1-D37B-4578-8706-113D96F977CD}" srcOrd="2" destOrd="0" presId="urn:microsoft.com/office/officeart/2005/8/layout/hChevron3"/>
    <dgm:cxn modelId="{017FAEAE-EB3E-437F-A3D7-127C31273D46}" type="presParOf" srcId="{FB24520F-5CAF-46DD-A3C1-790D352C6358}" destId="{2F5E6D4A-65E5-45BC-B41E-2B91B351373B}" srcOrd="3" destOrd="0" presId="urn:microsoft.com/office/officeart/2005/8/layout/hChevron3"/>
    <dgm:cxn modelId="{EA25EE38-1C3A-40AF-9F4B-7D83D5B46732}" type="presParOf" srcId="{FB24520F-5CAF-46DD-A3C1-790D352C6358}" destId="{AA1AD8AB-7962-40A4-97A1-4C6652BD8081}" srcOrd="4" destOrd="0" presId="urn:microsoft.com/office/officeart/2005/8/layout/hChevron3"/>
    <dgm:cxn modelId="{3D0F0A70-3830-426A-9220-837CFFE8658A}" type="presParOf" srcId="{FB24520F-5CAF-46DD-A3C1-790D352C6358}" destId="{FD244DE8-127B-4082-866D-FA0E4C54F91C}" srcOrd="5" destOrd="0" presId="urn:microsoft.com/office/officeart/2005/8/layout/hChevron3"/>
    <dgm:cxn modelId="{7B7EB6A3-D53E-4070-B970-7574392AB3C8}" type="presParOf" srcId="{FB24520F-5CAF-46DD-A3C1-790D352C6358}" destId="{0253A958-95F4-4824-A139-52603D240F83}" srcOrd="6" destOrd="0" presId="urn:microsoft.com/office/officeart/2005/8/layout/hChevron3"/>
    <dgm:cxn modelId="{19722E98-790F-49DA-9874-8445C33C639F}" type="presParOf" srcId="{FB24520F-5CAF-46DD-A3C1-790D352C6358}" destId="{003A22A9-E428-4D91-9B03-AF7E577AA39E}" srcOrd="7" destOrd="0" presId="urn:microsoft.com/office/officeart/2005/8/layout/hChevron3"/>
    <dgm:cxn modelId="{FC490852-3956-4238-B368-8C5AA372B683}" type="presParOf" srcId="{FB24520F-5CAF-46DD-A3C1-790D352C6358}" destId="{009DA479-0750-4E31-B911-4A762B6F1C55}" srcOrd="8"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86A454-60D0-4C87-84EE-38FED3315B51}"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IN"/>
        </a:p>
      </dgm:t>
    </dgm:pt>
    <dgm:pt modelId="{6E18B4F0-AE75-41B3-AADF-ABB2F5DC84D7}">
      <dgm:prSet phldrT="[Text]"/>
      <dgm:spPr/>
      <dgm:t>
        <a:bodyPr/>
        <a:lstStyle/>
        <a:p>
          <a:r>
            <a:rPr lang="en-IN" dirty="0"/>
            <a:t>Container</a:t>
          </a:r>
        </a:p>
      </dgm:t>
    </dgm:pt>
    <dgm:pt modelId="{CD1548EB-2C5F-44B2-96EA-9B874BBBB26C}" type="parTrans" cxnId="{77DA44CC-5E46-4AFF-90D9-3D3360C33DD1}">
      <dgm:prSet/>
      <dgm:spPr/>
      <dgm:t>
        <a:bodyPr/>
        <a:lstStyle/>
        <a:p>
          <a:endParaRPr lang="en-IN"/>
        </a:p>
      </dgm:t>
    </dgm:pt>
    <dgm:pt modelId="{1EF62CBE-0408-4F5A-B0C0-C29E88ABF044}" type="sibTrans" cxnId="{77DA44CC-5E46-4AFF-90D9-3D3360C33DD1}">
      <dgm:prSet/>
      <dgm:spPr/>
      <dgm:t>
        <a:bodyPr/>
        <a:lstStyle/>
        <a:p>
          <a:endParaRPr lang="en-IN"/>
        </a:p>
      </dgm:t>
    </dgm:pt>
    <dgm:pt modelId="{3C69B5EA-4FD6-43EA-B8BB-727221DE2DF8}">
      <dgm:prSet phldrT="[Text]"/>
      <dgm:spPr/>
      <dgm:t>
        <a:bodyPr/>
        <a:lstStyle/>
        <a:p>
          <a:r>
            <a:rPr lang="en-IN" dirty="0"/>
            <a:t>What is a Container? </a:t>
          </a:r>
        </a:p>
      </dgm:t>
    </dgm:pt>
    <dgm:pt modelId="{A7939E88-CFC4-4AF5-BEC4-808FB5679796}" type="parTrans" cxnId="{B37F6226-DB83-49B0-BA59-AF9A6E4E0190}">
      <dgm:prSet/>
      <dgm:spPr/>
      <dgm:t>
        <a:bodyPr/>
        <a:lstStyle/>
        <a:p>
          <a:endParaRPr lang="en-IN"/>
        </a:p>
      </dgm:t>
    </dgm:pt>
    <dgm:pt modelId="{EE7B2B99-0AA1-4F56-AFDA-BB2FA72D6BE1}" type="sibTrans" cxnId="{B37F6226-DB83-49B0-BA59-AF9A6E4E0190}">
      <dgm:prSet/>
      <dgm:spPr/>
      <dgm:t>
        <a:bodyPr/>
        <a:lstStyle/>
        <a:p>
          <a:endParaRPr lang="en-IN"/>
        </a:p>
      </dgm:t>
    </dgm:pt>
    <dgm:pt modelId="{432646E1-AFBF-470F-9A75-931327B40B21}">
      <dgm:prSet phldrT="[Text]"/>
      <dgm:spPr/>
      <dgm:t>
        <a:bodyPr/>
        <a:lstStyle/>
        <a:p>
          <a:r>
            <a:rPr lang="en-IN" dirty="0"/>
            <a:t>Objects</a:t>
          </a:r>
        </a:p>
      </dgm:t>
    </dgm:pt>
    <dgm:pt modelId="{6844A7C5-ED32-4DEB-9A2A-06BE7C198975}" type="parTrans" cxnId="{2FF8295B-19E7-4783-928E-3CF926E66EB5}">
      <dgm:prSet/>
      <dgm:spPr/>
      <dgm:t>
        <a:bodyPr/>
        <a:lstStyle/>
        <a:p>
          <a:endParaRPr lang="en-IN"/>
        </a:p>
      </dgm:t>
    </dgm:pt>
    <dgm:pt modelId="{FDEEED78-1023-4B66-872E-DB702BD003D0}" type="sibTrans" cxnId="{2FF8295B-19E7-4783-928E-3CF926E66EB5}">
      <dgm:prSet/>
      <dgm:spPr/>
      <dgm:t>
        <a:bodyPr/>
        <a:lstStyle/>
        <a:p>
          <a:endParaRPr lang="en-IN"/>
        </a:p>
      </dgm:t>
    </dgm:pt>
    <dgm:pt modelId="{85DAFC21-F283-42D1-9EFE-98B8622A2952}">
      <dgm:prSet phldrT="[Text]"/>
      <dgm:spPr/>
      <dgm:t>
        <a:bodyPr/>
        <a:lstStyle/>
        <a:p>
          <a:r>
            <a:rPr lang="en-IN" dirty="0"/>
            <a:t>What is an Object/File? Data transferring or online transferring into the bucket/folder</a:t>
          </a:r>
        </a:p>
      </dgm:t>
    </dgm:pt>
    <dgm:pt modelId="{94F1754C-E7C8-4E07-8136-A4454F8CA2DD}" type="parTrans" cxnId="{3216DD09-D55F-4252-AE6F-16C7A860AF11}">
      <dgm:prSet/>
      <dgm:spPr/>
      <dgm:t>
        <a:bodyPr/>
        <a:lstStyle/>
        <a:p>
          <a:endParaRPr lang="en-IN"/>
        </a:p>
      </dgm:t>
    </dgm:pt>
    <dgm:pt modelId="{0915592B-62EE-475C-8E15-4D67856ABA20}" type="sibTrans" cxnId="{3216DD09-D55F-4252-AE6F-16C7A860AF11}">
      <dgm:prSet/>
      <dgm:spPr/>
      <dgm:t>
        <a:bodyPr/>
        <a:lstStyle/>
        <a:p>
          <a:endParaRPr lang="en-IN"/>
        </a:p>
      </dgm:t>
    </dgm:pt>
    <dgm:pt modelId="{E85F5443-9BB2-4618-8BAF-0E4B6D127E42}">
      <dgm:prSet phldrT="[Text]"/>
      <dgm:spPr/>
      <dgm:t>
        <a:bodyPr/>
        <a:lstStyle/>
        <a:p>
          <a:r>
            <a:rPr lang="en-IN" dirty="0"/>
            <a:t>Storage Classes &amp; Pricing Models</a:t>
          </a:r>
        </a:p>
      </dgm:t>
    </dgm:pt>
    <dgm:pt modelId="{BC283DFB-C5BD-4A1B-8944-61B7A10F1F29}" type="parTrans" cxnId="{1F0423D6-0012-4253-A643-71D454A154C5}">
      <dgm:prSet/>
      <dgm:spPr/>
      <dgm:t>
        <a:bodyPr/>
        <a:lstStyle/>
        <a:p>
          <a:endParaRPr lang="en-IN"/>
        </a:p>
      </dgm:t>
    </dgm:pt>
    <dgm:pt modelId="{110A4F78-6018-4E28-9610-247AB26B396F}" type="sibTrans" cxnId="{1F0423D6-0012-4253-A643-71D454A154C5}">
      <dgm:prSet/>
      <dgm:spPr/>
      <dgm:t>
        <a:bodyPr/>
        <a:lstStyle/>
        <a:p>
          <a:endParaRPr lang="en-IN"/>
        </a:p>
      </dgm:t>
    </dgm:pt>
    <dgm:pt modelId="{EDA5385D-DB8F-4FF9-ABB9-BAF82F276E80}">
      <dgm:prSet phldrT="[Text]"/>
      <dgm:spPr/>
      <dgm:t>
        <a:bodyPr/>
        <a:lstStyle/>
        <a:p>
          <a:r>
            <a:rPr lang="en-IN" dirty="0"/>
            <a:t>Identify and fill here the different storage classes available in </a:t>
          </a:r>
          <a:r>
            <a:rPr lang="en-IN" dirty="0" err="1"/>
            <a:t>az</a:t>
          </a:r>
          <a:r>
            <a:rPr lang="en-IN" dirty="0"/>
            <a:t> container creation?</a:t>
          </a:r>
        </a:p>
      </dgm:t>
    </dgm:pt>
    <dgm:pt modelId="{2C47CE6D-80F9-4636-A7A3-0AF585DAC3C4}" type="parTrans" cxnId="{29056404-94C4-42A4-8156-DCC2B3F6A200}">
      <dgm:prSet/>
      <dgm:spPr/>
      <dgm:t>
        <a:bodyPr/>
        <a:lstStyle/>
        <a:p>
          <a:endParaRPr lang="en-IN"/>
        </a:p>
      </dgm:t>
    </dgm:pt>
    <dgm:pt modelId="{EF8012AB-678D-4501-B60B-3D61CDFC8443}" type="sibTrans" cxnId="{29056404-94C4-42A4-8156-DCC2B3F6A200}">
      <dgm:prSet/>
      <dgm:spPr/>
      <dgm:t>
        <a:bodyPr/>
        <a:lstStyle/>
        <a:p>
          <a:endParaRPr lang="en-IN"/>
        </a:p>
      </dgm:t>
    </dgm:pt>
    <dgm:pt modelId="{B1AF24F8-C621-42CB-B118-3AEC112F3421}">
      <dgm:prSet phldrT="[Text]"/>
      <dgm:spPr/>
      <dgm:t>
        <a:bodyPr/>
        <a:lstStyle/>
        <a:p>
          <a:r>
            <a:rPr lang="en-IN" dirty="0" err="1"/>
            <a:t>Handson</a:t>
          </a:r>
          <a:endParaRPr lang="en-IN" dirty="0"/>
        </a:p>
      </dgm:t>
    </dgm:pt>
    <dgm:pt modelId="{F80B2BB0-589D-4206-A77D-1F0C6CAA9F0B}" type="parTrans" cxnId="{B370C053-246B-40FA-802F-7AE3CC02D368}">
      <dgm:prSet/>
      <dgm:spPr/>
      <dgm:t>
        <a:bodyPr/>
        <a:lstStyle/>
        <a:p>
          <a:endParaRPr lang="en-IN"/>
        </a:p>
      </dgm:t>
    </dgm:pt>
    <dgm:pt modelId="{C81F63A3-8703-4428-BAD3-95AA59F849AE}" type="sibTrans" cxnId="{B370C053-246B-40FA-802F-7AE3CC02D368}">
      <dgm:prSet/>
      <dgm:spPr/>
      <dgm:t>
        <a:bodyPr/>
        <a:lstStyle/>
        <a:p>
          <a:endParaRPr lang="en-IN"/>
        </a:p>
      </dgm:t>
    </dgm:pt>
    <dgm:pt modelId="{2C54CDC9-60B1-4C44-B981-4D928FE6DF02}">
      <dgm:prSet phldrT="[Text]"/>
      <dgm:spPr/>
      <dgm:t>
        <a:bodyPr/>
        <a:lstStyle/>
        <a:p>
          <a:r>
            <a:rPr lang="en-IN" dirty="0"/>
            <a:t> Practice </a:t>
          </a:r>
          <a:r>
            <a:rPr lang="en-IN" dirty="0" err="1"/>
            <a:t>az</a:t>
          </a:r>
          <a:r>
            <a:rPr lang="en-IN" dirty="0"/>
            <a:t> Commands provided</a:t>
          </a:r>
        </a:p>
      </dgm:t>
    </dgm:pt>
    <dgm:pt modelId="{F3736559-BB71-4F70-BB8A-4B7C55A5E171}" type="parTrans" cxnId="{0CDA6AC4-54C7-409C-89C6-C29594289CB7}">
      <dgm:prSet/>
      <dgm:spPr/>
      <dgm:t>
        <a:bodyPr/>
        <a:lstStyle/>
        <a:p>
          <a:endParaRPr lang="en-IN"/>
        </a:p>
      </dgm:t>
    </dgm:pt>
    <dgm:pt modelId="{88C08704-0B28-4A4A-8774-377F3F1E07CD}" type="sibTrans" cxnId="{0CDA6AC4-54C7-409C-89C6-C29594289CB7}">
      <dgm:prSet/>
      <dgm:spPr/>
      <dgm:t>
        <a:bodyPr/>
        <a:lstStyle/>
        <a:p>
          <a:endParaRPr lang="en-IN"/>
        </a:p>
      </dgm:t>
    </dgm:pt>
    <dgm:pt modelId="{5DEE2445-10B4-4ECA-B69E-78541D790FD2}">
      <dgm:prSet phldrT="[Text]"/>
      <dgm:spPr/>
      <dgm:t>
        <a:bodyPr/>
        <a:lstStyle/>
        <a:p>
          <a:r>
            <a:rPr lang="en-IN" dirty="0" err="1"/>
            <a:t>Az</a:t>
          </a:r>
          <a:r>
            <a:rPr lang="en-IN" dirty="0"/>
            <a:t> commands – create container</a:t>
          </a:r>
          <a:endParaRPr lang="en-IN" b="1" dirty="0"/>
        </a:p>
      </dgm:t>
    </dgm:pt>
    <dgm:pt modelId="{E2550852-3767-4BC6-A18E-F5DEEE1BBF5B}" type="parTrans" cxnId="{809B7B88-DCE3-4924-9923-76CBC6AD87D1}">
      <dgm:prSet/>
      <dgm:spPr/>
      <dgm:t>
        <a:bodyPr/>
        <a:lstStyle/>
        <a:p>
          <a:endParaRPr lang="en-IN"/>
        </a:p>
      </dgm:t>
    </dgm:pt>
    <dgm:pt modelId="{772BB3BA-1795-47DE-8420-5E4AC995BD71}" type="sibTrans" cxnId="{809B7B88-DCE3-4924-9923-76CBC6AD87D1}">
      <dgm:prSet/>
      <dgm:spPr/>
      <dgm:t>
        <a:bodyPr/>
        <a:lstStyle/>
        <a:p>
          <a:endParaRPr lang="en-IN"/>
        </a:p>
      </dgm:t>
    </dgm:pt>
    <dgm:pt modelId="{21FB71F6-887F-4428-9E36-24D4DAD8C320}">
      <dgm:prSet phldrT="[Text]"/>
      <dgm:spPr/>
      <dgm:t>
        <a:bodyPr/>
        <a:lstStyle/>
        <a:p>
          <a:r>
            <a:rPr lang="en-IN" dirty="0"/>
            <a:t>Create a Container with proper naming convention </a:t>
          </a:r>
          <a:r>
            <a:rPr lang="en-IN" dirty="0" err="1"/>
            <a:t>eg</a:t>
          </a:r>
          <a:r>
            <a:rPr lang="en-IN" dirty="0"/>
            <a:t>. </a:t>
          </a:r>
          <a:r>
            <a:rPr lang="en-IN" dirty="0" err="1"/>
            <a:t>inceptez</a:t>
          </a:r>
          <a:r>
            <a:rPr lang="en-IN" dirty="0"/>
            <a:t>-core-learnings - </a:t>
          </a:r>
          <a:r>
            <a:rPr lang="en-IN" b="1" dirty="0"/>
            <a:t>Yes</a:t>
          </a:r>
        </a:p>
      </dgm:t>
    </dgm:pt>
    <dgm:pt modelId="{C9DC82F3-9718-4F74-9555-006526C7E754}" type="parTrans" cxnId="{B9A92620-9E2C-4581-B703-2C31043172AE}">
      <dgm:prSet/>
      <dgm:spPr/>
      <dgm:t>
        <a:bodyPr/>
        <a:lstStyle/>
        <a:p>
          <a:endParaRPr lang="en-IN"/>
        </a:p>
      </dgm:t>
    </dgm:pt>
    <dgm:pt modelId="{1D535083-B437-415F-A57B-447F26E1BF27}" type="sibTrans" cxnId="{B9A92620-9E2C-4581-B703-2C31043172AE}">
      <dgm:prSet/>
      <dgm:spPr/>
      <dgm:t>
        <a:bodyPr/>
        <a:lstStyle/>
        <a:p>
          <a:endParaRPr lang="en-IN"/>
        </a:p>
      </dgm:t>
    </dgm:pt>
    <dgm:pt modelId="{22E16826-9A36-4315-ABF7-F6DD195925B0}">
      <dgm:prSet phldrT="[Text]"/>
      <dgm:spPr/>
      <dgm:t>
        <a:bodyPr/>
        <a:lstStyle/>
        <a:p>
          <a:r>
            <a:rPr lang="en-IN" dirty="0" err="1"/>
            <a:t>Cli</a:t>
          </a:r>
          <a:r>
            <a:rPr lang="en-IN" dirty="0"/>
            <a:t> commands</a:t>
          </a:r>
        </a:p>
      </dgm:t>
    </dgm:pt>
    <dgm:pt modelId="{32D0A16B-6591-484F-827E-01B1BBA6029C}" type="parTrans" cxnId="{011B3DE0-B537-48A7-9C9C-964E09791674}">
      <dgm:prSet/>
      <dgm:spPr/>
      <dgm:t>
        <a:bodyPr/>
        <a:lstStyle/>
        <a:p>
          <a:endParaRPr lang="en-IN"/>
        </a:p>
      </dgm:t>
    </dgm:pt>
    <dgm:pt modelId="{1DA71F01-D151-4F5E-ABAA-F75D7E7BEA09}" type="sibTrans" cxnId="{011B3DE0-B537-48A7-9C9C-964E09791674}">
      <dgm:prSet/>
      <dgm:spPr/>
      <dgm:t>
        <a:bodyPr/>
        <a:lstStyle/>
        <a:p>
          <a:endParaRPr lang="en-IN"/>
        </a:p>
      </dgm:t>
    </dgm:pt>
    <dgm:pt modelId="{17DD8BA0-C1BB-4AE0-8D9E-C70C958369BE}">
      <dgm:prSet/>
      <dgm:spPr/>
      <dgm:t>
        <a:bodyPr/>
        <a:lstStyle/>
        <a:p>
          <a:r>
            <a:rPr lang="en-IN" dirty="0"/>
            <a:t>What are the Two types of access controls?</a:t>
          </a:r>
          <a:endParaRPr lang="en-IN" b="1" i="1" dirty="0"/>
        </a:p>
      </dgm:t>
    </dgm:pt>
    <dgm:pt modelId="{FE8F7A05-CB19-4721-BB1C-460735F295BE}" type="parTrans" cxnId="{A3162783-783E-4922-85A5-C4EFDC044F26}">
      <dgm:prSet/>
      <dgm:spPr/>
      <dgm:t>
        <a:bodyPr/>
        <a:lstStyle/>
        <a:p>
          <a:endParaRPr lang="en-IN"/>
        </a:p>
      </dgm:t>
    </dgm:pt>
    <dgm:pt modelId="{17FD366B-A8CE-43E7-96A6-7EDF8BDA2371}" type="sibTrans" cxnId="{A3162783-783E-4922-85A5-C4EFDC044F26}">
      <dgm:prSet/>
      <dgm:spPr/>
      <dgm:t>
        <a:bodyPr/>
        <a:lstStyle/>
        <a:p>
          <a:endParaRPr lang="en-IN"/>
        </a:p>
      </dgm:t>
    </dgm:pt>
    <dgm:pt modelId="{7D2ABDC0-CD34-46CB-9808-493397C3B55A}">
      <dgm:prSet phldrT="[Text]"/>
      <dgm:spPr/>
      <dgm:t>
        <a:bodyPr/>
        <a:lstStyle/>
        <a:p>
          <a:r>
            <a:rPr lang="en-IN" dirty="0"/>
            <a:t> Practice </a:t>
          </a:r>
          <a:r>
            <a:rPr lang="en-IN" dirty="0" err="1"/>
            <a:t>PySpark</a:t>
          </a:r>
          <a:r>
            <a:rPr lang="en-IN" dirty="0"/>
            <a:t> Programs in </a:t>
          </a:r>
          <a:r>
            <a:rPr lang="en-IN" dirty="0" err="1"/>
            <a:t>databricks</a:t>
          </a:r>
          <a:r>
            <a:rPr lang="en-IN" dirty="0"/>
            <a:t> notebook</a:t>
          </a:r>
        </a:p>
      </dgm:t>
    </dgm:pt>
    <dgm:pt modelId="{53E2A9F5-E02C-4BAB-96AD-FF2D3D6728A4}" type="parTrans" cxnId="{B591B0BA-A73F-467C-88AD-B3304619DE39}">
      <dgm:prSet/>
      <dgm:spPr/>
      <dgm:t>
        <a:bodyPr/>
        <a:lstStyle/>
        <a:p>
          <a:endParaRPr lang="en-IN"/>
        </a:p>
      </dgm:t>
    </dgm:pt>
    <dgm:pt modelId="{28F1F952-F812-4598-992C-A955D8D78877}" type="sibTrans" cxnId="{B591B0BA-A73F-467C-88AD-B3304619DE39}">
      <dgm:prSet/>
      <dgm:spPr/>
      <dgm:t>
        <a:bodyPr/>
        <a:lstStyle/>
        <a:p>
          <a:endParaRPr lang="en-IN"/>
        </a:p>
      </dgm:t>
    </dgm:pt>
    <dgm:pt modelId="{A67400F3-2ACC-42D6-B4BE-9193635C1DCE}" type="pres">
      <dgm:prSet presAssocID="{DA86A454-60D0-4C87-84EE-38FED3315B51}" presName="Name0" presStyleCnt="0">
        <dgm:presLayoutVars>
          <dgm:dir/>
          <dgm:animLvl val="lvl"/>
          <dgm:resizeHandles val="exact"/>
        </dgm:presLayoutVars>
      </dgm:prSet>
      <dgm:spPr/>
      <dgm:t>
        <a:bodyPr/>
        <a:lstStyle/>
        <a:p>
          <a:endParaRPr lang="en-IN"/>
        </a:p>
      </dgm:t>
    </dgm:pt>
    <dgm:pt modelId="{EDE554B8-2527-4CD4-A499-DBFB199A2A93}" type="pres">
      <dgm:prSet presAssocID="{6E18B4F0-AE75-41B3-AADF-ABB2F5DC84D7}" presName="linNode" presStyleCnt="0"/>
      <dgm:spPr/>
    </dgm:pt>
    <dgm:pt modelId="{6F2A2FFB-6963-483B-837F-625D30F95E94}" type="pres">
      <dgm:prSet presAssocID="{6E18B4F0-AE75-41B3-AADF-ABB2F5DC84D7}" presName="parentText" presStyleLbl="node1" presStyleIdx="0" presStyleCnt="4">
        <dgm:presLayoutVars>
          <dgm:chMax val="1"/>
          <dgm:bulletEnabled val="1"/>
        </dgm:presLayoutVars>
      </dgm:prSet>
      <dgm:spPr/>
      <dgm:t>
        <a:bodyPr/>
        <a:lstStyle/>
        <a:p>
          <a:endParaRPr lang="en-IN"/>
        </a:p>
      </dgm:t>
    </dgm:pt>
    <dgm:pt modelId="{02D4DE22-7B4C-4795-BD8D-93023E42AF4B}" type="pres">
      <dgm:prSet presAssocID="{6E18B4F0-AE75-41B3-AADF-ABB2F5DC84D7}" presName="descendantText" presStyleLbl="alignAccFollowNode1" presStyleIdx="0" presStyleCnt="4">
        <dgm:presLayoutVars>
          <dgm:bulletEnabled val="1"/>
        </dgm:presLayoutVars>
      </dgm:prSet>
      <dgm:spPr/>
      <dgm:t>
        <a:bodyPr/>
        <a:lstStyle/>
        <a:p>
          <a:endParaRPr lang="en-IN"/>
        </a:p>
      </dgm:t>
    </dgm:pt>
    <dgm:pt modelId="{F29C1691-7D1E-4E50-8B44-FDD9BECEAF8B}" type="pres">
      <dgm:prSet presAssocID="{1EF62CBE-0408-4F5A-B0C0-C29E88ABF044}" presName="sp" presStyleCnt="0"/>
      <dgm:spPr/>
    </dgm:pt>
    <dgm:pt modelId="{24CAFADA-F7BA-4C03-A2E4-8EC11CAA6703}" type="pres">
      <dgm:prSet presAssocID="{432646E1-AFBF-470F-9A75-931327B40B21}" presName="linNode" presStyleCnt="0"/>
      <dgm:spPr/>
    </dgm:pt>
    <dgm:pt modelId="{CDBB2264-7D3B-4D74-9881-BC4C9C35B944}" type="pres">
      <dgm:prSet presAssocID="{432646E1-AFBF-470F-9A75-931327B40B21}" presName="parentText" presStyleLbl="node1" presStyleIdx="1" presStyleCnt="4">
        <dgm:presLayoutVars>
          <dgm:chMax val="1"/>
          <dgm:bulletEnabled val="1"/>
        </dgm:presLayoutVars>
      </dgm:prSet>
      <dgm:spPr/>
      <dgm:t>
        <a:bodyPr/>
        <a:lstStyle/>
        <a:p>
          <a:endParaRPr lang="en-IN"/>
        </a:p>
      </dgm:t>
    </dgm:pt>
    <dgm:pt modelId="{F64CD779-8E4C-4900-85C9-48DAA4B055B4}" type="pres">
      <dgm:prSet presAssocID="{432646E1-AFBF-470F-9A75-931327B40B21}" presName="descendantText" presStyleLbl="alignAccFollowNode1" presStyleIdx="1" presStyleCnt="4">
        <dgm:presLayoutVars>
          <dgm:bulletEnabled val="1"/>
        </dgm:presLayoutVars>
      </dgm:prSet>
      <dgm:spPr/>
      <dgm:t>
        <a:bodyPr/>
        <a:lstStyle/>
        <a:p>
          <a:endParaRPr lang="en-IN"/>
        </a:p>
      </dgm:t>
    </dgm:pt>
    <dgm:pt modelId="{EB0A058A-AA1E-4ED1-98ED-2F6D0ACBA620}" type="pres">
      <dgm:prSet presAssocID="{FDEEED78-1023-4B66-872E-DB702BD003D0}" presName="sp" presStyleCnt="0"/>
      <dgm:spPr/>
    </dgm:pt>
    <dgm:pt modelId="{FF431CC7-2290-45EC-9A08-2577165E8AE5}" type="pres">
      <dgm:prSet presAssocID="{E85F5443-9BB2-4618-8BAF-0E4B6D127E42}" presName="linNode" presStyleCnt="0"/>
      <dgm:spPr/>
    </dgm:pt>
    <dgm:pt modelId="{F3BB6155-DFA6-4080-B13D-5020EC4C3DD5}" type="pres">
      <dgm:prSet presAssocID="{E85F5443-9BB2-4618-8BAF-0E4B6D127E42}" presName="parentText" presStyleLbl="node1" presStyleIdx="2" presStyleCnt="4">
        <dgm:presLayoutVars>
          <dgm:chMax val="1"/>
          <dgm:bulletEnabled val="1"/>
        </dgm:presLayoutVars>
      </dgm:prSet>
      <dgm:spPr/>
      <dgm:t>
        <a:bodyPr/>
        <a:lstStyle/>
        <a:p>
          <a:endParaRPr lang="en-IN"/>
        </a:p>
      </dgm:t>
    </dgm:pt>
    <dgm:pt modelId="{D3D8ED69-C492-4325-8358-A9830763D4D0}" type="pres">
      <dgm:prSet presAssocID="{E85F5443-9BB2-4618-8BAF-0E4B6D127E42}" presName="descendantText" presStyleLbl="alignAccFollowNode1" presStyleIdx="2" presStyleCnt="4">
        <dgm:presLayoutVars>
          <dgm:bulletEnabled val="1"/>
        </dgm:presLayoutVars>
      </dgm:prSet>
      <dgm:spPr/>
      <dgm:t>
        <a:bodyPr/>
        <a:lstStyle/>
        <a:p>
          <a:endParaRPr lang="en-IN"/>
        </a:p>
      </dgm:t>
    </dgm:pt>
    <dgm:pt modelId="{9C9A18CA-23C0-45F3-9AF2-FEAF26C51C42}" type="pres">
      <dgm:prSet presAssocID="{110A4F78-6018-4E28-9610-247AB26B396F}" presName="sp" presStyleCnt="0"/>
      <dgm:spPr/>
    </dgm:pt>
    <dgm:pt modelId="{330E048B-96F1-4983-9771-9F0BBCA5DB67}" type="pres">
      <dgm:prSet presAssocID="{B1AF24F8-C621-42CB-B118-3AEC112F3421}" presName="linNode" presStyleCnt="0"/>
      <dgm:spPr/>
    </dgm:pt>
    <dgm:pt modelId="{C3BF885C-3BEF-4266-98A5-8E05374921CA}" type="pres">
      <dgm:prSet presAssocID="{B1AF24F8-C621-42CB-B118-3AEC112F3421}" presName="parentText" presStyleLbl="node1" presStyleIdx="3" presStyleCnt="4">
        <dgm:presLayoutVars>
          <dgm:chMax val="1"/>
          <dgm:bulletEnabled val="1"/>
        </dgm:presLayoutVars>
      </dgm:prSet>
      <dgm:spPr/>
      <dgm:t>
        <a:bodyPr/>
        <a:lstStyle/>
        <a:p>
          <a:endParaRPr lang="en-IN"/>
        </a:p>
      </dgm:t>
    </dgm:pt>
    <dgm:pt modelId="{95F294B2-BAED-42E2-A5B3-A38F7777ED2F}" type="pres">
      <dgm:prSet presAssocID="{B1AF24F8-C621-42CB-B118-3AEC112F3421}" presName="descendantText" presStyleLbl="alignAccFollowNode1" presStyleIdx="3" presStyleCnt="4">
        <dgm:presLayoutVars>
          <dgm:bulletEnabled val="1"/>
        </dgm:presLayoutVars>
      </dgm:prSet>
      <dgm:spPr/>
      <dgm:t>
        <a:bodyPr/>
        <a:lstStyle/>
        <a:p>
          <a:endParaRPr lang="en-IN"/>
        </a:p>
      </dgm:t>
    </dgm:pt>
  </dgm:ptLst>
  <dgm:cxnLst>
    <dgm:cxn modelId="{BCB10779-97C2-4F7F-B70A-8D99C25D523E}" type="presOf" srcId="{432646E1-AFBF-470F-9A75-931327B40B21}" destId="{CDBB2264-7D3B-4D74-9881-BC4C9C35B944}" srcOrd="0" destOrd="0" presId="urn:microsoft.com/office/officeart/2005/8/layout/vList5"/>
    <dgm:cxn modelId="{011B3DE0-B537-48A7-9C9C-964E09791674}" srcId="{432646E1-AFBF-470F-9A75-931327B40B21}" destId="{22E16826-9A36-4315-ABF7-F6DD195925B0}" srcOrd="1" destOrd="0" parTransId="{32D0A16B-6591-484F-827E-01B1BBA6029C}" sibTransId="{1DA71F01-D151-4F5E-ABAA-F75D7E7BEA09}"/>
    <dgm:cxn modelId="{B591B0BA-A73F-467C-88AD-B3304619DE39}" srcId="{B1AF24F8-C621-42CB-B118-3AEC112F3421}" destId="{7D2ABDC0-CD34-46CB-9808-493397C3B55A}" srcOrd="1" destOrd="0" parTransId="{53E2A9F5-E02C-4BAB-96AD-FF2D3D6728A4}" sibTransId="{28F1F952-F812-4598-992C-A955D8D78877}"/>
    <dgm:cxn modelId="{390B5150-FF44-4F57-87CD-938F23BF5512}" type="presOf" srcId="{E85F5443-9BB2-4618-8BAF-0E4B6D127E42}" destId="{F3BB6155-DFA6-4080-B13D-5020EC4C3DD5}" srcOrd="0" destOrd="0" presId="urn:microsoft.com/office/officeart/2005/8/layout/vList5"/>
    <dgm:cxn modelId="{F731D8B9-D045-453A-A799-45BDD36E6448}" type="presOf" srcId="{3C69B5EA-4FD6-43EA-B8BB-727221DE2DF8}" destId="{02D4DE22-7B4C-4795-BD8D-93023E42AF4B}" srcOrd="0" destOrd="0" presId="urn:microsoft.com/office/officeart/2005/8/layout/vList5"/>
    <dgm:cxn modelId="{29056404-94C4-42A4-8156-DCC2B3F6A200}" srcId="{E85F5443-9BB2-4618-8BAF-0E4B6D127E42}" destId="{EDA5385D-DB8F-4FF9-ABB9-BAF82F276E80}" srcOrd="0" destOrd="0" parTransId="{2C47CE6D-80F9-4636-A7A3-0AF585DAC3C4}" sibTransId="{EF8012AB-678D-4501-B60B-3D61CDFC8443}"/>
    <dgm:cxn modelId="{8ACD9033-D1E9-432A-98FE-D7E0DD026F29}" type="presOf" srcId="{21FB71F6-887F-4428-9E36-24D4DAD8C320}" destId="{02D4DE22-7B4C-4795-BD8D-93023E42AF4B}" srcOrd="0" destOrd="1" presId="urn:microsoft.com/office/officeart/2005/8/layout/vList5"/>
    <dgm:cxn modelId="{0108482D-7039-4330-B37F-F6AD4B1FA4FB}" type="presOf" srcId="{2C54CDC9-60B1-4C44-B981-4D928FE6DF02}" destId="{95F294B2-BAED-42E2-A5B3-A38F7777ED2F}" srcOrd="0" destOrd="0" presId="urn:microsoft.com/office/officeart/2005/8/layout/vList5"/>
    <dgm:cxn modelId="{B370C053-246B-40FA-802F-7AE3CC02D368}" srcId="{DA86A454-60D0-4C87-84EE-38FED3315B51}" destId="{B1AF24F8-C621-42CB-B118-3AEC112F3421}" srcOrd="3" destOrd="0" parTransId="{F80B2BB0-589D-4206-A77D-1F0C6CAA9F0B}" sibTransId="{C81F63A3-8703-4428-BAD3-95AA59F849AE}"/>
    <dgm:cxn modelId="{B37F6226-DB83-49B0-BA59-AF9A6E4E0190}" srcId="{6E18B4F0-AE75-41B3-AADF-ABB2F5DC84D7}" destId="{3C69B5EA-4FD6-43EA-B8BB-727221DE2DF8}" srcOrd="0" destOrd="0" parTransId="{A7939E88-CFC4-4AF5-BEC4-808FB5679796}" sibTransId="{EE7B2B99-0AA1-4F56-AFDA-BB2FA72D6BE1}"/>
    <dgm:cxn modelId="{77DA44CC-5E46-4AFF-90D9-3D3360C33DD1}" srcId="{DA86A454-60D0-4C87-84EE-38FED3315B51}" destId="{6E18B4F0-AE75-41B3-AADF-ABB2F5DC84D7}" srcOrd="0" destOrd="0" parTransId="{CD1548EB-2C5F-44B2-96EA-9B874BBBB26C}" sibTransId="{1EF62CBE-0408-4F5A-B0C0-C29E88ABF044}"/>
    <dgm:cxn modelId="{809B7B88-DCE3-4924-9923-76CBC6AD87D1}" srcId="{6E18B4F0-AE75-41B3-AADF-ABB2F5DC84D7}" destId="{5DEE2445-10B4-4ECA-B69E-78541D790FD2}" srcOrd="2" destOrd="0" parTransId="{E2550852-3767-4BC6-A18E-F5DEEE1BBF5B}" sibTransId="{772BB3BA-1795-47DE-8420-5E4AC995BD71}"/>
    <dgm:cxn modelId="{A3162783-783E-4922-85A5-C4EFDC044F26}" srcId="{E85F5443-9BB2-4618-8BAF-0E4B6D127E42}" destId="{17DD8BA0-C1BB-4AE0-8D9E-C70C958369BE}" srcOrd="1" destOrd="0" parTransId="{FE8F7A05-CB19-4721-BB1C-460735F295BE}" sibTransId="{17FD366B-A8CE-43E7-96A6-7EDF8BDA2371}"/>
    <dgm:cxn modelId="{A7C3E8B0-D752-40D7-8A50-9DC939AB7F87}" type="presOf" srcId="{DA86A454-60D0-4C87-84EE-38FED3315B51}" destId="{A67400F3-2ACC-42D6-B4BE-9193635C1DCE}" srcOrd="0" destOrd="0" presId="urn:microsoft.com/office/officeart/2005/8/layout/vList5"/>
    <dgm:cxn modelId="{BA217C57-2768-48FF-AD7D-3FA8C2F85C58}" type="presOf" srcId="{6E18B4F0-AE75-41B3-AADF-ABB2F5DC84D7}" destId="{6F2A2FFB-6963-483B-837F-625D30F95E94}" srcOrd="0" destOrd="0" presId="urn:microsoft.com/office/officeart/2005/8/layout/vList5"/>
    <dgm:cxn modelId="{505D440E-3EE8-44A3-AAB6-FE681E4085D5}" type="presOf" srcId="{B1AF24F8-C621-42CB-B118-3AEC112F3421}" destId="{C3BF885C-3BEF-4266-98A5-8E05374921CA}" srcOrd="0" destOrd="0" presId="urn:microsoft.com/office/officeart/2005/8/layout/vList5"/>
    <dgm:cxn modelId="{57708C94-D124-462E-9460-4C698D8F7D57}" type="presOf" srcId="{5DEE2445-10B4-4ECA-B69E-78541D790FD2}" destId="{02D4DE22-7B4C-4795-BD8D-93023E42AF4B}" srcOrd="0" destOrd="2" presId="urn:microsoft.com/office/officeart/2005/8/layout/vList5"/>
    <dgm:cxn modelId="{DF3F298F-F159-469A-AA14-332F84C5638B}" type="presOf" srcId="{22E16826-9A36-4315-ABF7-F6DD195925B0}" destId="{F64CD779-8E4C-4900-85C9-48DAA4B055B4}" srcOrd="0" destOrd="1" presId="urn:microsoft.com/office/officeart/2005/8/layout/vList5"/>
    <dgm:cxn modelId="{1F0423D6-0012-4253-A643-71D454A154C5}" srcId="{DA86A454-60D0-4C87-84EE-38FED3315B51}" destId="{E85F5443-9BB2-4618-8BAF-0E4B6D127E42}" srcOrd="2" destOrd="0" parTransId="{BC283DFB-C5BD-4A1B-8944-61B7A10F1F29}" sibTransId="{110A4F78-6018-4E28-9610-247AB26B396F}"/>
    <dgm:cxn modelId="{B9A92620-9E2C-4581-B703-2C31043172AE}" srcId="{6E18B4F0-AE75-41B3-AADF-ABB2F5DC84D7}" destId="{21FB71F6-887F-4428-9E36-24D4DAD8C320}" srcOrd="1" destOrd="0" parTransId="{C9DC82F3-9718-4F74-9555-006526C7E754}" sibTransId="{1D535083-B437-415F-A57B-447F26E1BF27}"/>
    <dgm:cxn modelId="{3216DD09-D55F-4252-AE6F-16C7A860AF11}" srcId="{432646E1-AFBF-470F-9A75-931327B40B21}" destId="{85DAFC21-F283-42D1-9EFE-98B8622A2952}" srcOrd="0" destOrd="0" parTransId="{94F1754C-E7C8-4E07-8136-A4454F8CA2DD}" sibTransId="{0915592B-62EE-475C-8E15-4D67856ABA20}"/>
    <dgm:cxn modelId="{040C2222-FEB5-489D-9CBD-2197F548BBB8}" type="presOf" srcId="{EDA5385D-DB8F-4FF9-ABB9-BAF82F276E80}" destId="{D3D8ED69-C492-4325-8358-A9830763D4D0}" srcOrd="0" destOrd="0" presId="urn:microsoft.com/office/officeart/2005/8/layout/vList5"/>
    <dgm:cxn modelId="{DDBA4224-D59A-4DA2-9A68-0772DBA0ED4C}" type="presOf" srcId="{17DD8BA0-C1BB-4AE0-8D9E-C70C958369BE}" destId="{D3D8ED69-C492-4325-8358-A9830763D4D0}" srcOrd="0" destOrd="1" presId="urn:microsoft.com/office/officeart/2005/8/layout/vList5"/>
    <dgm:cxn modelId="{52A85327-2047-4BBE-8B62-C65514CA31A4}" type="presOf" srcId="{85DAFC21-F283-42D1-9EFE-98B8622A2952}" destId="{F64CD779-8E4C-4900-85C9-48DAA4B055B4}" srcOrd="0" destOrd="0" presId="urn:microsoft.com/office/officeart/2005/8/layout/vList5"/>
    <dgm:cxn modelId="{03230661-48A5-4C0A-8D9E-1E14D4193302}" type="presOf" srcId="{7D2ABDC0-CD34-46CB-9808-493397C3B55A}" destId="{95F294B2-BAED-42E2-A5B3-A38F7777ED2F}" srcOrd="0" destOrd="1" presId="urn:microsoft.com/office/officeart/2005/8/layout/vList5"/>
    <dgm:cxn modelId="{0CDA6AC4-54C7-409C-89C6-C29594289CB7}" srcId="{B1AF24F8-C621-42CB-B118-3AEC112F3421}" destId="{2C54CDC9-60B1-4C44-B981-4D928FE6DF02}" srcOrd="0" destOrd="0" parTransId="{F3736559-BB71-4F70-BB8A-4B7C55A5E171}" sibTransId="{88C08704-0B28-4A4A-8774-377F3F1E07CD}"/>
    <dgm:cxn modelId="{2FF8295B-19E7-4783-928E-3CF926E66EB5}" srcId="{DA86A454-60D0-4C87-84EE-38FED3315B51}" destId="{432646E1-AFBF-470F-9A75-931327B40B21}" srcOrd="1" destOrd="0" parTransId="{6844A7C5-ED32-4DEB-9A2A-06BE7C198975}" sibTransId="{FDEEED78-1023-4B66-872E-DB702BD003D0}"/>
    <dgm:cxn modelId="{92AB0927-E11A-4DB1-B5B8-33CF09962A1E}" type="presParOf" srcId="{A67400F3-2ACC-42D6-B4BE-9193635C1DCE}" destId="{EDE554B8-2527-4CD4-A499-DBFB199A2A93}" srcOrd="0" destOrd="0" presId="urn:microsoft.com/office/officeart/2005/8/layout/vList5"/>
    <dgm:cxn modelId="{0AEBA062-C8E6-40C1-922F-5F7CF78E64CA}" type="presParOf" srcId="{EDE554B8-2527-4CD4-A499-DBFB199A2A93}" destId="{6F2A2FFB-6963-483B-837F-625D30F95E94}" srcOrd="0" destOrd="0" presId="urn:microsoft.com/office/officeart/2005/8/layout/vList5"/>
    <dgm:cxn modelId="{DA3E1E73-95F2-48BD-8B42-E66F231FF38F}" type="presParOf" srcId="{EDE554B8-2527-4CD4-A499-DBFB199A2A93}" destId="{02D4DE22-7B4C-4795-BD8D-93023E42AF4B}" srcOrd="1" destOrd="0" presId="urn:microsoft.com/office/officeart/2005/8/layout/vList5"/>
    <dgm:cxn modelId="{973458CB-6180-481A-9F13-C8E6B33617CA}" type="presParOf" srcId="{A67400F3-2ACC-42D6-B4BE-9193635C1DCE}" destId="{F29C1691-7D1E-4E50-8B44-FDD9BECEAF8B}" srcOrd="1" destOrd="0" presId="urn:microsoft.com/office/officeart/2005/8/layout/vList5"/>
    <dgm:cxn modelId="{4B0F6A53-FAC2-461A-BC6B-43BFDEDDB988}" type="presParOf" srcId="{A67400F3-2ACC-42D6-B4BE-9193635C1DCE}" destId="{24CAFADA-F7BA-4C03-A2E4-8EC11CAA6703}" srcOrd="2" destOrd="0" presId="urn:microsoft.com/office/officeart/2005/8/layout/vList5"/>
    <dgm:cxn modelId="{7A0DD24D-C679-44AB-9991-7FF7D9AABC49}" type="presParOf" srcId="{24CAFADA-F7BA-4C03-A2E4-8EC11CAA6703}" destId="{CDBB2264-7D3B-4D74-9881-BC4C9C35B944}" srcOrd="0" destOrd="0" presId="urn:microsoft.com/office/officeart/2005/8/layout/vList5"/>
    <dgm:cxn modelId="{9AE38103-0BD3-45B7-8C9F-D5C709C61DBF}" type="presParOf" srcId="{24CAFADA-F7BA-4C03-A2E4-8EC11CAA6703}" destId="{F64CD779-8E4C-4900-85C9-48DAA4B055B4}" srcOrd="1" destOrd="0" presId="urn:microsoft.com/office/officeart/2005/8/layout/vList5"/>
    <dgm:cxn modelId="{425F2F19-FE84-457E-804D-97862C709768}" type="presParOf" srcId="{A67400F3-2ACC-42D6-B4BE-9193635C1DCE}" destId="{EB0A058A-AA1E-4ED1-98ED-2F6D0ACBA620}" srcOrd="3" destOrd="0" presId="urn:microsoft.com/office/officeart/2005/8/layout/vList5"/>
    <dgm:cxn modelId="{B25A8000-4FF5-4ED9-99BC-1930A9565E2E}" type="presParOf" srcId="{A67400F3-2ACC-42D6-B4BE-9193635C1DCE}" destId="{FF431CC7-2290-45EC-9A08-2577165E8AE5}" srcOrd="4" destOrd="0" presId="urn:microsoft.com/office/officeart/2005/8/layout/vList5"/>
    <dgm:cxn modelId="{A02046E3-8F6F-40EB-B69F-768920ADF4A2}" type="presParOf" srcId="{FF431CC7-2290-45EC-9A08-2577165E8AE5}" destId="{F3BB6155-DFA6-4080-B13D-5020EC4C3DD5}" srcOrd="0" destOrd="0" presId="urn:microsoft.com/office/officeart/2005/8/layout/vList5"/>
    <dgm:cxn modelId="{E6761D32-77CE-458A-A2F7-9CCEED922BBE}" type="presParOf" srcId="{FF431CC7-2290-45EC-9A08-2577165E8AE5}" destId="{D3D8ED69-C492-4325-8358-A9830763D4D0}" srcOrd="1" destOrd="0" presId="urn:microsoft.com/office/officeart/2005/8/layout/vList5"/>
    <dgm:cxn modelId="{5D2712C4-A5CF-4A1F-8EB0-5EFDB4035754}" type="presParOf" srcId="{A67400F3-2ACC-42D6-B4BE-9193635C1DCE}" destId="{9C9A18CA-23C0-45F3-9AF2-FEAF26C51C42}" srcOrd="5" destOrd="0" presId="urn:microsoft.com/office/officeart/2005/8/layout/vList5"/>
    <dgm:cxn modelId="{9F81C162-7162-47DD-9D4D-AA29484FAB1C}" type="presParOf" srcId="{A67400F3-2ACC-42D6-B4BE-9193635C1DCE}" destId="{330E048B-96F1-4983-9771-9F0BBCA5DB67}" srcOrd="6" destOrd="0" presId="urn:microsoft.com/office/officeart/2005/8/layout/vList5"/>
    <dgm:cxn modelId="{1A95B43F-A687-40DB-B9E3-35E485FE129B}" type="presParOf" srcId="{330E048B-96F1-4983-9771-9F0BBCA5DB67}" destId="{C3BF885C-3BEF-4266-98A5-8E05374921CA}" srcOrd="0" destOrd="0" presId="urn:microsoft.com/office/officeart/2005/8/layout/vList5"/>
    <dgm:cxn modelId="{7E003104-C636-47F4-A226-2881AD315011}" type="presParOf" srcId="{330E048B-96F1-4983-9771-9F0BBCA5DB67}" destId="{95F294B2-BAED-42E2-A5B3-A38F7777ED2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E6F2A92-0005-42EF-9E37-3170488ACDEC}" type="doc">
      <dgm:prSet loTypeId="urn:microsoft.com/office/officeart/2005/8/layout/chevron1" loCatId="process" qsTypeId="urn:microsoft.com/office/officeart/2005/8/quickstyle/simple1" qsCatId="simple" csTypeId="urn:microsoft.com/office/officeart/2005/8/colors/accent2_1" csCatId="accent2" phldr="1"/>
      <dgm:spPr/>
    </dgm:pt>
    <dgm:pt modelId="{7672DA85-8F55-43DF-8A0D-527C6DC9B271}">
      <dgm:prSet phldrT="[Text]"/>
      <dgm:spPr/>
      <dgm:t>
        <a:bodyPr/>
        <a:lstStyle/>
        <a:p>
          <a:r>
            <a:rPr lang="en-IN" dirty="0"/>
            <a:t>Create a </a:t>
          </a:r>
          <a:r>
            <a:rPr lang="en-IN" dirty="0" smtClean="0"/>
            <a:t>VN</a:t>
          </a:r>
          <a:endParaRPr lang="en-IN" dirty="0"/>
        </a:p>
      </dgm:t>
    </dgm:pt>
    <dgm:pt modelId="{E4598D0F-8F28-4D43-8E26-003777AC16C9}" type="parTrans" cxnId="{0262669E-379A-44F0-AD7D-0DA1F47BBA99}">
      <dgm:prSet/>
      <dgm:spPr/>
      <dgm:t>
        <a:bodyPr/>
        <a:lstStyle/>
        <a:p>
          <a:endParaRPr lang="en-IN"/>
        </a:p>
      </dgm:t>
    </dgm:pt>
    <dgm:pt modelId="{CEC6AF75-E753-4FCF-8D58-DF3ADA5B5326}" type="sibTrans" cxnId="{0262669E-379A-44F0-AD7D-0DA1F47BBA99}">
      <dgm:prSet/>
      <dgm:spPr/>
      <dgm:t>
        <a:bodyPr/>
        <a:lstStyle/>
        <a:p>
          <a:endParaRPr lang="en-IN"/>
        </a:p>
      </dgm:t>
    </dgm:pt>
    <dgm:pt modelId="{A2F7B460-E1BC-4023-8430-FB38FC0B9D47}">
      <dgm:prSet phldrT="[Text]"/>
      <dgm:spPr/>
      <dgm:t>
        <a:bodyPr/>
        <a:lstStyle/>
        <a:p>
          <a:r>
            <a:rPr lang="en-IN" dirty="0"/>
            <a:t>Create Subnet &amp; assign inside a Region</a:t>
          </a:r>
        </a:p>
      </dgm:t>
    </dgm:pt>
    <dgm:pt modelId="{834F8825-69C9-4ED0-AD07-C9294BC571E4}" type="parTrans" cxnId="{F78E2F2B-2378-42F8-8244-0993F808BD42}">
      <dgm:prSet/>
      <dgm:spPr/>
      <dgm:t>
        <a:bodyPr/>
        <a:lstStyle/>
        <a:p>
          <a:endParaRPr lang="en-IN"/>
        </a:p>
      </dgm:t>
    </dgm:pt>
    <dgm:pt modelId="{A3A3B215-9BE5-481E-AB22-1CE34DB206B2}" type="sibTrans" cxnId="{F78E2F2B-2378-42F8-8244-0993F808BD42}">
      <dgm:prSet/>
      <dgm:spPr/>
      <dgm:t>
        <a:bodyPr/>
        <a:lstStyle/>
        <a:p>
          <a:endParaRPr lang="en-IN"/>
        </a:p>
      </dgm:t>
    </dgm:pt>
    <dgm:pt modelId="{643FDFEA-0ED2-4A7B-9612-D537E12971E4}">
      <dgm:prSet phldrT="[Text]"/>
      <dgm:spPr/>
      <dgm:t>
        <a:bodyPr/>
        <a:lstStyle/>
        <a:p>
          <a:r>
            <a:rPr lang="en-IN" dirty="0"/>
            <a:t>Create </a:t>
          </a:r>
          <a:r>
            <a:rPr lang="en-IN" dirty="0" smtClean="0"/>
            <a:t>NSG/Firewall </a:t>
          </a:r>
          <a:r>
            <a:rPr lang="en-IN" dirty="0"/>
            <a:t>Rules</a:t>
          </a:r>
        </a:p>
      </dgm:t>
    </dgm:pt>
    <dgm:pt modelId="{C98DE83F-D79E-4669-8781-366B7E8E1407}" type="parTrans" cxnId="{B26CDA24-CBBA-41AD-B2E2-5B5F53E9D6D1}">
      <dgm:prSet/>
      <dgm:spPr/>
      <dgm:t>
        <a:bodyPr/>
        <a:lstStyle/>
        <a:p>
          <a:endParaRPr lang="en-IN"/>
        </a:p>
      </dgm:t>
    </dgm:pt>
    <dgm:pt modelId="{1A99513D-5175-4FB1-941C-C28BB081FA9B}" type="sibTrans" cxnId="{B26CDA24-CBBA-41AD-B2E2-5B5F53E9D6D1}">
      <dgm:prSet/>
      <dgm:spPr/>
      <dgm:t>
        <a:bodyPr/>
        <a:lstStyle/>
        <a:p>
          <a:endParaRPr lang="en-IN"/>
        </a:p>
      </dgm:t>
    </dgm:pt>
    <dgm:pt modelId="{2EE39CAD-9A4B-45EC-B02A-7C306EAB271F}">
      <dgm:prSet phldrT="[Text]"/>
      <dgm:spPr/>
      <dgm:t>
        <a:bodyPr/>
        <a:lstStyle/>
        <a:p>
          <a:r>
            <a:rPr lang="en-IN" dirty="0"/>
            <a:t>Define CIDR </a:t>
          </a:r>
        </a:p>
        <a:p>
          <a:r>
            <a:rPr lang="en-IN" dirty="0"/>
            <a:t>IP addresses</a:t>
          </a:r>
        </a:p>
      </dgm:t>
    </dgm:pt>
    <dgm:pt modelId="{822D346A-7539-4524-A308-577F2FB3E245}" type="parTrans" cxnId="{2942C536-B62C-4292-8D19-D4C779A05DFD}">
      <dgm:prSet/>
      <dgm:spPr/>
      <dgm:t>
        <a:bodyPr/>
        <a:lstStyle/>
        <a:p>
          <a:endParaRPr lang="en-IN"/>
        </a:p>
      </dgm:t>
    </dgm:pt>
    <dgm:pt modelId="{F2088D9C-0B19-427E-883B-C2E7557852F4}" type="sibTrans" cxnId="{2942C536-B62C-4292-8D19-D4C779A05DFD}">
      <dgm:prSet/>
      <dgm:spPr/>
      <dgm:t>
        <a:bodyPr/>
        <a:lstStyle/>
        <a:p>
          <a:endParaRPr lang="en-IN"/>
        </a:p>
      </dgm:t>
    </dgm:pt>
    <dgm:pt modelId="{F4FDCC9D-17D5-42D2-B71D-FC4481E81F61}" type="pres">
      <dgm:prSet presAssocID="{DE6F2A92-0005-42EF-9E37-3170488ACDEC}" presName="Name0" presStyleCnt="0">
        <dgm:presLayoutVars>
          <dgm:dir/>
          <dgm:animLvl val="lvl"/>
          <dgm:resizeHandles val="exact"/>
        </dgm:presLayoutVars>
      </dgm:prSet>
      <dgm:spPr/>
    </dgm:pt>
    <dgm:pt modelId="{D5DBEFE5-E5F3-4482-82F6-62A9A539C7B6}" type="pres">
      <dgm:prSet presAssocID="{7672DA85-8F55-43DF-8A0D-527C6DC9B271}" presName="parTxOnly" presStyleLbl="node1" presStyleIdx="0" presStyleCnt="4">
        <dgm:presLayoutVars>
          <dgm:chMax val="0"/>
          <dgm:chPref val="0"/>
          <dgm:bulletEnabled val="1"/>
        </dgm:presLayoutVars>
      </dgm:prSet>
      <dgm:spPr/>
      <dgm:t>
        <a:bodyPr/>
        <a:lstStyle/>
        <a:p>
          <a:endParaRPr lang="en-IN"/>
        </a:p>
      </dgm:t>
    </dgm:pt>
    <dgm:pt modelId="{82294943-534D-4345-9441-3F07DF64E8CB}" type="pres">
      <dgm:prSet presAssocID="{CEC6AF75-E753-4FCF-8D58-DF3ADA5B5326}" presName="parTxOnlySpace" presStyleCnt="0"/>
      <dgm:spPr/>
    </dgm:pt>
    <dgm:pt modelId="{E3F1891C-6DD4-41BF-8270-3F86D15F53BF}" type="pres">
      <dgm:prSet presAssocID="{A2F7B460-E1BC-4023-8430-FB38FC0B9D47}" presName="parTxOnly" presStyleLbl="node1" presStyleIdx="1" presStyleCnt="4">
        <dgm:presLayoutVars>
          <dgm:chMax val="0"/>
          <dgm:chPref val="0"/>
          <dgm:bulletEnabled val="1"/>
        </dgm:presLayoutVars>
      </dgm:prSet>
      <dgm:spPr/>
      <dgm:t>
        <a:bodyPr/>
        <a:lstStyle/>
        <a:p>
          <a:endParaRPr lang="en-IN"/>
        </a:p>
      </dgm:t>
    </dgm:pt>
    <dgm:pt modelId="{D10D25BF-B9A2-4941-960A-6E6894525AC3}" type="pres">
      <dgm:prSet presAssocID="{A3A3B215-9BE5-481E-AB22-1CE34DB206B2}" presName="parTxOnlySpace" presStyleCnt="0"/>
      <dgm:spPr/>
    </dgm:pt>
    <dgm:pt modelId="{333502E0-2D91-4E01-8D0E-F6DEAF6974CE}" type="pres">
      <dgm:prSet presAssocID="{2EE39CAD-9A4B-45EC-B02A-7C306EAB271F}" presName="parTxOnly" presStyleLbl="node1" presStyleIdx="2" presStyleCnt="4">
        <dgm:presLayoutVars>
          <dgm:chMax val="0"/>
          <dgm:chPref val="0"/>
          <dgm:bulletEnabled val="1"/>
        </dgm:presLayoutVars>
      </dgm:prSet>
      <dgm:spPr/>
      <dgm:t>
        <a:bodyPr/>
        <a:lstStyle/>
        <a:p>
          <a:endParaRPr lang="en-IN"/>
        </a:p>
      </dgm:t>
    </dgm:pt>
    <dgm:pt modelId="{7714E593-6ED4-4E8A-8E14-BF6D61B80329}" type="pres">
      <dgm:prSet presAssocID="{F2088D9C-0B19-427E-883B-C2E7557852F4}" presName="parTxOnlySpace" presStyleCnt="0"/>
      <dgm:spPr/>
    </dgm:pt>
    <dgm:pt modelId="{7E7339F8-CCAA-4207-BBFC-C9B346C76513}" type="pres">
      <dgm:prSet presAssocID="{643FDFEA-0ED2-4A7B-9612-D537E12971E4}" presName="parTxOnly" presStyleLbl="node1" presStyleIdx="3" presStyleCnt="4">
        <dgm:presLayoutVars>
          <dgm:chMax val="0"/>
          <dgm:chPref val="0"/>
          <dgm:bulletEnabled val="1"/>
        </dgm:presLayoutVars>
      </dgm:prSet>
      <dgm:spPr/>
      <dgm:t>
        <a:bodyPr/>
        <a:lstStyle/>
        <a:p>
          <a:endParaRPr lang="en-IN"/>
        </a:p>
      </dgm:t>
    </dgm:pt>
  </dgm:ptLst>
  <dgm:cxnLst>
    <dgm:cxn modelId="{7A22D55F-E643-4C2C-A4D3-581B6FFA3684}" type="presOf" srcId="{2EE39CAD-9A4B-45EC-B02A-7C306EAB271F}" destId="{333502E0-2D91-4E01-8D0E-F6DEAF6974CE}" srcOrd="0" destOrd="0" presId="urn:microsoft.com/office/officeart/2005/8/layout/chevron1"/>
    <dgm:cxn modelId="{2942C536-B62C-4292-8D19-D4C779A05DFD}" srcId="{DE6F2A92-0005-42EF-9E37-3170488ACDEC}" destId="{2EE39CAD-9A4B-45EC-B02A-7C306EAB271F}" srcOrd="2" destOrd="0" parTransId="{822D346A-7539-4524-A308-577F2FB3E245}" sibTransId="{F2088D9C-0B19-427E-883B-C2E7557852F4}"/>
    <dgm:cxn modelId="{F78E2F2B-2378-42F8-8244-0993F808BD42}" srcId="{DE6F2A92-0005-42EF-9E37-3170488ACDEC}" destId="{A2F7B460-E1BC-4023-8430-FB38FC0B9D47}" srcOrd="1" destOrd="0" parTransId="{834F8825-69C9-4ED0-AD07-C9294BC571E4}" sibTransId="{A3A3B215-9BE5-481E-AB22-1CE34DB206B2}"/>
    <dgm:cxn modelId="{27D24938-E320-4A13-BCD5-CCAD30C1AAEB}" type="presOf" srcId="{A2F7B460-E1BC-4023-8430-FB38FC0B9D47}" destId="{E3F1891C-6DD4-41BF-8270-3F86D15F53BF}" srcOrd="0" destOrd="0" presId="urn:microsoft.com/office/officeart/2005/8/layout/chevron1"/>
    <dgm:cxn modelId="{26B6F631-BE6A-46BD-8A68-4975DE25B0F1}" type="presOf" srcId="{643FDFEA-0ED2-4A7B-9612-D537E12971E4}" destId="{7E7339F8-CCAA-4207-BBFC-C9B346C76513}" srcOrd="0" destOrd="0" presId="urn:microsoft.com/office/officeart/2005/8/layout/chevron1"/>
    <dgm:cxn modelId="{B26CDA24-CBBA-41AD-B2E2-5B5F53E9D6D1}" srcId="{DE6F2A92-0005-42EF-9E37-3170488ACDEC}" destId="{643FDFEA-0ED2-4A7B-9612-D537E12971E4}" srcOrd="3" destOrd="0" parTransId="{C98DE83F-D79E-4669-8781-366B7E8E1407}" sibTransId="{1A99513D-5175-4FB1-941C-C28BB081FA9B}"/>
    <dgm:cxn modelId="{4D687EA4-4D61-4875-8ABB-070864B18DAC}" type="presOf" srcId="{DE6F2A92-0005-42EF-9E37-3170488ACDEC}" destId="{F4FDCC9D-17D5-42D2-B71D-FC4481E81F61}" srcOrd="0" destOrd="0" presId="urn:microsoft.com/office/officeart/2005/8/layout/chevron1"/>
    <dgm:cxn modelId="{0262669E-379A-44F0-AD7D-0DA1F47BBA99}" srcId="{DE6F2A92-0005-42EF-9E37-3170488ACDEC}" destId="{7672DA85-8F55-43DF-8A0D-527C6DC9B271}" srcOrd="0" destOrd="0" parTransId="{E4598D0F-8F28-4D43-8E26-003777AC16C9}" sibTransId="{CEC6AF75-E753-4FCF-8D58-DF3ADA5B5326}"/>
    <dgm:cxn modelId="{BC20B3BB-067A-4B99-ACAD-2B4C145AC8AC}" type="presOf" srcId="{7672DA85-8F55-43DF-8A0D-527C6DC9B271}" destId="{D5DBEFE5-E5F3-4482-82F6-62A9A539C7B6}" srcOrd="0" destOrd="0" presId="urn:microsoft.com/office/officeart/2005/8/layout/chevron1"/>
    <dgm:cxn modelId="{B18679C8-8683-4E74-9FB1-29C1A942963F}" type="presParOf" srcId="{F4FDCC9D-17D5-42D2-B71D-FC4481E81F61}" destId="{D5DBEFE5-E5F3-4482-82F6-62A9A539C7B6}" srcOrd="0" destOrd="0" presId="urn:microsoft.com/office/officeart/2005/8/layout/chevron1"/>
    <dgm:cxn modelId="{AD51E2DA-DEDE-4E62-AACC-53BE77A6EA80}" type="presParOf" srcId="{F4FDCC9D-17D5-42D2-B71D-FC4481E81F61}" destId="{82294943-534D-4345-9441-3F07DF64E8CB}" srcOrd="1" destOrd="0" presId="urn:microsoft.com/office/officeart/2005/8/layout/chevron1"/>
    <dgm:cxn modelId="{A1D2BFBD-8177-41FF-A00C-758F51E59756}" type="presParOf" srcId="{F4FDCC9D-17D5-42D2-B71D-FC4481E81F61}" destId="{E3F1891C-6DD4-41BF-8270-3F86D15F53BF}" srcOrd="2" destOrd="0" presId="urn:microsoft.com/office/officeart/2005/8/layout/chevron1"/>
    <dgm:cxn modelId="{76051D73-F53A-41BA-95F3-43549816C40E}" type="presParOf" srcId="{F4FDCC9D-17D5-42D2-B71D-FC4481E81F61}" destId="{D10D25BF-B9A2-4941-960A-6E6894525AC3}" srcOrd="3" destOrd="0" presId="urn:microsoft.com/office/officeart/2005/8/layout/chevron1"/>
    <dgm:cxn modelId="{2488F45F-4EC8-42BB-A3FD-C0E959B63528}" type="presParOf" srcId="{F4FDCC9D-17D5-42D2-B71D-FC4481E81F61}" destId="{333502E0-2D91-4E01-8D0E-F6DEAF6974CE}" srcOrd="4" destOrd="0" presId="urn:microsoft.com/office/officeart/2005/8/layout/chevron1"/>
    <dgm:cxn modelId="{A1A86ED4-960A-43E3-8B40-632FA6ACCA06}" type="presParOf" srcId="{F4FDCC9D-17D5-42D2-B71D-FC4481E81F61}" destId="{7714E593-6ED4-4E8A-8E14-BF6D61B80329}" srcOrd="5" destOrd="0" presId="urn:microsoft.com/office/officeart/2005/8/layout/chevron1"/>
    <dgm:cxn modelId="{9343EF01-B7A1-46E4-89DC-183F1BAFB517}" type="presParOf" srcId="{F4FDCC9D-17D5-42D2-B71D-FC4481E81F61}" destId="{7E7339F8-CCAA-4207-BBFC-C9B346C76513}" srcOrd="6"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E6F2A92-0005-42EF-9E37-3170488ACDEC}" type="doc">
      <dgm:prSet loTypeId="urn:microsoft.com/office/officeart/2005/8/layout/chevron1" loCatId="process" qsTypeId="urn:microsoft.com/office/officeart/2005/8/quickstyle/simple1" qsCatId="simple" csTypeId="urn:microsoft.com/office/officeart/2005/8/colors/accent1_1" csCatId="accent1" phldr="1"/>
      <dgm:spPr/>
    </dgm:pt>
    <dgm:pt modelId="{7672DA85-8F55-43DF-8A0D-527C6DC9B271}">
      <dgm:prSet phldrT="[Text]"/>
      <dgm:spPr/>
      <dgm:t>
        <a:bodyPr/>
        <a:lstStyle/>
        <a:p>
          <a:r>
            <a:rPr lang="en-IN" dirty="0"/>
            <a:t>Create a </a:t>
          </a:r>
          <a:r>
            <a:rPr lang="en-IN" dirty="0" smtClean="0"/>
            <a:t>VM </a:t>
          </a:r>
          <a:r>
            <a:rPr lang="en-IN" dirty="0"/>
            <a:t>Instance</a:t>
          </a:r>
        </a:p>
      </dgm:t>
    </dgm:pt>
    <dgm:pt modelId="{E4598D0F-8F28-4D43-8E26-003777AC16C9}" type="parTrans" cxnId="{0262669E-379A-44F0-AD7D-0DA1F47BBA99}">
      <dgm:prSet/>
      <dgm:spPr/>
      <dgm:t>
        <a:bodyPr/>
        <a:lstStyle/>
        <a:p>
          <a:endParaRPr lang="en-IN"/>
        </a:p>
      </dgm:t>
    </dgm:pt>
    <dgm:pt modelId="{CEC6AF75-E753-4FCF-8D58-DF3ADA5B5326}" type="sibTrans" cxnId="{0262669E-379A-44F0-AD7D-0DA1F47BBA99}">
      <dgm:prSet/>
      <dgm:spPr/>
      <dgm:t>
        <a:bodyPr/>
        <a:lstStyle/>
        <a:p>
          <a:endParaRPr lang="en-IN"/>
        </a:p>
      </dgm:t>
    </dgm:pt>
    <dgm:pt modelId="{A2F7B460-E1BC-4023-8430-FB38FC0B9D47}">
      <dgm:prSet phldrT="[Text]"/>
      <dgm:spPr/>
      <dgm:t>
        <a:bodyPr/>
        <a:lstStyle/>
        <a:p>
          <a:r>
            <a:rPr lang="en-IN" dirty="0"/>
            <a:t>Define the Region &amp; Zone</a:t>
          </a:r>
        </a:p>
      </dgm:t>
    </dgm:pt>
    <dgm:pt modelId="{834F8825-69C9-4ED0-AD07-C9294BC571E4}" type="parTrans" cxnId="{F78E2F2B-2378-42F8-8244-0993F808BD42}">
      <dgm:prSet/>
      <dgm:spPr/>
      <dgm:t>
        <a:bodyPr/>
        <a:lstStyle/>
        <a:p>
          <a:endParaRPr lang="en-IN"/>
        </a:p>
      </dgm:t>
    </dgm:pt>
    <dgm:pt modelId="{A3A3B215-9BE5-481E-AB22-1CE34DB206B2}" type="sibTrans" cxnId="{F78E2F2B-2378-42F8-8244-0993F808BD42}">
      <dgm:prSet/>
      <dgm:spPr/>
      <dgm:t>
        <a:bodyPr/>
        <a:lstStyle/>
        <a:p>
          <a:endParaRPr lang="en-IN"/>
        </a:p>
      </dgm:t>
    </dgm:pt>
    <dgm:pt modelId="{643FDFEA-0ED2-4A7B-9612-D537E12971E4}">
      <dgm:prSet phldrT="[Text]"/>
      <dgm:spPr/>
      <dgm:t>
        <a:bodyPr/>
        <a:lstStyle/>
        <a:p>
          <a:r>
            <a:rPr lang="en-IN" dirty="0"/>
            <a:t>Identify the Machine type</a:t>
          </a:r>
        </a:p>
      </dgm:t>
    </dgm:pt>
    <dgm:pt modelId="{C98DE83F-D79E-4669-8781-366B7E8E1407}" type="parTrans" cxnId="{B26CDA24-CBBA-41AD-B2E2-5B5F53E9D6D1}">
      <dgm:prSet/>
      <dgm:spPr/>
      <dgm:t>
        <a:bodyPr/>
        <a:lstStyle/>
        <a:p>
          <a:endParaRPr lang="en-IN"/>
        </a:p>
      </dgm:t>
    </dgm:pt>
    <dgm:pt modelId="{1A99513D-5175-4FB1-941C-C28BB081FA9B}" type="sibTrans" cxnId="{B26CDA24-CBBA-41AD-B2E2-5B5F53E9D6D1}">
      <dgm:prSet/>
      <dgm:spPr/>
      <dgm:t>
        <a:bodyPr/>
        <a:lstStyle/>
        <a:p>
          <a:endParaRPr lang="en-IN"/>
        </a:p>
      </dgm:t>
    </dgm:pt>
    <dgm:pt modelId="{953368C2-DB71-4AF6-B35F-DDBB33E31F6C}">
      <dgm:prSet phldrT="[Text]"/>
      <dgm:spPr/>
      <dgm:t>
        <a:bodyPr/>
        <a:lstStyle/>
        <a:p>
          <a:r>
            <a:rPr lang="en-IN" dirty="0"/>
            <a:t>Identify the VM Provisioning Model</a:t>
          </a:r>
        </a:p>
      </dgm:t>
    </dgm:pt>
    <dgm:pt modelId="{EF8F75F5-9EF6-4437-A4EE-A2E87181C3C3}" type="parTrans" cxnId="{83AD3A40-4CE1-4389-AF6D-7ADCF0A3A81F}">
      <dgm:prSet/>
      <dgm:spPr/>
      <dgm:t>
        <a:bodyPr/>
        <a:lstStyle/>
        <a:p>
          <a:endParaRPr lang="en-IN"/>
        </a:p>
      </dgm:t>
    </dgm:pt>
    <dgm:pt modelId="{377DE1BA-BADF-46DA-94EC-73C2D5831816}" type="sibTrans" cxnId="{83AD3A40-4CE1-4389-AF6D-7ADCF0A3A81F}">
      <dgm:prSet/>
      <dgm:spPr/>
      <dgm:t>
        <a:bodyPr/>
        <a:lstStyle/>
        <a:p>
          <a:endParaRPr lang="en-IN"/>
        </a:p>
      </dgm:t>
    </dgm:pt>
    <dgm:pt modelId="{36B78C68-F392-4F57-A7D8-774997A19DF9}">
      <dgm:prSet phldrT="[Text]"/>
      <dgm:spPr/>
      <dgm:t>
        <a:bodyPr/>
        <a:lstStyle/>
        <a:p>
          <a:r>
            <a:rPr lang="en-IN" dirty="0"/>
            <a:t>Define Advanced Options</a:t>
          </a:r>
        </a:p>
      </dgm:t>
    </dgm:pt>
    <dgm:pt modelId="{0D4CF9E5-8CFD-42B4-8771-BF159DE16DCE}" type="parTrans" cxnId="{8049F37C-74D1-453B-961D-E4FDFA98777F}">
      <dgm:prSet/>
      <dgm:spPr/>
      <dgm:t>
        <a:bodyPr/>
        <a:lstStyle/>
        <a:p>
          <a:endParaRPr lang="en-IN"/>
        </a:p>
      </dgm:t>
    </dgm:pt>
    <dgm:pt modelId="{A96EC942-D306-4FCF-9493-0F4ADBAFF60E}" type="sibTrans" cxnId="{8049F37C-74D1-453B-961D-E4FDFA98777F}">
      <dgm:prSet/>
      <dgm:spPr/>
      <dgm:t>
        <a:bodyPr/>
        <a:lstStyle/>
        <a:p>
          <a:endParaRPr lang="en-IN"/>
        </a:p>
      </dgm:t>
    </dgm:pt>
    <dgm:pt modelId="{353C3B7E-48ED-412E-9015-8CF4D667FF85}">
      <dgm:prSet phldrT="[Text]"/>
      <dgm:spPr/>
      <dgm:t>
        <a:bodyPr/>
        <a:lstStyle/>
        <a:p>
          <a:r>
            <a:rPr lang="en-IN" dirty="0"/>
            <a:t>Networking – Network Interface</a:t>
          </a:r>
        </a:p>
      </dgm:t>
    </dgm:pt>
    <dgm:pt modelId="{5EDB8AD8-396E-44E7-A1CB-CAA053D06436}" type="parTrans" cxnId="{8797F4D3-C6DC-4B2B-8494-8A30A44B9698}">
      <dgm:prSet/>
      <dgm:spPr/>
      <dgm:t>
        <a:bodyPr/>
        <a:lstStyle/>
        <a:p>
          <a:endParaRPr lang="en-IN"/>
        </a:p>
      </dgm:t>
    </dgm:pt>
    <dgm:pt modelId="{074F4460-948F-4488-A845-8EC1C13DCD52}" type="sibTrans" cxnId="{8797F4D3-C6DC-4B2B-8494-8A30A44B9698}">
      <dgm:prSet/>
      <dgm:spPr/>
      <dgm:t>
        <a:bodyPr/>
        <a:lstStyle/>
        <a:p>
          <a:endParaRPr lang="en-IN"/>
        </a:p>
      </dgm:t>
    </dgm:pt>
    <dgm:pt modelId="{DACD6FED-01AC-4D33-A3E6-65A6C171CC1C}">
      <dgm:prSet phldrT="[Text]"/>
      <dgm:spPr/>
      <dgm:t>
        <a:bodyPr/>
        <a:lstStyle/>
        <a:p>
          <a:r>
            <a:rPr lang="en-IN" dirty="0"/>
            <a:t>Security– Manage </a:t>
          </a:r>
          <a:r>
            <a:rPr lang="en-IN" dirty="0" smtClean="0"/>
            <a:t>Access</a:t>
          </a:r>
        </a:p>
        <a:p>
          <a:r>
            <a:rPr lang="en-IN" dirty="0" smtClean="0"/>
            <a:t>SSH/Key </a:t>
          </a:r>
          <a:r>
            <a:rPr lang="en-IN" dirty="0" err="1" smtClean="0"/>
            <a:t>manag</a:t>
          </a:r>
          <a:endParaRPr lang="en-IN" dirty="0"/>
        </a:p>
      </dgm:t>
    </dgm:pt>
    <dgm:pt modelId="{25B66C3A-96A0-493B-B408-C2D44672F0BF}" type="parTrans" cxnId="{AD5C5857-BFBA-4ABC-9632-FCD59E8BB769}">
      <dgm:prSet/>
      <dgm:spPr/>
      <dgm:t>
        <a:bodyPr/>
        <a:lstStyle/>
        <a:p>
          <a:endParaRPr lang="en-IN"/>
        </a:p>
      </dgm:t>
    </dgm:pt>
    <dgm:pt modelId="{A83DFE65-D9F7-4DCE-A3BF-5FD2C33A8211}" type="sibTrans" cxnId="{AD5C5857-BFBA-4ABC-9632-FCD59E8BB769}">
      <dgm:prSet/>
      <dgm:spPr/>
      <dgm:t>
        <a:bodyPr/>
        <a:lstStyle/>
        <a:p>
          <a:endParaRPr lang="en-IN"/>
        </a:p>
      </dgm:t>
    </dgm:pt>
    <dgm:pt modelId="{F4FDCC9D-17D5-42D2-B71D-FC4481E81F61}" type="pres">
      <dgm:prSet presAssocID="{DE6F2A92-0005-42EF-9E37-3170488ACDEC}" presName="Name0" presStyleCnt="0">
        <dgm:presLayoutVars>
          <dgm:dir/>
          <dgm:animLvl val="lvl"/>
          <dgm:resizeHandles val="exact"/>
        </dgm:presLayoutVars>
      </dgm:prSet>
      <dgm:spPr/>
    </dgm:pt>
    <dgm:pt modelId="{D5DBEFE5-E5F3-4482-82F6-62A9A539C7B6}" type="pres">
      <dgm:prSet presAssocID="{7672DA85-8F55-43DF-8A0D-527C6DC9B271}" presName="parTxOnly" presStyleLbl="node1" presStyleIdx="0" presStyleCnt="7">
        <dgm:presLayoutVars>
          <dgm:chMax val="0"/>
          <dgm:chPref val="0"/>
          <dgm:bulletEnabled val="1"/>
        </dgm:presLayoutVars>
      </dgm:prSet>
      <dgm:spPr/>
      <dgm:t>
        <a:bodyPr/>
        <a:lstStyle/>
        <a:p>
          <a:endParaRPr lang="en-IN"/>
        </a:p>
      </dgm:t>
    </dgm:pt>
    <dgm:pt modelId="{82294943-534D-4345-9441-3F07DF64E8CB}" type="pres">
      <dgm:prSet presAssocID="{CEC6AF75-E753-4FCF-8D58-DF3ADA5B5326}" presName="parTxOnlySpace" presStyleCnt="0"/>
      <dgm:spPr/>
    </dgm:pt>
    <dgm:pt modelId="{E3F1891C-6DD4-41BF-8270-3F86D15F53BF}" type="pres">
      <dgm:prSet presAssocID="{A2F7B460-E1BC-4023-8430-FB38FC0B9D47}" presName="parTxOnly" presStyleLbl="node1" presStyleIdx="1" presStyleCnt="7">
        <dgm:presLayoutVars>
          <dgm:chMax val="0"/>
          <dgm:chPref val="0"/>
          <dgm:bulletEnabled val="1"/>
        </dgm:presLayoutVars>
      </dgm:prSet>
      <dgm:spPr/>
      <dgm:t>
        <a:bodyPr/>
        <a:lstStyle/>
        <a:p>
          <a:endParaRPr lang="en-IN"/>
        </a:p>
      </dgm:t>
    </dgm:pt>
    <dgm:pt modelId="{D10D25BF-B9A2-4941-960A-6E6894525AC3}" type="pres">
      <dgm:prSet presAssocID="{A3A3B215-9BE5-481E-AB22-1CE34DB206B2}" presName="parTxOnlySpace" presStyleCnt="0"/>
      <dgm:spPr/>
    </dgm:pt>
    <dgm:pt modelId="{7E7339F8-CCAA-4207-BBFC-C9B346C76513}" type="pres">
      <dgm:prSet presAssocID="{643FDFEA-0ED2-4A7B-9612-D537E12971E4}" presName="parTxOnly" presStyleLbl="node1" presStyleIdx="2" presStyleCnt="7">
        <dgm:presLayoutVars>
          <dgm:chMax val="0"/>
          <dgm:chPref val="0"/>
          <dgm:bulletEnabled val="1"/>
        </dgm:presLayoutVars>
      </dgm:prSet>
      <dgm:spPr/>
      <dgm:t>
        <a:bodyPr/>
        <a:lstStyle/>
        <a:p>
          <a:endParaRPr lang="en-IN"/>
        </a:p>
      </dgm:t>
    </dgm:pt>
    <dgm:pt modelId="{1382B827-DB01-46E2-8EEA-05496535D156}" type="pres">
      <dgm:prSet presAssocID="{1A99513D-5175-4FB1-941C-C28BB081FA9B}" presName="parTxOnlySpace" presStyleCnt="0"/>
      <dgm:spPr/>
    </dgm:pt>
    <dgm:pt modelId="{0BE72C96-E2A1-473F-8F15-1033E991DCDF}" type="pres">
      <dgm:prSet presAssocID="{953368C2-DB71-4AF6-B35F-DDBB33E31F6C}" presName="parTxOnly" presStyleLbl="node1" presStyleIdx="3" presStyleCnt="7">
        <dgm:presLayoutVars>
          <dgm:chMax val="0"/>
          <dgm:chPref val="0"/>
          <dgm:bulletEnabled val="1"/>
        </dgm:presLayoutVars>
      </dgm:prSet>
      <dgm:spPr/>
      <dgm:t>
        <a:bodyPr/>
        <a:lstStyle/>
        <a:p>
          <a:endParaRPr lang="en-IN"/>
        </a:p>
      </dgm:t>
    </dgm:pt>
    <dgm:pt modelId="{6FCCF5EC-8A5A-4700-B63B-297719161EAD}" type="pres">
      <dgm:prSet presAssocID="{377DE1BA-BADF-46DA-94EC-73C2D5831816}" presName="parTxOnlySpace" presStyleCnt="0"/>
      <dgm:spPr/>
    </dgm:pt>
    <dgm:pt modelId="{19F658D5-F272-4564-BB67-610EFC0407B3}" type="pres">
      <dgm:prSet presAssocID="{36B78C68-F392-4F57-A7D8-774997A19DF9}" presName="parTxOnly" presStyleLbl="node1" presStyleIdx="4" presStyleCnt="7">
        <dgm:presLayoutVars>
          <dgm:chMax val="0"/>
          <dgm:chPref val="0"/>
          <dgm:bulletEnabled val="1"/>
        </dgm:presLayoutVars>
      </dgm:prSet>
      <dgm:spPr/>
      <dgm:t>
        <a:bodyPr/>
        <a:lstStyle/>
        <a:p>
          <a:endParaRPr lang="en-IN"/>
        </a:p>
      </dgm:t>
    </dgm:pt>
    <dgm:pt modelId="{B6B08DAA-8316-4E4D-A01C-F06CA4276449}" type="pres">
      <dgm:prSet presAssocID="{A96EC942-D306-4FCF-9493-0F4ADBAFF60E}" presName="parTxOnlySpace" presStyleCnt="0"/>
      <dgm:spPr/>
    </dgm:pt>
    <dgm:pt modelId="{55A0F2E7-0813-4B56-8043-DFE2BE2D4F33}" type="pres">
      <dgm:prSet presAssocID="{353C3B7E-48ED-412E-9015-8CF4D667FF85}" presName="parTxOnly" presStyleLbl="node1" presStyleIdx="5" presStyleCnt="7">
        <dgm:presLayoutVars>
          <dgm:chMax val="0"/>
          <dgm:chPref val="0"/>
          <dgm:bulletEnabled val="1"/>
        </dgm:presLayoutVars>
      </dgm:prSet>
      <dgm:spPr/>
      <dgm:t>
        <a:bodyPr/>
        <a:lstStyle/>
        <a:p>
          <a:endParaRPr lang="en-IN"/>
        </a:p>
      </dgm:t>
    </dgm:pt>
    <dgm:pt modelId="{FBE8265E-6EF9-47A1-AC69-2BA6012F7577}" type="pres">
      <dgm:prSet presAssocID="{074F4460-948F-4488-A845-8EC1C13DCD52}" presName="parTxOnlySpace" presStyleCnt="0"/>
      <dgm:spPr/>
    </dgm:pt>
    <dgm:pt modelId="{D9C5D705-F085-4CF7-9AD5-1AFC8B6E20AC}" type="pres">
      <dgm:prSet presAssocID="{DACD6FED-01AC-4D33-A3E6-65A6C171CC1C}" presName="parTxOnly" presStyleLbl="node1" presStyleIdx="6" presStyleCnt="7">
        <dgm:presLayoutVars>
          <dgm:chMax val="0"/>
          <dgm:chPref val="0"/>
          <dgm:bulletEnabled val="1"/>
        </dgm:presLayoutVars>
      </dgm:prSet>
      <dgm:spPr/>
      <dgm:t>
        <a:bodyPr/>
        <a:lstStyle/>
        <a:p>
          <a:endParaRPr lang="en-IN"/>
        </a:p>
      </dgm:t>
    </dgm:pt>
  </dgm:ptLst>
  <dgm:cxnLst>
    <dgm:cxn modelId="{3615483E-1706-41D8-920F-672F2DCF2A23}" type="presOf" srcId="{36B78C68-F392-4F57-A7D8-774997A19DF9}" destId="{19F658D5-F272-4564-BB67-610EFC0407B3}" srcOrd="0" destOrd="0" presId="urn:microsoft.com/office/officeart/2005/8/layout/chevron1"/>
    <dgm:cxn modelId="{F78E2F2B-2378-42F8-8244-0993F808BD42}" srcId="{DE6F2A92-0005-42EF-9E37-3170488ACDEC}" destId="{A2F7B460-E1BC-4023-8430-FB38FC0B9D47}" srcOrd="1" destOrd="0" parTransId="{834F8825-69C9-4ED0-AD07-C9294BC571E4}" sibTransId="{A3A3B215-9BE5-481E-AB22-1CE34DB206B2}"/>
    <dgm:cxn modelId="{0B426B88-8AD6-4B34-B7C0-E8E06BF4E9DF}" type="presOf" srcId="{DE6F2A92-0005-42EF-9E37-3170488ACDEC}" destId="{F4FDCC9D-17D5-42D2-B71D-FC4481E81F61}" srcOrd="0" destOrd="0" presId="urn:microsoft.com/office/officeart/2005/8/layout/chevron1"/>
    <dgm:cxn modelId="{AD5C5857-BFBA-4ABC-9632-FCD59E8BB769}" srcId="{DE6F2A92-0005-42EF-9E37-3170488ACDEC}" destId="{DACD6FED-01AC-4D33-A3E6-65A6C171CC1C}" srcOrd="6" destOrd="0" parTransId="{25B66C3A-96A0-493B-B408-C2D44672F0BF}" sibTransId="{A83DFE65-D9F7-4DCE-A3BF-5FD2C33A8211}"/>
    <dgm:cxn modelId="{8797F4D3-C6DC-4B2B-8494-8A30A44B9698}" srcId="{DE6F2A92-0005-42EF-9E37-3170488ACDEC}" destId="{353C3B7E-48ED-412E-9015-8CF4D667FF85}" srcOrd="5" destOrd="0" parTransId="{5EDB8AD8-396E-44E7-A1CB-CAA053D06436}" sibTransId="{074F4460-948F-4488-A845-8EC1C13DCD52}"/>
    <dgm:cxn modelId="{45DA649F-3D66-47F1-97D0-3D19257D0119}" type="presOf" srcId="{353C3B7E-48ED-412E-9015-8CF4D667FF85}" destId="{55A0F2E7-0813-4B56-8043-DFE2BE2D4F33}" srcOrd="0" destOrd="0" presId="urn:microsoft.com/office/officeart/2005/8/layout/chevron1"/>
    <dgm:cxn modelId="{83AD3A40-4CE1-4389-AF6D-7ADCF0A3A81F}" srcId="{DE6F2A92-0005-42EF-9E37-3170488ACDEC}" destId="{953368C2-DB71-4AF6-B35F-DDBB33E31F6C}" srcOrd="3" destOrd="0" parTransId="{EF8F75F5-9EF6-4437-A4EE-A2E87181C3C3}" sibTransId="{377DE1BA-BADF-46DA-94EC-73C2D5831816}"/>
    <dgm:cxn modelId="{8049F37C-74D1-453B-961D-E4FDFA98777F}" srcId="{DE6F2A92-0005-42EF-9E37-3170488ACDEC}" destId="{36B78C68-F392-4F57-A7D8-774997A19DF9}" srcOrd="4" destOrd="0" parTransId="{0D4CF9E5-8CFD-42B4-8771-BF159DE16DCE}" sibTransId="{A96EC942-D306-4FCF-9493-0F4ADBAFF60E}"/>
    <dgm:cxn modelId="{B26CDA24-CBBA-41AD-B2E2-5B5F53E9D6D1}" srcId="{DE6F2A92-0005-42EF-9E37-3170488ACDEC}" destId="{643FDFEA-0ED2-4A7B-9612-D537E12971E4}" srcOrd="2" destOrd="0" parTransId="{C98DE83F-D79E-4669-8781-366B7E8E1407}" sibTransId="{1A99513D-5175-4FB1-941C-C28BB081FA9B}"/>
    <dgm:cxn modelId="{BF853765-CFAD-43DB-8D3C-6C3810939AB9}" type="presOf" srcId="{DACD6FED-01AC-4D33-A3E6-65A6C171CC1C}" destId="{D9C5D705-F085-4CF7-9AD5-1AFC8B6E20AC}" srcOrd="0" destOrd="0" presId="urn:microsoft.com/office/officeart/2005/8/layout/chevron1"/>
    <dgm:cxn modelId="{0262669E-379A-44F0-AD7D-0DA1F47BBA99}" srcId="{DE6F2A92-0005-42EF-9E37-3170488ACDEC}" destId="{7672DA85-8F55-43DF-8A0D-527C6DC9B271}" srcOrd="0" destOrd="0" parTransId="{E4598D0F-8F28-4D43-8E26-003777AC16C9}" sibTransId="{CEC6AF75-E753-4FCF-8D58-DF3ADA5B5326}"/>
    <dgm:cxn modelId="{734D27CD-F593-4150-ACBA-ED3FFB34C29E}" type="presOf" srcId="{643FDFEA-0ED2-4A7B-9612-D537E12971E4}" destId="{7E7339F8-CCAA-4207-BBFC-C9B346C76513}" srcOrd="0" destOrd="0" presId="urn:microsoft.com/office/officeart/2005/8/layout/chevron1"/>
    <dgm:cxn modelId="{68875BA2-A050-4C9C-A1F0-60EE22C6A00C}" type="presOf" srcId="{953368C2-DB71-4AF6-B35F-DDBB33E31F6C}" destId="{0BE72C96-E2A1-473F-8F15-1033E991DCDF}" srcOrd="0" destOrd="0" presId="urn:microsoft.com/office/officeart/2005/8/layout/chevron1"/>
    <dgm:cxn modelId="{76C14960-5DE3-47D1-804E-F376874B7AA8}" type="presOf" srcId="{7672DA85-8F55-43DF-8A0D-527C6DC9B271}" destId="{D5DBEFE5-E5F3-4482-82F6-62A9A539C7B6}" srcOrd="0" destOrd="0" presId="urn:microsoft.com/office/officeart/2005/8/layout/chevron1"/>
    <dgm:cxn modelId="{11B48AFA-6716-40A9-90DF-DF442F1BE0E6}" type="presOf" srcId="{A2F7B460-E1BC-4023-8430-FB38FC0B9D47}" destId="{E3F1891C-6DD4-41BF-8270-3F86D15F53BF}" srcOrd="0" destOrd="0" presId="urn:microsoft.com/office/officeart/2005/8/layout/chevron1"/>
    <dgm:cxn modelId="{701F123D-9B30-43E2-B3E3-EC83FA70819C}" type="presParOf" srcId="{F4FDCC9D-17D5-42D2-B71D-FC4481E81F61}" destId="{D5DBEFE5-E5F3-4482-82F6-62A9A539C7B6}" srcOrd="0" destOrd="0" presId="urn:microsoft.com/office/officeart/2005/8/layout/chevron1"/>
    <dgm:cxn modelId="{36E527C5-2A0D-43B7-AC2A-4D5493726C41}" type="presParOf" srcId="{F4FDCC9D-17D5-42D2-B71D-FC4481E81F61}" destId="{82294943-534D-4345-9441-3F07DF64E8CB}" srcOrd="1" destOrd="0" presId="urn:microsoft.com/office/officeart/2005/8/layout/chevron1"/>
    <dgm:cxn modelId="{46C2F397-1B92-4531-9B84-D47BD4BBC1B9}" type="presParOf" srcId="{F4FDCC9D-17D5-42D2-B71D-FC4481E81F61}" destId="{E3F1891C-6DD4-41BF-8270-3F86D15F53BF}" srcOrd="2" destOrd="0" presId="urn:microsoft.com/office/officeart/2005/8/layout/chevron1"/>
    <dgm:cxn modelId="{30B4A60C-8DFB-4AEB-92F4-A95322108250}" type="presParOf" srcId="{F4FDCC9D-17D5-42D2-B71D-FC4481E81F61}" destId="{D10D25BF-B9A2-4941-960A-6E6894525AC3}" srcOrd="3" destOrd="0" presId="urn:microsoft.com/office/officeart/2005/8/layout/chevron1"/>
    <dgm:cxn modelId="{A4785878-47E7-4908-99B5-5B12127C46C4}" type="presParOf" srcId="{F4FDCC9D-17D5-42D2-B71D-FC4481E81F61}" destId="{7E7339F8-CCAA-4207-BBFC-C9B346C76513}" srcOrd="4" destOrd="0" presId="urn:microsoft.com/office/officeart/2005/8/layout/chevron1"/>
    <dgm:cxn modelId="{668D70E9-6685-4773-892B-274F30330900}" type="presParOf" srcId="{F4FDCC9D-17D5-42D2-B71D-FC4481E81F61}" destId="{1382B827-DB01-46E2-8EEA-05496535D156}" srcOrd="5" destOrd="0" presId="urn:microsoft.com/office/officeart/2005/8/layout/chevron1"/>
    <dgm:cxn modelId="{5222CC8D-351E-4BBB-AEDD-5C4A7A889A22}" type="presParOf" srcId="{F4FDCC9D-17D5-42D2-B71D-FC4481E81F61}" destId="{0BE72C96-E2A1-473F-8F15-1033E991DCDF}" srcOrd="6" destOrd="0" presId="urn:microsoft.com/office/officeart/2005/8/layout/chevron1"/>
    <dgm:cxn modelId="{073EBC4A-CA00-4479-9389-ADB901E70F7A}" type="presParOf" srcId="{F4FDCC9D-17D5-42D2-B71D-FC4481E81F61}" destId="{6FCCF5EC-8A5A-4700-B63B-297719161EAD}" srcOrd="7" destOrd="0" presId="urn:microsoft.com/office/officeart/2005/8/layout/chevron1"/>
    <dgm:cxn modelId="{647978A2-5A8E-4523-8B0C-3E57A74FF41A}" type="presParOf" srcId="{F4FDCC9D-17D5-42D2-B71D-FC4481E81F61}" destId="{19F658D5-F272-4564-BB67-610EFC0407B3}" srcOrd="8" destOrd="0" presId="urn:microsoft.com/office/officeart/2005/8/layout/chevron1"/>
    <dgm:cxn modelId="{22B53868-B6C4-48BE-9E63-F593B4D1FA56}" type="presParOf" srcId="{F4FDCC9D-17D5-42D2-B71D-FC4481E81F61}" destId="{B6B08DAA-8316-4E4D-A01C-F06CA4276449}" srcOrd="9" destOrd="0" presId="urn:microsoft.com/office/officeart/2005/8/layout/chevron1"/>
    <dgm:cxn modelId="{597FD96F-10BE-42BC-B1CA-A47B5C197DCD}" type="presParOf" srcId="{F4FDCC9D-17D5-42D2-B71D-FC4481E81F61}" destId="{55A0F2E7-0813-4B56-8043-DFE2BE2D4F33}" srcOrd="10" destOrd="0" presId="urn:microsoft.com/office/officeart/2005/8/layout/chevron1"/>
    <dgm:cxn modelId="{01C29A16-381E-4ABB-98D6-66A33E45127D}" type="presParOf" srcId="{F4FDCC9D-17D5-42D2-B71D-FC4481E81F61}" destId="{FBE8265E-6EF9-47A1-AC69-2BA6012F7577}" srcOrd="11" destOrd="0" presId="urn:microsoft.com/office/officeart/2005/8/layout/chevron1"/>
    <dgm:cxn modelId="{C59FB59C-3A75-4E19-8FB6-69713C3783BB}" type="presParOf" srcId="{F4FDCC9D-17D5-42D2-B71D-FC4481E81F61}" destId="{D9C5D705-F085-4CF7-9AD5-1AFC8B6E20AC}" srcOrd="12" destOrd="0" presId="urn:microsoft.com/office/officeart/2005/8/layout/chevro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2FDF3-DCB4-4AD3-90C8-1939ECF08559}">
      <dsp:nvSpPr>
        <dsp:cNvPr id="0" name=""/>
        <dsp:cNvSpPr/>
      </dsp:nvSpPr>
      <dsp:spPr>
        <a:xfrm>
          <a:off x="1406" y="0"/>
          <a:ext cx="2742814" cy="634003"/>
        </a:xfrm>
        <a:prstGeom prst="homePlate">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lvl="0" algn="ctr" defTabSz="711200">
            <a:lnSpc>
              <a:spcPct val="90000"/>
            </a:lnSpc>
            <a:spcBef>
              <a:spcPct val="0"/>
            </a:spcBef>
            <a:spcAft>
              <a:spcPct val="35000"/>
            </a:spcAft>
          </a:pPr>
          <a:r>
            <a:rPr lang="en-US" sz="1600" b="1" kern="1200" dirty="0" err="1" smtClean="0">
              <a:solidFill>
                <a:srgbClr val="FF0000"/>
              </a:solidFill>
            </a:rPr>
            <a:t>Datalake</a:t>
          </a:r>
          <a:endParaRPr lang="en-US" sz="1600" b="1" kern="1200" dirty="0" smtClean="0">
            <a:solidFill>
              <a:srgbClr val="FF0000"/>
            </a:solidFill>
          </a:endParaRPr>
        </a:p>
        <a:p>
          <a:pPr lvl="0" algn="ctr" defTabSz="711200">
            <a:lnSpc>
              <a:spcPct val="90000"/>
            </a:lnSpc>
            <a:spcBef>
              <a:spcPct val="0"/>
            </a:spcBef>
            <a:spcAft>
              <a:spcPct val="35000"/>
            </a:spcAft>
          </a:pPr>
          <a:r>
            <a:rPr lang="en-IN" sz="1600" kern="1200" dirty="0" smtClean="0"/>
            <a:t>ADLS/BLOB</a:t>
          </a:r>
          <a:endParaRPr lang="en-IN" sz="1600" kern="1200" dirty="0"/>
        </a:p>
      </dsp:txBody>
      <dsp:txXfrm>
        <a:off x="1406" y="0"/>
        <a:ext cx="2584313" cy="634003"/>
      </dsp:txXfrm>
    </dsp:sp>
    <dsp:sp modelId="{4F6565C1-D37B-4578-8706-113D96F977CD}">
      <dsp:nvSpPr>
        <dsp:cNvPr id="0" name=""/>
        <dsp:cNvSpPr/>
      </dsp:nvSpPr>
      <dsp:spPr>
        <a:xfrm>
          <a:off x="2195658"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b="1" kern="1200" err="1" smtClean="0">
              <a:solidFill>
                <a:srgbClr val="FF0000"/>
              </a:solidFill>
            </a:rPr>
            <a:t>Databricks</a:t>
          </a:r>
          <a:r>
            <a:rPr lang="en-US" sz="1600" b="1" kern="1200" smtClean="0">
              <a:solidFill>
                <a:srgbClr val="FF0000"/>
              </a:solidFill>
            </a:rPr>
            <a:t> </a:t>
          </a:r>
          <a:endParaRPr lang="en-IN" sz="1600" kern="1200" dirty="0"/>
        </a:p>
      </dsp:txBody>
      <dsp:txXfrm>
        <a:off x="2512660" y="0"/>
        <a:ext cx="2108811" cy="634003"/>
      </dsp:txXfrm>
    </dsp:sp>
    <dsp:sp modelId="{AA1AD8AB-7962-40A4-97A1-4C6652BD8081}">
      <dsp:nvSpPr>
        <dsp:cNvPr id="0" name=""/>
        <dsp:cNvSpPr/>
      </dsp:nvSpPr>
      <dsp:spPr>
        <a:xfrm>
          <a:off x="4389910"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b="1" kern="1200" dirty="0" smtClean="0"/>
            <a:t>Data Factory</a:t>
          </a:r>
          <a:endParaRPr lang="en-US" sz="1600" b="1" kern="1200" dirty="0"/>
        </a:p>
      </dsp:txBody>
      <dsp:txXfrm>
        <a:off x="4706912" y="0"/>
        <a:ext cx="2108811" cy="634003"/>
      </dsp:txXfrm>
    </dsp:sp>
    <dsp:sp modelId="{0253A958-95F4-4824-A139-52603D240F83}">
      <dsp:nvSpPr>
        <dsp:cNvPr id="0" name=""/>
        <dsp:cNvSpPr/>
      </dsp:nvSpPr>
      <dsp:spPr>
        <a:xfrm>
          <a:off x="6584161"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b="1" kern="1200" dirty="0" smtClean="0"/>
            <a:t>Azure Synapse</a:t>
          </a:r>
          <a:endParaRPr lang="en-US" sz="1600" b="1" kern="1200" dirty="0"/>
        </a:p>
      </dsp:txBody>
      <dsp:txXfrm>
        <a:off x="6901163" y="0"/>
        <a:ext cx="2108811" cy="634003"/>
      </dsp:txXfrm>
    </dsp:sp>
    <dsp:sp modelId="{009DA479-0750-4E31-B911-4A762B6F1C55}">
      <dsp:nvSpPr>
        <dsp:cNvPr id="0" name=""/>
        <dsp:cNvSpPr/>
      </dsp:nvSpPr>
      <dsp:spPr>
        <a:xfrm>
          <a:off x="8778413" y="0"/>
          <a:ext cx="2742814" cy="63400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b="1" kern="1200" dirty="0"/>
            <a:t>Power </a:t>
          </a:r>
          <a:r>
            <a:rPr lang="en-US" sz="1600" b="1" kern="1200" dirty="0" smtClean="0"/>
            <a:t>BI</a:t>
          </a:r>
          <a:endParaRPr lang="en-US" sz="1600" b="1" kern="1200" dirty="0"/>
        </a:p>
      </dsp:txBody>
      <dsp:txXfrm>
        <a:off x="9095415" y="0"/>
        <a:ext cx="2108811" cy="6340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2FDF3-DCB4-4AD3-90C8-1939ECF08559}">
      <dsp:nvSpPr>
        <dsp:cNvPr id="0" name=""/>
        <dsp:cNvSpPr/>
      </dsp:nvSpPr>
      <dsp:spPr>
        <a:xfrm>
          <a:off x="1442" y="0"/>
          <a:ext cx="2813406" cy="599986"/>
        </a:xfrm>
        <a:prstGeom prst="homePlate">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B050"/>
              </a:solidFill>
            </a:rPr>
            <a:t>Connectivity</a:t>
          </a:r>
          <a:r>
            <a:rPr lang="en-US" sz="1400" b="1" kern="1200" dirty="0" smtClean="0"/>
            <a:t> &amp; </a:t>
          </a:r>
          <a:r>
            <a:rPr lang="en-US" sz="1400" b="1" kern="1200" dirty="0" smtClean="0">
              <a:solidFill>
                <a:srgbClr val="00B050"/>
              </a:solidFill>
            </a:rPr>
            <a:t>Access pattern</a:t>
          </a:r>
          <a:endParaRPr lang="en-US" sz="1400" b="1" kern="1200" dirty="0">
            <a:solidFill>
              <a:srgbClr val="00B050"/>
            </a:solidFill>
          </a:endParaRPr>
        </a:p>
        <a:p>
          <a:pPr lvl="0" algn="ctr" defTabSz="622300">
            <a:lnSpc>
              <a:spcPct val="90000"/>
            </a:lnSpc>
            <a:spcBef>
              <a:spcPct val="0"/>
            </a:spcBef>
            <a:spcAft>
              <a:spcPct val="35000"/>
            </a:spcAft>
          </a:pPr>
          <a:r>
            <a:rPr lang="en-US" sz="1400" b="1" kern="1200" dirty="0" smtClean="0">
              <a:solidFill>
                <a:srgbClr val="00B050"/>
              </a:solidFill>
            </a:rPr>
            <a:t>Hierarchy</a:t>
          </a:r>
          <a:r>
            <a:rPr lang="en-US" sz="1400" b="1" kern="1200" dirty="0" smtClean="0">
              <a:solidFill>
                <a:schemeClr val="bg1"/>
              </a:solidFill>
            </a:rPr>
            <a:t> &amp; </a:t>
          </a:r>
          <a:r>
            <a:rPr lang="en-US" sz="1400" b="1" kern="1200" dirty="0" smtClean="0">
              <a:solidFill>
                <a:srgbClr val="00B050"/>
              </a:solidFill>
            </a:rPr>
            <a:t>CLI</a:t>
          </a:r>
          <a:endParaRPr lang="en-IN" sz="1400" kern="1200" dirty="0">
            <a:solidFill>
              <a:srgbClr val="00B050"/>
            </a:solidFill>
          </a:endParaRPr>
        </a:p>
      </dsp:txBody>
      <dsp:txXfrm>
        <a:off x="1442" y="0"/>
        <a:ext cx="2663410" cy="599986"/>
      </dsp:txXfrm>
    </dsp:sp>
    <dsp:sp modelId="{4F6565C1-D37B-4578-8706-113D96F977CD}">
      <dsp:nvSpPr>
        <dsp:cNvPr id="0" name=""/>
        <dsp:cNvSpPr/>
      </dsp:nvSpPr>
      <dsp:spPr>
        <a:xfrm>
          <a:off x="2252167" y="0"/>
          <a:ext cx="2813406" cy="599986"/>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B050"/>
              </a:solidFill>
            </a:rPr>
            <a:t>Core Security</a:t>
          </a:r>
        </a:p>
        <a:p>
          <a:pPr lvl="0" algn="ctr" defTabSz="622300">
            <a:lnSpc>
              <a:spcPct val="90000"/>
            </a:lnSpc>
            <a:spcBef>
              <a:spcPct val="0"/>
            </a:spcBef>
            <a:spcAft>
              <a:spcPct val="35000"/>
            </a:spcAft>
          </a:pPr>
          <a:r>
            <a:rPr lang="en-US" sz="1400" b="1" kern="1200" dirty="0" smtClean="0">
              <a:solidFill>
                <a:srgbClr val="00B050"/>
              </a:solidFill>
            </a:rPr>
            <a:t>IAM &amp; RBAC</a:t>
          </a:r>
          <a:endParaRPr lang="en-US" sz="1400" b="1" kern="1200" dirty="0">
            <a:solidFill>
              <a:srgbClr val="00B050"/>
            </a:solidFill>
          </a:endParaRPr>
        </a:p>
      </dsp:txBody>
      <dsp:txXfrm>
        <a:off x="2552160" y="0"/>
        <a:ext cx="2213420" cy="599986"/>
      </dsp:txXfrm>
    </dsp:sp>
    <dsp:sp modelId="{AA1AD8AB-7962-40A4-97A1-4C6652BD8081}">
      <dsp:nvSpPr>
        <dsp:cNvPr id="0" name=""/>
        <dsp:cNvSpPr/>
      </dsp:nvSpPr>
      <dsp:spPr>
        <a:xfrm>
          <a:off x="4502892" y="0"/>
          <a:ext cx="2813406" cy="599986"/>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B050"/>
              </a:solidFill>
            </a:rPr>
            <a:t>Storage </a:t>
          </a:r>
        </a:p>
        <a:p>
          <a:pPr lvl="0" algn="ctr" defTabSz="622300">
            <a:lnSpc>
              <a:spcPct val="90000"/>
            </a:lnSpc>
            <a:spcBef>
              <a:spcPct val="0"/>
            </a:spcBef>
            <a:spcAft>
              <a:spcPct val="35000"/>
            </a:spcAft>
          </a:pPr>
          <a:r>
            <a:rPr lang="en-US" sz="1400" b="1" kern="1200" dirty="0" smtClean="0"/>
            <a:t>(Admin)</a:t>
          </a:r>
          <a:endParaRPr lang="en-US" sz="1400" b="1" kern="1200" dirty="0"/>
        </a:p>
      </dsp:txBody>
      <dsp:txXfrm>
        <a:off x="4802885" y="0"/>
        <a:ext cx="2213420" cy="599986"/>
      </dsp:txXfrm>
    </dsp:sp>
    <dsp:sp modelId="{0253A958-95F4-4824-A139-52603D240F83}">
      <dsp:nvSpPr>
        <dsp:cNvPr id="0" name=""/>
        <dsp:cNvSpPr/>
      </dsp:nvSpPr>
      <dsp:spPr>
        <a:xfrm>
          <a:off x="6753617" y="0"/>
          <a:ext cx="2813406" cy="599986"/>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t>Compute</a:t>
          </a:r>
          <a:endParaRPr lang="en-US" sz="1400" b="1" kern="1200" dirty="0"/>
        </a:p>
      </dsp:txBody>
      <dsp:txXfrm>
        <a:off x="7053610" y="0"/>
        <a:ext cx="2213420" cy="599986"/>
      </dsp:txXfrm>
    </dsp:sp>
    <dsp:sp modelId="{009DA479-0750-4E31-B911-4A762B6F1C55}">
      <dsp:nvSpPr>
        <dsp:cNvPr id="0" name=""/>
        <dsp:cNvSpPr/>
      </dsp:nvSpPr>
      <dsp:spPr>
        <a:xfrm>
          <a:off x="9004342" y="0"/>
          <a:ext cx="2813406" cy="599986"/>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lvl="0" algn="ctr" defTabSz="622300">
            <a:lnSpc>
              <a:spcPct val="90000"/>
            </a:lnSpc>
            <a:spcBef>
              <a:spcPct val="0"/>
            </a:spcBef>
            <a:spcAft>
              <a:spcPct val="35000"/>
            </a:spcAft>
          </a:pPr>
          <a:r>
            <a:rPr lang="en-US" sz="1400" b="1" kern="1200" dirty="0" smtClean="0"/>
            <a:t>Network</a:t>
          </a:r>
          <a:endParaRPr lang="en-US" sz="1400" b="1" kern="1200" dirty="0"/>
        </a:p>
      </dsp:txBody>
      <dsp:txXfrm>
        <a:off x="9304335" y="0"/>
        <a:ext cx="2213420" cy="5999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2FDF3-DCB4-4AD3-90C8-1939ECF08559}">
      <dsp:nvSpPr>
        <dsp:cNvPr id="0" name=""/>
        <dsp:cNvSpPr/>
      </dsp:nvSpPr>
      <dsp:spPr>
        <a:xfrm>
          <a:off x="1406" y="0"/>
          <a:ext cx="2742814" cy="634003"/>
        </a:xfrm>
        <a:prstGeom prst="homePlate">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lvl="0" algn="ctr" defTabSz="889000">
            <a:lnSpc>
              <a:spcPct val="90000"/>
            </a:lnSpc>
            <a:spcBef>
              <a:spcPct val="0"/>
            </a:spcBef>
            <a:spcAft>
              <a:spcPct val="35000"/>
            </a:spcAft>
          </a:pPr>
          <a:r>
            <a:rPr lang="en-US" sz="2000" b="1" kern="1200" dirty="0" err="1" smtClean="0">
              <a:solidFill>
                <a:srgbClr val="FF0000"/>
              </a:solidFill>
            </a:rPr>
            <a:t>EventHub</a:t>
          </a:r>
          <a:endParaRPr lang="en-IN" sz="2000" kern="1200" dirty="0"/>
        </a:p>
      </dsp:txBody>
      <dsp:txXfrm>
        <a:off x="1406" y="0"/>
        <a:ext cx="2584313" cy="634003"/>
      </dsp:txXfrm>
    </dsp:sp>
    <dsp:sp modelId="{4F6565C1-D37B-4578-8706-113D96F977CD}">
      <dsp:nvSpPr>
        <dsp:cNvPr id="0" name=""/>
        <dsp:cNvSpPr/>
      </dsp:nvSpPr>
      <dsp:spPr>
        <a:xfrm>
          <a:off x="2195658"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sz="2000" b="1" kern="1200" dirty="0" smtClean="0">
              <a:solidFill>
                <a:srgbClr val="FF0000"/>
              </a:solidFill>
            </a:rPr>
            <a:t>Function App</a:t>
          </a:r>
          <a:endParaRPr lang="en-IN" sz="2000" kern="1200" dirty="0"/>
        </a:p>
      </dsp:txBody>
      <dsp:txXfrm>
        <a:off x="2512660" y="0"/>
        <a:ext cx="2108811" cy="634003"/>
      </dsp:txXfrm>
    </dsp:sp>
    <dsp:sp modelId="{AA1AD8AB-7962-40A4-97A1-4C6652BD8081}">
      <dsp:nvSpPr>
        <dsp:cNvPr id="0" name=""/>
        <dsp:cNvSpPr/>
      </dsp:nvSpPr>
      <dsp:spPr>
        <a:xfrm>
          <a:off x="4389910"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sz="2000" b="1" kern="1200" dirty="0" smtClean="0"/>
            <a:t>Stream Analytics</a:t>
          </a:r>
          <a:endParaRPr lang="en-US" sz="2000" b="1" kern="1200" dirty="0"/>
        </a:p>
      </dsp:txBody>
      <dsp:txXfrm>
        <a:off x="4706912" y="0"/>
        <a:ext cx="2108811" cy="634003"/>
      </dsp:txXfrm>
    </dsp:sp>
    <dsp:sp modelId="{0253A958-95F4-4824-A139-52603D240F83}">
      <dsp:nvSpPr>
        <dsp:cNvPr id="0" name=""/>
        <dsp:cNvSpPr/>
      </dsp:nvSpPr>
      <dsp:spPr>
        <a:xfrm>
          <a:off x="6584161" y="0"/>
          <a:ext cx="2742814" cy="634003"/>
        </a:xfrm>
        <a:prstGeom prst="chevron">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sz="2000" b="1" kern="1200" dirty="0" smtClean="0"/>
            <a:t>Purview</a:t>
          </a:r>
          <a:endParaRPr lang="en-US" sz="2000" b="1" kern="1200" dirty="0"/>
        </a:p>
      </dsp:txBody>
      <dsp:txXfrm>
        <a:off x="6901163" y="0"/>
        <a:ext cx="2108811" cy="634003"/>
      </dsp:txXfrm>
    </dsp:sp>
    <dsp:sp modelId="{009DA479-0750-4E31-B911-4A762B6F1C55}">
      <dsp:nvSpPr>
        <dsp:cNvPr id="0" name=""/>
        <dsp:cNvSpPr/>
      </dsp:nvSpPr>
      <dsp:spPr>
        <a:xfrm>
          <a:off x="8778413" y="0"/>
          <a:ext cx="2742814" cy="63400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sz="2000" b="1" kern="1200" dirty="0" err="1" smtClean="0"/>
            <a:t>OpenAI</a:t>
          </a:r>
          <a:r>
            <a:rPr lang="en-US" sz="2000" b="1" kern="1200" dirty="0" smtClean="0"/>
            <a:t> &amp; Foundry</a:t>
          </a:r>
          <a:endParaRPr lang="en-US" sz="2000" b="1" kern="1200" dirty="0"/>
        </a:p>
      </dsp:txBody>
      <dsp:txXfrm>
        <a:off x="9095415" y="0"/>
        <a:ext cx="2108811" cy="6340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4DE22-7B4C-4795-BD8D-93023E42AF4B}">
      <dsp:nvSpPr>
        <dsp:cNvPr id="0" name=""/>
        <dsp:cNvSpPr/>
      </dsp:nvSpPr>
      <dsp:spPr>
        <a:xfrm rot="5400000">
          <a:off x="6853384" y="-2815745"/>
          <a:ext cx="1043516" cy="6941311"/>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What is a Container? </a:t>
          </a:r>
        </a:p>
        <a:p>
          <a:pPr marL="114300" lvl="1" indent="-114300" algn="l" defTabSz="666750">
            <a:lnSpc>
              <a:spcPct val="90000"/>
            </a:lnSpc>
            <a:spcBef>
              <a:spcPct val="0"/>
            </a:spcBef>
            <a:spcAft>
              <a:spcPct val="15000"/>
            </a:spcAft>
            <a:buChar char="••"/>
          </a:pPr>
          <a:r>
            <a:rPr lang="en-IN" sz="1500" kern="1200" dirty="0"/>
            <a:t>Create a Container with proper naming convention </a:t>
          </a:r>
          <a:r>
            <a:rPr lang="en-IN" sz="1500" kern="1200" dirty="0" err="1"/>
            <a:t>eg</a:t>
          </a:r>
          <a:r>
            <a:rPr lang="en-IN" sz="1500" kern="1200" dirty="0"/>
            <a:t>. </a:t>
          </a:r>
          <a:r>
            <a:rPr lang="en-IN" sz="1500" kern="1200" dirty="0" err="1"/>
            <a:t>inceptez</a:t>
          </a:r>
          <a:r>
            <a:rPr lang="en-IN" sz="1500" kern="1200" dirty="0"/>
            <a:t>-core-learnings - </a:t>
          </a:r>
          <a:r>
            <a:rPr lang="en-IN" sz="1500" b="1" kern="1200" dirty="0"/>
            <a:t>Yes</a:t>
          </a:r>
        </a:p>
        <a:p>
          <a:pPr marL="114300" lvl="1" indent="-114300" algn="l" defTabSz="666750">
            <a:lnSpc>
              <a:spcPct val="90000"/>
            </a:lnSpc>
            <a:spcBef>
              <a:spcPct val="0"/>
            </a:spcBef>
            <a:spcAft>
              <a:spcPct val="15000"/>
            </a:spcAft>
            <a:buChar char="••"/>
          </a:pPr>
          <a:r>
            <a:rPr lang="en-IN" sz="1500" kern="1200" dirty="0" err="1"/>
            <a:t>Az</a:t>
          </a:r>
          <a:r>
            <a:rPr lang="en-IN" sz="1500" kern="1200" dirty="0"/>
            <a:t> commands – create container</a:t>
          </a:r>
          <a:endParaRPr lang="en-IN" sz="1500" b="1" kern="1200" dirty="0"/>
        </a:p>
      </dsp:txBody>
      <dsp:txXfrm rot="-5400000">
        <a:off x="3904487" y="184092"/>
        <a:ext cx="6890371" cy="941636"/>
      </dsp:txXfrm>
    </dsp:sp>
    <dsp:sp modelId="{6F2A2FFB-6963-483B-837F-625D30F95E94}">
      <dsp:nvSpPr>
        <dsp:cNvPr id="0" name=""/>
        <dsp:cNvSpPr/>
      </dsp:nvSpPr>
      <dsp:spPr>
        <a:xfrm>
          <a:off x="0" y="2711"/>
          <a:ext cx="3904487" cy="1304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lvl="0" algn="ctr" defTabSz="1644650">
            <a:lnSpc>
              <a:spcPct val="90000"/>
            </a:lnSpc>
            <a:spcBef>
              <a:spcPct val="0"/>
            </a:spcBef>
            <a:spcAft>
              <a:spcPct val="35000"/>
            </a:spcAft>
          </a:pPr>
          <a:r>
            <a:rPr lang="en-IN" sz="3700" kern="1200" dirty="0"/>
            <a:t>Container</a:t>
          </a:r>
        </a:p>
      </dsp:txBody>
      <dsp:txXfrm>
        <a:off x="63675" y="66386"/>
        <a:ext cx="3777137" cy="1177045"/>
      </dsp:txXfrm>
    </dsp:sp>
    <dsp:sp modelId="{F64CD779-8E4C-4900-85C9-48DAA4B055B4}">
      <dsp:nvSpPr>
        <dsp:cNvPr id="0" name=""/>
        <dsp:cNvSpPr/>
      </dsp:nvSpPr>
      <dsp:spPr>
        <a:xfrm rot="5400000">
          <a:off x="6853384" y="-1446130"/>
          <a:ext cx="1043516" cy="6941311"/>
        </a:xfrm>
        <a:prstGeom prst="round2SameRect">
          <a:avLst/>
        </a:prstGeom>
        <a:solidFill>
          <a:schemeClr val="accent3">
            <a:tint val="40000"/>
            <a:alpha val="90000"/>
            <a:hueOff val="676380"/>
            <a:satOff val="33333"/>
            <a:lumOff val="593"/>
            <a:alphaOff val="0"/>
          </a:schemeClr>
        </a:solidFill>
        <a:ln w="12700" cap="flat" cmpd="sng" algn="ctr">
          <a:solidFill>
            <a:schemeClr val="accent3">
              <a:tint val="40000"/>
              <a:alpha val="90000"/>
              <a:hueOff val="676380"/>
              <a:satOff val="33333"/>
              <a:lumOff val="5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What is an Object/File? Data transferring or online transferring into the bucket/folder</a:t>
          </a:r>
        </a:p>
        <a:p>
          <a:pPr marL="114300" lvl="1" indent="-114300" algn="l" defTabSz="666750">
            <a:lnSpc>
              <a:spcPct val="90000"/>
            </a:lnSpc>
            <a:spcBef>
              <a:spcPct val="0"/>
            </a:spcBef>
            <a:spcAft>
              <a:spcPct val="15000"/>
            </a:spcAft>
            <a:buChar char="••"/>
          </a:pPr>
          <a:r>
            <a:rPr lang="en-IN" sz="1500" kern="1200" dirty="0" err="1"/>
            <a:t>Cli</a:t>
          </a:r>
          <a:r>
            <a:rPr lang="en-IN" sz="1500" kern="1200" dirty="0"/>
            <a:t> commands</a:t>
          </a:r>
        </a:p>
      </dsp:txBody>
      <dsp:txXfrm rot="-5400000">
        <a:off x="3904487" y="1553707"/>
        <a:ext cx="6890371" cy="941636"/>
      </dsp:txXfrm>
    </dsp:sp>
    <dsp:sp modelId="{CDBB2264-7D3B-4D74-9881-BC4C9C35B944}">
      <dsp:nvSpPr>
        <dsp:cNvPr id="0" name=""/>
        <dsp:cNvSpPr/>
      </dsp:nvSpPr>
      <dsp:spPr>
        <a:xfrm>
          <a:off x="0" y="1372327"/>
          <a:ext cx="3904487" cy="1304395"/>
        </a:xfrm>
        <a:prstGeom prst="round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lvl="0" algn="ctr" defTabSz="1644650">
            <a:lnSpc>
              <a:spcPct val="90000"/>
            </a:lnSpc>
            <a:spcBef>
              <a:spcPct val="0"/>
            </a:spcBef>
            <a:spcAft>
              <a:spcPct val="35000"/>
            </a:spcAft>
          </a:pPr>
          <a:r>
            <a:rPr lang="en-IN" sz="3700" kern="1200" dirty="0"/>
            <a:t>Objects</a:t>
          </a:r>
        </a:p>
      </dsp:txBody>
      <dsp:txXfrm>
        <a:off x="63675" y="1436002"/>
        <a:ext cx="3777137" cy="1177045"/>
      </dsp:txXfrm>
    </dsp:sp>
    <dsp:sp modelId="{D3D8ED69-C492-4325-8358-A9830763D4D0}">
      <dsp:nvSpPr>
        <dsp:cNvPr id="0" name=""/>
        <dsp:cNvSpPr/>
      </dsp:nvSpPr>
      <dsp:spPr>
        <a:xfrm rot="5400000">
          <a:off x="6853384" y="-76514"/>
          <a:ext cx="1043516" cy="6941311"/>
        </a:xfrm>
        <a:prstGeom prst="round2SameRect">
          <a:avLst/>
        </a:prstGeom>
        <a:solidFill>
          <a:schemeClr val="accent3">
            <a:tint val="40000"/>
            <a:alpha val="90000"/>
            <a:hueOff val="1352761"/>
            <a:satOff val="66667"/>
            <a:lumOff val="1186"/>
            <a:alphaOff val="0"/>
          </a:schemeClr>
        </a:solidFill>
        <a:ln w="12700" cap="flat" cmpd="sng" algn="ctr">
          <a:solidFill>
            <a:schemeClr val="accent3">
              <a:tint val="40000"/>
              <a:alpha val="90000"/>
              <a:hueOff val="1352761"/>
              <a:satOff val="66667"/>
              <a:lumOff val="1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Identify and fill here the different storage classes available in </a:t>
          </a:r>
          <a:r>
            <a:rPr lang="en-IN" sz="1500" kern="1200" dirty="0" err="1"/>
            <a:t>az</a:t>
          </a:r>
          <a:r>
            <a:rPr lang="en-IN" sz="1500" kern="1200" dirty="0"/>
            <a:t> container creation?</a:t>
          </a:r>
        </a:p>
        <a:p>
          <a:pPr marL="114300" lvl="1" indent="-114300" algn="l" defTabSz="666750">
            <a:lnSpc>
              <a:spcPct val="90000"/>
            </a:lnSpc>
            <a:spcBef>
              <a:spcPct val="0"/>
            </a:spcBef>
            <a:spcAft>
              <a:spcPct val="15000"/>
            </a:spcAft>
            <a:buChar char="••"/>
          </a:pPr>
          <a:r>
            <a:rPr lang="en-IN" sz="1500" kern="1200" dirty="0"/>
            <a:t>What are the Two types of access controls?</a:t>
          </a:r>
          <a:endParaRPr lang="en-IN" sz="1500" b="1" i="1" kern="1200" dirty="0"/>
        </a:p>
      </dsp:txBody>
      <dsp:txXfrm rot="-5400000">
        <a:off x="3904487" y="2923323"/>
        <a:ext cx="6890371" cy="941636"/>
      </dsp:txXfrm>
    </dsp:sp>
    <dsp:sp modelId="{F3BB6155-DFA6-4080-B13D-5020EC4C3DD5}">
      <dsp:nvSpPr>
        <dsp:cNvPr id="0" name=""/>
        <dsp:cNvSpPr/>
      </dsp:nvSpPr>
      <dsp:spPr>
        <a:xfrm>
          <a:off x="0" y="2741943"/>
          <a:ext cx="3904487" cy="1304395"/>
        </a:xfrm>
        <a:prstGeom prst="round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lvl="0" algn="ctr" defTabSz="1644650">
            <a:lnSpc>
              <a:spcPct val="90000"/>
            </a:lnSpc>
            <a:spcBef>
              <a:spcPct val="0"/>
            </a:spcBef>
            <a:spcAft>
              <a:spcPct val="35000"/>
            </a:spcAft>
          </a:pPr>
          <a:r>
            <a:rPr lang="en-IN" sz="3700" kern="1200" dirty="0"/>
            <a:t>Storage Classes &amp; Pricing Models</a:t>
          </a:r>
        </a:p>
      </dsp:txBody>
      <dsp:txXfrm>
        <a:off x="63675" y="2805618"/>
        <a:ext cx="3777137" cy="1177045"/>
      </dsp:txXfrm>
    </dsp:sp>
    <dsp:sp modelId="{95F294B2-BAED-42E2-A5B3-A38F7777ED2F}">
      <dsp:nvSpPr>
        <dsp:cNvPr id="0" name=""/>
        <dsp:cNvSpPr/>
      </dsp:nvSpPr>
      <dsp:spPr>
        <a:xfrm rot="5400000">
          <a:off x="6853384" y="1293101"/>
          <a:ext cx="1043516" cy="6941311"/>
        </a:xfrm>
        <a:prstGeom prst="round2Same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IN" sz="1500" kern="1200" dirty="0"/>
            <a:t> Practice </a:t>
          </a:r>
          <a:r>
            <a:rPr lang="en-IN" sz="1500" kern="1200" dirty="0" err="1"/>
            <a:t>az</a:t>
          </a:r>
          <a:r>
            <a:rPr lang="en-IN" sz="1500" kern="1200" dirty="0"/>
            <a:t> Commands provided</a:t>
          </a:r>
        </a:p>
        <a:p>
          <a:pPr marL="114300" lvl="1" indent="-114300" algn="l" defTabSz="666750">
            <a:lnSpc>
              <a:spcPct val="90000"/>
            </a:lnSpc>
            <a:spcBef>
              <a:spcPct val="0"/>
            </a:spcBef>
            <a:spcAft>
              <a:spcPct val="15000"/>
            </a:spcAft>
            <a:buChar char="••"/>
          </a:pPr>
          <a:r>
            <a:rPr lang="en-IN" sz="1500" kern="1200" dirty="0"/>
            <a:t> Practice </a:t>
          </a:r>
          <a:r>
            <a:rPr lang="en-IN" sz="1500" kern="1200" dirty="0" err="1"/>
            <a:t>PySpark</a:t>
          </a:r>
          <a:r>
            <a:rPr lang="en-IN" sz="1500" kern="1200" dirty="0"/>
            <a:t> Programs in </a:t>
          </a:r>
          <a:r>
            <a:rPr lang="en-IN" sz="1500" kern="1200" dirty="0" err="1"/>
            <a:t>databricks</a:t>
          </a:r>
          <a:r>
            <a:rPr lang="en-IN" sz="1500" kern="1200" dirty="0"/>
            <a:t> notebook</a:t>
          </a:r>
        </a:p>
      </dsp:txBody>
      <dsp:txXfrm rot="-5400000">
        <a:off x="3904487" y="4292938"/>
        <a:ext cx="6890371" cy="941636"/>
      </dsp:txXfrm>
    </dsp:sp>
    <dsp:sp modelId="{C3BF885C-3BEF-4266-98A5-8E05374921CA}">
      <dsp:nvSpPr>
        <dsp:cNvPr id="0" name=""/>
        <dsp:cNvSpPr/>
      </dsp:nvSpPr>
      <dsp:spPr>
        <a:xfrm>
          <a:off x="0" y="4111559"/>
          <a:ext cx="3904487" cy="1304395"/>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lvl="0" algn="ctr" defTabSz="1644650">
            <a:lnSpc>
              <a:spcPct val="90000"/>
            </a:lnSpc>
            <a:spcBef>
              <a:spcPct val="0"/>
            </a:spcBef>
            <a:spcAft>
              <a:spcPct val="35000"/>
            </a:spcAft>
          </a:pPr>
          <a:r>
            <a:rPr lang="en-IN" sz="3700" kern="1200" dirty="0" err="1"/>
            <a:t>Handson</a:t>
          </a:r>
          <a:endParaRPr lang="en-IN" sz="3700" kern="1200" dirty="0"/>
        </a:p>
      </dsp:txBody>
      <dsp:txXfrm>
        <a:off x="63675" y="4175234"/>
        <a:ext cx="3777137" cy="11770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DBEFE5-E5F3-4482-82F6-62A9A539C7B6}">
      <dsp:nvSpPr>
        <dsp:cNvPr id="0" name=""/>
        <dsp:cNvSpPr/>
      </dsp:nvSpPr>
      <dsp:spPr>
        <a:xfrm>
          <a:off x="5211" y="0"/>
          <a:ext cx="3033784" cy="883458"/>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lvl="0" algn="ctr" defTabSz="844550">
            <a:lnSpc>
              <a:spcPct val="90000"/>
            </a:lnSpc>
            <a:spcBef>
              <a:spcPct val="0"/>
            </a:spcBef>
            <a:spcAft>
              <a:spcPct val="35000"/>
            </a:spcAft>
          </a:pPr>
          <a:r>
            <a:rPr lang="en-IN" sz="1900" kern="1200" dirty="0"/>
            <a:t>Create a </a:t>
          </a:r>
          <a:r>
            <a:rPr lang="en-IN" sz="1900" kern="1200" dirty="0" smtClean="0"/>
            <a:t>VN</a:t>
          </a:r>
          <a:endParaRPr lang="en-IN" sz="1900" kern="1200" dirty="0"/>
        </a:p>
      </dsp:txBody>
      <dsp:txXfrm>
        <a:off x="446940" y="0"/>
        <a:ext cx="2150326" cy="883458"/>
      </dsp:txXfrm>
    </dsp:sp>
    <dsp:sp modelId="{E3F1891C-6DD4-41BF-8270-3F86D15F53BF}">
      <dsp:nvSpPr>
        <dsp:cNvPr id="0" name=""/>
        <dsp:cNvSpPr/>
      </dsp:nvSpPr>
      <dsp:spPr>
        <a:xfrm>
          <a:off x="2735617" y="0"/>
          <a:ext cx="3033784" cy="883458"/>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lvl="0" algn="ctr" defTabSz="844550">
            <a:lnSpc>
              <a:spcPct val="90000"/>
            </a:lnSpc>
            <a:spcBef>
              <a:spcPct val="0"/>
            </a:spcBef>
            <a:spcAft>
              <a:spcPct val="35000"/>
            </a:spcAft>
          </a:pPr>
          <a:r>
            <a:rPr lang="en-IN" sz="1900" kern="1200" dirty="0"/>
            <a:t>Create Subnet &amp; assign inside a Region</a:t>
          </a:r>
        </a:p>
      </dsp:txBody>
      <dsp:txXfrm>
        <a:off x="3177346" y="0"/>
        <a:ext cx="2150326" cy="883458"/>
      </dsp:txXfrm>
    </dsp:sp>
    <dsp:sp modelId="{333502E0-2D91-4E01-8D0E-F6DEAF6974CE}">
      <dsp:nvSpPr>
        <dsp:cNvPr id="0" name=""/>
        <dsp:cNvSpPr/>
      </dsp:nvSpPr>
      <dsp:spPr>
        <a:xfrm>
          <a:off x="5466023" y="0"/>
          <a:ext cx="3033784" cy="883458"/>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lvl="0" algn="ctr" defTabSz="844550">
            <a:lnSpc>
              <a:spcPct val="90000"/>
            </a:lnSpc>
            <a:spcBef>
              <a:spcPct val="0"/>
            </a:spcBef>
            <a:spcAft>
              <a:spcPct val="35000"/>
            </a:spcAft>
          </a:pPr>
          <a:r>
            <a:rPr lang="en-IN" sz="1900" kern="1200" dirty="0"/>
            <a:t>Define CIDR </a:t>
          </a:r>
        </a:p>
        <a:p>
          <a:pPr lvl="0" algn="ctr" defTabSz="844550">
            <a:lnSpc>
              <a:spcPct val="90000"/>
            </a:lnSpc>
            <a:spcBef>
              <a:spcPct val="0"/>
            </a:spcBef>
            <a:spcAft>
              <a:spcPct val="35000"/>
            </a:spcAft>
          </a:pPr>
          <a:r>
            <a:rPr lang="en-IN" sz="1900" kern="1200" dirty="0"/>
            <a:t>IP addresses</a:t>
          </a:r>
        </a:p>
      </dsp:txBody>
      <dsp:txXfrm>
        <a:off x="5907752" y="0"/>
        <a:ext cx="2150326" cy="883458"/>
      </dsp:txXfrm>
    </dsp:sp>
    <dsp:sp modelId="{7E7339F8-CCAA-4207-BBFC-C9B346C76513}">
      <dsp:nvSpPr>
        <dsp:cNvPr id="0" name=""/>
        <dsp:cNvSpPr/>
      </dsp:nvSpPr>
      <dsp:spPr>
        <a:xfrm>
          <a:off x="8196429" y="0"/>
          <a:ext cx="3033784" cy="883458"/>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lvl="0" algn="ctr" defTabSz="844550">
            <a:lnSpc>
              <a:spcPct val="90000"/>
            </a:lnSpc>
            <a:spcBef>
              <a:spcPct val="0"/>
            </a:spcBef>
            <a:spcAft>
              <a:spcPct val="35000"/>
            </a:spcAft>
          </a:pPr>
          <a:r>
            <a:rPr lang="en-IN" sz="1900" kern="1200" dirty="0"/>
            <a:t>Create </a:t>
          </a:r>
          <a:r>
            <a:rPr lang="en-IN" sz="1900" kern="1200" dirty="0" smtClean="0"/>
            <a:t>NSG/Firewall </a:t>
          </a:r>
          <a:r>
            <a:rPr lang="en-IN" sz="1900" kern="1200" dirty="0"/>
            <a:t>Rules</a:t>
          </a:r>
        </a:p>
      </dsp:txBody>
      <dsp:txXfrm>
        <a:off x="8638158" y="0"/>
        <a:ext cx="2150326" cy="8834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DBEFE5-E5F3-4482-82F6-62A9A539C7B6}">
      <dsp:nvSpPr>
        <dsp:cNvPr id="0" name=""/>
        <dsp:cNvSpPr/>
      </dsp:nvSpPr>
      <dsp:spPr>
        <a:xfrm>
          <a:off x="0"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Create a </a:t>
          </a:r>
          <a:r>
            <a:rPr lang="en-IN" sz="1200" kern="1200" dirty="0" smtClean="0"/>
            <a:t>VM </a:t>
          </a:r>
          <a:r>
            <a:rPr lang="en-IN" sz="1200" kern="1200" dirty="0"/>
            <a:t>Instance</a:t>
          </a:r>
        </a:p>
      </dsp:txBody>
      <dsp:txXfrm>
        <a:off x="351107" y="90621"/>
        <a:ext cx="1053321" cy="702214"/>
      </dsp:txXfrm>
    </dsp:sp>
    <dsp:sp modelId="{E3F1891C-6DD4-41BF-8270-3F86D15F53BF}">
      <dsp:nvSpPr>
        <dsp:cNvPr id="0" name=""/>
        <dsp:cNvSpPr/>
      </dsp:nvSpPr>
      <dsp:spPr>
        <a:xfrm>
          <a:off x="1579981"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Define the Region &amp; Zone</a:t>
          </a:r>
        </a:p>
      </dsp:txBody>
      <dsp:txXfrm>
        <a:off x="1931088" y="90621"/>
        <a:ext cx="1053321" cy="702214"/>
      </dsp:txXfrm>
    </dsp:sp>
    <dsp:sp modelId="{7E7339F8-CCAA-4207-BBFC-C9B346C76513}">
      <dsp:nvSpPr>
        <dsp:cNvPr id="0" name=""/>
        <dsp:cNvSpPr/>
      </dsp:nvSpPr>
      <dsp:spPr>
        <a:xfrm>
          <a:off x="3159963"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Identify the Machine type</a:t>
          </a:r>
        </a:p>
      </dsp:txBody>
      <dsp:txXfrm>
        <a:off x="3511070" y="90621"/>
        <a:ext cx="1053321" cy="702214"/>
      </dsp:txXfrm>
    </dsp:sp>
    <dsp:sp modelId="{0BE72C96-E2A1-473F-8F15-1033E991DCDF}">
      <dsp:nvSpPr>
        <dsp:cNvPr id="0" name=""/>
        <dsp:cNvSpPr/>
      </dsp:nvSpPr>
      <dsp:spPr>
        <a:xfrm>
          <a:off x="4739945"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Identify the VM Provisioning Model</a:t>
          </a:r>
        </a:p>
      </dsp:txBody>
      <dsp:txXfrm>
        <a:off x="5091052" y="90621"/>
        <a:ext cx="1053321" cy="702214"/>
      </dsp:txXfrm>
    </dsp:sp>
    <dsp:sp modelId="{19F658D5-F272-4564-BB67-610EFC0407B3}">
      <dsp:nvSpPr>
        <dsp:cNvPr id="0" name=""/>
        <dsp:cNvSpPr/>
      </dsp:nvSpPr>
      <dsp:spPr>
        <a:xfrm>
          <a:off x="6319927"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Define Advanced Options</a:t>
          </a:r>
        </a:p>
      </dsp:txBody>
      <dsp:txXfrm>
        <a:off x="6671034" y="90621"/>
        <a:ext cx="1053321" cy="702214"/>
      </dsp:txXfrm>
    </dsp:sp>
    <dsp:sp modelId="{55A0F2E7-0813-4B56-8043-DFE2BE2D4F33}">
      <dsp:nvSpPr>
        <dsp:cNvPr id="0" name=""/>
        <dsp:cNvSpPr/>
      </dsp:nvSpPr>
      <dsp:spPr>
        <a:xfrm>
          <a:off x="7899908"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Networking – Network Interface</a:t>
          </a:r>
        </a:p>
      </dsp:txBody>
      <dsp:txXfrm>
        <a:off x="8251015" y="90621"/>
        <a:ext cx="1053321" cy="702214"/>
      </dsp:txXfrm>
    </dsp:sp>
    <dsp:sp modelId="{D9C5D705-F085-4CF7-9AD5-1AFC8B6E20AC}">
      <dsp:nvSpPr>
        <dsp:cNvPr id="0" name=""/>
        <dsp:cNvSpPr/>
      </dsp:nvSpPr>
      <dsp:spPr>
        <a:xfrm>
          <a:off x="9479890" y="90621"/>
          <a:ext cx="1755535" cy="702214"/>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IN" sz="1200" kern="1200" dirty="0"/>
            <a:t>Security– Manage </a:t>
          </a:r>
          <a:r>
            <a:rPr lang="en-IN" sz="1200" kern="1200" dirty="0" smtClean="0"/>
            <a:t>Access</a:t>
          </a:r>
        </a:p>
        <a:p>
          <a:pPr lvl="0" algn="ctr" defTabSz="533400">
            <a:lnSpc>
              <a:spcPct val="90000"/>
            </a:lnSpc>
            <a:spcBef>
              <a:spcPct val="0"/>
            </a:spcBef>
            <a:spcAft>
              <a:spcPct val="35000"/>
            </a:spcAft>
          </a:pPr>
          <a:r>
            <a:rPr lang="en-IN" sz="1200" kern="1200" dirty="0" smtClean="0"/>
            <a:t>SSH/Key </a:t>
          </a:r>
          <a:r>
            <a:rPr lang="en-IN" sz="1200" kern="1200" dirty="0" err="1" smtClean="0"/>
            <a:t>manag</a:t>
          </a:r>
          <a:endParaRPr lang="en-IN" sz="1200" kern="1200" dirty="0"/>
        </a:p>
      </dsp:txBody>
      <dsp:txXfrm>
        <a:off x="9830997" y="90621"/>
        <a:ext cx="1053321" cy="70221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64278F-E333-49CF-8426-E407E75795DA}" type="datetimeFigureOut">
              <a:rPr lang="en-IN" smtClean="0"/>
              <a:pPr/>
              <a:t>03-04-2026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E9C689E-04E4-40A4-8EF2-A902E1F0E31A}" type="slidenum">
              <a:rPr lang="en-IN" smtClean="0"/>
              <a:pPr/>
              <a:t>‹#›</a:t>
            </a:fld>
            <a:endParaRPr lang="en-IN"/>
          </a:p>
        </p:txBody>
      </p:sp>
    </p:spTree>
    <p:extLst>
      <p:ext uri="{BB962C8B-B14F-4D97-AF65-F5344CB8AC3E}">
        <p14:creationId xmlns:p14="http://schemas.microsoft.com/office/powerpoint/2010/main" val="228619872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2-09-30T03:53:44.987"/>
    </inkml:context>
    <inkml:brush xml:id="br0">
      <inkml:brushProperty name="width" value="0.05292" units="cm"/>
      <inkml:brushProperty name="height" value="0.05292" units="cm"/>
      <inkml:brushProperty name="color" value="#FF0000"/>
    </inkml:brush>
  </inkml:definitions>
  <inkml:trace contextRef="#ctx0" brushRef="#br0">21608 10619</inkml:trace>
  <inkml:trace contextRef="#ctx0" brushRef="#br0" timeOffset="59396.16">14676 9666</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6-27T02:48:35.665"/>
    </inkml:context>
    <inkml:brush xml:id="br0">
      <inkml:brushProperty name="width" value="0.05292" units="cm"/>
      <inkml:brushProperty name="height" value="0.05292" units="cm"/>
      <inkml:brushProperty name="color" value="#FF0000"/>
    </inkml:brush>
  </inkml:definitions>
  <inkml:trace contextRef="#ctx0" brushRef="#br0">20796 4727</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01:10.493"/>
    </inkml:context>
    <inkml:brush xml:id="br0">
      <inkml:brushProperty name="width" value="0.05292" units="cm"/>
      <inkml:brushProperty name="height" value="0.05292" units="cm"/>
      <inkml:brushProperty name="color" value="#FF0000"/>
    </inkml:brush>
  </inkml:definitions>
  <inkml:trace contextRef="#ctx0" brushRef="#br0">20161 9507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5T03:21:24.328"/>
    </inkml:context>
    <inkml:brush xml:id="br0">
      <inkml:brushProperty name="width" value="0.1" units="cm"/>
      <inkml:brushProperty name="height" value="0.1" units="cm"/>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12T02:51:15.813"/>
    </inkml:context>
    <inkml:brush xml:id="br0">
      <inkml:brushProperty name="width" value="0.05292" units="cm"/>
      <inkml:brushProperty name="height" value="0.05292" units="cm"/>
      <inkml:brushProperty name="color" value="#FF0000"/>
    </inkml:brush>
  </inkml:definitions>
  <inkml:trace contextRef="#ctx0" brushRef="#br0">23954 6544</inkml:trace>
  <inkml:trace contextRef="#ctx0" brushRef="#br0" timeOffset="5631.82">5397 6632</inkml:trace>
  <inkml:trace contextRef="#ctx0" brushRef="#br0" timeOffset="118751.79">18909 6297</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10-21T03:19:13.738"/>
    </inkml:context>
    <inkml:brush xml:id="br0">
      <inkml:brushProperty name="width" value="0.05292" units="cm"/>
      <inkml:brushProperty name="height" value="0.05292" units="cm"/>
      <inkml:brushProperty name="color" value="#FF0000"/>
    </inkml:brush>
  </inkml:definitions>
  <inkml:trace contextRef="#ctx0" brushRef="#br0">21361 10389</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10-21T03:19:13.738"/>
    </inkml:context>
    <inkml:brush xml:id="br0">
      <inkml:brushProperty name="width" value="0.05292" units="cm"/>
      <inkml:brushProperty name="height" value="0.05292" units="cm"/>
      <inkml:brushProperty name="color" value="#FF0000"/>
    </inkml:brush>
  </inkml:definitions>
  <inkml:trace contextRef="#ctx0" brushRef="#br0">21361 10389</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1:35:03.310"/>
    </inkml:context>
    <inkml:brush xml:id="br0">
      <inkml:brushProperty name="width" value="0.05292" units="cm"/>
      <inkml:brushProperty name="height" value="0.05292" units="cm"/>
      <inkml:brushProperty name="color" value="#FF0000"/>
    </inkml:brush>
  </inkml:definitions>
  <inkml:trace contextRef="#ctx0" brushRef="#br0">1852 13106</inkml:trace>
  <inkml:trace contextRef="#ctx0" brushRef="#br0" timeOffset="5855.7">1746 14199</inkml:trace>
  <inkml:trace contextRef="#ctx0" brushRef="#br0" timeOffset="55967.44">10583 14252</inkml:trace>
  <inkml:trace contextRef="#ctx0" brushRef="#br0" timeOffset="129663.33">10530 9842</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10T03:31:19.194"/>
    </inkml:context>
    <inkml:brush xml:id="br0">
      <inkml:brushProperty name="width" value="0.05292" units="cm"/>
      <inkml:brushProperty name="height" value="0.05292" units="cm"/>
      <inkml:brushProperty name="color" value="#FF0000"/>
    </inkml:brush>
  </inkml:definitions>
  <inkml:trace contextRef="#ctx0" brushRef="#br0">17851 5592</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19T06:04:52.323"/>
    </inkml:context>
    <inkml:brush xml:id="br0">
      <inkml:brushProperty name="width" value="0.05292" units="cm"/>
      <inkml:brushProperty name="height" value="0.05292" units="cm"/>
      <inkml:brushProperty name="color" value="#FF0000"/>
    </inkml:brush>
  </inkml:definitions>
  <inkml:trace contextRef="#ctx0" brushRef="#br0">22031 8061</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12T07:09:53.398"/>
    </inkml:context>
    <inkml:brush xml:id="br0">
      <inkml:brushProperty name="width" value="0.05292" units="cm"/>
      <inkml:brushProperty name="height" value="0.05292" units="cm"/>
      <inkml:brushProperty name="color" value="#FF0000"/>
    </inkml:brush>
  </inkml:definitions>
  <inkml:trace contextRef="#ctx0" brushRef="#br0">1746 2064</inkml:trace>
  <inkml:trace contextRef="#ctx0" brushRef="#br0" timeOffset="4241.26">9172 8608</inkml:trace>
  <inkml:trace contextRef="#ctx0" brushRef="#br0" timeOffset="5208.2">14446 8572,'-35'0</inkml:trace>
  <inkml:trace contextRef="#ctx0" brushRef="#br0" timeOffset="16762.29">9172 8661,'18'-18</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3:36:00.425"/>
    </inkml:context>
    <inkml:brush xml:id="br0">
      <inkml:brushProperty name="width" value="0.05292" units="cm"/>
      <inkml:brushProperty name="height" value="0.05292" units="cm"/>
      <inkml:brushProperty name="color" value="#FF0000"/>
    </inkml:brush>
  </inkml:definitions>
  <inkml:trace contextRef="#ctx0" brushRef="#br0">15646 3828</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3:37:06.109"/>
    </inkml:context>
    <inkml:brush xml:id="br0">
      <inkml:brushProperty name="width" value="0.05292" units="cm"/>
      <inkml:brushProperty name="height" value="0.05292" units="cm"/>
      <inkml:brushProperty name="color" value="#FF0000"/>
    </inkml:brush>
  </inkml:definitions>
  <inkml:trace contextRef="#ctx0" brushRef="#br0">794 6685,'0'-18</inkml:trace>
  <inkml:trace contextRef="#ctx0" brushRef="#br0" timeOffset="4492.41">723 11765</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13T08:28:29.604"/>
    </inkml:context>
    <inkml:brush xml:id="br0">
      <inkml:brushProperty name="width" value="0.05292" units="cm"/>
      <inkml:brushProperty name="height" value="0.05292" units="cm"/>
      <inkml:brushProperty name="color" value="#FF0000"/>
    </inkml:brush>
  </inkml:definitions>
  <inkml:trace contextRef="#ctx0" brushRef="#br0">21555 13441</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8-20T03:33:53.560"/>
    </inkml:context>
    <inkml:brush xml:id="br0">
      <inkml:brushProperty name="width" value="0.05292" units="cm"/>
      <inkml:brushProperty name="height" value="0.05292" units="cm"/>
      <inkml:brushProperty name="color" value="#FF0000"/>
    </inkml:brush>
  </inkml:definitions>
  <inkml:trace contextRef="#ctx0" brushRef="#br0">11483 10089,'18'0</inkml:trace>
  <inkml:trace contextRef="#ctx0" brushRef="#br0" timeOffset="1432.6199">15275 9437</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8-25T06:32:44.755"/>
    </inkml:context>
    <inkml:brush xml:id="br0">
      <inkml:brushProperty name="width" value="0.05292" units="cm"/>
      <inkml:brushProperty name="height" value="0.05292" units="cm"/>
      <inkml:brushProperty name="color" value="#FF0000"/>
    </inkml:brush>
  </inkml:definitions>
  <inkml:trace contextRef="#ctx0" brushRef="#br0">20549 13811</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8-25T03:48:52.044"/>
    </inkml:context>
    <inkml:brush xml:id="br0">
      <inkml:brushProperty name="width" value="0.05292" units="cm"/>
      <inkml:brushProperty name="height" value="0.05292" units="cm"/>
      <inkml:brushProperty name="color" value="#FF0000"/>
    </inkml:brush>
  </inkml:definitions>
  <inkml:trace contextRef="#ctx0" brushRef="#br0">11112 5062,'-17'0,"-1"0,1 18,-1-18,-17 0,17 0,0 0,-17 0,0 0,17 0,1 0,-19 0,19 0,-19 0,19 0,-19 0,1 0,0 0,0 0,-1 0,19 0,-36 0,35 0,-35 0,36 0,-1 0,0 0,1 0,-19 0,19 0,-19 0,19 0,-18 0,-1 0,1 0,17 0,-17 0,17 0,-17 0,0 0,0-18,-1 18,19 0,-36 0,0-17,35 17,-17 0,17 0,1 0,-19 0,1 0,17 0,1 0,-18 0,-1 0,-17 0,0 0,36 0,-1 0,-17 0,17 0,1 0,-19 0,19 0,-1 0,0 0,1 0,-1 0,-17 0,17 0,1 0,-1 0,0 0,1 0,-1 0,0 0,1 0,-1 0,-17 0,17 0,1 0,-1 0,0 0,1 0,-1 0,0 0,1 0,-1 0,-17 0</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3:37:06.109"/>
    </inkml:context>
    <inkml:brush xml:id="br0">
      <inkml:brushProperty name="width" value="0.05292" units="cm"/>
      <inkml:brushProperty name="height" value="0.05292" units="cm"/>
      <inkml:brushProperty name="color" value="#FF0000"/>
    </inkml:brush>
  </inkml:definitions>
  <inkml:trace contextRef="#ctx0" brushRef="#br0">794 6685,'0'-18</inkml:trace>
  <inkml:trace contextRef="#ctx0" brushRef="#br0" timeOffset="4492.41">723 11765</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13T08:28:29.604"/>
    </inkml:context>
    <inkml:brush xml:id="br0">
      <inkml:brushProperty name="width" value="0.05292" units="cm"/>
      <inkml:brushProperty name="height" value="0.05292" units="cm"/>
      <inkml:brushProperty name="color" value="#FF0000"/>
    </inkml:brush>
  </inkml:definitions>
  <inkml:trace contextRef="#ctx0" brushRef="#br0">21555 13441</inkml:trace>
</inkml:ink>
</file>

<file path=ppt/ink/ink2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2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03T03:37:06.109"/>
    </inkml:context>
    <inkml:brush xml:id="br0">
      <inkml:brushProperty name="width" value="0.05292" units="cm"/>
      <inkml:brushProperty name="height" value="0.05292" units="cm"/>
      <inkml:brushProperty name="color" value="#FF0000"/>
    </inkml:brush>
  </inkml:definitions>
  <inkml:trace contextRef="#ctx0" brushRef="#br0">794 6685,'0'-18</inkml:trace>
  <inkml:trace contextRef="#ctx0" brushRef="#br0" timeOffset="4492.41">723 11765</inkml:trace>
</inkml:ink>
</file>

<file path=ppt/ink/ink2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13T08:28:29.604"/>
    </inkml:context>
    <inkml:brush xml:id="br0">
      <inkml:brushProperty name="width" value="0.05292" units="cm"/>
      <inkml:brushProperty name="height" value="0.05292" units="cm"/>
      <inkml:brushProperty name="color" value="#FF0000"/>
    </inkml:brush>
  </inkml:definitions>
  <inkml:trace contextRef="#ctx0" brushRef="#br0">21555 13441</inkml:trace>
</inkml:ink>
</file>

<file path=ppt/ink/ink3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3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20T03:57:39.066"/>
    </inkml:context>
    <inkml:brush xml:id="br0">
      <inkml:brushProperty name="width" value="0.05292" units="cm"/>
      <inkml:brushProperty name="height" value="0.05292" units="cm"/>
      <inkml:brushProperty name="color" value="#FF0000"/>
    </inkml:brush>
  </inkml:definitions>
  <inkml:trace contextRef="#ctx0" brushRef="#br0">9331 4392</inkml:trace>
  <inkml:trace contextRef="#ctx0" brushRef="#br0" timeOffset="1135.27">9260 8220</inkml:trace>
  <inkml:trace contextRef="#ctx0" brushRef="#br0" timeOffset="2511.52">11060 12912</inkml:trace>
  <inkml:trace contextRef="#ctx0" brushRef="#br0" timeOffset="3423.22">9437 15752</inkml:trace>
</inkml:ink>
</file>

<file path=ppt/ink/ink3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4-07-12T01:52:03.858"/>
    </inkml:context>
    <inkml:brush xml:id="br0">
      <inkml:brushProperty name="width" value="0.05292" units="cm"/>
      <inkml:brushProperty name="height" value="0.05292" units="cm"/>
      <inkml:brushProperty name="color" value="#FF0000"/>
    </inkml:brush>
  </inkml:definitions>
  <inkml:trace contextRef="#ctx0" brushRef="#br0">23354 10213</inkml:trace>
</inkml:ink>
</file>

<file path=ppt/ink/ink3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4T01:46:27.060"/>
    </inkml:context>
    <inkml:brush xml:id="br0">
      <inkml:brushProperty name="width" value="0.05292" units="cm"/>
      <inkml:brushProperty name="height" value="0.05292" units="cm"/>
      <inkml:brushProperty name="color" value="#FF0000"/>
    </inkml:brush>
  </inkml:definitions>
  <inkml:trace contextRef="#ctx0" brushRef="#br0">20849 2452</inkml:trace>
  <inkml:trace contextRef="#ctx0" brushRef="#br0" timeOffset="4487.59">23954 3951</inkml:trace>
  <inkml:trace contextRef="#ctx0" brushRef="#br0" timeOffset="66456.28">21008 7849</inkml:trace>
</inkml:ink>
</file>

<file path=ppt/ink/ink3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23T03:43:12.351"/>
    </inkml:context>
    <inkml:brush xml:id="br0">
      <inkml:brushProperty name="width" value="0.05292" units="cm"/>
      <inkml:brushProperty name="height" value="0.05292" units="cm"/>
      <inkml:brushProperty name="color" value="#FF0000"/>
    </inkml:brush>
  </inkml:definitions>
  <inkml:trace contextRef="#ctx0" brushRef="#br0">27023 2417</inkml:trace>
</inkml:ink>
</file>

<file path=ppt/ink/ink3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3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ink/ink3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3-08-06T04:46:04.482"/>
    </inkml:context>
    <inkml:brush xml:id="br0">
      <inkml:brushProperty name="width" value="0.05292" units="cm"/>
      <inkml:brushProperty name="height" value="0.05292" units="cm"/>
      <inkml:brushProperty name="color" value="#FF0000"/>
    </inkml:brush>
  </inkml:definitions>
  <inkml:trace contextRef="#ctx0" brushRef="#br0">13635 7497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9A1633-654D-44A2-8DBE-E3C5FA6DCB60}" type="datetimeFigureOut">
              <a:rPr lang="en-IN" smtClean="0"/>
              <a:pPr/>
              <a:t>03-04-2026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2361CE-761E-4EF0-95D6-5F283C069F9E}" type="slidenum">
              <a:rPr lang="en-IN" smtClean="0"/>
              <a:pPr/>
              <a:t>‹#›</a:t>
            </a:fld>
            <a:endParaRPr lang="en-IN"/>
          </a:p>
        </p:txBody>
      </p:sp>
    </p:spTree>
    <p:extLst>
      <p:ext uri="{BB962C8B-B14F-4D97-AF65-F5344CB8AC3E}">
        <p14:creationId xmlns:p14="http://schemas.microsoft.com/office/powerpoint/2010/main" val="139436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3E07F03-986E-75A0-3F81-460019F27B9E}"/>
            </a:ext>
          </a:extLst>
        </p:cNvPr>
        <p:cNvGrpSpPr/>
        <p:nvPr/>
      </p:nvGrpSpPr>
      <p:grpSpPr>
        <a:xfrm>
          <a:off x="0" y="0"/>
          <a:ext cx="0" cy="0"/>
          <a:chOff x="0" y="0"/>
          <a:chExt cx="0" cy="0"/>
        </a:xfrm>
      </p:grpSpPr>
      <p:sp>
        <p:nvSpPr>
          <p:cNvPr id="2" name="Zástupný symbol pro obrázek snímku 1">
            <a:extLst>
              <a:ext uri="{FF2B5EF4-FFF2-40B4-BE49-F238E27FC236}">
                <a16:creationId xmlns="" xmlns:a16="http://schemas.microsoft.com/office/drawing/2014/main" id="{785EC346-A6CD-D333-C851-72F2A03F2A83}"/>
              </a:ext>
            </a:extLst>
          </p:cNvPr>
          <p:cNvSpPr>
            <a:spLocks noGrp="1" noRot="1" noChangeAspect="1"/>
          </p:cNvSpPr>
          <p:nvPr>
            <p:ph type="sldImg"/>
          </p:nvPr>
        </p:nvSpPr>
        <p:spPr>
          <a:xfrm>
            <a:off x="393700" y="692150"/>
            <a:ext cx="6070600" cy="3416300"/>
          </a:xfrm>
        </p:spPr>
      </p:sp>
      <p:sp>
        <p:nvSpPr>
          <p:cNvPr id="3" name="Zástupný symbol pro poznámky 2">
            <a:extLst>
              <a:ext uri="{FF2B5EF4-FFF2-40B4-BE49-F238E27FC236}">
                <a16:creationId xmlns="" xmlns:a16="http://schemas.microsoft.com/office/drawing/2014/main" id="{34515E75-87C5-8B8C-5A8A-18A7D0A79A31}"/>
              </a:ext>
            </a:extLst>
          </p:cNvPr>
          <p:cNvSpPr>
            <a:spLocks noGrp="1"/>
          </p:cNvSpPr>
          <p:nvPr>
            <p:ph type="body" idx="1"/>
          </p:nvPr>
        </p:nvSpPr>
        <p:spPr/>
        <p:txBody>
          <a:bodyPr>
            <a:normAutofit/>
          </a:bodyPr>
          <a:lstStyle/>
          <a:p>
            <a:r>
              <a:rPr lang="en-US" dirty="0"/>
              <a:t>TODO</a:t>
            </a:r>
            <a:r>
              <a:rPr lang="en-US" baseline="0" dirty="0"/>
              <a:t> – List(1, 2) co se </a:t>
            </a:r>
            <a:r>
              <a:rPr lang="en-US" baseline="0" dirty="0" err="1"/>
              <a:t>presne</a:t>
            </a:r>
            <a:r>
              <a:rPr lang="en-US" baseline="0" dirty="0"/>
              <a:t> </a:t>
            </a:r>
            <a:r>
              <a:rPr lang="en-US" baseline="0" dirty="0" err="1"/>
              <a:t>vola</a:t>
            </a:r>
            <a:r>
              <a:rPr lang="en-US" baseline="0" dirty="0"/>
              <a:t>? </a:t>
            </a:r>
            <a:r>
              <a:rPr lang="en-US" baseline="0" dirty="0" err="1"/>
              <a:t>Scala.List</a:t>
            </a:r>
            <a:endParaRPr lang="cs-CZ" dirty="0"/>
          </a:p>
        </p:txBody>
      </p:sp>
    </p:spTree>
    <p:extLst>
      <p:ext uri="{BB962C8B-B14F-4D97-AF65-F5344CB8AC3E}">
        <p14:creationId xmlns:p14="http://schemas.microsoft.com/office/powerpoint/2010/main" val="460444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dirty="0"/>
              <a:t>TODO</a:t>
            </a:r>
            <a:r>
              <a:rPr lang="en-US" baseline="0" dirty="0"/>
              <a:t> – List(1, 2) co se </a:t>
            </a:r>
            <a:r>
              <a:rPr lang="en-US" baseline="0" dirty="0" err="1"/>
              <a:t>presne</a:t>
            </a:r>
            <a:r>
              <a:rPr lang="en-US" baseline="0" dirty="0"/>
              <a:t> </a:t>
            </a:r>
            <a:r>
              <a:rPr lang="en-US" baseline="0" dirty="0" err="1"/>
              <a:t>vola</a:t>
            </a:r>
            <a:r>
              <a:rPr lang="en-US" baseline="0" dirty="0"/>
              <a:t>? </a:t>
            </a:r>
            <a:r>
              <a:rPr lang="en-US" baseline="0" dirty="0" err="1"/>
              <a:t>Scala.List</a:t>
            </a:r>
            <a:endParaRPr lang="cs-CZ"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393700" y="692150"/>
            <a:ext cx="6070600" cy="3416300"/>
          </a:xfrm>
        </p:spPr>
      </p:sp>
      <p:sp>
        <p:nvSpPr>
          <p:cNvPr id="3" name="Zástupný symbol pro poznámky 2"/>
          <p:cNvSpPr>
            <a:spLocks noGrp="1"/>
          </p:cNvSpPr>
          <p:nvPr>
            <p:ph type="body" idx="1"/>
          </p:nvPr>
        </p:nvSpPr>
        <p:spPr/>
        <p:txBody>
          <a:bodyPr>
            <a:normAutofit/>
          </a:bodyPr>
          <a:lstStyle/>
          <a:p>
            <a:r>
              <a:rPr lang="en-US"/>
              <a:t>TODO</a:t>
            </a:r>
            <a:r>
              <a:rPr lang="en-US" baseline="0"/>
              <a:t> – List(1, 2) co se presne vola? Scala.List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EDBA9E4-7191-4DCF-9A3A-9F1C88F66FC4}"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949631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26348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BA9E4-7191-4DCF-9A3A-9F1C88F66FC4}"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1241678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DBA9E4-7191-4DCF-9A3A-9F1C88F66FC4}"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1210363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DBA9E4-7191-4DCF-9A3A-9F1C88F66FC4}" type="datetimeFigureOut">
              <a:rPr lang="en-US" smtClean="0"/>
              <a:pPr/>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718897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DBA9E4-7191-4DCF-9A3A-9F1C88F66FC4}" type="datetimeFigureOut">
              <a:rPr lang="en-US" smtClean="0"/>
              <a:pPr/>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026076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BA9E4-7191-4DCF-9A3A-9F1C88F66FC4}"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127467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1425913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720850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3186415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B0FB96-DBE3-4E5C-BD41-2DAB20BC7E24}" type="slidenum">
              <a:rPr lang="en-US" smtClean="0"/>
              <a:pPr/>
              <a:t>‹#›</a:t>
            </a:fld>
            <a:endParaRPr lang="en-US"/>
          </a:p>
        </p:txBody>
      </p:sp>
    </p:spTree>
    <p:extLst>
      <p:ext uri="{BB962C8B-B14F-4D97-AF65-F5344CB8AC3E}">
        <p14:creationId xmlns:p14="http://schemas.microsoft.com/office/powerpoint/2010/main" val="27010112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121266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6625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74741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244323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8211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097208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742067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99220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102834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4667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556986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865796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80712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39198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125596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237901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024640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746404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9433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33998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600405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4003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BA9E4-7191-4DCF-9A3A-9F1C88F66FC4}" type="datetimeFigureOut">
              <a:rPr lang="en-US" smtClean="0"/>
              <a:pPr/>
              <a:t>4/3/2026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B0FB96-DBE3-4E5C-BD41-2DAB20BC7E24}" type="slidenum">
              <a:rPr lang="en-US" smtClean="0"/>
              <a:pPr/>
              <a:t>‹#›</a:t>
            </a:fld>
            <a:endParaRPr lang="en-US"/>
          </a:p>
        </p:txBody>
      </p:sp>
    </p:spTree>
    <p:extLst>
      <p:ext uri="{BB962C8B-B14F-4D97-AF65-F5344CB8AC3E}">
        <p14:creationId xmlns:p14="http://schemas.microsoft.com/office/powerpoint/2010/main" val="3712182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79130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BA9E4-7191-4DCF-9A3A-9F1C88F66FC4}"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B0FB96-DBE3-4E5C-BD41-2DAB20BC7E2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317460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customXml" Target="../ink/ink1.xml"/><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jpeg"/><Relationship Id="rId11" Type="http://schemas.microsoft.com/office/2007/relationships/hdphoto" Target="../media/hdphoto3.wdp"/><Relationship Id="rId5" Type="http://schemas.openxmlformats.org/officeDocument/2006/relationships/image" Target="../media/image3.png"/><Relationship Id="rId10" Type="http://schemas.openxmlformats.org/officeDocument/2006/relationships/image" Target="../media/image6.jpeg"/><Relationship Id="rId4" Type="http://schemas.openxmlformats.org/officeDocument/2006/relationships/image" Target="../media/image69.emf"/><Relationship Id="rId9" Type="http://schemas.microsoft.com/office/2007/relationships/hdphoto" Target="../media/hdphoto2.wdp"/></Relationships>
</file>

<file path=ppt/slides/_rels/slide4.xml.rels><?xml version="1.0" encoding="UTF-8" standalone="yes"?>
<Relationships xmlns="http://schemas.openxmlformats.org/package/2006/relationships"><Relationship Id="rId2" Type="http://schemas.openxmlformats.org/officeDocument/2006/relationships/customXml" Target="../ink/ink2.xml"/><Relationship Id="rId1" Type="http://schemas.openxmlformats.org/officeDocument/2006/relationships/slideLayout" Target="../slideLayouts/slideLayout1.xml"/><Relationship Id="rId5" Type="http://schemas.openxmlformats.org/officeDocument/2006/relationships/image" Target="../media/image76.e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Software_deployment" TargetMode="External"/><Relationship Id="rId13" Type="http://schemas.openxmlformats.org/officeDocument/2006/relationships/hyperlink" Target="https://googleappengine.blogspot.com/2008/04/introducing-google-app-engine-our-new.html" TargetMode="External"/><Relationship Id="rId18" Type="http://schemas.openxmlformats.org/officeDocument/2006/relationships/customXml" Target="../ink/ink3.xml"/><Relationship Id="rId3" Type="http://schemas.openxmlformats.org/officeDocument/2006/relationships/hyperlink" Target="https://en.wikipedia.org/wiki/Storage_virtualization" TargetMode="External"/><Relationship Id="rId7" Type="http://schemas.openxmlformats.org/officeDocument/2006/relationships/hyperlink" Target="https://en.wikipedia.org/wiki/Application_service_provider" TargetMode="External"/><Relationship Id="rId12" Type="http://schemas.openxmlformats.org/officeDocument/2006/relationships/hyperlink" Target="https://en.wikipedia.org/wiki/Internet_of_Things" TargetMode="External"/><Relationship Id="rId17" Type="http://schemas.openxmlformats.org/officeDocument/2006/relationships/hyperlink" Target="https://en.wikipedia.org/wiki/Programming_language" TargetMode="External"/><Relationship Id="rId2" Type="http://schemas.openxmlformats.org/officeDocument/2006/relationships/hyperlink" Target="https://en.wikipedia.org/wiki/Computation" TargetMode="External"/><Relationship Id="rId16" Type="http://schemas.openxmlformats.org/officeDocument/2006/relationships/hyperlink" Target="https://en.wikipedia.org/wiki/Infrastructure_as_a_service" TargetMode="External"/><Relationship Id="rId20" Type="http://schemas.openxmlformats.org/officeDocument/2006/relationships/image" Target="../media/image82.emf"/><Relationship Id="rId1" Type="http://schemas.openxmlformats.org/officeDocument/2006/relationships/slideLayout" Target="../slideLayouts/slideLayout1.xml"/><Relationship Id="rId6" Type="http://schemas.openxmlformats.org/officeDocument/2006/relationships/hyperlink" Target="https://en.wikipedia.org/wiki/Analytics" TargetMode="External"/><Relationship Id="rId11" Type="http://schemas.openxmlformats.org/officeDocument/2006/relationships/hyperlink" Target="https://en.wikipedia.org/wiki/Programming_tool" TargetMode="External"/><Relationship Id="rId5" Type="http://schemas.openxmlformats.org/officeDocument/2006/relationships/hyperlink" Target="https://en.wikipedia.org/wiki/Database" TargetMode="External"/><Relationship Id="rId15" Type="http://schemas.openxmlformats.org/officeDocument/2006/relationships/hyperlink" Target="https://en.wikipedia.org/wiki/Platform_as_a_service" TargetMode="External"/><Relationship Id="rId10" Type="http://schemas.openxmlformats.org/officeDocument/2006/relationships/hyperlink" Target="https://en.wikipedia.org/wiki/Mobile_application_development" TargetMode="External"/><Relationship Id="rId4" Type="http://schemas.openxmlformats.org/officeDocument/2006/relationships/hyperlink" Target="https://en.wikipedia.org/wiki/Computer_network" TargetMode="External"/><Relationship Id="rId9" Type="http://schemas.openxmlformats.org/officeDocument/2006/relationships/hyperlink" Target="https://en.wikipedia.org/wiki/Systems_management" TargetMode="External"/><Relationship Id="rId14" Type="http://schemas.openxmlformats.org/officeDocument/2006/relationships/hyperlink" Target="https://en.wikipedia.org/wiki/Software_as_a_service" TargetMode="External"/></Relationships>
</file>

<file path=ppt/slides/_rels/slide7.xml.rels><?xml version="1.0" encoding="UTF-8" standalone="yes"?>
<Relationships xmlns="http://schemas.openxmlformats.org/package/2006/relationships"><Relationship Id="rId26" Type="http://schemas.openxmlformats.org/officeDocument/2006/relationships/image" Target="../media/image11.png"/><Relationship Id="rId25" Type="http://schemas.openxmlformats.org/officeDocument/2006/relationships/image" Target="../media/image416.png"/><Relationship Id="rId2" Type="http://schemas.openxmlformats.org/officeDocument/2006/relationships/customXml" Target="../ink/ink4.xml"/><Relationship Id="rId1" Type="http://schemas.openxmlformats.org/officeDocument/2006/relationships/slideLayout" Target="../slideLayouts/slideLayout1.xml"/><Relationship Id="rId27"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96.emf"/></Relationships>
</file>

<file path=ppt/slides/_rels/slide10.xml.rels><?xml version="1.0" encoding="UTF-8" standalone="yes"?>
<Relationships xmlns="http://schemas.openxmlformats.org/package/2006/relationships"><Relationship Id="rId8" Type="http://schemas.openxmlformats.org/officeDocument/2006/relationships/hyperlink" Target="https://cloud.google.com/bigquery" TargetMode="External"/><Relationship Id="rId13" Type="http://schemas.openxmlformats.org/officeDocument/2006/relationships/hyperlink" Target="https://cloud.google.com/monitoring" TargetMode="External"/><Relationship Id="rId3" Type="http://schemas.openxmlformats.org/officeDocument/2006/relationships/hyperlink" Target="https://cloud.google.com/persistent-disk" TargetMode="External"/><Relationship Id="rId7" Type="http://schemas.openxmlformats.org/officeDocument/2006/relationships/hyperlink" Target="https://cloud.google.com/looker" TargetMode="External"/><Relationship Id="rId12" Type="http://schemas.openxmlformats.org/officeDocument/2006/relationships/hyperlink" Target="https://cloud.google.com/vpc" TargetMode="External"/><Relationship Id="rId2" Type="http://schemas.openxmlformats.org/officeDocument/2006/relationships/hyperlink" Target="https://cloud.google.com/storage" TargetMode="External"/><Relationship Id="rId1" Type="http://schemas.openxmlformats.org/officeDocument/2006/relationships/slideLayout" Target="../slideLayouts/slideLayout1.xml"/><Relationship Id="rId6" Type="http://schemas.openxmlformats.org/officeDocument/2006/relationships/hyperlink" Target="https://cloud.google.com/sql" TargetMode="External"/><Relationship Id="rId11" Type="http://schemas.openxmlformats.org/officeDocument/2006/relationships/hyperlink" Target="https://cloud.google.com/composer" TargetMode="External"/><Relationship Id="rId5" Type="http://schemas.openxmlformats.org/officeDocument/2006/relationships/hyperlink" Target="https://cloud.google.com/spanner" TargetMode="External"/><Relationship Id="rId10" Type="http://schemas.openxmlformats.org/officeDocument/2006/relationships/hyperlink" Target="https://cloud.google.com/dataproc" TargetMode="External"/><Relationship Id="rId4" Type="http://schemas.openxmlformats.org/officeDocument/2006/relationships/hyperlink" Target="https://cloud.google.com/compute" TargetMode="External"/><Relationship Id="rId9" Type="http://schemas.openxmlformats.org/officeDocument/2006/relationships/hyperlink" Target="https://cloud.google.com/pubsub" TargetMode="External"/><Relationship Id="rId14" Type="http://schemas.openxmlformats.org/officeDocument/2006/relationships/hyperlink" Target="https://cloud.google.com/iam"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610.png"/><Relationship Id="rId4" Type="http://schemas.openxmlformats.org/officeDocument/2006/relationships/customXml" Target="../ink/ink6.xml"/><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customXml" Target="../ink/ink7.xml"/><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83.emf"/><Relationship Id="rId10" Type="http://schemas.openxmlformats.org/officeDocument/2006/relationships/image" Target="../media/image24.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hyperlink" Target="https://datacenters.microsoft.com/globe/explore/" TargetMode="External"/><Relationship Id="rId2" Type="http://schemas.openxmlformats.org/officeDocument/2006/relationships/image" Target="../media/image29.png"/><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hyperlink" Target="https://inceptezlabs.com/cloudengg" TargetMode="Externa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23.xml"/><Relationship Id="rId6" Type="http://schemas.openxmlformats.org/officeDocument/2006/relationships/image" Target="../media/image49.emf"/><Relationship Id="rId5" Type="http://schemas.openxmlformats.org/officeDocument/2006/relationships/customXml" Target="../ink/ink8.xml"/><Relationship Id="rId4" Type="http://schemas.microsoft.com/office/2007/relationships/hdphoto" Target="../media/hdphoto4.wdp"/></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3.xml"/><Relationship Id="rId6" Type="http://schemas.openxmlformats.org/officeDocument/2006/relationships/image" Target="../media/image49.emf"/><Relationship Id="rId4" Type="http://schemas.openxmlformats.org/officeDocument/2006/relationships/customXml" Target="../ink/ink9.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24.png"/><Relationship Id="rId5" Type="http://schemas.openxmlformats.org/officeDocument/2006/relationships/image" Target="../media/image49.emf"/><Relationship Id="rId4" Type="http://schemas.openxmlformats.org/officeDocument/2006/relationships/customXml" Target="../ink/ink10.xml"/></Relationships>
</file>

<file path=ppt/slides/_rels/slide20.xml.rels><?xml version="1.0" encoding="UTF-8" standalone="yes"?>
<Relationships xmlns="http://schemas.openxmlformats.org/package/2006/relationships"><Relationship Id="rId3" Type="http://schemas.openxmlformats.org/officeDocument/2006/relationships/customXml" Target="../ink/ink11.xml"/><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image" Target="../media/image34.png"/><Relationship Id="rId5" Type="http://schemas.openxmlformats.org/officeDocument/2006/relationships/image" Target="../media/image49.emf"/></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ustomXml" Target="../ink/ink12.xml"/><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20.emf"/></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3.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40.png"/><Relationship Id="rId7" Type="http://schemas.openxmlformats.org/officeDocument/2006/relationships/image" Target="../media/image43.jpeg"/><Relationship Id="rId2" Type="http://schemas.openxmlformats.org/officeDocument/2006/relationships/notesSlide" Target="../notesSlides/notesSlide12.xml"/><Relationship Id="rId1" Type="http://schemas.openxmlformats.org/officeDocument/2006/relationships/slideLayout" Target="../slideLayouts/slideLayout23.xml"/><Relationship Id="rId6" Type="http://schemas.openxmlformats.org/officeDocument/2006/relationships/image" Target="../media/image42.jpeg"/><Relationship Id="rId5" Type="http://schemas.openxmlformats.org/officeDocument/2006/relationships/image" Target="../media/image41.jpeg"/><Relationship Id="rId4" Type="http://schemas.microsoft.com/office/2007/relationships/hdphoto" Target="../media/hdphoto5.wdp"/><Relationship Id="rId9" Type="http://schemas.openxmlformats.org/officeDocument/2006/relationships/image" Target="../media/image125.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4.png"/><Relationship Id="rId7" Type="http://schemas.openxmlformats.org/officeDocument/2006/relationships/image" Target="../media/image45.png"/><Relationship Id="rId2" Type="http://schemas.openxmlformats.org/officeDocument/2006/relationships/hyperlink" Target="https://aka.ms/installazurecliwindowsx64" TargetMode="External"/><Relationship Id="rId1" Type="http://schemas.openxmlformats.org/officeDocument/2006/relationships/slideLayout" Target="../slideLayouts/slideLayout24.xml"/><Relationship Id="rId6" Type="http://schemas.openxmlformats.org/officeDocument/2006/relationships/image" Target="../media/image44.png"/><Relationship Id="rId5" Type="http://schemas.microsoft.com/office/2007/relationships/hdphoto" Target="../media/hdphoto5.wdp"/><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png"/><Relationship Id="rId1" Type="http://schemas.openxmlformats.org/officeDocument/2006/relationships/slideLayout" Target="../slideLayouts/slideLayout24.xml"/><Relationship Id="rId4" Type="http://schemas.microsoft.com/office/2007/relationships/hdphoto" Target="../media/hdphoto5.wdp"/></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23.xml"/><Relationship Id="rId5" Type="http://schemas.openxmlformats.org/officeDocument/2006/relationships/image" Target="../media/image47.png"/><Relationship Id="rId4" Type="http://schemas.microsoft.com/office/2007/relationships/hdphoto" Target="../media/hdphoto4.wdp"/></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4.png"/><Relationship Id="rId1" Type="http://schemas.openxmlformats.org/officeDocument/2006/relationships/slideLayout" Target="../slideLayouts/slideLayout2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4.xml"/><Relationship Id="rId6" Type="http://schemas.openxmlformats.org/officeDocument/2006/relationships/image" Target="../media/image24.png"/><Relationship Id="rId5" Type="http://schemas.openxmlformats.org/officeDocument/2006/relationships/image" Target="../media/image56.png"/><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60.png"/><Relationship Id="rId18" Type="http://schemas.openxmlformats.org/officeDocument/2006/relationships/image" Target="../media/image65.png"/><Relationship Id="rId7" Type="http://schemas.openxmlformats.org/officeDocument/2006/relationships/image" Target="../media/image201.emf"/><Relationship Id="rId12" Type="http://schemas.openxmlformats.org/officeDocument/2006/relationships/image" Target="../media/image59.png"/><Relationship Id="rId17" Type="http://schemas.openxmlformats.org/officeDocument/2006/relationships/image" Target="../media/image64.png"/><Relationship Id="rId2" Type="http://schemas.openxmlformats.org/officeDocument/2006/relationships/customXml" Target="../ink/ink14.xml"/><Relationship Id="rId16" Type="http://schemas.openxmlformats.org/officeDocument/2006/relationships/image" Target="../media/image63.png"/><Relationship Id="rId1" Type="http://schemas.openxmlformats.org/officeDocument/2006/relationships/slideLayout" Target="../slideLayouts/slideLayout23.xml"/><Relationship Id="rId11" Type="http://schemas.openxmlformats.org/officeDocument/2006/relationships/image" Target="../media/image58.png"/><Relationship Id="rId15" Type="http://schemas.openxmlformats.org/officeDocument/2006/relationships/image" Target="../media/image62.png"/><Relationship Id="rId10" Type="http://schemas.openxmlformats.org/officeDocument/2006/relationships/image" Target="../media/image57.png"/><Relationship Id="rId9" Type="http://schemas.openxmlformats.org/officeDocument/2006/relationships/image" Target="../media/image202.emf"/><Relationship Id="rId14" Type="http://schemas.openxmlformats.org/officeDocument/2006/relationships/image" Target="../media/image6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8" Type="http://schemas.openxmlformats.org/officeDocument/2006/relationships/image" Target="../media/image144.emf"/><Relationship Id="rId13" Type="http://schemas.openxmlformats.org/officeDocument/2006/relationships/image" Target="../media/image72.png"/><Relationship Id="rId7" Type="http://schemas.openxmlformats.org/officeDocument/2006/relationships/customXml" Target="../ink/ink17.xml"/><Relationship Id="rId12" Type="http://schemas.openxmlformats.org/officeDocument/2006/relationships/image" Target="../media/image71.png"/><Relationship Id="rId2" Type="http://schemas.openxmlformats.org/officeDocument/2006/relationships/customXml" Target="../ink/ink16.xml"/><Relationship Id="rId1" Type="http://schemas.openxmlformats.org/officeDocument/2006/relationships/slideLayout" Target="../slideLayouts/slideLayout24.xml"/><Relationship Id="rId6" Type="http://schemas.openxmlformats.org/officeDocument/2006/relationships/image" Target="../media/image851.emf"/><Relationship Id="rId11" Type="http://schemas.openxmlformats.org/officeDocument/2006/relationships/image" Target="../media/image70.png"/><Relationship Id="rId10" Type="http://schemas.openxmlformats.org/officeDocument/2006/relationships/image" Target="../media/image69.png"/><Relationship Id="rId9" Type="http://schemas.openxmlformats.org/officeDocument/2006/relationships/image" Target="../media/image68.png"/><Relationship Id="rId14" Type="http://schemas.openxmlformats.org/officeDocument/2006/relationships/image" Target="../media/image7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8" Type="http://schemas.openxmlformats.org/officeDocument/2006/relationships/image" Target="../media/image74.png"/><Relationship Id="rId3" Type="http://schemas.openxmlformats.org/officeDocument/2006/relationships/customXml" Target="../ink/ink18.xml"/><Relationship Id="rId21" Type="http://schemas.openxmlformats.org/officeDocument/2006/relationships/customXml" Target="../ink/ink22.xml"/><Relationship Id="rId17" Type="http://schemas.openxmlformats.org/officeDocument/2006/relationships/image" Target="../media/image195.emf"/><Relationship Id="rId2" Type="http://schemas.openxmlformats.org/officeDocument/2006/relationships/notesSlide" Target="../notesSlides/notesSlide16.xml"/><Relationship Id="rId16" Type="http://schemas.openxmlformats.org/officeDocument/2006/relationships/customXml" Target="../ink/ink20.xml"/><Relationship Id="rId20" Type="http://schemas.openxmlformats.org/officeDocument/2006/relationships/image" Target="../media/image70.emf"/><Relationship Id="rId1" Type="http://schemas.openxmlformats.org/officeDocument/2006/relationships/slideLayout" Target="../slideLayouts/slideLayout23.xml"/><Relationship Id="rId11" Type="http://schemas.openxmlformats.org/officeDocument/2006/relationships/customXml" Target="../ink/ink19.xml"/><Relationship Id="rId15" Type="http://schemas.openxmlformats.org/officeDocument/2006/relationships/image" Target="../media/image157.emf"/><Relationship Id="rId10" Type="http://schemas.openxmlformats.org/officeDocument/2006/relationships/image" Target="../media/image24.png"/><Relationship Id="rId19" Type="http://schemas.openxmlformats.org/officeDocument/2006/relationships/customXml" Target="../ink/ink21.xml"/><Relationship Id="rId9" Type="http://schemas.openxmlformats.org/officeDocument/2006/relationships/image" Target="../media/image380.emf"/><Relationship Id="rId22" Type="http://schemas.openxmlformats.org/officeDocument/2006/relationships/image" Target="../media/image71.emf"/></Relationships>
</file>

<file path=ppt/slides/_rels/slide40.xml.rels><?xml version="1.0" encoding="UTF-8" standalone="yes"?>
<Relationships xmlns="http://schemas.openxmlformats.org/package/2006/relationships"><Relationship Id="rId3" Type="http://schemas.openxmlformats.org/officeDocument/2006/relationships/hyperlink" Target="https://portal.azure.com/#@inztechpvtltdgmail.onmicrosoft.com/resource/subscriptions/b9f2b1ae-1c93-4be7-a4bc-7c233e4cc3c4/resourceGroups/iz-resource-grp1/providers/Microsoft.Storage/storageAccounts/izadlsgen21" TargetMode="External"/><Relationship Id="rId2" Type="http://schemas.openxmlformats.org/officeDocument/2006/relationships/notesSlide" Target="../notesSlides/notesSlide17.xml"/><Relationship Id="rId1" Type="http://schemas.openxmlformats.org/officeDocument/2006/relationships/slideLayout" Target="../slideLayouts/slideLayout23.xml"/><Relationship Id="rId5" Type="http://schemas.openxmlformats.org/officeDocument/2006/relationships/image" Target="../media/image72.emf"/><Relationship Id="rId4" Type="http://schemas.openxmlformats.org/officeDocument/2006/relationships/customXml" Target="../ink/ink23.xml"/></Relationships>
</file>

<file path=ppt/slides/_rels/slide41.xml.rels><?xml version="1.0" encoding="UTF-8" standalone="yes"?>
<Relationships xmlns="http://schemas.openxmlformats.org/package/2006/relationships"><Relationship Id="rId3" Type="http://schemas.openxmlformats.org/officeDocument/2006/relationships/customXml" Target="../ink/ink24.xml"/><Relationship Id="rId12" Type="http://schemas.openxmlformats.org/officeDocument/2006/relationships/customXml" Target="../ink/ink25.xml"/><Relationship Id="rId17" Type="http://schemas.openxmlformats.org/officeDocument/2006/relationships/image" Target="../media/image195.emf"/><Relationship Id="rId2" Type="http://schemas.openxmlformats.org/officeDocument/2006/relationships/notesSlide" Target="../notesSlides/notesSlide18.xml"/><Relationship Id="rId16" Type="http://schemas.openxmlformats.org/officeDocument/2006/relationships/customXml" Target="../ink/ink26.xml"/><Relationship Id="rId1" Type="http://schemas.openxmlformats.org/officeDocument/2006/relationships/slideLayout" Target="../slideLayouts/slideLayout23.xml"/><Relationship Id="rId11" Type="http://schemas.openxmlformats.org/officeDocument/2006/relationships/image" Target="../media/image24.png"/><Relationship Id="rId15" Type="http://schemas.openxmlformats.org/officeDocument/2006/relationships/image" Target="../media/image157.emf"/><Relationship Id="rId10" Type="http://schemas.openxmlformats.org/officeDocument/2006/relationships/hyperlink" Target="https://portal.azure.com/#@inztechpvtltdgmail.onmicrosoft.com/resource/subscriptions/b9f2b1ae-1c93-4be7-a4bc-7c233e4cc3c4/resourceGroups/iz-resource-grp1/providers/Microsoft.Storage/storageAccounts/izadlsgen21" TargetMode="External"/><Relationship Id="rId9" Type="http://schemas.openxmlformats.org/officeDocument/2006/relationships/image" Target="../media/image380.emf"/></Relationships>
</file>

<file path=ppt/slides/_rels/slide42.xml.rels><?xml version="1.0" encoding="UTF-8" standalone="yes"?>
<Relationships xmlns="http://schemas.openxmlformats.org/package/2006/relationships"><Relationship Id="rId3" Type="http://schemas.openxmlformats.org/officeDocument/2006/relationships/customXml" Target="../ink/ink27.xml"/><Relationship Id="rId17" Type="http://schemas.openxmlformats.org/officeDocument/2006/relationships/image" Target="../media/image195.emf"/><Relationship Id="rId2" Type="http://schemas.openxmlformats.org/officeDocument/2006/relationships/notesSlide" Target="../notesSlides/notesSlide19.xml"/><Relationship Id="rId16" Type="http://schemas.openxmlformats.org/officeDocument/2006/relationships/customXml" Target="../ink/ink29.xml"/><Relationship Id="rId1" Type="http://schemas.openxmlformats.org/officeDocument/2006/relationships/slideLayout" Target="../slideLayouts/slideLayout23.xml"/><Relationship Id="rId11" Type="http://schemas.openxmlformats.org/officeDocument/2006/relationships/customXml" Target="../ink/ink28.xml"/><Relationship Id="rId15" Type="http://schemas.openxmlformats.org/officeDocument/2006/relationships/image" Target="../media/image157.emf"/><Relationship Id="rId10" Type="http://schemas.openxmlformats.org/officeDocument/2006/relationships/image" Target="../media/image24.png"/><Relationship Id="rId9" Type="http://schemas.openxmlformats.org/officeDocument/2006/relationships/image" Target="../media/image380.emf"/></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3.xml"/><Relationship Id="rId6" Type="http://schemas.microsoft.com/office/2007/relationships/hdphoto" Target="../media/hdphoto5.wdp"/><Relationship Id="rId5" Type="http://schemas.openxmlformats.org/officeDocument/2006/relationships/image" Target="../media/image40.png"/><Relationship Id="rId4" Type="http://schemas.openxmlformats.org/officeDocument/2006/relationships/hyperlink" Target="mailto:mailid@gmail.com" TargetMode="External"/></Relationships>
</file>

<file path=ppt/slides/_rels/slide44.xml.rels><?xml version="1.0" encoding="UTF-8" standalone="yes"?>
<Relationships xmlns="http://schemas.openxmlformats.org/package/2006/relationships"><Relationship Id="rId8" Type="http://schemas.openxmlformats.org/officeDocument/2006/relationships/customXml" Target="../ink/ink30.xml"/><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3.xml"/><Relationship Id="rId6" Type="http://schemas.openxmlformats.org/officeDocument/2006/relationships/diagramColors" Target="../diagrams/colors4.xml"/><Relationship Id="rId11" Type="http://schemas.openxmlformats.org/officeDocument/2006/relationships/image" Target="../media/image165.emf"/><Relationship Id="rId5" Type="http://schemas.openxmlformats.org/officeDocument/2006/relationships/diagramQuickStyle" Target="../diagrams/quickStyle4.xml"/><Relationship Id="rId10" Type="http://schemas.openxmlformats.org/officeDocument/2006/relationships/customXml" Target="../ink/ink31.xml"/><Relationship Id="rId4" Type="http://schemas.openxmlformats.org/officeDocument/2006/relationships/diagramLayout" Target="../diagrams/layout4.xml"/><Relationship Id="rId9" Type="http://schemas.openxmlformats.org/officeDocument/2006/relationships/image" Target="../media/image380.emf"/></Relationships>
</file>

<file path=ppt/slides/_rels/slide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8" Type="http://schemas.openxmlformats.org/officeDocument/2006/relationships/image" Target="../media/image80.png"/><Relationship Id="rId26" Type="http://schemas.openxmlformats.org/officeDocument/2006/relationships/image" Target="../media/image86.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customXml" Target="../ink/ink32.xml"/><Relationship Id="rId25" Type="http://schemas.microsoft.com/office/2007/relationships/hdphoto" Target="../media/hdphoto6.wdp"/><Relationship Id="rId2" Type="http://schemas.openxmlformats.org/officeDocument/2006/relationships/image" Target="../media/image3.png"/><Relationship Id="rId1" Type="http://schemas.openxmlformats.org/officeDocument/2006/relationships/slideLayout" Target="../slideLayouts/slideLayout24.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85.jpeg"/><Relationship Id="rId5" Type="http://schemas.openxmlformats.org/officeDocument/2006/relationships/image" Target="../media/image77.png"/><Relationship Id="rId23" Type="http://schemas.openxmlformats.org/officeDocument/2006/relationships/image" Target="../media/image84.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 Id="rId22" Type="http://schemas.openxmlformats.org/officeDocument/2006/relationships/image" Target="../media/image202.emf"/></Relationships>
</file>

<file path=ppt/slides/_rels/slide4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7.png"/><Relationship Id="rId1" Type="http://schemas.openxmlformats.org/officeDocument/2006/relationships/slideLayout" Target="../slideLayouts/slideLayout24.xml"/><Relationship Id="rId4" Type="http://schemas.microsoft.com/office/2007/relationships/hdphoto" Target="../media/hdphoto1.wdp"/></Relationships>
</file>

<file path=ppt/slides/_rels/slide4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4.xml"/><Relationship Id="rId5" Type="http://schemas.openxmlformats.org/officeDocument/2006/relationships/image" Target="../media/image91.png"/><Relationship Id="rId4" Type="http://schemas.openxmlformats.org/officeDocument/2006/relationships/image" Target="../media/image9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8" Type="http://schemas.openxmlformats.org/officeDocument/2006/relationships/diagramColors" Target="../diagrams/colors5.xml"/><Relationship Id="rId13" Type="http://schemas.openxmlformats.org/officeDocument/2006/relationships/diagramColors" Target="../diagrams/colors6.xml"/><Relationship Id="rId3" Type="http://schemas.openxmlformats.org/officeDocument/2006/relationships/customXml" Target="../ink/ink33.xml"/><Relationship Id="rId7" Type="http://schemas.openxmlformats.org/officeDocument/2006/relationships/diagramQuickStyle" Target="../diagrams/quickStyle5.xml"/><Relationship Id="rId12" Type="http://schemas.openxmlformats.org/officeDocument/2006/relationships/diagramQuickStyle" Target="../diagrams/quickStyle6.xml"/><Relationship Id="rId2" Type="http://schemas.openxmlformats.org/officeDocument/2006/relationships/notesSlide" Target="../notesSlides/notesSlide22.xml"/><Relationship Id="rId1" Type="http://schemas.openxmlformats.org/officeDocument/2006/relationships/slideLayout" Target="../slideLayouts/slideLayout23.xml"/><Relationship Id="rId6" Type="http://schemas.openxmlformats.org/officeDocument/2006/relationships/diagramLayout" Target="../diagrams/layout5.xml"/><Relationship Id="rId11" Type="http://schemas.openxmlformats.org/officeDocument/2006/relationships/diagramLayout" Target="../diagrams/layout6.xml"/><Relationship Id="rId5" Type="http://schemas.openxmlformats.org/officeDocument/2006/relationships/diagramData" Target="../diagrams/data5.xml"/><Relationship Id="rId10" Type="http://schemas.openxmlformats.org/officeDocument/2006/relationships/diagramData" Target="../diagrams/data6.xml"/><Relationship Id="rId4" Type="http://schemas.openxmlformats.org/officeDocument/2006/relationships/image" Target="../media/image1590.emf"/><Relationship Id="rId9" Type="http://schemas.microsoft.com/office/2007/relationships/diagramDrawing" Target="../diagrams/drawing5.xml"/><Relationship Id="rId14" Type="http://schemas.microsoft.com/office/2007/relationships/diagramDrawing" Target="../diagrams/drawing6.xml"/></Relationships>
</file>

<file path=ppt/slides/_rels/slide51.xml.rels><?xml version="1.0" encoding="UTF-8" standalone="yes"?>
<Relationships xmlns="http://schemas.openxmlformats.org/package/2006/relationships"><Relationship Id="rId3" Type="http://schemas.openxmlformats.org/officeDocument/2006/relationships/image" Target="../media/image93.png"/><Relationship Id="rId7" Type="http://schemas.microsoft.com/office/2007/relationships/hdphoto" Target="../media/hdphoto7.wdp"/><Relationship Id="rId2" Type="http://schemas.openxmlformats.org/officeDocument/2006/relationships/image" Target="../media/image92.png"/><Relationship Id="rId1" Type="http://schemas.openxmlformats.org/officeDocument/2006/relationships/slideLayout" Target="../slideLayouts/slideLayout24.xml"/><Relationship Id="rId6" Type="http://schemas.openxmlformats.org/officeDocument/2006/relationships/image" Target="../media/image94.png"/><Relationship Id="rId5" Type="http://schemas.openxmlformats.org/officeDocument/2006/relationships/image" Target="../media/image1510.emf"/><Relationship Id="rId4" Type="http://schemas.openxmlformats.org/officeDocument/2006/relationships/customXml" Target="../ink/ink3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7.png"/><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3" Type="http://schemas.openxmlformats.org/officeDocument/2006/relationships/customXml" Target="../ink/ink35.xml"/><Relationship Id="rId7" Type="http://schemas.openxmlformats.org/officeDocument/2006/relationships/image" Target="../media/image104.png"/><Relationship Id="rId2" Type="http://schemas.openxmlformats.org/officeDocument/2006/relationships/notesSlide" Target="../notesSlides/notesSlide23.xml"/><Relationship Id="rId1" Type="http://schemas.openxmlformats.org/officeDocument/2006/relationships/slideLayout" Target="../slideLayouts/slideLayout23.xml"/><Relationship Id="rId6" Type="http://schemas.openxmlformats.org/officeDocument/2006/relationships/image" Target="../media/image103.png"/><Relationship Id="rId5" Type="http://schemas.openxmlformats.org/officeDocument/2006/relationships/image" Target="../media/image49.emf"/></Relationships>
</file>

<file path=ppt/slides/_rels/slide60.xml.rels><?xml version="1.0" encoding="UTF-8" standalone="yes"?>
<Relationships xmlns="http://schemas.openxmlformats.org/package/2006/relationships"><Relationship Id="rId3" Type="http://schemas.openxmlformats.org/officeDocument/2006/relationships/customXml" Target="../ink/ink36.xml"/><Relationship Id="rId7" Type="http://schemas.openxmlformats.org/officeDocument/2006/relationships/image" Target="../media/image106.png"/><Relationship Id="rId2" Type="http://schemas.openxmlformats.org/officeDocument/2006/relationships/notesSlide" Target="../notesSlides/notesSlide24.xml"/><Relationship Id="rId1" Type="http://schemas.openxmlformats.org/officeDocument/2006/relationships/slideLayout" Target="../slideLayouts/slideLayout23.xml"/><Relationship Id="rId6" Type="http://schemas.openxmlformats.org/officeDocument/2006/relationships/image" Target="../media/image105.png"/><Relationship Id="rId5" Type="http://schemas.openxmlformats.org/officeDocument/2006/relationships/image" Target="../media/image49.emf"/></Relationships>
</file>

<file path=ppt/slides/_rels/slide6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customXml" Target="../ink/ink37.xml"/><Relationship Id="rId7" Type="http://schemas.openxmlformats.org/officeDocument/2006/relationships/image" Target="../media/image112.png"/><Relationship Id="rId2" Type="http://schemas.openxmlformats.org/officeDocument/2006/relationships/notesSlide" Target="../notesSlides/notesSlide25.xml"/><Relationship Id="rId1" Type="http://schemas.openxmlformats.org/officeDocument/2006/relationships/slideLayout" Target="../slideLayouts/slideLayout23.xml"/><Relationship Id="rId6" Type="http://schemas.openxmlformats.org/officeDocument/2006/relationships/image" Target="../media/image111.png"/><Relationship Id="rId5" Type="http://schemas.openxmlformats.org/officeDocument/2006/relationships/image" Target="../media/image49.emf"/></Relationships>
</file>

<file path=ppt/slides/_rels/slide6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hyperlink" Target="https://drive.google.com/file/d/1X-uAU9Pyyssge8M_UtsSzcYZEb_5LSva/view?usp=drive_link" TargetMode="External"/><Relationship Id="rId1" Type="http://schemas.openxmlformats.org/officeDocument/2006/relationships/slideLayout" Target="../slideLayouts/slideLayout24.xml"/><Relationship Id="rId5" Type="http://schemas.openxmlformats.org/officeDocument/2006/relationships/image" Target="../media/image116.png"/><Relationship Id="rId4" Type="http://schemas.openxmlformats.org/officeDocument/2006/relationships/image" Target="../media/image115.png"/></Relationships>
</file>

<file path=ppt/slides/_rels/slide66.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4.png"/><Relationship Id="rId7" Type="http://schemas.openxmlformats.org/officeDocument/2006/relationships/image" Target="../media/image120.png"/><Relationship Id="rId2" Type="http://schemas.openxmlformats.org/officeDocument/2006/relationships/image" Target="../media/image117.png"/><Relationship Id="rId1" Type="http://schemas.openxmlformats.org/officeDocument/2006/relationships/slideLayout" Target="../slideLayouts/slideLayout24.xml"/><Relationship Id="rId6" Type="http://schemas.openxmlformats.org/officeDocument/2006/relationships/image" Target="../media/image115.png"/><Relationship Id="rId5" Type="http://schemas.openxmlformats.org/officeDocument/2006/relationships/image" Target="../media/image119.png"/><Relationship Id="rId4" Type="http://schemas.openxmlformats.org/officeDocument/2006/relationships/image" Target="../media/image118.png"/></Relationships>
</file>

<file path=ppt/slides/_rels/slide67.xml.rels><?xml version="1.0" encoding="UTF-8" standalone="yes"?>
<Relationships xmlns="http://schemas.openxmlformats.org/package/2006/relationships"><Relationship Id="rId3" Type="http://schemas.openxmlformats.org/officeDocument/2006/relationships/image" Target="../media/image122.png"/><Relationship Id="rId7" Type="http://schemas.openxmlformats.org/officeDocument/2006/relationships/hyperlink" Target="https://azure.microsoft.com/en-us/pricing/calculator/" TargetMode="External"/><Relationship Id="rId2" Type="http://schemas.openxmlformats.org/officeDocument/2006/relationships/image" Target="../media/image121.png"/><Relationship Id="rId1" Type="http://schemas.openxmlformats.org/officeDocument/2006/relationships/slideLayout" Target="../slideLayouts/slideLayout24.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a:spLocks noGrp="1"/>
          </p:cNvSpPr>
          <p:nvPr>
            <p:ph type="title"/>
          </p:nvPr>
        </p:nvSpPr>
        <p:spPr>
          <a:xfrm>
            <a:off x="2886452" y="2139808"/>
            <a:ext cx="5800165" cy="1143000"/>
          </a:xfrm>
        </p:spPr>
        <p:txBody>
          <a:bodyPr vert="horz" lIns="91440" tIns="45720" rIns="91440" bIns="45720" rtlCol="0" anchor="ctr">
            <a:normAutofit/>
          </a:bodyPr>
          <a:lstStyle/>
          <a:p>
            <a:r>
              <a:rPr lang="en-US" sz="6000" b="1" dirty="0">
                <a:solidFill>
                  <a:srgbClr val="FF0000"/>
                </a:solidFill>
              </a:rPr>
              <a:t>Cloud Computing</a:t>
            </a:r>
            <a:endParaRPr lang="en-US" b="1" dirty="0">
              <a:solidFill>
                <a:srgbClr val="FF0000"/>
              </a:solidFill>
            </a:endParaRPr>
          </a:p>
        </p:txBody>
      </p:sp>
      <p:sp>
        <p:nvSpPr>
          <p:cNvPr id="2" name="Oval 1"/>
          <p:cNvSpPr/>
          <p:nvPr/>
        </p:nvSpPr>
        <p:spPr>
          <a:xfrm>
            <a:off x="478565" y="529839"/>
            <a:ext cx="1324598" cy="123914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u="sng" dirty="0" smtClean="0">
                <a:solidFill>
                  <a:srgbClr val="00B050"/>
                </a:solidFill>
              </a:rPr>
              <a:t>Stage1</a:t>
            </a:r>
          </a:p>
          <a:p>
            <a:pPr algn="ctr"/>
            <a:r>
              <a:rPr lang="en-IN" dirty="0" err="1" smtClean="0"/>
              <a:t>Py,</a:t>
            </a:r>
            <a:r>
              <a:rPr lang="en-IN" b="1" dirty="0" err="1" smtClean="0"/>
              <a:t>SQL,DWH</a:t>
            </a:r>
            <a:endParaRPr lang="en-IN" b="1" dirty="0"/>
          </a:p>
        </p:txBody>
      </p:sp>
      <p:sp>
        <p:nvSpPr>
          <p:cNvPr id="4" name="Oval 3"/>
          <p:cNvSpPr/>
          <p:nvPr/>
        </p:nvSpPr>
        <p:spPr>
          <a:xfrm>
            <a:off x="1588094" y="478562"/>
            <a:ext cx="1548212" cy="1375873"/>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u="sng" dirty="0" smtClean="0">
                <a:solidFill>
                  <a:srgbClr val="00B050"/>
                </a:solidFill>
              </a:rPr>
              <a:t>Stage2</a:t>
            </a:r>
          </a:p>
          <a:p>
            <a:pPr algn="ctr"/>
            <a:r>
              <a:rPr lang="en-IN" b="1" dirty="0" err="1" smtClean="0">
                <a:solidFill>
                  <a:srgbClr val="C00000"/>
                </a:solidFill>
              </a:rPr>
              <a:t>PySpark</a:t>
            </a:r>
            <a:endParaRPr lang="en-IN" b="1" dirty="0" smtClean="0">
              <a:solidFill>
                <a:srgbClr val="C00000"/>
              </a:solidFill>
            </a:endParaRPr>
          </a:p>
          <a:p>
            <a:pPr algn="ctr"/>
            <a:r>
              <a:rPr lang="en-IN" sz="1600" b="1" dirty="0" err="1" smtClean="0"/>
              <a:t>Databricks</a:t>
            </a:r>
            <a:endParaRPr lang="en-IN" sz="1600" b="1" dirty="0" smtClean="0"/>
          </a:p>
          <a:p>
            <a:pPr algn="ctr"/>
            <a:r>
              <a:rPr lang="en-IN" sz="1600" b="1" dirty="0" smtClean="0"/>
              <a:t>DE/AI/BI</a:t>
            </a:r>
            <a:endParaRPr lang="en-IN" b="1" dirty="0"/>
          </a:p>
        </p:txBody>
      </p:sp>
      <p:sp>
        <p:nvSpPr>
          <p:cNvPr id="5" name="Oval 4"/>
          <p:cNvSpPr/>
          <p:nvPr/>
        </p:nvSpPr>
        <p:spPr>
          <a:xfrm>
            <a:off x="2894175" y="401654"/>
            <a:ext cx="1729099" cy="1538242"/>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u="sng" dirty="0" smtClean="0">
                <a:solidFill>
                  <a:srgbClr val="FFC000"/>
                </a:solidFill>
              </a:rPr>
              <a:t>Stage3</a:t>
            </a:r>
          </a:p>
          <a:p>
            <a:pPr algn="ctr"/>
            <a:r>
              <a:rPr lang="en-IN" sz="1600" dirty="0" smtClean="0"/>
              <a:t>Multi-Cloud +</a:t>
            </a:r>
          </a:p>
          <a:p>
            <a:pPr algn="ctr"/>
            <a:r>
              <a:rPr lang="en-IN" sz="1600" dirty="0" smtClean="0"/>
              <a:t>DE + AIE + BIE</a:t>
            </a:r>
          </a:p>
          <a:p>
            <a:pPr algn="ctr"/>
            <a:endParaRPr lang="en-IN" sz="1600" b="1" dirty="0"/>
          </a:p>
        </p:txBody>
      </p:sp>
      <p:sp>
        <p:nvSpPr>
          <p:cNvPr id="3" name="TextBox 2"/>
          <p:cNvSpPr txBox="1"/>
          <p:nvPr/>
        </p:nvSpPr>
        <p:spPr>
          <a:xfrm>
            <a:off x="478565" y="3777241"/>
            <a:ext cx="9075635" cy="923330"/>
          </a:xfrm>
          <a:prstGeom prst="rect">
            <a:avLst/>
          </a:prstGeom>
          <a:noFill/>
        </p:spPr>
        <p:txBody>
          <a:bodyPr wrap="square" rtlCol="0">
            <a:spAutoFit/>
          </a:bodyPr>
          <a:lstStyle/>
          <a:p>
            <a:r>
              <a:rPr lang="en-IN" dirty="0" smtClean="0"/>
              <a:t>First </a:t>
            </a:r>
            <a:r>
              <a:rPr lang="en-IN" b="1" dirty="0" smtClean="0"/>
              <a:t>Azure</a:t>
            </a:r>
            <a:r>
              <a:rPr lang="en-IN" dirty="0" smtClean="0"/>
              <a:t>       -&gt; +</a:t>
            </a:r>
            <a:r>
              <a:rPr lang="en-IN" dirty="0" err="1" smtClean="0"/>
              <a:t>Databricks</a:t>
            </a:r>
            <a:r>
              <a:rPr lang="en-IN" dirty="0" smtClean="0"/>
              <a:t>, +ADF, </a:t>
            </a:r>
            <a:r>
              <a:rPr lang="en-IN" b="1" dirty="0" smtClean="0"/>
              <a:t>Learning</a:t>
            </a:r>
            <a:r>
              <a:rPr lang="en-IN" dirty="0" smtClean="0"/>
              <a:t> (-</a:t>
            </a:r>
            <a:r>
              <a:rPr lang="en-IN" b="1" dirty="0" smtClean="0"/>
              <a:t>1 month trial</a:t>
            </a:r>
            <a:r>
              <a:rPr lang="en-IN" dirty="0" smtClean="0"/>
              <a:t>, -</a:t>
            </a:r>
            <a:r>
              <a:rPr lang="en-IN" b="1" dirty="0" smtClean="0"/>
              <a:t>Cloud </a:t>
            </a:r>
            <a:r>
              <a:rPr lang="en-IN" b="1" dirty="0" err="1" smtClean="0"/>
              <a:t>Hierachy</a:t>
            </a:r>
            <a:r>
              <a:rPr lang="en-IN" b="1" dirty="0" smtClean="0"/>
              <a:t> Complex</a:t>
            </a:r>
            <a:r>
              <a:rPr lang="en-IN" dirty="0" smtClean="0"/>
              <a:t>)</a:t>
            </a:r>
          </a:p>
          <a:p>
            <a:r>
              <a:rPr lang="en-IN" dirty="0" smtClean="0"/>
              <a:t>Second </a:t>
            </a:r>
            <a:r>
              <a:rPr lang="en-IN" b="1" dirty="0" smtClean="0"/>
              <a:t>GCP</a:t>
            </a:r>
            <a:r>
              <a:rPr lang="en-IN" dirty="0" smtClean="0"/>
              <a:t>    -&gt; +</a:t>
            </a:r>
            <a:r>
              <a:rPr lang="en-IN" dirty="0" err="1" smtClean="0"/>
              <a:t>Databricks</a:t>
            </a:r>
            <a:r>
              <a:rPr lang="en-IN" dirty="0" smtClean="0"/>
              <a:t>/+</a:t>
            </a:r>
            <a:r>
              <a:rPr lang="en-IN" dirty="0" err="1" smtClean="0"/>
              <a:t>Dataproc</a:t>
            </a:r>
            <a:r>
              <a:rPr lang="en-IN" dirty="0" smtClean="0"/>
              <a:t>, +</a:t>
            </a:r>
            <a:r>
              <a:rPr lang="en-IN" dirty="0" err="1" smtClean="0"/>
              <a:t>Bigquery</a:t>
            </a:r>
            <a:r>
              <a:rPr lang="en-IN" dirty="0" smtClean="0"/>
              <a:t> (SQL/PLSQL), Learning (+3 months trial, +Cloud </a:t>
            </a:r>
            <a:r>
              <a:rPr lang="en-IN" dirty="0" err="1" smtClean="0"/>
              <a:t>Hierachy</a:t>
            </a:r>
            <a:r>
              <a:rPr lang="en-IN" dirty="0" smtClean="0"/>
              <a:t> Simple)</a:t>
            </a:r>
            <a:endParaRPr lang="en-IN" dirty="0"/>
          </a:p>
        </p:txBody>
      </p:sp>
      <p:sp>
        <p:nvSpPr>
          <p:cNvPr id="6" name="TextBox 5"/>
          <p:cNvSpPr txBox="1"/>
          <p:nvPr/>
        </p:nvSpPr>
        <p:spPr>
          <a:xfrm>
            <a:off x="5520584" y="401654"/>
            <a:ext cx="5511381" cy="923330"/>
          </a:xfrm>
          <a:prstGeom prst="rect">
            <a:avLst/>
          </a:prstGeom>
          <a:solidFill>
            <a:schemeClr val="accent4">
              <a:lumMod val="20000"/>
              <a:lumOff val="80000"/>
            </a:schemeClr>
          </a:solidFill>
        </p:spPr>
        <p:txBody>
          <a:bodyPr wrap="none" rtlCol="0">
            <a:spAutoFit/>
          </a:bodyPr>
          <a:lstStyle/>
          <a:p>
            <a:pPr marL="342900" indent="-342900">
              <a:buAutoNum type="arabicPeriod"/>
            </a:pPr>
            <a:r>
              <a:rPr lang="en-IN" dirty="0" smtClean="0"/>
              <a:t>CE/PE/IE (Computer </a:t>
            </a:r>
            <a:r>
              <a:rPr lang="en-IN" dirty="0" err="1" smtClean="0"/>
              <a:t>Engg</a:t>
            </a:r>
            <a:r>
              <a:rPr lang="en-IN" dirty="0" smtClean="0"/>
              <a:t> Windows)</a:t>
            </a:r>
          </a:p>
          <a:p>
            <a:pPr marL="342900" indent="-342900">
              <a:buAutoNum type="arabicPeriod"/>
            </a:pPr>
            <a:r>
              <a:rPr lang="en-IN" dirty="0"/>
              <a:t>Cloud </a:t>
            </a:r>
            <a:r>
              <a:rPr lang="en-IN" b="1" dirty="0"/>
              <a:t>Data</a:t>
            </a:r>
            <a:r>
              <a:rPr lang="en-IN" dirty="0"/>
              <a:t> </a:t>
            </a:r>
            <a:r>
              <a:rPr lang="en-IN" dirty="0" smtClean="0"/>
              <a:t>Engineer (Software </a:t>
            </a:r>
            <a:r>
              <a:rPr lang="en-IN" dirty="0" err="1" smtClean="0"/>
              <a:t>engg</a:t>
            </a:r>
            <a:r>
              <a:rPr lang="en-IN" dirty="0" smtClean="0"/>
              <a:t>)</a:t>
            </a:r>
          </a:p>
          <a:p>
            <a:pPr marL="342900" indent="-342900">
              <a:buAutoNum type="arabicPeriod"/>
            </a:pPr>
            <a:r>
              <a:rPr lang="en-IN" dirty="0" smtClean="0"/>
              <a:t>Multi Cloud DE (SE + Multiple Computers (Win/Mac))</a:t>
            </a:r>
            <a:endParaRPr lang="en-IN" dirty="0"/>
          </a:p>
        </p:txBody>
      </p:sp>
    </p:spTree>
    <p:extLst>
      <p:ext uri="{BB962C8B-B14F-4D97-AF65-F5344CB8AC3E}">
        <p14:creationId xmlns:p14="http://schemas.microsoft.com/office/powerpoint/2010/main" val="546760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91605"/>
            <a:ext cx="6065244" cy="5539978"/>
          </a:xfrm>
          <a:prstGeom prst="rect">
            <a:avLst/>
          </a:prstGeom>
          <a:noFill/>
        </p:spPr>
        <p:txBody>
          <a:bodyPr wrap="square" rtlCol="0">
            <a:spAutoFit/>
          </a:bodyPr>
          <a:lstStyle/>
          <a:p>
            <a:pPr marL="285750" indent="-285750">
              <a:buFont typeface="Wingdings" panose="05000000000000000000" pitchFamily="2" charset="2"/>
              <a:buChar char="ü"/>
            </a:pPr>
            <a:r>
              <a:rPr lang="en-US" dirty="0"/>
              <a:t>What is Cloud Computing</a:t>
            </a:r>
            <a:r>
              <a:rPr lang="en-US" dirty="0" smtClean="0"/>
              <a:t>?</a:t>
            </a:r>
          </a:p>
          <a:p>
            <a:pPr marL="742950" lvl="1" indent="-285750">
              <a:buFont typeface="Wingdings" panose="05000000000000000000" pitchFamily="2" charset="2"/>
              <a:buChar char="ü"/>
            </a:pPr>
            <a:r>
              <a:rPr lang="en-US" sz="1400" dirty="0" smtClean="0"/>
              <a:t>Consumption by Renting of the computer resource on a need basis. </a:t>
            </a:r>
          </a:p>
          <a:p>
            <a:pPr marL="742950" lvl="1" indent="-285750">
              <a:buFont typeface="Wingdings" panose="05000000000000000000" pitchFamily="2" charset="2"/>
              <a:buChar char="ü"/>
            </a:pPr>
            <a:r>
              <a:rPr lang="en-US" sz="1400" dirty="0" smtClean="0"/>
              <a:t>Virtual environment where all the resources are managed (by our org or by some 3</a:t>
            </a:r>
            <a:r>
              <a:rPr lang="en-US" sz="1400" baseline="30000" dirty="0" smtClean="0"/>
              <a:t>rd</a:t>
            </a:r>
            <a:r>
              <a:rPr lang="en-US" sz="1400" dirty="0" smtClean="0"/>
              <a:t> party companies)</a:t>
            </a:r>
          </a:p>
          <a:p>
            <a:pPr marL="742950" lvl="1" indent="-285750">
              <a:buFont typeface="Wingdings" panose="05000000000000000000" pitchFamily="2" charset="2"/>
              <a:buChar char="ü"/>
            </a:pPr>
            <a:r>
              <a:rPr lang="en-US" sz="1400" dirty="0" smtClean="0"/>
              <a:t>Any IT resources from anywhere by any one at any time if we avail then it is cloud.</a:t>
            </a:r>
          </a:p>
          <a:p>
            <a:pPr marL="742950" lvl="1" indent="-285750">
              <a:buFont typeface="Wingdings" panose="05000000000000000000" pitchFamily="2" charset="2"/>
              <a:buChar char="ü"/>
            </a:pPr>
            <a:r>
              <a:rPr lang="en-US" sz="1400" dirty="0" err="1" smtClean="0"/>
              <a:t>Eg</a:t>
            </a:r>
            <a:r>
              <a:rPr lang="en-US" sz="1400" dirty="0" smtClean="0"/>
              <a:t>. </a:t>
            </a:r>
            <a:r>
              <a:rPr lang="en-US" sz="1400" dirty="0"/>
              <a:t>T</a:t>
            </a:r>
            <a:r>
              <a:rPr lang="en-US" sz="1400" dirty="0" smtClean="0"/>
              <a:t>o </a:t>
            </a:r>
            <a:r>
              <a:rPr lang="en-US" sz="1400" dirty="0"/>
              <a:t>access the storage services in a secured way.</a:t>
            </a:r>
          </a:p>
          <a:p>
            <a:pPr marL="742950" lvl="1" indent="-285750">
              <a:buFont typeface="Wingdings" panose="05000000000000000000" pitchFamily="2" charset="2"/>
              <a:buChar char="ü"/>
            </a:pPr>
            <a:endParaRPr lang="en-US" dirty="0" smtClean="0"/>
          </a:p>
          <a:p>
            <a:pPr marL="285750" indent="-285750">
              <a:buFont typeface="Wingdings" panose="05000000000000000000" pitchFamily="2" charset="2"/>
              <a:buChar char="ü"/>
            </a:pPr>
            <a:r>
              <a:rPr lang="en-US" dirty="0" smtClean="0"/>
              <a:t>Why named as Cloud?</a:t>
            </a:r>
            <a:endParaRPr lang="en-US" dirty="0"/>
          </a:p>
          <a:p>
            <a:pPr marL="742950" lvl="1" indent="-285750">
              <a:buFont typeface="Wingdings" panose="05000000000000000000" pitchFamily="2" charset="2"/>
              <a:buChar char="ü"/>
            </a:pPr>
            <a:r>
              <a:rPr lang="en-US" dirty="0" smtClean="0"/>
              <a:t>Elevated/above our head to avail from anywhere by anyone at anytime.</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smtClean="0"/>
              <a:t>Types </a:t>
            </a:r>
            <a:r>
              <a:rPr lang="en-US" dirty="0"/>
              <a:t>of Cloud </a:t>
            </a:r>
            <a:r>
              <a:rPr lang="en-US" dirty="0" smtClean="0"/>
              <a:t>?</a:t>
            </a:r>
          </a:p>
          <a:p>
            <a:pPr marL="742950" lvl="1" indent="-285750">
              <a:buFont typeface="Wingdings" panose="05000000000000000000" pitchFamily="2" charset="2"/>
              <a:buChar char="ü"/>
            </a:pPr>
            <a:r>
              <a:rPr lang="en-US" dirty="0" smtClean="0"/>
              <a:t>Public Cloud – 3</a:t>
            </a:r>
            <a:r>
              <a:rPr lang="en-US" baseline="30000" dirty="0" smtClean="0"/>
              <a:t>rd</a:t>
            </a:r>
            <a:r>
              <a:rPr lang="en-US" dirty="0" smtClean="0"/>
              <a:t> party companies maintains/manages the cloud resources (IPS) – GCP, </a:t>
            </a:r>
            <a:r>
              <a:rPr lang="en-US" dirty="0" err="1" smtClean="0"/>
              <a:t>Az</a:t>
            </a:r>
            <a:r>
              <a:rPr lang="en-US" dirty="0" smtClean="0"/>
              <a:t>, AWS</a:t>
            </a:r>
          </a:p>
          <a:p>
            <a:pPr marL="742950" lvl="1" indent="-285750">
              <a:buFont typeface="Wingdings" panose="05000000000000000000" pitchFamily="2" charset="2"/>
              <a:buChar char="ü"/>
            </a:pPr>
            <a:r>
              <a:rPr lang="en-US" dirty="0" smtClean="0"/>
              <a:t>Private </a:t>
            </a:r>
            <a:r>
              <a:rPr lang="en-US" dirty="0"/>
              <a:t>Cloud – </a:t>
            </a:r>
            <a:r>
              <a:rPr lang="en-US" dirty="0" smtClean="0"/>
              <a:t>Our Company </a:t>
            </a:r>
            <a:r>
              <a:rPr lang="en-US" dirty="0"/>
              <a:t>maintains/manages the cloud resources (IPS) – </a:t>
            </a:r>
            <a:r>
              <a:rPr lang="en-US" dirty="0" err="1" smtClean="0"/>
              <a:t>Inceptez</a:t>
            </a:r>
            <a:r>
              <a:rPr lang="en-US" dirty="0" smtClean="0"/>
              <a:t> Cloud</a:t>
            </a:r>
          </a:p>
          <a:p>
            <a:pPr marL="742950" lvl="1" indent="-285750">
              <a:buFont typeface="Wingdings" panose="05000000000000000000" pitchFamily="2" charset="2"/>
              <a:buChar char="ü"/>
            </a:pPr>
            <a:r>
              <a:rPr lang="en-US" dirty="0" smtClean="0"/>
              <a:t>Hybrid Cloud – Best of Both (use both GCP &amp; </a:t>
            </a:r>
            <a:r>
              <a:rPr lang="en-US" dirty="0" err="1" smtClean="0"/>
              <a:t>Iz</a:t>
            </a:r>
            <a:r>
              <a:rPr lang="en-US" dirty="0" smtClean="0"/>
              <a:t> Cloud)</a:t>
            </a:r>
          </a:p>
          <a:p>
            <a:pPr marL="742950" lvl="1" indent="-285750">
              <a:buFont typeface="Wingdings" panose="05000000000000000000" pitchFamily="2" charset="2"/>
              <a:buChar char="ü"/>
            </a:pPr>
            <a:r>
              <a:rPr lang="en-US" dirty="0" err="1" smtClean="0"/>
              <a:t>Eg</a:t>
            </a:r>
            <a:r>
              <a:rPr lang="en-US" dirty="0" smtClean="0"/>
              <a:t>. For storage of bills we are </a:t>
            </a:r>
            <a:r>
              <a:rPr lang="en-US" dirty="0"/>
              <a:t>using GCP and for compute </a:t>
            </a:r>
            <a:r>
              <a:rPr lang="en-US" dirty="0" smtClean="0"/>
              <a:t>we </a:t>
            </a:r>
            <a:r>
              <a:rPr lang="en-US" dirty="0"/>
              <a:t>are using private </a:t>
            </a:r>
            <a:r>
              <a:rPr lang="en-US" dirty="0" smtClean="0"/>
              <a:t>cloud</a:t>
            </a:r>
            <a:endParaRPr lang="en-US" dirty="0"/>
          </a:p>
          <a:p>
            <a:pPr marL="742950" lvl="1" indent="-285750">
              <a:buFont typeface="Wingdings" panose="05000000000000000000" pitchFamily="2" charset="2"/>
              <a:buChar char="ü"/>
            </a:pPr>
            <a:endParaRPr lang="en-US" dirty="0" smtClean="0"/>
          </a:p>
        </p:txBody>
      </p:sp>
      <p:sp>
        <p:nvSpPr>
          <p:cNvPr id="5" name="Title 1">
            <a:extLst>
              <a:ext uri="{FF2B5EF4-FFF2-40B4-BE49-F238E27FC236}">
                <a16:creationId xmlns="" xmlns:a16="http://schemas.microsoft.com/office/drawing/2014/main" id="{585FA2E0-4EF3-3894-164B-0C65F3F83201}"/>
              </a:ext>
            </a:extLst>
          </p:cNvPr>
          <p:cNvSpPr>
            <a:spLocks noGrp="1"/>
          </p:cNvSpPr>
          <p:nvPr>
            <p:ph type="title"/>
          </p:nvPr>
        </p:nvSpPr>
        <p:spPr>
          <a:xfrm>
            <a:off x="0" y="0"/>
            <a:ext cx="7936125" cy="721088"/>
          </a:xfrm>
        </p:spPr>
        <p:txBody>
          <a:bodyPr vert="horz" lIns="91440" tIns="45720" rIns="91440" bIns="45720" rtlCol="0" anchor="ctr">
            <a:noAutofit/>
          </a:bodyPr>
          <a:lstStyle/>
          <a:p>
            <a:r>
              <a:rPr lang="en-US" sz="4000" b="1" dirty="0" smtClean="0">
                <a:solidFill>
                  <a:srgbClr val="FF0000"/>
                </a:solidFill>
              </a:rPr>
              <a:t>All about Cloud Computing</a:t>
            </a:r>
            <a:endParaRPr lang="en-US" sz="2800" b="1" dirty="0">
              <a:solidFill>
                <a:srgbClr val="FF0000"/>
              </a:solidFill>
            </a:endParaRPr>
          </a:p>
        </p:txBody>
      </p:sp>
      <p:pic>
        <p:nvPicPr>
          <p:cNvPr id="7" name="Picture 6">
            <a:extLst>
              <a:ext uri="{FF2B5EF4-FFF2-40B4-BE49-F238E27FC236}">
                <a16:creationId xmlns="" xmlns:a16="http://schemas.microsoft.com/office/drawing/2014/main" id="{9D6217F0-AC26-1E5D-7673-90E3506F764A}"/>
              </a:ext>
            </a:extLst>
          </p:cNvPr>
          <p:cNvPicPr>
            <a:picLocks noChangeAspect="1"/>
          </p:cNvPicPr>
          <p:nvPr/>
        </p:nvPicPr>
        <p:blipFill>
          <a:blip r:embed="rId2"/>
          <a:stretch>
            <a:fillRect/>
          </a:stretch>
        </p:blipFill>
        <p:spPr>
          <a:xfrm>
            <a:off x="6065244" y="931813"/>
            <a:ext cx="6254571" cy="4943666"/>
          </a:xfrm>
          <a:prstGeom prst="rect">
            <a:avLst/>
          </a:prstGeom>
        </p:spPr>
      </p:pic>
    </p:spTree>
    <p:extLst>
      <p:ext uri="{BB962C8B-B14F-4D97-AF65-F5344CB8AC3E}">
        <p14:creationId xmlns:p14="http://schemas.microsoft.com/office/powerpoint/2010/main" val="2033247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307975" y="210702"/>
            <a:ext cx="1618841" cy="369332"/>
          </a:xfrm>
          <a:prstGeom prst="rect">
            <a:avLst/>
          </a:prstGeom>
        </p:spPr>
        <p:txBody>
          <a:bodyPr wrap="none">
            <a:spAutoFit/>
          </a:bodyPr>
          <a:lstStyle/>
          <a:p>
            <a:r>
              <a:rPr lang="en-US" b="1" u="sng" dirty="0">
                <a:solidFill>
                  <a:srgbClr val="FF0000"/>
                </a:solidFill>
              </a:rPr>
              <a:t>What is Cloud?</a:t>
            </a:r>
            <a:endParaRPr lang="en-US" b="1" u="sng" dirty="0"/>
          </a:p>
        </p:txBody>
      </p:sp>
      <p:pic>
        <p:nvPicPr>
          <p:cNvPr id="1026" name="Picture 2" descr="What is the difference between Public, Private and Hybrid Cloud? | by Karan  Singh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1300" y="2891591"/>
            <a:ext cx="4919373" cy="24797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9" name="Rectangle 8"/>
          <p:cNvSpPr/>
          <p:nvPr/>
        </p:nvSpPr>
        <p:spPr>
          <a:xfrm>
            <a:off x="6754783" y="2270206"/>
            <a:ext cx="1581651" cy="369332"/>
          </a:xfrm>
          <a:prstGeom prst="rect">
            <a:avLst/>
          </a:prstGeom>
        </p:spPr>
        <p:txBody>
          <a:bodyPr wrap="none">
            <a:spAutoFit/>
          </a:bodyPr>
          <a:lstStyle/>
          <a:p>
            <a:r>
              <a:rPr lang="en-US" b="1" u="sng" dirty="0">
                <a:solidFill>
                  <a:srgbClr val="FF0000"/>
                </a:solidFill>
              </a:rPr>
              <a:t>Types of Cloud</a:t>
            </a:r>
            <a:endParaRPr lang="en-US" b="1" u="sng" dirty="0"/>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5283360" y="3479760"/>
              <a:ext cx="2495880" cy="343440"/>
            </p14:xfrm>
          </p:contentPart>
        </mc:Choice>
        <mc:Fallback xmlns="">
          <p:pic>
            <p:nvPicPr>
              <p:cNvPr id="6" name="Ink 5"/>
              <p:cNvPicPr/>
              <p:nvPr/>
            </p:nvPicPr>
            <p:blipFill>
              <a:blip r:embed="rId4"/>
              <a:stretch>
                <a:fillRect/>
              </a:stretch>
            </p:blipFill>
            <p:spPr>
              <a:xfrm>
                <a:off x="5274000" y="3470400"/>
                <a:ext cx="2514600" cy="362160"/>
              </a:xfrm>
              <a:prstGeom prst="rect">
                <a:avLst/>
              </a:prstGeom>
            </p:spPr>
          </p:pic>
        </mc:Fallback>
      </mc:AlternateContent>
      <p:sp>
        <p:nvSpPr>
          <p:cNvPr id="3" name="Rectangle 2"/>
          <p:cNvSpPr/>
          <p:nvPr/>
        </p:nvSpPr>
        <p:spPr>
          <a:xfrm>
            <a:off x="130583" y="580034"/>
            <a:ext cx="6481232" cy="1569660"/>
          </a:xfrm>
          <a:prstGeom prst="rect">
            <a:avLst/>
          </a:prstGeom>
        </p:spPr>
        <p:txBody>
          <a:bodyPr wrap="square">
            <a:spAutoFit/>
          </a:bodyPr>
          <a:lstStyle/>
          <a:p>
            <a:pPr algn="just"/>
            <a:r>
              <a:rPr lang="en-US" sz="1600" dirty="0"/>
              <a:t>Cloud Computing is an </a:t>
            </a:r>
            <a:r>
              <a:rPr lang="en-US" sz="1600" b="1" dirty="0"/>
              <a:t>on-demand</a:t>
            </a:r>
            <a:r>
              <a:rPr lang="en-US" sz="1600" dirty="0"/>
              <a:t> availability of </a:t>
            </a:r>
            <a:r>
              <a:rPr lang="en-US" sz="1600" dirty="0" smtClean="0"/>
              <a:t>Computer/IT </a:t>
            </a:r>
            <a:r>
              <a:rPr lang="en-US" sz="1600" dirty="0"/>
              <a:t>system </a:t>
            </a:r>
            <a:r>
              <a:rPr lang="en-US" sz="1600" b="1" dirty="0"/>
              <a:t>resources</a:t>
            </a:r>
            <a:r>
              <a:rPr lang="en-US" sz="1600" dirty="0"/>
              <a:t> such as </a:t>
            </a:r>
            <a:r>
              <a:rPr lang="en-US" sz="1600" b="1" i="1" dirty="0"/>
              <a:t>Infrastructure ,Platform, </a:t>
            </a:r>
            <a:r>
              <a:rPr lang="en-US" sz="1600" b="1" i="1" u="sng" dirty="0"/>
              <a:t>Software</a:t>
            </a:r>
            <a:r>
              <a:rPr lang="en-US" sz="1600" i="1" dirty="0"/>
              <a:t>, OS, Database, Computation, Storage, anything etc., over the </a:t>
            </a:r>
            <a:r>
              <a:rPr lang="en-US" sz="1600" b="1" i="1" dirty="0" smtClean="0"/>
              <a:t>Internet/Intranet</a:t>
            </a:r>
            <a:r>
              <a:rPr lang="en-US" sz="1600" i="1" dirty="0" smtClean="0"/>
              <a:t>.</a:t>
            </a:r>
            <a:endParaRPr lang="en-US" sz="1600" dirty="0"/>
          </a:p>
          <a:p>
            <a:pPr algn="just"/>
            <a:r>
              <a:rPr lang="en-US" sz="1600" dirty="0"/>
              <a:t>	It is maturing at the level of providing </a:t>
            </a:r>
            <a:r>
              <a:rPr lang="en-US" sz="1600" b="1" dirty="0" smtClean="0"/>
              <a:t>any services</a:t>
            </a:r>
            <a:r>
              <a:rPr lang="en-US" sz="1600" dirty="0" smtClean="0"/>
              <a:t> </a:t>
            </a:r>
            <a:r>
              <a:rPr lang="en-US" sz="1600" dirty="0"/>
              <a:t>at </a:t>
            </a:r>
            <a:r>
              <a:rPr lang="en-US" sz="1600" b="1" dirty="0"/>
              <a:t>anytime</a:t>
            </a:r>
            <a:r>
              <a:rPr lang="en-US" sz="1600" dirty="0"/>
              <a:t>, from </a:t>
            </a:r>
            <a:r>
              <a:rPr lang="en-US" sz="1600" b="1" dirty="0"/>
              <a:t>anywhere</a:t>
            </a:r>
            <a:r>
              <a:rPr lang="en-US" sz="1600" dirty="0"/>
              <a:t> by </a:t>
            </a:r>
            <a:r>
              <a:rPr lang="en-US" sz="1600" b="1" dirty="0"/>
              <a:t>anyone</a:t>
            </a:r>
            <a:r>
              <a:rPr lang="en-US" sz="1600" dirty="0"/>
              <a:t> for </a:t>
            </a:r>
            <a:r>
              <a:rPr lang="en-US" sz="1600" b="1" dirty="0" smtClean="0"/>
              <a:t>any digital need</a:t>
            </a:r>
            <a:r>
              <a:rPr lang="en-US" sz="1600" dirty="0" smtClean="0"/>
              <a:t> </a:t>
            </a:r>
            <a:r>
              <a:rPr lang="en-US" sz="1600" dirty="0"/>
              <a:t>with </a:t>
            </a:r>
            <a:r>
              <a:rPr lang="en-US" sz="1600" dirty="0" smtClean="0"/>
              <a:t>reliability, high </a:t>
            </a:r>
            <a:r>
              <a:rPr lang="en-US" sz="1600" dirty="0"/>
              <a:t>availability, high security, better features and cost effectiveness.</a:t>
            </a:r>
          </a:p>
        </p:txBody>
      </p:sp>
      <p:pic>
        <p:nvPicPr>
          <p:cNvPr id="22"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3360" y="2483506"/>
            <a:ext cx="757028" cy="816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AutoShape 2" descr="blob:https://web.whatsapp.com/ea53f553-1300-4fd0-9ec2-ce4847c798d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8" name="Picture 4" descr="C:\Users\moham\Downloads\datacenter11.jpeg"/>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241992" y="2660469"/>
            <a:ext cx="2574259" cy="407023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808631" y="2291137"/>
            <a:ext cx="1457130" cy="369332"/>
          </a:xfrm>
          <a:prstGeom prst="rect">
            <a:avLst/>
          </a:prstGeom>
        </p:spPr>
        <p:txBody>
          <a:bodyPr wrap="none">
            <a:spAutoFit/>
          </a:bodyPr>
          <a:lstStyle/>
          <a:p>
            <a:r>
              <a:rPr lang="en-US" b="1" u="sng" dirty="0" smtClean="0">
                <a:solidFill>
                  <a:srgbClr val="FF0000"/>
                </a:solidFill>
              </a:rPr>
              <a:t>Private Cloud</a:t>
            </a:r>
            <a:endParaRPr lang="en-US" b="1" u="sng" dirty="0"/>
          </a:p>
        </p:txBody>
      </p:sp>
      <p:grpSp>
        <p:nvGrpSpPr>
          <p:cNvPr id="10" name="Group 9"/>
          <p:cNvGrpSpPr/>
          <p:nvPr/>
        </p:nvGrpSpPr>
        <p:grpSpPr>
          <a:xfrm>
            <a:off x="3695507" y="3417454"/>
            <a:ext cx="1435694" cy="1270898"/>
            <a:chOff x="3973794" y="4286929"/>
            <a:chExt cx="1435694" cy="1270898"/>
          </a:xfrm>
        </p:grpSpPr>
        <p:sp>
          <p:nvSpPr>
            <p:cNvPr id="7" name="Rectangle 6"/>
            <p:cNvSpPr/>
            <p:nvPr/>
          </p:nvSpPr>
          <p:spPr>
            <a:xfrm>
              <a:off x="3973794" y="4286929"/>
              <a:ext cx="1435694" cy="12708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smtClean="0"/>
                <a:t>Company/Home</a:t>
              </a:r>
            </a:p>
            <a:p>
              <a:pPr algn="ctr"/>
              <a:endParaRPr lang="en-IN" sz="1200" b="1" dirty="0"/>
            </a:p>
            <a:p>
              <a:pPr algn="ctr"/>
              <a:endParaRPr lang="en-IN" sz="1200" b="1" dirty="0" smtClean="0"/>
            </a:p>
            <a:p>
              <a:pPr algn="ctr"/>
              <a:endParaRPr lang="en-IN" sz="1200" b="1" dirty="0"/>
            </a:p>
            <a:p>
              <a:pPr algn="ctr"/>
              <a:endParaRPr lang="en-IN" sz="1200" b="1" dirty="0" smtClean="0"/>
            </a:p>
            <a:p>
              <a:pPr algn="ctr"/>
              <a:endParaRPr lang="en-IN" sz="1200" b="1" dirty="0"/>
            </a:p>
          </p:txBody>
        </p:sp>
        <p:pic>
          <p:nvPicPr>
            <p:cNvPr id="19" name="Picture 4" descr="Icon of man using computer. Person sit and working on laptop icon. Vector illustration"/>
            <p:cNvPicPr>
              <a:picLocks noChangeAspect="1" noChangeArrowheads="1"/>
            </p:cNvPicPr>
            <p:nvPr/>
          </p:nvPicPr>
          <p:blipFill>
            <a:blip r:embed="rId8" cstate="print">
              <a:extLst>
                <a:ext uri="{BEBA8EAE-BF5A-486C-A8C5-ECC9F3942E4B}">
                  <a14:imgProps xmlns:a14="http://schemas.microsoft.com/office/drawing/2010/main">
                    <a14:imgLayer r:embed="rId9">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252081" y="4585585"/>
              <a:ext cx="879120" cy="87912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2" name="Straight Arrow Connector 11"/>
          <p:cNvCxnSpPr>
            <a:stCxn id="7" idx="0"/>
            <a:endCxn id="22" idx="1"/>
          </p:cNvCxnSpPr>
          <p:nvPr/>
        </p:nvCxnSpPr>
        <p:spPr>
          <a:xfrm flipV="1">
            <a:off x="4413354" y="2891591"/>
            <a:ext cx="870006" cy="52586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22" idx="3"/>
          </p:cNvCxnSpPr>
          <p:nvPr/>
        </p:nvCxnSpPr>
        <p:spPr>
          <a:xfrm>
            <a:off x="6040388" y="2891591"/>
            <a:ext cx="932980" cy="138130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7" idx="1"/>
          </p:cNvCxnSpPr>
          <p:nvPr/>
        </p:nvCxnSpPr>
        <p:spPr>
          <a:xfrm>
            <a:off x="2816251" y="4052903"/>
            <a:ext cx="879256"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pic>
        <p:nvPicPr>
          <p:cNvPr id="27" name="Picture 4" descr="Icon of man using computer. Person sit and working on laptop icon. Vector illustration"/>
          <p:cNvPicPr>
            <a:picLocks noChangeAspect="1" noChangeArrowheads="1"/>
          </p:cNvPicPr>
          <p:nvPr/>
        </p:nvPicPr>
        <p:blipFill>
          <a:blip r:embed="rId10" cstate="print">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816251" y="4999024"/>
            <a:ext cx="600450" cy="60045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Icon of man using computer. Person sit and working on laptop icon. Vector illustration"/>
          <p:cNvPicPr>
            <a:picLocks noChangeAspect="1" noChangeArrowheads="1"/>
          </p:cNvPicPr>
          <p:nvPr/>
        </p:nvPicPr>
        <p:blipFill>
          <a:blip r:embed="rId10" cstate="print">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816251" y="5817990"/>
            <a:ext cx="600450" cy="600450"/>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p:cNvSpPr/>
          <p:nvPr/>
        </p:nvSpPr>
        <p:spPr>
          <a:xfrm>
            <a:off x="3338043" y="5114583"/>
            <a:ext cx="1791131" cy="369332"/>
          </a:xfrm>
          <a:prstGeom prst="rect">
            <a:avLst/>
          </a:prstGeom>
        </p:spPr>
        <p:txBody>
          <a:bodyPr wrap="none">
            <a:spAutoFit/>
          </a:bodyPr>
          <a:lstStyle/>
          <a:p>
            <a:r>
              <a:rPr lang="en-US" dirty="0" smtClean="0"/>
              <a:t>Datacenter Staffs</a:t>
            </a:r>
            <a:endParaRPr lang="en-IN" dirty="0"/>
          </a:p>
        </p:txBody>
      </p:sp>
      <p:sp>
        <p:nvSpPr>
          <p:cNvPr id="30" name="Rectangle 29"/>
          <p:cNvSpPr/>
          <p:nvPr/>
        </p:nvSpPr>
        <p:spPr>
          <a:xfrm>
            <a:off x="3371199" y="5933549"/>
            <a:ext cx="2795894" cy="369332"/>
          </a:xfrm>
          <a:prstGeom prst="rect">
            <a:avLst/>
          </a:prstGeom>
        </p:spPr>
        <p:txBody>
          <a:bodyPr wrap="none">
            <a:spAutoFit/>
          </a:bodyPr>
          <a:lstStyle/>
          <a:p>
            <a:r>
              <a:rPr lang="en-US" dirty="0" smtClean="0"/>
              <a:t>Infra/Platform maintenance</a:t>
            </a:r>
            <a:endParaRPr lang="en-IN" dirty="0"/>
          </a:p>
        </p:txBody>
      </p:sp>
      <p:sp>
        <p:nvSpPr>
          <p:cNvPr id="25" name="Rectangle 24"/>
          <p:cNvSpPr/>
          <p:nvPr/>
        </p:nvSpPr>
        <p:spPr>
          <a:xfrm>
            <a:off x="6611815" y="3110428"/>
            <a:ext cx="558166" cy="369332"/>
          </a:xfrm>
          <a:prstGeom prst="rect">
            <a:avLst/>
          </a:prstGeom>
        </p:spPr>
        <p:txBody>
          <a:bodyPr wrap="none">
            <a:spAutoFit/>
          </a:bodyPr>
          <a:lstStyle/>
          <a:p>
            <a:r>
              <a:rPr lang="en-IN" dirty="0" smtClean="0"/>
              <a:t>VPC</a:t>
            </a:r>
            <a:endParaRPr lang="en-IN" dirty="0"/>
          </a:p>
        </p:txBody>
      </p:sp>
      <p:sp>
        <p:nvSpPr>
          <p:cNvPr id="32" name="Rectangle 31"/>
          <p:cNvSpPr/>
          <p:nvPr/>
        </p:nvSpPr>
        <p:spPr>
          <a:xfrm>
            <a:off x="2963972" y="3658360"/>
            <a:ext cx="583814" cy="369332"/>
          </a:xfrm>
          <a:prstGeom prst="rect">
            <a:avLst/>
          </a:prstGeom>
        </p:spPr>
        <p:txBody>
          <a:bodyPr wrap="none">
            <a:spAutoFit/>
          </a:bodyPr>
          <a:lstStyle/>
          <a:p>
            <a:r>
              <a:rPr lang="en-IN" dirty="0" smtClean="0"/>
              <a:t>VPN</a:t>
            </a:r>
            <a:endParaRPr lang="en-IN" dirty="0"/>
          </a:p>
        </p:txBody>
      </p:sp>
      <p:sp>
        <p:nvSpPr>
          <p:cNvPr id="26" name="Rectangle 25"/>
          <p:cNvSpPr/>
          <p:nvPr/>
        </p:nvSpPr>
        <p:spPr>
          <a:xfrm>
            <a:off x="5283360" y="3361535"/>
            <a:ext cx="829714" cy="461665"/>
          </a:xfrm>
          <a:prstGeom prst="rect">
            <a:avLst/>
          </a:prstGeom>
        </p:spPr>
        <p:txBody>
          <a:bodyPr wrap="none">
            <a:spAutoFit/>
          </a:bodyPr>
          <a:lstStyle/>
          <a:p>
            <a:r>
              <a:rPr lang="en-US" sz="1200" b="1" dirty="0" smtClean="0"/>
              <a:t>Dedicated</a:t>
            </a:r>
          </a:p>
          <a:p>
            <a:r>
              <a:rPr lang="en-US" sz="1200" b="1" dirty="0" smtClean="0"/>
              <a:t>Network</a:t>
            </a:r>
            <a:endParaRPr lang="en-IN" sz="1200" b="1" dirty="0"/>
          </a:p>
        </p:txBody>
      </p:sp>
      <p:sp>
        <p:nvSpPr>
          <p:cNvPr id="34" name="Rectangle 33"/>
          <p:cNvSpPr/>
          <p:nvPr/>
        </p:nvSpPr>
        <p:spPr>
          <a:xfrm>
            <a:off x="2841022" y="3096449"/>
            <a:ext cx="829714" cy="461665"/>
          </a:xfrm>
          <a:prstGeom prst="rect">
            <a:avLst/>
          </a:prstGeom>
        </p:spPr>
        <p:txBody>
          <a:bodyPr wrap="none">
            <a:spAutoFit/>
          </a:bodyPr>
          <a:lstStyle/>
          <a:p>
            <a:r>
              <a:rPr lang="en-US" sz="1200" b="1" dirty="0" smtClean="0"/>
              <a:t>Dedicated</a:t>
            </a:r>
          </a:p>
          <a:p>
            <a:r>
              <a:rPr lang="en-US" sz="1200" b="1" dirty="0" smtClean="0"/>
              <a:t>Network</a:t>
            </a:r>
            <a:endParaRPr lang="en-IN" sz="1200" b="1" dirty="0"/>
          </a:p>
        </p:txBody>
      </p:sp>
      <p:pic>
        <p:nvPicPr>
          <p:cNvPr id="35"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5271" y="4078717"/>
            <a:ext cx="568766" cy="613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7771357" y="530742"/>
            <a:ext cx="1384354" cy="9739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p:cNvSpPr/>
          <p:nvPr/>
        </p:nvSpPr>
        <p:spPr>
          <a:xfrm>
            <a:off x="7567533" y="1581256"/>
            <a:ext cx="1792003" cy="568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smtClean="0"/>
              <a:t>I – Infrastructure</a:t>
            </a:r>
          </a:p>
          <a:p>
            <a:pPr algn="ctr"/>
            <a:r>
              <a:rPr lang="en-IN" sz="1200" b="1" dirty="0" smtClean="0"/>
              <a:t>CPU, HDD, NW</a:t>
            </a:r>
            <a:endParaRPr lang="en-IN" sz="1200" b="1" dirty="0"/>
          </a:p>
        </p:txBody>
      </p:sp>
      <p:sp>
        <p:nvSpPr>
          <p:cNvPr id="11" name="Rectangle 10"/>
          <p:cNvSpPr/>
          <p:nvPr/>
        </p:nvSpPr>
        <p:spPr>
          <a:xfrm>
            <a:off x="7904983" y="1017718"/>
            <a:ext cx="1110689" cy="461665"/>
          </a:xfrm>
          <a:prstGeom prst="rect">
            <a:avLst/>
          </a:prstGeom>
        </p:spPr>
        <p:txBody>
          <a:bodyPr wrap="none">
            <a:spAutoFit/>
          </a:bodyPr>
          <a:lstStyle/>
          <a:p>
            <a:r>
              <a:rPr lang="en-IN" sz="1200" b="1" dirty="0" smtClean="0"/>
              <a:t>   P – Platform </a:t>
            </a:r>
          </a:p>
          <a:p>
            <a:r>
              <a:rPr lang="en-IN" sz="1200" b="1" dirty="0" smtClean="0"/>
              <a:t>(OS, MW, RTE)</a:t>
            </a:r>
            <a:endParaRPr lang="en-IN" sz="1200" dirty="0"/>
          </a:p>
        </p:txBody>
      </p:sp>
      <p:sp>
        <p:nvSpPr>
          <p:cNvPr id="31" name="Rectangle 30"/>
          <p:cNvSpPr/>
          <p:nvPr/>
        </p:nvSpPr>
        <p:spPr>
          <a:xfrm>
            <a:off x="7784419" y="482167"/>
            <a:ext cx="1454244" cy="461665"/>
          </a:xfrm>
          <a:prstGeom prst="rect">
            <a:avLst/>
          </a:prstGeom>
        </p:spPr>
        <p:txBody>
          <a:bodyPr wrap="none">
            <a:spAutoFit/>
          </a:bodyPr>
          <a:lstStyle/>
          <a:p>
            <a:r>
              <a:rPr lang="en-IN" sz="1200" b="1" dirty="0" smtClean="0"/>
              <a:t>    S – Software</a:t>
            </a:r>
          </a:p>
          <a:p>
            <a:r>
              <a:rPr lang="en-IN" sz="1200" b="1" dirty="0" smtClean="0"/>
              <a:t>PPT/Word/Notepad</a:t>
            </a:r>
            <a:endParaRPr lang="en-IN" sz="1200" dirty="0"/>
          </a:p>
        </p:txBody>
      </p:sp>
      <p:sp>
        <p:nvSpPr>
          <p:cNvPr id="14" name="TextBox 13"/>
          <p:cNvSpPr txBox="1"/>
          <p:nvPr/>
        </p:nvSpPr>
        <p:spPr>
          <a:xfrm>
            <a:off x="9986554" y="3678169"/>
            <a:ext cx="734496" cy="276999"/>
          </a:xfrm>
          <a:prstGeom prst="rect">
            <a:avLst/>
          </a:prstGeom>
          <a:noFill/>
        </p:spPr>
        <p:txBody>
          <a:bodyPr wrap="none" rtlCol="0">
            <a:spAutoFit/>
          </a:bodyPr>
          <a:lstStyle/>
          <a:p>
            <a:r>
              <a:rPr lang="en-IN" sz="1200" b="1" dirty="0" smtClean="0"/>
              <a:t>Own Car</a:t>
            </a:r>
            <a:endParaRPr lang="en-IN" sz="1200" b="1" dirty="0"/>
          </a:p>
        </p:txBody>
      </p:sp>
      <p:sp>
        <p:nvSpPr>
          <p:cNvPr id="40" name="TextBox 39"/>
          <p:cNvSpPr txBox="1"/>
          <p:nvPr/>
        </p:nvSpPr>
        <p:spPr>
          <a:xfrm>
            <a:off x="8106141" y="2906967"/>
            <a:ext cx="734496" cy="276999"/>
          </a:xfrm>
          <a:prstGeom prst="rect">
            <a:avLst/>
          </a:prstGeom>
          <a:noFill/>
        </p:spPr>
        <p:txBody>
          <a:bodyPr wrap="none" rtlCol="0">
            <a:spAutoFit/>
          </a:bodyPr>
          <a:lstStyle/>
          <a:p>
            <a:r>
              <a:rPr lang="en-IN" sz="1200" b="1" dirty="0" smtClean="0"/>
              <a:t>Own Car</a:t>
            </a:r>
            <a:endParaRPr lang="en-IN" sz="1200" b="1" dirty="0"/>
          </a:p>
        </p:txBody>
      </p:sp>
      <p:sp>
        <p:nvSpPr>
          <p:cNvPr id="41" name="TextBox 40"/>
          <p:cNvSpPr txBox="1"/>
          <p:nvPr/>
        </p:nvSpPr>
        <p:spPr>
          <a:xfrm>
            <a:off x="9249142" y="2916157"/>
            <a:ext cx="1031051" cy="276999"/>
          </a:xfrm>
          <a:prstGeom prst="rect">
            <a:avLst/>
          </a:prstGeom>
          <a:noFill/>
        </p:spPr>
        <p:txBody>
          <a:bodyPr wrap="none" rtlCol="0">
            <a:spAutoFit/>
          </a:bodyPr>
          <a:lstStyle/>
          <a:p>
            <a:r>
              <a:rPr lang="en-IN" sz="1200" b="1" dirty="0" smtClean="0"/>
              <a:t>Ola/Uber Car</a:t>
            </a:r>
            <a:endParaRPr lang="en-IN" sz="1200" b="1" dirty="0"/>
          </a:p>
        </p:txBody>
      </p:sp>
      <p:sp>
        <p:nvSpPr>
          <p:cNvPr id="42" name="TextBox 41"/>
          <p:cNvSpPr txBox="1"/>
          <p:nvPr/>
        </p:nvSpPr>
        <p:spPr>
          <a:xfrm>
            <a:off x="6890898" y="3590216"/>
            <a:ext cx="1031051" cy="276999"/>
          </a:xfrm>
          <a:prstGeom prst="rect">
            <a:avLst/>
          </a:prstGeom>
          <a:noFill/>
        </p:spPr>
        <p:txBody>
          <a:bodyPr wrap="none" rtlCol="0">
            <a:spAutoFit/>
          </a:bodyPr>
          <a:lstStyle/>
          <a:p>
            <a:r>
              <a:rPr lang="en-IN" sz="1200" b="1" dirty="0" smtClean="0"/>
              <a:t>Ola/Uber Car</a:t>
            </a:r>
            <a:endParaRPr lang="en-IN" sz="1200" b="1" dirty="0"/>
          </a:p>
        </p:txBody>
      </p:sp>
    </p:spTree>
    <p:extLst>
      <p:ext uri="{BB962C8B-B14F-4D97-AF65-F5344CB8AC3E}">
        <p14:creationId xmlns:p14="http://schemas.microsoft.com/office/powerpoint/2010/main" val="2442836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307975" y="210702"/>
            <a:ext cx="2341282" cy="369332"/>
          </a:xfrm>
          <a:prstGeom prst="rect">
            <a:avLst/>
          </a:prstGeom>
        </p:spPr>
        <p:txBody>
          <a:bodyPr wrap="none">
            <a:spAutoFit/>
          </a:bodyPr>
          <a:lstStyle/>
          <a:p>
            <a:r>
              <a:rPr lang="en-US" b="1" u="sng" dirty="0">
                <a:solidFill>
                  <a:srgbClr val="FF0000"/>
                </a:solidFill>
              </a:rPr>
              <a:t>Public vs Private Cloud</a:t>
            </a:r>
            <a:endParaRPr lang="en-US" b="1" u="sng" dirty="0"/>
          </a:p>
        </p:txBody>
      </p:sp>
      <p:graphicFrame>
        <p:nvGraphicFramePr>
          <p:cNvPr id="6" name="Table 5"/>
          <p:cNvGraphicFramePr>
            <a:graphicFrameLocks noGrp="1"/>
          </p:cNvGraphicFramePr>
          <p:nvPr>
            <p:extLst>
              <p:ext uri="{D42A27DB-BD31-4B8C-83A1-F6EECF244321}">
                <p14:modId xmlns:p14="http://schemas.microsoft.com/office/powerpoint/2010/main" val="4210066991"/>
              </p:ext>
            </p:extLst>
          </p:nvPr>
        </p:nvGraphicFramePr>
        <p:xfrm>
          <a:off x="153988" y="752124"/>
          <a:ext cx="11884024" cy="3806398"/>
        </p:xfrm>
        <a:graphic>
          <a:graphicData uri="http://schemas.openxmlformats.org/drawingml/2006/table">
            <a:tbl>
              <a:tblPr/>
              <a:tblGrid>
                <a:gridCol w="1000125">
                  <a:extLst>
                    <a:ext uri="{9D8B030D-6E8A-4147-A177-3AD203B41FA5}">
                      <a16:colId xmlns="" xmlns:a16="http://schemas.microsoft.com/office/drawing/2014/main" val="20000"/>
                    </a:ext>
                  </a:extLst>
                </a:gridCol>
                <a:gridCol w="5751151">
                  <a:extLst>
                    <a:ext uri="{9D8B030D-6E8A-4147-A177-3AD203B41FA5}">
                      <a16:colId xmlns="" xmlns:a16="http://schemas.microsoft.com/office/drawing/2014/main" val="20001"/>
                    </a:ext>
                  </a:extLst>
                </a:gridCol>
                <a:gridCol w="5132748">
                  <a:extLst>
                    <a:ext uri="{9D8B030D-6E8A-4147-A177-3AD203B41FA5}">
                      <a16:colId xmlns="" xmlns:a16="http://schemas.microsoft.com/office/drawing/2014/main" val="20002"/>
                    </a:ext>
                  </a:extLst>
                </a:gridCol>
              </a:tblGrid>
              <a:tr h="628268">
                <a:tc>
                  <a:txBody>
                    <a:bodyPr/>
                    <a:lstStyle/>
                    <a:p>
                      <a:pPr algn="ctr"/>
                      <a:endParaRPr lang="en-US" sz="1600" b="1" cap="all"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cap="all" dirty="0">
                          <a:solidFill>
                            <a:schemeClr val="tx1"/>
                          </a:solidFill>
                          <a:effectLst/>
                          <a:latin typeface="+mn-lt"/>
                        </a:rPr>
                        <a:t/>
                      </a:r>
                      <a:br>
                        <a:rPr lang="en-US" sz="1600" b="1" cap="all" dirty="0">
                          <a:solidFill>
                            <a:schemeClr val="tx1"/>
                          </a:solidFill>
                          <a:effectLst/>
                          <a:latin typeface="+mn-lt"/>
                        </a:rPr>
                      </a:br>
                      <a:r>
                        <a:rPr lang="en-US" sz="1600" b="1" cap="all" dirty="0">
                          <a:solidFill>
                            <a:schemeClr val="tx1"/>
                          </a:solidFill>
                          <a:effectLst/>
                          <a:latin typeface="+mn-lt"/>
                        </a:rPr>
                        <a:t>PRIVATE CLOUD (Internal –on </a:t>
                      </a:r>
                      <a:r>
                        <a:rPr lang="en-US" sz="1600" b="1" cap="all" dirty="0" err="1">
                          <a:solidFill>
                            <a:schemeClr val="tx1"/>
                          </a:solidFill>
                          <a:effectLst/>
                          <a:latin typeface="+mn-lt"/>
                        </a:rPr>
                        <a:t>prem</a:t>
                      </a:r>
                      <a:r>
                        <a:rPr lang="en-US" sz="1600" b="1" cap="all" dirty="0">
                          <a:solidFill>
                            <a:schemeClr val="tx1"/>
                          </a:solidFill>
                          <a:effectLst/>
                          <a:latin typeface="+mn-lt"/>
                        </a:rPr>
                        <a:t> / </a:t>
                      </a:r>
                      <a:r>
                        <a:rPr lang="en-US" sz="1600" b="1" u="sng" cap="all" dirty="0">
                          <a:solidFill>
                            <a:schemeClr val="tx1"/>
                          </a:solidFill>
                          <a:effectLst/>
                          <a:latin typeface="+mn-lt"/>
                        </a:rPr>
                        <a:t>hosted private cloud</a:t>
                      </a:r>
                      <a:r>
                        <a:rPr lang="en-US" sz="1600" b="1" cap="all" dirty="0">
                          <a:solidFill>
                            <a:schemeClr val="tx1"/>
                          </a:solidFill>
                          <a:effectLst/>
                          <a:latin typeface="+mn-lt"/>
                        </a:rPr>
                        <a:t>)</a:t>
                      </a:r>
                    </a:p>
                    <a:p>
                      <a:pPr algn="ctr"/>
                      <a:endParaRPr lang="en-US" sz="1600" b="1" cap="all"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b="1" cap="all" dirty="0">
                        <a:solidFill>
                          <a:schemeClr val="tx1"/>
                        </a:solidFill>
                        <a:effectLst/>
                        <a:latin typeface="+mn-lt"/>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600" b="1" cap="all" dirty="0">
                          <a:solidFill>
                            <a:schemeClr val="tx1"/>
                          </a:solidFill>
                          <a:effectLst/>
                          <a:latin typeface="+mn-lt"/>
                        </a:rPr>
                        <a:t>PUBLIC CLOUD</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0"/>
                  </a:ext>
                </a:extLst>
              </a:tr>
              <a:tr h="354481">
                <a:tc>
                  <a:txBody>
                    <a:bodyPr/>
                    <a:lstStyle/>
                    <a:p>
                      <a:pPr algn="l"/>
                      <a:r>
                        <a:rPr lang="en-US" sz="1200" b="1" dirty="0">
                          <a:solidFill>
                            <a:schemeClr val="tx1"/>
                          </a:solidFill>
                          <a:effectLst/>
                          <a:latin typeface="+mn-lt"/>
                        </a:rPr>
                        <a:t>Infrastructure</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u="sng" dirty="0">
                          <a:solidFill>
                            <a:schemeClr val="tx1"/>
                          </a:solidFill>
                          <a:effectLst/>
                          <a:latin typeface="+mn-lt"/>
                        </a:rPr>
                        <a:t>Dedicated</a:t>
                      </a:r>
                      <a:r>
                        <a:rPr lang="en-US" sz="1400" b="1" dirty="0">
                          <a:solidFill>
                            <a:schemeClr val="tx1"/>
                          </a:solidFill>
                          <a:effectLst/>
                          <a:latin typeface="+mn-lt"/>
                        </a:rPr>
                        <a:t> hardware and network </a:t>
                      </a:r>
                      <a:r>
                        <a:rPr lang="en-US" sz="1400" dirty="0">
                          <a:solidFill>
                            <a:schemeClr val="tx1"/>
                          </a:solidFill>
                          <a:effectLst/>
                          <a:latin typeface="+mn-lt"/>
                        </a:rPr>
                        <a:t>for your business managed by an in-house technical team.</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u="sng" dirty="0">
                          <a:solidFill>
                            <a:schemeClr val="tx1"/>
                          </a:solidFill>
                          <a:effectLst/>
                          <a:latin typeface="+mn-lt"/>
                        </a:rPr>
                        <a:t>Multi-Tenant</a:t>
                      </a:r>
                      <a:r>
                        <a:rPr lang="en-US" sz="1400" dirty="0">
                          <a:solidFill>
                            <a:schemeClr val="tx1"/>
                          </a:solidFill>
                          <a:effectLst/>
                          <a:latin typeface="+mn-lt"/>
                        </a:rPr>
                        <a:t>: </a:t>
                      </a:r>
                      <a:r>
                        <a:rPr lang="en-US" sz="1400" b="1" u="sng" dirty="0">
                          <a:solidFill>
                            <a:schemeClr val="tx1"/>
                          </a:solidFill>
                          <a:effectLst/>
                          <a:latin typeface="+mn-lt"/>
                        </a:rPr>
                        <a:t>Shared</a:t>
                      </a:r>
                      <a:r>
                        <a:rPr lang="en-US" sz="1400" b="1" dirty="0">
                          <a:solidFill>
                            <a:schemeClr val="tx1"/>
                          </a:solidFill>
                          <a:effectLst/>
                          <a:latin typeface="+mn-lt"/>
                        </a:rPr>
                        <a:t> network hosted off </a:t>
                      </a:r>
                      <a:r>
                        <a:rPr lang="en-US" sz="1400" b="1" dirty="0" smtClean="0">
                          <a:solidFill>
                            <a:schemeClr val="tx1"/>
                          </a:solidFill>
                          <a:effectLst/>
                          <a:latin typeface="+mn-lt"/>
                        </a:rPr>
                        <a:t>site resources, </a:t>
                      </a:r>
                      <a:r>
                        <a:rPr lang="en-US" sz="1400" dirty="0" smtClean="0">
                          <a:solidFill>
                            <a:schemeClr val="tx1"/>
                          </a:solidFill>
                          <a:effectLst/>
                          <a:latin typeface="+mn-lt"/>
                        </a:rPr>
                        <a:t>managed </a:t>
                      </a:r>
                      <a:r>
                        <a:rPr lang="en-US" sz="1400" dirty="0">
                          <a:solidFill>
                            <a:schemeClr val="tx1"/>
                          </a:solidFill>
                          <a:effectLst/>
                          <a:latin typeface="+mn-lt"/>
                        </a:rPr>
                        <a:t>by your </a:t>
                      </a:r>
                      <a:r>
                        <a:rPr lang="en-US" sz="1400" b="1" dirty="0">
                          <a:solidFill>
                            <a:schemeClr val="tx1"/>
                          </a:solidFill>
                          <a:effectLst/>
                          <a:latin typeface="+mn-lt"/>
                        </a:rPr>
                        <a:t>service </a:t>
                      </a:r>
                      <a:r>
                        <a:rPr lang="en-US" sz="1400" b="1" dirty="0" smtClean="0">
                          <a:solidFill>
                            <a:schemeClr val="tx1"/>
                          </a:solidFill>
                          <a:effectLst/>
                          <a:latin typeface="+mn-lt"/>
                        </a:rPr>
                        <a:t>provider AWS/</a:t>
                      </a:r>
                      <a:r>
                        <a:rPr lang="en-US" sz="1400" b="1" dirty="0" err="1" smtClean="0">
                          <a:solidFill>
                            <a:schemeClr val="tx1"/>
                          </a:solidFill>
                          <a:effectLst/>
                          <a:latin typeface="+mn-lt"/>
                        </a:rPr>
                        <a:t>Az</a:t>
                      </a:r>
                      <a:r>
                        <a:rPr lang="en-US" sz="1400" b="1" dirty="0" smtClean="0">
                          <a:solidFill>
                            <a:schemeClr val="tx1"/>
                          </a:solidFill>
                          <a:effectLst/>
                          <a:latin typeface="+mn-lt"/>
                        </a:rPr>
                        <a:t>/GCP</a:t>
                      </a:r>
                      <a:r>
                        <a:rPr lang="en-US" sz="1400" dirty="0" smtClean="0">
                          <a:solidFill>
                            <a:schemeClr val="tx1"/>
                          </a:solidFill>
                          <a:effectLst/>
                          <a:latin typeface="+mn-lt"/>
                        </a:rPr>
                        <a:t>.</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1"/>
                  </a:ext>
                </a:extLst>
              </a:tr>
              <a:tr h="307325">
                <a:tc>
                  <a:txBody>
                    <a:bodyPr/>
                    <a:lstStyle/>
                    <a:p>
                      <a:pPr algn="l"/>
                      <a:r>
                        <a:rPr lang="en-US" sz="1200" b="1" dirty="0">
                          <a:solidFill>
                            <a:schemeClr val="tx1"/>
                          </a:solidFill>
                          <a:effectLst/>
                          <a:latin typeface="+mn-lt"/>
                        </a:rPr>
                        <a:t>Business requirement</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u="sng" dirty="0">
                          <a:solidFill>
                            <a:schemeClr val="tx1"/>
                          </a:solidFill>
                          <a:effectLst/>
                          <a:latin typeface="+mn-lt"/>
                        </a:rPr>
                        <a:t>High</a:t>
                      </a:r>
                      <a:r>
                        <a:rPr lang="en-US" sz="1400" b="1" dirty="0">
                          <a:solidFill>
                            <a:schemeClr val="tx1"/>
                          </a:solidFill>
                          <a:effectLst/>
                          <a:latin typeface="+mn-lt"/>
                        </a:rPr>
                        <a:t> performance </a:t>
                      </a:r>
                      <a:r>
                        <a:rPr lang="en-US" sz="1400" dirty="0">
                          <a:solidFill>
                            <a:schemeClr val="tx1"/>
                          </a:solidFill>
                          <a:effectLst/>
                          <a:latin typeface="+mn-lt"/>
                        </a:rPr>
                        <a:t>and </a:t>
                      </a:r>
                      <a:r>
                        <a:rPr lang="en-US" sz="1400" b="1" dirty="0" smtClean="0">
                          <a:solidFill>
                            <a:schemeClr val="tx1"/>
                          </a:solidFill>
                          <a:effectLst/>
                          <a:latin typeface="+mn-lt"/>
                        </a:rPr>
                        <a:t>customization</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u="sng" dirty="0">
                          <a:solidFill>
                            <a:schemeClr val="tx1"/>
                          </a:solidFill>
                          <a:effectLst/>
                          <a:latin typeface="+mn-lt"/>
                        </a:rPr>
                        <a:t>Affordable</a:t>
                      </a:r>
                      <a:r>
                        <a:rPr lang="en-US" sz="1400" b="1" dirty="0">
                          <a:solidFill>
                            <a:schemeClr val="tx1"/>
                          </a:solidFill>
                          <a:effectLst/>
                          <a:latin typeface="+mn-lt"/>
                        </a:rPr>
                        <a:t> solutions</a:t>
                      </a:r>
                      <a:r>
                        <a:rPr lang="en-US" sz="1400" dirty="0">
                          <a:solidFill>
                            <a:schemeClr val="tx1"/>
                          </a:solidFill>
                          <a:effectLst/>
                          <a:latin typeface="+mn-lt"/>
                        </a:rPr>
                        <a:t> that provide room for </a:t>
                      </a:r>
                      <a:r>
                        <a:rPr lang="en-US" sz="1400" dirty="0" smtClean="0">
                          <a:solidFill>
                            <a:schemeClr val="tx1"/>
                          </a:solidFill>
                          <a:effectLst/>
                          <a:latin typeface="+mn-lt"/>
                        </a:rPr>
                        <a:t>growth</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2"/>
                  </a:ext>
                </a:extLst>
              </a:tr>
              <a:tr h="354481">
                <a:tc>
                  <a:txBody>
                    <a:bodyPr/>
                    <a:lstStyle/>
                    <a:p>
                      <a:pPr algn="l"/>
                      <a:r>
                        <a:rPr lang="en-US" sz="1200" b="1" dirty="0">
                          <a:solidFill>
                            <a:schemeClr val="tx1"/>
                          </a:solidFill>
                          <a:effectLst/>
                          <a:latin typeface="+mn-lt"/>
                        </a:rPr>
                        <a:t>Scalability</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Limited</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Linear</a:t>
                      </a:r>
                      <a:r>
                        <a:rPr lang="en-US" sz="1400" b="1" baseline="0" dirty="0">
                          <a:solidFill>
                            <a:schemeClr val="tx1"/>
                          </a:solidFill>
                          <a:effectLst/>
                          <a:latin typeface="+mn-lt"/>
                        </a:rPr>
                        <a:t> Scalable</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3"/>
                  </a:ext>
                </a:extLst>
              </a:tr>
              <a:tr h="307325">
                <a:tc>
                  <a:txBody>
                    <a:bodyPr/>
                    <a:lstStyle/>
                    <a:p>
                      <a:pPr algn="l"/>
                      <a:r>
                        <a:rPr lang="en-US" sz="1200" b="1" dirty="0">
                          <a:solidFill>
                            <a:schemeClr val="tx1"/>
                          </a:solidFill>
                          <a:effectLst/>
                          <a:latin typeface="+mn-lt"/>
                        </a:rPr>
                        <a:t>Support and maintenance</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Org</a:t>
                      </a:r>
                      <a:r>
                        <a:rPr lang="en-US" sz="1400" baseline="0" dirty="0">
                          <a:solidFill>
                            <a:schemeClr val="tx1"/>
                          </a:solidFill>
                          <a:effectLst/>
                          <a:latin typeface="+mn-lt"/>
                        </a:rPr>
                        <a:t> </a:t>
                      </a:r>
                      <a:r>
                        <a:rPr lang="en-US" sz="1400" b="1" dirty="0">
                          <a:solidFill>
                            <a:schemeClr val="tx1"/>
                          </a:solidFill>
                          <a:effectLst/>
                          <a:latin typeface="+mn-lt"/>
                        </a:rPr>
                        <a:t>administrators.</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Service Provider</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4"/>
                  </a:ext>
                </a:extLst>
              </a:tr>
              <a:tr h="519525">
                <a:tc>
                  <a:txBody>
                    <a:bodyPr/>
                    <a:lstStyle/>
                    <a:p>
                      <a:pPr algn="l"/>
                      <a:r>
                        <a:rPr lang="en-US" sz="1200" b="1" dirty="0">
                          <a:solidFill>
                            <a:schemeClr val="tx1"/>
                          </a:solidFill>
                          <a:effectLst/>
                          <a:latin typeface="+mn-lt"/>
                        </a:rPr>
                        <a:t>Cost</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smtClean="0">
                          <a:solidFill>
                            <a:schemeClr val="tx1"/>
                          </a:solidFill>
                          <a:effectLst/>
                          <a:latin typeface="+mn-lt"/>
                        </a:rPr>
                        <a:t>High -&gt; Capital Expenditure</a:t>
                      </a:r>
                      <a:r>
                        <a:rPr lang="en-US" sz="1400" b="1" baseline="0" dirty="0" smtClean="0">
                          <a:solidFill>
                            <a:schemeClr val="tx1"/>
                          </a:solidFill>
                          <a:effectLst/>
                          <a:latin typeface="+mn-lt"/>
                        </a:rPr>
                        <a:t> (</a:t>
                      </a:r>
                      <a:r>
                        <a:rPr lang="en-US" sz="1400" b="1" dirty="0" err="1" smtClean="0">
                          <a:solidFill>
                            <a:schemeClr val="tx1"/>
                          </a:solidFill>
                          <a:effectLst/>
                          <a:latin typeface="+mn-lt"/>
                        </a:rPr>
                        <a:t>CapEx</a:t>
                      </a:r>
                      <a:r>
                        <a:rPr lang="en-US" sz="1400" b="1" dirty="0" smtClean="0">
                          <a:solidFill>
                            <a:schemeClr val="tx1"/>
                          </a:solidFill>
                          <a:effectLst/>
                          <a:latin typeface="+mn-lt"/>
                        </a:rPr>
                        <a:t>) </a:t>
                      </a:r>
                      <a:r>
                        <a:rPr lang="en-US" sz="1400" b="1" dirty="0">
                          <a:solidFill>
                            <a:schemeClr val="tx1"/>
                          </a:solidFill>
                          <a:effectLst/>
                          <a:latin typeface="+mn-lt"/>
                        </a:rPr>
                        <a:t>+ </a:t>
                      </a:r>
                      <a:r>
                        <a:rPr lang="en-US" sz="1400" b="1" dirty="0" smtClean="0">
                          <a:solidFill>
                            <a:schemeClr val="tx1"/>
                          </a:solidFill>
                          <a:effectLst/>
                          <a:latin typeface="+mn-lt"/>
                        </a:rPr>
                        <a:t>High -&gt; Operational Expenditure (</a:t>
                      </a:r>
                      <a:r>
                        <a:rPr lang="en-US" sz="1400" b="1" dirty="0" err="1" smtClean="0">
                          <a:solidFill>
                            <a:schemeClr val="tx1"/>
                          </a:solidFill>
                          <a:effectLst/>
                          <a:latin typeface="+mn-lt"/>
                        </a:rPr>
                        <a:t>OpEx</a:t>
                      </a:r>
                      <a:r>
                        <a:rPr lang="en-US" sz="1400" b="1" dirty="0" smtClean="0">
                          <a:solidFill>
                            <a:schemeClr val="tx1"/>
                          </a:solidFill>
                          <a:effectLst/>
                          <a:latin typeface="+mn-lt"/>
                        </a:rPr>
                        <a:t>)</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smtClean="0">
                          <a:solidFill>
                            <a:schemeClr val="tx1"/>
                          </a:solidFill>
                          <a:effectLst/>
                          <a:latin typeface="+mn-lt"/>
                        </a:rPr>
                        <a:t>Low/No </a:t>
                      </a:r>
                      <a:r>
                        <a:rPr lang="en-US" sz="1400" b="1" dirty="0" err="1" smtClean="0">
                          <a:solidFill>
                            <a:schemeClr val="tx1"/>
                          </a:solidFill>
                          <a:effectLst/>
                          <a:latin typeface="+mn-lt"/>
                        </a:rPr>
                        <a:t>CapEx</a:t>
                      </a:r>
                      <a:r>
                        <a:rPr lang="en-US" sz="1400" b="1" dirty="0" smtClean="0">
                          <a:solidFill>
                            <a:schemeClr val="tx1"/>
                          </a:solidFill>
                          <a:effectLst/>
                          <a:latin typeface="+mn-lt"/>
                        </a:rPr>
                        <a:t> </a:t>
                      </a:r>
                      <a:r>
                        <a:rPr lang="en-US" sz="1400" b="1" dirty="0">
                          <a:solidFill>
                            <a:schemeClr val="tx1"/>
                          </a:solidFill>
                          <a:effectLst/>
                          <a:latin typeface="+mn-lt"/>
                        </a:rPr>
                        <a:t>+ </a:t>
                      </a:r>
                      <a:r>
                        <a:rPr lang="en-US" sz="1400" b="1" dirty="0" smtClean="0">
                          <a:solidFill>
                            <a:schemeClr val="tx1"/>
                          </a:solidFill>
                          <a:effectLst/>
                          <a:latin typeface="+mn-lt"/>
                        </a:rPr>
                        <a:t>Low to High </a:t>
                      </a:r>
                      <a:r>
                        <a:rPr lang="en-US" sz="1400" b="1" dirty="0" err="1" smtClean="0">
                          <a:solidFill>
                            <a:schemeClr val="tx1"/>
                          </a:solidFill>
                          <a:effectLst/>
                          <a:latin typeface="+mn-lt"/>
                        </a:rPr>
                        <a:t>OpEx</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5"/>
                  </a:ext>
                </a:extLst>
              </a:tr>
              <a:tr h="354481">
                <a:tc>
                  <a:txBody>
                    <a:bodyPr/>
                    <a:lstStyle/>
                    <a:p>
                      <a:pPr algn="l"/>
                      <a:r>
                        <a:rPr lang="en-US" sz="1200" b="1" dirty="0">
                          <a:solidFill>
                            <a:schemeClr val="tx1"/>
                          </a:solidFill>
                          <a:effectLst/>
                          <a:latin typeface="+mn-lt"/>
                        </a:rPr>
                        <a:t>Security</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Isolated</a:t>
                      </a:r>
                      <a:r>
                        <a:rPr lang="en-US" sz="1400" dirty="0">
                          <a:solidFill>
                            <a:schemeClr val="tx1"/>
                          </a:solidFill>
                          <a:effectLst/>
                          <a:latin typeface="+mn-lt"/>
                        </a:rPr>
                        <a:t> network environment</a:t>
                      </a:r>
                      <a:r>
                        <a:rPr lang="en-US" sz="1400" dirty="0" smtClean="0">
                          <a:solidFill>
                            <a:schemeClr val="tx1"/>
                          </a:solidFill>
                          <a:effectLst/>
                          <a:latin typeface="+mn-lt"/>
                        </a:rPr>
                        <a:t>.</a:t>
                      </a:r>
                      <a:endParaRPr lang="en-US" sz="1400" dirty="0">
                        <a:solidFill>
                          <a:schemeClr val="tx1"/>
                        </a:solidFill>
                        <a:effectLst/>
                        <a:latin typeface="+mn-lt"/>
                      </a:endParaRPr>
                    </a:p>
                    <a:p>
                      <a:pPr algn="l"/>
                      <a:r>
                        <a:rPr lang="en-US" sz="1400" b="1" dirty="0">
                          <a:solidFill>
                            <a:schemeClr val="tx1"/>
                          </a:solidFill>
                          <a:effectLst/>
                          <a:latin typeface="+mn-lt"/>
                        </a:rPr>
                        <a:t>Enhanced security</a:t>
                      </a:r>
                      <a:r>
                        <a:rPr lang="en-US" sz="1400" dirty="0">
                          <a:solidFill>
                            <a:schemeClr val="tx1"/>
                          </a:solidFill>
                          <a:effectLst/>
                          <a:latin typeface="+mn-lt"/>
                        </a:rPr>
                        <a:t> to meet data protection legislation.</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Security compliant</a:t>
                      </a:r>
                      <a:endParaRPr lang="en-US" sz="14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6"/>
                  </a:ext>
                </a:extLst>
              </a:tr>
              <a:tr h="203072">
                <a:tc>
                  <a:txBody>
                    <a:bodyPr/>
                    <a:lstStyle/>
                    <a:p>
                      <a:pPr algn="l"/>
                      <a:r>
                        <a:rPr lang="en-US" sz="1200" b="1" dirty="0">
                          <a:solidFill>
                            <a:schemeClr val="tx1"/>
                          </a:solidFill>
                          <a:effectLst/>
                          <a:latin typeface="+mn-lt"/>
                        </a:rPr>
                        <a:t>Performance</a:t>
                      </a:r>
                      <a:endParaRPr lang="en-US" sz="1200" dirty="0">
                        <a:solidFill>
                          <a:schemeClr val="tx1"/>
                        </a:solidFill>
                        <a:effectLst/>
                        <a:latin typeface="+mn-lt"/>
                      </a:endParaRP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b="1" dirty="0">
                          <a:solidFill>
                            <a:schemeClr val="tx1"/>
                          </a:solidFill>
                          <a:effectLst/>
                          <a:latin typeface="+mn-lt"/>
                        </a:rPr>
                        <a:t>High performance </a:t>
                      </a:r>
                      <a:r>
                        <a:rPr lang="en-US" sz="1400" dirty="0">
                          <a:solidFill>
                            <a:schemeClr val="tx1"/>
                          </a:solidFill>
                          <a:effectLst/>
                          <a:latin typeface="+mn-lt"/>
                        </a:rPr>
                        <a:t>from dedicated server.</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sz="1400" dirty="0">
                          <a:solidFill>
                            <a:schemeClr val="tx1"/>
                          </a:solidFill>
                          <a:effectLst/>
                          <a:latin typeface="+mn-lt"/>
                        </a:rPr>
                        <a:t>Competing users can </a:t>
                      </a:r>
                      <a:r>
                        <a:rPr lang="en-US" sz="1400" b="1" dirty="0">
                          <a:solidFill>
                            <a:schemeClr val="tx1"/>
                          </a:solidFill>
                          <a:effectLst/>
                          <a:latin typeface="+mn-lt"/>
                        </a:rPr>
                        <a:t>reduce performance</a:t>
                      </a:r>
                      <a:r>
                        <a:rPr lang="en-US" sz="1400" dirty="0">
                          <a:solidFill>
                            <a:schemeClr val="tx1"/>
                          </a:solidFill>
                          <a:effectLst/>
                          <a:latin typeface="+mn-lt"/>
                        </a:rPr>
                        <a:t> levels from shared resources.</a:t>
                      </a:r>
                    </a:p>
                  </a:txBody>
                  <a:tcPr marL="31531" marR="31531" marT="15766" marB="157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 xmlns:a16="http://schemas.microsoft.com/office/drawing/2014/main" val="10007"/>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7486560" y="1701720"/>
              <a:ext cx="360" cy="360"/>
            </p14:xfrm>
          </p:contentPart>
        </mc:Choice>
        <mc:Fallback xmlns="">
          <p:pic>
            <p:nvPicPr>
              <p:cNvPr id="3" name="Ink 2"/>
              <p:cNvPicPr/>
              <p:nvPr/>
            </p:nvPicPr>
            <p:blipFill>
              <a:blip r:embed="rId5"/>
              <a:stretch>
                <a:fillRect/>
              </a:stretch>
            </p:blipFill>
            <p:spPr>
              <a:xfrm>
                <a:off x="7477200" y="1692360"/>
                <a:ext cx="19080" cy="19080"/>
              </a:xfrm>
              <a:prstGeom prst="rect">
                <a:avLst/>
              </a:prstGeom>
            </p:spPr>
          </p:pic>
        </mc:Fallback>
      </mc:AlternateContent>
    </p:spTree>
    <p:extLst>
      <p:ext uri="{BB962C8B-B14F-4D97-AF65-F5344CB8AC3E}">
        <p14:creationId xmlns:p14="http://schemas.microsoft.com/office/powerpoint/2010/main" val="115043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Related image">
            <a:extLst>
              <a:ext uri="{FF2B5EF4-FFF2-40B4-BE49-F238E27FC236}">
                <a16:creationId xmlns="" xmlns:a16="http://schemas.microsoft.com/office/drawing/2014/main" id="{0970D891-36D0-B9B3-D588-5173D29B739A}"/>
              </a:ext>
            </a:extLst>
          </p:cNvPr>
          <p:cNvPicPr>
            <a:picLocks noChangeAspect="1" noChangeArrowheads="1"/>
          </p:cNvPicPr>
          <p:nvPr/>
        </p:nvPicPr>
        <p:blipFill>
          <a:blip r:embed="rId2"/>
          <a:srcRect/>
          <a:stretch>
            <a:fillRect/>
          </a:stretch>
        </p:blipFill>
        <p:spPr bwMode="auto">
          <a:xfrm>
            <a:off x="8548101" y="3730256"/>
            <a:ext cx="3649985" cy="2290785"/>
          </a:xfrm>
          <a:prstGeom prst="rect">
            <a:avLst/>
          </a:prstGeom>
          <a:noFill/>
        </p:spPr>
      </p:pic>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307975" y="210702"/>
            <a:ext cx="1999906" cy="369332"/>
          </a:xfrm>
          <a:prstGeom prst="rect">
            <a:avLst/>
          </a:prstGeom>
        </p:spPr>
        <p:txBody>
          <a:bodyPr wrap="none">
            <a:spAutoFit/>
          </a:bodyPr>
          <a:lstStyle/>
          <a:p>
            <a:r>
              <a:rPr lang="en-US" b="1" u="sng" dirty="0">
                <a:solidFill>
                  <a:srgbClr val="FF0000"/>
                </a:solidFill>
              </a:rPr>
              <a:t>Why </a:t>
            </a:r>
            <a:r>
              <a:rPr lang="en-US" b="1" u="sng" dirty="0" smtClean="0">
                <a:solidFill>
                  <a:srgbClr val="FF0000"/>
                </a:solidFill>
              </a:rPr>
              <a:t>Cloud (Public)</a:t>
            </a:r>
            <a:endParaRPr lang="en-US" b="1" u="sng" dirty="0"/>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591" y="937051"/>
            <a:ext cx="5597055" cy="25001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4377" y="974686"/>
            <a:ext cx="5521783" cy="24248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8375" y="3682893"/>
            <a:ext cx="6641022" cy="2483227"/>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2307881" y="561718"/>
            <a:ext cx="2438809" cy="369332"/>
          </a:xfrm>
          <a:prstGeom prst="rect">
            <a:avLst/>
          </a:prstGeom>
        </p:spPr>
        <p:txBody>
          <a:bodyPr wrap="none">
            <a:spAutoFit/>
          </a:bodyPr>
          <a:lstStyle/>
          <a:p>
            <a:r>
              <a:rPr lang="en-US" b="1" u="sng" dirty="0" err="1" smtClean="0">
                <a:solidFill>
                  <a:srgbClr val="FF0000"/>
                </a:solidFill>
              </a:rPr>
              <a:t>Onprem</a:t>
            </a:r>
            <a:r>
              <a:rPr lang="en-US" b="1" u="sng" dirty="0" smtClean="0">
                <a:solidFill>
                  <a:srgbClr val="FF0000"/>
                </a:solidFill>
              </a:rPr>
              <a:t> (Private Cloud)</a:t>
            </a:r>
            <a:endParaRPr lang="en-US" b="1" u="sng" dirty="0"/>
          </a:p>
        </p:txBody>
      </p:sp>
      <p:sp>
        <p:nvSpPr>
          <p:cNvPr id="9" name="Rectangle 8"/>
          <p:cNvSpPr/>
          <p:nvPr/>
        </p:nvSpPr>
        <p:spPr>
          <a:xfrm>
            <a:off x="7847099" y="580034"/>
            <a:ext cx="1364476" cy="369332"/>
          </a:xfrm>
          <a:prstGeom prst="rect">
            <a:avLst/>
          </a:prstGeom>
        </p:spPr>
        <p:txBody>
          <a:bodyPr wrap="none">
            <a:spAutoFit/>
          </a:bodyPr>
          <a:lstStyle/>
          <a:p>
            <a:r>
              <a:rPr lang="en-US" b="1" u="sng" dirty="0" smtClean="0">
                <a:solidFill>
                  <a:srgbClr val="FF0000"/>
                </a:solidFill>
              </a:rPr>
              <a:t>Public Cloud</a:t>
            </a:r>
            <a:endParaRPr lang="en-US" b="1" u="sng" dirty="0"/>
          </a:p>
        </p:txBody>
      </p:sp>
      <p:cxnSp>
        <p:nvCxnSpPr>
          <p:cNvPr id="4" name="Straight Connector 3"/>
          <p:cNvCxnSpPr/>
          <p:nvPr/>
        </p:nvCxnSpPr>
        <p:spPr>
          <a:xfrm>
            <a:off x="6087035" y="0"/>
            <a:ext cx="71718" cy="685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88523" y="3907987"/>
            <a:ext cx="1792528" cy="1200329"/>
          </a:xfrm>
          <a:prstGeom prst="rect">
            <a:avLst/>
          </a:prstGeom>
        </p:spPr>
        <p:txBody>
          <a:bodyPr wrap="square">
            <a:spAutoFit/>
          </a:bodyPr>
          <a:lstStyle/>
          <a:p>
            <a:r>
              <a:rPr lang="en-US" b="1" dirty="0" smtClean="0">
                <a:solidFill>
                  <a:srgbClr val="FF0000"/>
                </a:solidFill>
              </a:rPr>
              <a:t>Aws – 30+%</a:t>
            </a:r>
          </a:p>
          <a:p>
            <a:r>
              <a:rPr lang="en-US" b="1" dirty="0" err="1" smtClean="0">
                <a:solidFill>
                  <a:srgbClr val="FF0000"/>
                </a:solidFill>
              </a:rPr>
              <a:t>Az</a:t>
            </a:r>
            <a:r>
              <a:rPr lang="en-US" b="1" dirty="0" smtClean="0">
                <a:solidFill>
                  <a:srgbClr val="FF0000"/>
                </a:solidFill>
              </a:rPr>
              <a:t> – &lt;20%</a:t>
            </a:r>
          </a:p>
          <a:p>
            <a:r>
              <a:rPr lang="en-US" b="1" dirty="0" smtClean="0">
                <a:solidFill>
                  <a:srgbClr val="FF0000"/>
                </a:solidFill>
              </a:rPr>
              <a:t>GCP – &gt;12%</a:t>
            </a:r>
          </a:p>
          <a:p>
            <a:r>
              <a:rPr lang="en-US" b="1" dirty="0" smtClean="0">
                <a:solidFill>
                  <a:srgbClr val="FF0000"/>
                </a:solidFill>
              </a:rPr>
              <a:t>Other - ~30</a:t>
            </a:r>
            <a:endParaRPr lang="en-US" b="1" dirty="0"/>
          </a:p>
        </p:txBody>
      </p:sp>
    </p:spTree>
    <p:extLst>
      <p:ext uri="{BB962C8B-B14F-4D97-AF65-F5344CB8AC3E}">
        <p14:creationId xmlns:p14="http://schemas.microsoft.com/office/powerpoint/2010/main" val="625820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7909742" y="406806"/>
            <a:ext cx="3967048" cy="4706369"/>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161333" y="37476"/>
            <a:ext cx="2318327" cy="369332"/>
          </a:xfrm>
          <a:prstGeom prst="rect">
            <a:avLst/>
          </a:prstGeom>
        </p:spPr>
        <p:txBody>
          <a:bodyPr wrap="none">
            <a:spAutoFit/>
          </a:bodyPr>
          <a:lstStyle/>
          <a:p>
            <a:r>
              <a:rPr lang="en-US" b="1" u="sng" dirty="0">
                <a:solidFill>
                  <a:srgbClr val="FF0000"/>
                </a:solidFill>
              </a:rPr>
              <a:t>Major Cloud Providers</a:t>
            </a:r>
            <a:endParaRPr lang="en-US" b="1" u="sng" dirty="0"/>
          </a:p>
        </p:txBody>
      </p:sp>
      <p:sp>
        <p:nvSpPr>
          <p:cNvPr id="11" name="Rectangle 10"/>
          <p:cNvSpPr/>
          <p:nvPr/>
        </p:nvSpPr>
        <p:spPr>
          <a:xfrm>
            <a:off x="147434" y="410511"/>
            <a:ext cx="3743075" cy="4031873"/>
          </a:xfrm>
          <a:prstGeom prst="rect">
            <a:avLst/>
          </a:prstGeom>
        </p:spPr>
        <p:txBody>
          <a:bodyPr wrap="square">
            <a:spAutoFit/>
          </a:bodyPr>
          <a:lstStyle/>
          <a:p>
            <a:pPr algn="just"/>
            <a:r>
              <a:rPr lang="en-US" sz="1600" b="1" dirty="0"/>
              <a:t>AWS</a:t>
            </a:r>
            <a:r>
              <a:rPr lang="en-US" sz="1600" dirty="0"/>
              <a:t> comprises over </a:t>
            </a:r>
            <a:r>
              <a:rPr lang="en-US" sz="1600" b="1" dirty="0"/>
              <a:t>200+</a:t>
            </a:r>
            <a:r>
              <a:rPr lang="en-US" sz="1600" dirty="0"/>
              <a:t> products and services including </a:t>
            </a:r>
            <a:r>
              <a:rPr lang="en-US" sz="1600" dirty="0">
                <a:hlinkClick r:id="rId2" tooltip="Computation"/>
              </a:rPr>
              <a:t>computing</a:t>
            </a:r>
            <a:r>
              <a:rPr lang="en-US" sz="1600" dirty="0"/>
              <a:t>, </a:t>
            </a:r>
            <a:r>
              <a:rPr lang="en-US" sz="1600" dirty="0">
                <a:hlinkClick r:id="rId3" tooltip="Storage virtualization"/>
              </a:rPr>
              <a:t>storage</a:t>
            </a:r>
            <a:r>
              <a:rPr lang="en-US" sz="1600" dirty="0"/>
              <a:t>, </a:t>
            </a:r>
            <a:r>
              <a:rPr lang="en-US" sz="1600" dirty="0">
                <a:hlinkClick r:id="rId4" tooltip="Computer network"/>
              </a:rPr>
              <a:t>networking</a:t>
            </a:r>
            <a:r>
              <a:rPr lang="en-US" sz="1600" dirty="0"/>
              <a:t>, </a:t>
            </a:r>
            <a:r>
              <a:rPr lang="en-US" sz="1600" dirty="0">
                <a:hlinkClick r:id="rId5" tooltip="Database"/>
              </a:rPr>
              <a:t>database</a:t>
            </a:r>
            <a:r>
              <a:rPr lang="en-US" sz="1600" dirty="0"/>
              <a:t>, </a:t>
            </a:r>
            <a:r>
              <a:rPr lang="en-US" sz="1600" dirty="0">
                <a:hlinkClick r:id="rId6" tooltip="Analytics"/>
              </a:rPr>
              <a:t>analytics</a:t>
            </a:r>
            <a:r>
              <a:rPr lang="en-US" sz="1600" dirty="0"/>
              <a:t>, </a:t>
            </a:r>
            <a:r>
              <a:rPr lang="en-US" sz="1600" dirty="0">
                <a:hlinkClick r:id="rId7" tooltip="Application service provider"/>
              </a:rPr>
              <a:t>application services</a:t>
            </a:r>
            <a:r>
              <a:rPr lang="en-US" sz="1600" dirty="0"/>
              <a:t>, </a:t>
            </a:r>
            <a:r>
              <a:rPr lang="en-US" sz="1600" dirty="0">
                <a:hlinkClick r:id="rId8" tooltip="Software deployment"/>
              </a:rPr>
              <a:t>deployment</a:t>
            </a:r>
            <a:r>
              <a:rPr lang="en-US" sz="1600" dirty="0"/>
              <a:t>, </a:t>
            </a:r>
            <a:r>
              <a:rPr lang="en-US" sz="1600" dirty="0">
                <a:hlinkClick r:id="rId9" tooltip="Systems management"/>
              </a:rPr>
              <a:t>management</a:t>
            </a:r>
            <a:r>
              <a:rPr lang="en-US" sz="1600" dirty="0"/>
              <a:t>, </a:t>
            </a:r>
            <a:r>
              <a:rPr lang="en-US" sz="1600" dirty="0">
                <a:hlinkClick r:id="rId10" tooltip="Mobile application development"/>
              </a:rPr>
              <a:t>mobile</a:t>
            </a:r>
            <a:r>
              <a:rPr lang="en-US" sz="1600" dirty="0"/>
              <a:t>, </a:t>
            </a:r>
            <a:r>
              <a:rPr lang="en-US" sz="1600" dirty="0">
                <a:hlinkClick r:id="rId11" tooltip="Programming tool"/>
              </a:rPr>
              <a:t>developer tools</a:t>
            </a:r>
            <a:r>
              <a:rPr lang="en-US" sz="1600" dirty="0"/>
              <a:t>, and tools for the </a:t>
            </a:r>
            <a:r>
              <a:rPr lang="en-US" sz="1600" dirty="0">
                <a:hlinkClick r:id="rId12" tooltip="Internet of Things"/>
              </a:rPr>
              <a:t>Internet of Things</a:t>
            </a:r>
            <a:r>
              <a:rPr lang="en-US" sz="1600" dirty="0"/>
              <a:t>.</a:t>
            </a:r>
            <a:endParaRPr lang="en-US" sz="1600" b="1" dirty="0"/>
          </a:p>
          <a:p>
            <a:pPr algn="just"/>
            <a:endParaRPr lang="en-US" sz="1600" b="1" dirty="0"/>
          </a:p>
          <a:p>
            <a:pPr algn="just"/>
            <a:r>
              <a:rPr lang="en-US" sz="1600" b="1" dirty="0"/>
              <a:t>History – </a:t>
            </a:r>
          </a:p>
          <a:p>
            <a:pPr algn="just"/>
            <a:r>
              <a:rPr lang="en-US" sz="1600" b="1" dirty="0"/>
              <a:t>Jeff Bezos - 1994</a:t>
            </a:r>
          </a:p>
          <a:p>
            <a:pPr algn="just"/>
            <a:r>
              <a:rPr lang="en-US" sz="1600" dirty="0"/>
              <a:t>Started – 2000, </a:t>
            </a:r>
            <a:r>
              <a:rPr lang="en-US" sz="1600" b="1" dirty="0"/>
              <a:t>Launched – 2002</a:t>
            </a:r>
            <a:r>
              <a:rPr lang="en-US" sz="1600" dirty="0"/>
              <a:t>, </a:t>
            </a:r>
          </a:p>
          <a:p>
            <a:pPr algn="just"/>
            <a:r>
              <a:rPr lang="en-US" sz="1600" dirty="0"/>
              <a:t>EC2 – 2003, SQS – 2004, S3 – 2006 ……..</a:t>
            </a:r>
          </a:p>
          <a:p>
            <a:pPr algn="just"/>
            <a:endParaRPr lang="en-US" sz="1600" b="1" dirty="0"/>
          </a:p>
          <a:p>
            <a:pPr algn="just"/>
            <a:r>
              <a:rPr lang="en-US" sz="1600" b="1" dirty="0"/>
              <a:t>Market Stake</a:t>
            </a:r>
            <a:r>
              <a:rPr lang="en-US" sz="1600" b="1" dirty="0" smtClean="0"/>
              <a:t>:</a:t>
            </a:r>
          </a:p>
          <a:p>
            <a:pPr algn="just"/>
            <a:r>
              <a:rPr lang="en-US" sz="1600" b="1" dirty="0" smtClean="0"/>
              <a:t>30+ ,Small level companies to big, Common Matured Ecosystems..</a:t>
            </a:r>
            <a:endParaRPr lang="en-US" sz="1600" b="1" dirty="0"/>
          </a:p>
        </p:txBody>
      </p:sp>
      <p:sp>
        <p:nvSpPr>
          <p:cNvPr id="6" name="Rectangle 5"/>
          <p:cNvSpPr/>
          <p:nvPr/>
        </p:nvSpPr>
        <p:spPr>
          <a:xfrm>
            <a:off x="4295659" y="420166"/>
            <a:ext cx="3324836" cy="4524315"/>
          </a:xfrm>
          <a:prstGeom prst="rect">
            <a:avLst/>
          </a:prstGeom>
        </p:spPr>
        <p:txBody>
          <a:bodyPr wrap="square">
            <a:spAutoFit/>
          </a:bodyPr>
          <a:lstStyle/>
          <a:p>
            <a:pPr algn="just"/>
            <a:r>
              <a:rPr lang="en-US" sz="1600" b="1" dirty="0"/>
              <a:t>GCP</a:t>
            </a:r>
            <a:r>
              <a:rPr lang="en-US" sz="1600" dirty="0"/>
              <a:t> is a public cloud vendor that offers a suite of </a:t>
            </a:r>
            <a:r>
              <a:rPr lang="en-US" sz="1600" b="1" dirty="0"/>
              <a:t>100+</a:t>
            </a:r>
            <a:r>
              <a:rPr lang="en-US" sz="1600" dirty="0"/>
              <a:t> services to do everything from </a:t>
            </a:r>
            <a:r>
              <a:rPr lang="en-US" sz="1600" u="sng" dirty="0"/>
              <a:t>data </a:t>
            </a:r>
            <a:r>
              <a:rPr lang="en-US" sz="1600" u="sng" dirty="0" smtClean="0"/>
              <a:t>management (Engineering &amp; Analytics) </a:t>
            </a:r>
            <a:r>
              <a:rPr lang="en-US" sz="1600" u="sng" dirty="0"/>
              <a:t>to delivering web and </a:t>
            </a:r>
            <a:r>
              <a:rPr lang="en-US" sz="1600" u="sng" dirty="0" smtClean="0"/>
              <a:t>image/video </a:t>
            </a:r>
            <a:r>
              <a:rPr lang="en-US" sz="1600" u="sng" dirty="0"/>
              <a:t>over the web to AI and machine learning tools</a:t>
            </a:r>
            <a:r>
              <a:rPr lang="en-US" sz="1600" dirty="0"/>
              <a:t>.</a:t>
            </a:r>
          </a:p>
          <a:p>
            <a:pPr algn="just"/>
            <a:endParaRPr lang="en-US" sz="1600" dirty="0"/>
          </a:p>
          <a:p>
            <a:pPr algn="just"/>
            <a:r>
              <a:rPr lang="en-US" sz="1600" b="1" dirty="0"/>
              <a:t>History – </a:t>
            </a:r>
          </a:p>
          <a:p>
            <a:pPr algn="just"/>
            <a:r>
              <a:rPr lang="en-US" sz="1600" dirty="0"/>
              <a:t>In April </a:t>
            </a:r>
            <a:r>
              <a:rPr lang="en-US" sz="1600" b="1" dirty="0"/>
              <a:t>2008</a:t>
            </a:r>
            <a:r>
              <a:rPr lang="en-US" sz="1600" dirty="0"/>
              <a:t>, </a:t>
            </a:r>
          </a:p>
          <a:p>
            <a:pPr algn="just"/>
            <a:endParaRPr lang="en-US" sz="1600" dirty="0">
              <a:hlinkClick r:id="rId13"/>
            </a:endParaRPr>
          </a:p>
          <a:p>
            <a:pPr algn="just"/>
            <a:r>
              <a:rPr lang="en-US" sz="1600" dirty="0">
                <a:hlinkClick r:id="rId13"/>
              </a:rPr>
              <a:t>Google announced a preview release of App Engine</a:t>
            </a:r>
            <a:endParaRPr lang="en-US" sz="1600" dirty="0"/>
          </a:p>
          <a:p>
            <a:pPr algn="just"/>
            <a:endParaRPr lang="en-US" sz="1600" dirty="0"/>
          </a:p>
          <a:p>
            <a:pPr algn="just"/>
            <a:r>
              <a:rPr lang="en-US" sz="1600" b="1" dirty="0"/>
              <a:t>Market Stake</a:t>
            </a:r>
            <a:r>
              <a:rPr lang="en-US" sz="1600" b="1" dirty="0" smtClean="0"/>
              <a:t>:</a:t>
            </a:r>
          </a:p>
          <a:p>
            <a:pPr algn="just"/>
            <a:r>
              <a:rPr lang="en-US" sz="1600" b="1" dirty="0" smtClean="0"/>
              <a:t>10</a:t>
            </a:r>
            <a:r>
              <a:rPr lang="en-US" sz="1600" b="1" dirty="0"/>
              <a:t>+ , Small </a:t>
            </a:r>
            <a:r>
              <a:rPr lang="en-US" sz="1600" b="1" dirty="0" smtClean="0"/>
              <a:t>scale to </a:t>
            </a:r>
            <a:r>
              <a:rPr lang="en-US" sz="1600" b="1" dirty="0"/>
              <a:t>Enterprise </a:t>
            </a:r>
            <a:r>
              <a:rPr lang="en-US" sz="1600" b="1" dirty="0" smtClean="0"/>
              <a:t>(Data Analytics, </a:t>
            </a:r>
            <a:r>
              <a:rPr lang="en-US" sz="1600" b="1" dirty="0"/>
              <a:t>Data Engineering</a:t>
            </a:r>
            <a:r>
              <a:rPr lang="en-US" sz="1600" b="1" dirty="0" smtClean="0"/>
              <a:t> &amp; AIML Services).</a:t>
            </a:r>
            <a:endParaRPr lang="en-US" sz="1600" b="1" dirty="0"/>
          </a:p>
        </p:txBody>
      </p:sp>
      <p:sp>
        <p:nvSpPr>
          <p:cNvPr id="7" name="Rectangle 6"/>
          <p:cNvSpPr/>
          <p:nvPr/>
        </p:nvSpPr>
        <p:spPr>
          <a:xfrm>
            <a:off x="7909742" y="406808"/>
            <a:ext cx="3966328" cy="4185761"/>
          </a:xfrm>
          <a:prstGeom prst="rect">
            <a:avLst/>
          </a:prstGeom>
        </p:spPr>
        <p:txBody>
          <a:bodyPr wrap="square">
            <a:spAutoFit/>
          </a:bodyPr>
          <a:lstStyle/>
          <a:p>
            <a:pPr algn="just"/>
            <a:r>
              <a:rPr lang="en-US" sz="1400" b="1" dirty="0"/>
              <a:t>Azure</a:t>
            </a:r>
            <a:r>
              <a:rPr lang="en-US" sz="1400" dirty="0"/>
              <a:t> is a cloud computing service over </a:t>
            </a:r>
            <a:r>
              <a:rPr lang="en-US" sz="1400" dirty="0" smtClean="0"/>
              <a:t>nearly 200 </a:t>
            </a:r>
            <a:r>
              <a:rPr lang="en-US" sz="1400" dirty="0"/>
              <a:t>operated by Microsoft, provides </a:t>
            </a:r>
            <a:r>
              <a:rPr lang="en-US" sz="1400" dirty="0">
                <a:hlinkClick r:id="rId14" tooltip="Software as a service"/>
              </a:rPr>
              <a:t>software as a service (SaaS)</a:t>
            </a:r>
            <a:r>
              <a:rPr lang="en-US" sz="1400" dirty="0"/>
              <a:t>, </a:t>
            </a:r>
            <a:r>
              <a:rPr lang="en-US" sz="1400" dirty="0">
                <a:hlinkClick r:id="rId15" tooltip="Platform as a service"/>
              </a:rPr>
              <a:t>platform as a service (PaaS)</a:t>
            </a:r>
            <a:r>
              <a:rPr lang="en-US" sz="1400" dirty="0"/>
              <a:t> and </a:t>
            </a:r>
            <a:r>
              <a:rPr lang="en-US" sz="1400" dirty="0">
                <a:hlinkClick r:id="rId16" tooltip="Infrastructure as a service"/>
              </a:rPr>
              <a:t>infrastructure as a service (IaaS)</a:t>
            </a:r>
            <a:r>
              <a:rPr lang="en-US" sz="1400" dirty="0"/>
              <a:t> and supports many different </a:t>
            </a:r>
            <a:r>
              <a:rPr lang="en-US" sz="1400" dirty="0">
                <a:hlinkClick r:id="rId17" tooltip="Programming language"/>
              </a:rPr>
              <a:t>programming languages</a:t>
            </a:r>
            <a:r>
              <a:rPr lang="en-US" sz="1400" dirty="0"/>
              <a:t>, tools, and frameworks, including both </a:t>
            </a:r>
            <a:r>
              <a:rPr lang="en-US" sz="1400" b="1" dirty="0"/>
              <a:t>Microsoft-specific</a:t>
            </a:r>
            <a:r>
              <a:rPr lang="en-US" sz="1400" dirty="0"/>
              <a:t> and third-party software and systems</a:t>
            </a:r>
          </a:p>
          <a:p>
            <a:pPr algn="just"/>
            <a:endParaRPr lang="en-US" sz="1400" b="1" dirty="0"/>
          </a:p>
          <a:p>
            <a:pPr algn="just"/>
            <a:r>
              <a:rPr lang="en-US" sz="1400" b="1" dirty="0"/>
              <a:t>History -</a:t>
            </a:r>
          </a:p>
          <a:p>
            <a:pPr algn="just"/>
            <a:r>
              <a:rPr lang="en-US" sz="1400" dirty="0"/>
              <a:t>Azure, announced at Microsoft's Professional Developers Conference (PDC) in October 2008, went by the internal project </a:t>
            </a:r>
            <a:r>
              <a:rPr lang="en-US" sz="1400" b="1" dirty="0"/>
              <a:t>codename "Project Red Dog"</a:t>
            </a:r>
            <a:r>
              <a:rPr lang="en-US" sz="1400" dirty="0"/>
              <a:t>, and formally released in February </a:t>
            </a:r>
            <a:r>
              <a:rPr lang="en-US" sz="1400" b="1" dirty="0"/>
              <a:t>2010</a:t>
            </a:r>
            <a:r>
              <a:rPr lang="en-US" sz="1400" dirty="0"/>
              <a:t>, as Windows Azure before being renamed to </a:t>
            </a:r>
            <a:r>
              <a:rPr lang="en-US" sz="1400" b="1" dirty="0"/>
              <a:t>Microsoft Azure on March 25, 2014</a:t>
            </a:r>
          </a:p>
          <a:p>
            <a:pPr algn="just"/>
            <a:endParaRPr lang="en-US" sz="1400" b="1" dirty="0"/>
          </a:p>
          <a:p>
            <a:pPr algn="just"/>
            <a:r>
              <a:rPr lang="en-US" sz="1400" b="1" dirty="0"/>
              <a:t>Market Stake</a:t>
            </a:r>
            <a:r>
              <a:rPr lang="en-US" sz="1400" b="1" dirty="0" smtClean="0"/>
              <a:t>:</a:t>
            </a:r>
          </a:p>
          <a:p>
            <a:pPr algn="just"/>
            <a:r>
              <a:rPr lang="en-US" sz="1400" b="1" dirty="0" smtClean="0"/>
              <a:t>20</a:t>
            </a:r>
            <a:r>
              <a:rPr lang="en-US" sz="1400" b="1" dirty="0"/>
              <a:t>+ , </a:t>
            </a:r>
            <a:r>
              <a:rPr lang="en-US" sz="1400" b="1" dirty="0" smtClean="0"/>
              <a:t>Small scale Enterprise (Microsoft flavored), Data Engineering (</a:t>
            </a:r>
            <a:r>
              <a:rPr lang="en-US" sz="1400" b="1" dirty="0" err="1" smtClean="0"/>
              <a:t>Databricks</a:t>
            </a:r>
            <a:r>
              <a:rPr lang="en-US" sz="1400" b="1" dirty="0" smtClean="0"/>
              <a:t>) &amp; AI (</a:t>
            </a:r>
            <a:r>
              <a:rPr lang="en-US" sz="1400" b="1" dirty="0" err="1" smtClean="0"/>
              <a:t>OpenAI</a:t>
            </a:r>
            <a:r>
              <a:rPr lang="en-US" sz="1400" b="1" dirty="0" smtClean="0"/>
              <a:t>)..</a:t>
            </a:r>
            <a:endParaRPr lang="en-US" sz="1400" b="1" dirty="0"/>
          </a:p>
        </p:txBody>
      </p:sp>
      <p:sp>
        <p:nvSpPr>
          <p:cNvPr id="14" name="Rectangle 13"/>
          <p:cNvSpPr/>
          <p:nvPr/>
        </p:nvSpPr>
        <p:spPr>
          <a:xfrm>
            <a:off x="147434" y="410835"/>
            <a:ext cx="3812087" cy="46970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4252685" y="416137"/>
            <a:ext cx="3367810" cy="469703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18">
            <p14:nvContentPartPr>
              <p14:cNvPr id="3" name="Ink 2"/>
              <p14:cNvContentPartPr/>
              <p14:nvPr/>
            </p14:nvContentPartPr>
            <p14:xfrm>
              <a:off x="7257960" y="3422520"/>
              <a:ext cx="360" cy="360"/>
            </p14:xfrm>
          </p:contentPart>
        </mc:Choice>
        <mc:Fallback xmlns="">
          <p:pic>
            <p:nvPicPr>
              <p:cNvPr id="3" name="Ink 2"/>
              <p:cNvPicPr/>
              <p:nvPr/>
            </p:nvPicPr>
            <p:blipFill>
              <a:blip r:embed="rId20"/>
              <a:stretch>
                <a:fillRect/>
              </a:stretch>
            </p:blipFill>
            <p:spPr>
              <a:xfrm>
                <a:off x="7248600" y="3413160"/>
                <a:ext cx="19080" cy="19080"/>
              </a:xfrm>
              <a:prstGeom prst="rect">
                <a:avLst/>
              </a:prstGeom>
            </p:spPr>
          </p:pic>
        </mc:Fallback>
      </mc:AlternateContent>
    </p:spTree>
    <p:extLst>
      <p:ext uri="{BB962C8B-B14F-4D97-AF65-F5344CB8AC3E}">
        <p14:creationId xmlns:p14="http://schemas.microsoft.com/office/powerpoint/2010/main" val="2459492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2" descr="Cloud Admin  Ico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mc:AlternateContent xmlns:mc="http://schemas.openxmlformats.org/markup-compatibility/2006" xmlns:p14="http://schemas.microsoft.com/office/powerpoint/2010/main">
        <mc:Choice Requires="p14">
          <p:contentPart p14:bwMode="auto" r:id="rId2">
            <p14:nvContentPartPr>
              <p14:cNvPr id="22" name="Ink 21">
                <a:extLst>
                  <a:ext uri="{FF2B5EF4-FFF2-40B4-BE49-F238E27FC236}">
                    <a16:creationId xmlns="" xmlns:a16="http://schemas.microsoft.com/office/drawing/2014/main" id="{3B68E77A-D76A-3959-7ADD-2ABCC3F364DC}"/>
                  </a:ext>
                </a:extLst>
              </p14:cNvPr>
              <p14:cNvContentPartPr/>
              <p14:nvPr/>
            </p14:nvContentPartPr>
            <p14:xfrm>
              <a:off x="-1558344" y="849137"/>
              <a:ext cx="360" cy="360"/>
            </p14:xfrm>
          </p:contentPart>
        </mc:Choice>
        <mc:Fallback xmlns="">
          <p:pic>
            <p:nvPicPr>
              <p:cNvPr id="22" name="Ink 21">
                <a:extLst>
                  <a:ext uri="{FF2B5EF4-FFF2-40B4-BE49-F238E27FC236}">
                    <a16:creationId xmlns:a16="http://schemas.microsoft.com/office/drawing/2014/main" id="{3B68E77A-D76A-3959-7ADD-2ABCC3F364DC}"/>
                  </a:ext>
                </a:extLst>
              </p:cNvPr>
              <p:cNvPicPr/>
              <p:nvPr/>
            </p:nvPicPr>
            <p:blipFill>
              <a:blip r:embed="rId25"/>
              <a:stretch>
                <a:fillRect/>
              </a:stretch>
            </p:blipFill>
            <p:spPr>
              <a:xfrm>
                <a:off x="-1575984" y="831137"/>
                <a:ext cx="36000" cy="36000"/>
              </a:xfrm>
              <a:prstGeom prst="rect">
                <a:avLst/>
              </a:prstGeom>
            </p:spPr>
          </p:pic>
        </mc:Fallback>
      </mc:AlternateContent>
      <p:sp>
        <p:nvSpPr>
          <p:cNvPr id="188" name="Rectangle 187"/>
          <p:cNvSpPr/>
          <p:nvPr/>
        </p:nvSpPr>
        <p:spPr>
          <a:xfrm>
            <a:off x="7633493" y="713868"/>
            <a:ext cx="2466766" cy="369332"/>
          </a:xfrm>
          <a:prstGeom prst="rect">
            <a:avLst/>
          </a:prstGeom>
        </p:spPr>
        <p:txBody>
          <a:bodyPr wrap="none">
            <a:spAutoFit/>
          </a:bodyPr>
          <a:lstStyle/>
          <a:p>
            <a:r>
              <a:rPr lang="en-US" b="1" u="sng" dirty="0" smtClean="0">
                <a:solidFill>
                  <a:srgbClr val="FF0000"/>
                </a:solidFill>
              </a:rPr>
              <a:t>Cloud Engineer (IP First)</a:t>
            </a:r>
            <a:endParaRPr lang="en-US" b="1" u="sng" dirty="0"/>
          </a:p>
        </p:txBody>
      </p:sp>
      <p:sp>
        <p:nvSpPr>
          <p:cNvPr id="189" name="Rectangle 188"/>
          <p:cNvSpPr/>
          <p:nvPr/>
        </p:nvSpPr>
        <p:spPr>
          <a:xfrm>
            <a:off x="3742175" y="146753"/>
            <a:ext cx="3973717" cy="369332"/>
          </a:xfrm>
          <a:prstGeom prst="rect">
            <a:avLst/>
          </a:prstGeom>
        </p:spPr>
        <p:txBody>
          <a:bodyPr wrap="none">
            <a:spAutoFit/>
          </a:bodyPr>
          <a:lstStyle/>
          <a:p>
            <a:r>
              <a:rPr lang="en-US" b="1" u="sng" dirty="0">
                <a:solidFill>
                  <a:srgbClr val="FF0000"/>
                </a:solidFill>
              </a:rPr>
              <a:t>Assumptions &amp; Scope of Learning Cloud</a:t>
            </a:r>
            <a:endParaRPr lang="en-US" b="1" u="sng" dirty="0"/>
          </a:p>
        </p:txBody>
      </p:sp>
      <p:sp>
        <p:nvSpPr>
          <p:cNvPr id="190" name="Rectangle 189"/>
          <p:cNvSpPr/>
          <p:nvPr/>
        </p:nvSpPr>
        <p:spPr>
          <a:xfrm>
            <a:off x="936399" y="720127"/>
            <a:ext cx="4197367" cy="369332"/>
          </a:xfrm>
          <a:prstGeom prst="rect">
            <a:avLst/>
          </a:prstGeom>
        </p:spPr>
        <p:txBody>
          <a:bodyPr wrap="none">
            <a:spAutoFit/>
          </a:bodyPr>
          <a:lstStyle/>
          <a:p>
            <a:r>
              <a:rPr lang="en-US" b="1" u="sng" dirty="0">
                <a:solidFill>
                  <a:srgbClr val="FF0000"/>
                </a:solidFill>
              </a:rPr>
              <a:t>Cloud </a:t>
            </a:r>
            <a:r>
              <a:rPr lang="en-US" b="1" u="sng" dirty="0" smtClean="0">
                <a:solidFill>
                  <a:schemeClr val="tx2"/>
                </a:solidFill>
              </a:rPr>
              <a:t>Data/AI/BI</a:t>
            </a:r>
            <a:r>
              <a:rPr lang="en-US" b="1" u="sng" dirty="0" smtClean="0">
                <a:solidFill>
                  <a:srgbClr val="FF0000"/>
                </a:solidFill>
              </a:rPr>
              <a:t> </a:t>
            </a:r>
            <a:r>
              <a:rPr lang="en-US" b="1" u="sng" dirty="0">
                <a:solidFill>
                  <a:srgbClr val="FF0000"/>
                </a:solidFill>
              </a:rPr>
              <a:t>Engineer (</a:t>
            </a:r>
            <a:r>
              <a:rPr lang="en-US" b="1" u="sng" dirty="0" smtClean="0">
                <a:solidFill>
                  <a:srgbClr val="FF0000"/>
                </a:solidFill>
              </a:rPr>
              <a:t>IP+S) (Second)</a:t>
            </a:r>
            <a:endParaRPr lang="en-US" b="1" u="sng" dirty="0"/>
          </a:p>
        </p:txBody>
      </p:sp>
      <p:sp>
        <p:nvSpPr>
          <p:cNvPr id="195" name="TextBox 194"/>
          <p:cNvSpPr txBox="1"/>
          <p:nvPr/>
        </p:nvSpPr>
        <p:spPr>
          <a:xfrm>
            <a:off x="377693" y="4367345"/>
            <a:ext cx="11179834" cy="2308324"/>
          </a:xfrm>
          <a:prstGeom prst="rect">
            <a:avLst/>
          </a:prstGeom>
          <a:noFill/>
        </p:spPr>
        <p:txBody>
          <a:bodyPr wrap="square" rtlCol="0">
            <a:spAutoFit/>
          </a:bodyPr>
          <a:lstStyle/>
          <a:p>
            <a:r>
              <a:rPr lang="en-US" b="1" u="sng" dirty="0" smtClean="0">
                <a:solidFill>
                  <a:srgbClr val="FF0000"/>
                </a:solidFill>
              </a:rPr>
              <a:t>Caveat (Guard Rails – So we can have Anti Hallucination):</a:t>
            </a:r>
            <a:endParaRPr lang="en-US" b="1" u="sng" dirty="0">
              <a:solidFill>
                <a:srgbClr val="FF0000"/>
              </a:solidFill>
            </a:endParaRPr>
          </a:p>
          <a:p>
            <a:pPr marL="342900" indent="-342900">
              <a:buAutoNum type="arabicPeriod"/>
            </a:pPr>
            <a:r>
              <a:rPr lang="en-US" dirty="0"/>
              <a:t>Try to learn about </a:t>
            </a:r>
            <a:r>
              <a:rPr lang="en-US" b="1" i="1" dirty="0"/>
              <a:t>minimum one specific cloud</a:t>
            </a:r>
            <a:r>
              <a:rPr lang="en-US" dirty="0"/>
              <a:t>, specific cloud components and the security features </a:t>
            </a:r>
            <a:r>
              <a:rPr lang="en-US" i="1" dirty="0"/>
              <a:t>(only name varies but performs same operations and works in a same architecture).</a:t>
            </a:r>
          </a:p>
          <a:p>
            <a:pPr marL="342900" indent="-342900">
              <a:buAutoNum type="arabicPeriod"/>
            </a:pPr>
            <a:r>
              <a:rPr lang="en-US" dirty="0"/>
              <a:t>Try to understand the </a:t>
            </a:r>
            <a:r>
              <a:rPr lang="en-US" b="1" dirty="0"/>
              <a:t>Scope</a:t>
            </a:r>
            <a:r>
              <a:rPr lang="en-US" dirty="0"/>
              <a:t> of the cloud </a:t>
            </a:r>
            <a:r>
              <a:rPr lang="en-US" b="1" dirty="0"/>
              <a:t>Services</a:t>
            </a:r>
            <a:r>
              <a:rPr lang="en-US" dirty="0"/>
              <a:t> for a </a:t>
            </a:r>
            <a:r>
              <a:rPr lang="en-US" b="1" dirty="0" smtClean="0"/>
              <a:t>Data/AI/BI Engineer</a:t>
            </a:r>
          </a:p>
          <a:p>
            <a:pPr marL="342900" indent="-342900">
              <a:buFontTx/>
              <a:buAutoNum type="arabicPeriod"/>
            </a:pPr>
            <a:r>
              <a:rPr lang="en-US" dirty="0"/>
              <a:t>Think how to make use of the platform/infra/software for my </a:t>
            </a:r>
            <a:r>
              <a:rPr lang="en-US" dirty="0" err="1"/>
              <a:t>BigData</a:t>
            </a:r>
            <a:r>
              <a:rPr lang="en-US" dirty="0"/>
              <a:t> components</a:t>
            </a:r>
            <a:r>
              <a:rPr lang="en-US" dirty="0" smtClean="0"/>
              <a:t>.</a:t>
            </a:r>
            <a:endParaRPr lang="en-US" b="1" dirty="0"/>
          </a:p>
          <a:p>
            <a:pPr marL="342900" indent="-342900">
              <a:buAutoNum type="arabicPeriod"/>
            </a:pPr>
            <a:r>
              <a:rPr lang="en-US" dirty="0"/>
              <a:t>Keep in mind Features/Options used can be changed by the providers</a:t>
            </a:r>
          </a:p>
          <a:p>
            <a:r>
              <a:rPr lang="en-US" i="1" dirty="0" smtClean="0"/>
              <a:t>5</a:t>
            </a:r>
            <a:r>
              <a:rPr lang="en-US" i="1" dirty="0"/>
              <a:t>.    </a:t>
            </a:r>
            <a:r>
              <a:rPr lang="en-US" b="1" i="1" u="sng" dirty="0"/>
              <a:t>How can I smartly create some Business use cases</a:t>
            </a:r>
            <a:r>
              <a:rPr lang="en-US" b="1" i="1" dirty="0"/>
              <a:t> </a:t>
            </a:r>
            <a:r>
              <a:rPr lang="en-US" i="1" dirty="0"/>
              <a:t>to show my cloud proficiency integrated with </a:t>
            </a:r>
            <a:r>
              <a:rPr lang="en-US" i="1" dirty="0" err="1"/>
              <a:t>Bigdata</a:t>
            </a:r>
            <a:r>
              <a:rPr lang="en-US" i="1" dirty="0"/>
              <a:t> </a:t>
            </a:r>
            <a:r>
              <a:rPr lang="en-US" i="1" dirty="0" smtClean="0"/>
              <a:t>components</a:t>
            </a:r>
            <a:endParaRPr lang="en-US" dirty="0">
              <a:solidFill>
                <a:srgbClr val="FF0000"/>
              </a:solidFill>
            </a:endParaRPr>
          </a:p>
        </p:txBody>
      </p:sp>
      <p:pic>
        <p:nvPicPr>
          <p:cNvPr id="2050" name="Picture 2" descr="C:\Users\moham\Downloads\cloud1.png"/>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989018" y="1083200"/>
            <a:ext cx="6167406" cy="3192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2" name="Picture 4" descr="C:\Users\moham\Downloads\cloud2.png"/>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30355" y="1532670"/>
            <a:ext cx="5894041" cy="24090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2" name="Octagon 1"/>
          <p:cNvSpPr/>
          <p:nvPr/>
        </p:nvSpPr>
        <p:spPr>
          <a:xfrm>
            <a:off x="7123044" y="3193774"/>
            <a:ext cx="364435" cy="344556"/>
          </a:xfrm>
          <a:prstGeom prst="oc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1</a:t>
            </a:r>
            <a:endParaRPr lang="en-IN" dirty="0"/>
          </a:p>
        </p:txBody>
      </p:sp>
      <p:sp>
        <p:nvSpPr>
          <p:cNvPr id="12" name="Octagon 11"/>
          <p:cNvSpPr/>
          <p:nvPr/>
        </p:nvSpPr>
        <p:spPr>
          <a:xfrm>
            <a:off x="11193092" y="3193774"/>
            <a:ext cx="364435" cy="344556"/>
          </a:xfrm>
          <a:prstGeom prst="oc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1</a:t>
            </a:r>
            <a:endParaRPr lang="en-IN" dirty="0"/>
          </a:p>
        </p:txBody>
      </p:sp>
      <p:sp>
        <p:nvSpPr>
          <p:cNvPr id="13" name="Octagon 12"/>
          <p:cNvSpPr/>
          <p:nvPr/>
        </p:nvSpPr>
        <p:spPr>
          <a:xfrm>
            <a:off x="6819874" y="1769165"/>
            <a:ext cx="364435" cy="344556"/>
          </a:xfrm>
          <a:prstGeom prst="oc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2</a:t>
            </a:r>
            <a:endParaRPr lang="en-IN" dirty="0"/>
          </a:p>
        </p:txBody>
      </p:sp>
      <p:sp>
        <p:nvSpPr>
          <p:cNvPr id="14" name="Octagon 13"/>
          <p:cNvSpPr/>
          <p:nvPr/>
        </p:nvSpPr>
        <p:spPr>
          <a:xfrm>
            <a:off x="11279231" y="1643270"/>
            <a:ext cx="364435" cy="344556"/>
          </a:xfrm>
          <a:prstGeom prst="oc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5" name="Octagon 14"/>
          <p:cNvSpPr/>
          <p:nvPr/>
        </p:nvSpPr>
        <p:spPr>
          <a:xfrm>
            <a:off x="9498579" y="1083200"/>
            <a:ext cx="364435" cy="344556"/>
          </a:xfrm>
          <a:prstGeom prst="oc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4</a:t>
            </a:r>
            <a:endParaRPr lang="en-IN" dirty="0"/>
          </a:p>
        </p:txBody>
      </p:sp>
      <p:cxnSp>
        <p:nvCxnSpPr>
          <p:cNvPr id="6" name="Straight Connector 5"/>
          <p:cNvCxnSpPr/>
          <p:nvPr/>
        </p:nvCxnSpPr>
        <p:spPr>
          <a:xfrm>
            <a:off x="4300330" y="3657600"/>
            <a:ext cx="154387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097323" y="2849218"/>
            <a:ext cx="154387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914195" y="2332384"/>
            <a:ext cx="154387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12774" y="2160107"/>
            <a:ext cx="154387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37955" y="3081134"/>
            <a:ext cx="186975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072830" y="3810008"/>
            <a:ext cx="858397"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81898" y="3791712"/>
            <a:ext cx="942230" cy="1829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191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118203" y="140988"/>
            <a:ext cx="1562094" cy="369332"/>
          </a:xfrm>
          <a:prstGeom prst="rect">
            <a:avLst/>
          </a:prstGeom>
        </p:spPr>
        <p:txBody>
          <a:bodyPr wrap="none">
            <a:spAutoFit/>
          </a:bodyPr>
          <a:lstStyle/>
          <a:p>
            <a:r>
              <a:rPr lang="en-US" b="1" u="sng" dirty="0">
                <a:solidFill>
                  <a:srgbClr val="FF0000"/>
                </a:solidFill>
              </a:rPr>
              <a:t>Cloud Services</a:t>
            </a:r>
            <a:endParaRPr lang="en-US" b="1" u="sng" dirty="0"/>
          </a:p>
        </p:txBody>
      </p:sp>
      <p:sp>
        <p:nvSpPr>
          <p:cNvPr id="3" name="Rectangle 2"/>
          <p:cNvSpPr/>
          <p:nvPr/>
        </p:nvSpPr>
        <p:spPr>
          <a:xfrm>
            <a:off x="174046" y="871101"/>
            <a:ext cx="5907577" cy="5632311"/>
          </a:xfrm>
          <a:prstGeom prst="rect">
            <a:avLst/>
          </a:prstGeom>
        </p:spPr>
        <p:txBody>
          <a:bodyPr wrap="square">
            <a:spAutoFit/>
          </a:bodyPr>
          <a:lstStyle/>
          <a:p>
            <a:r>
              <a:rPr lang="en-US" b="1" u="sng" dirty="0">
                <a:solidFill>
                  <a:schemeClr val="accent1">
                    <a:lumMod val="75000"/>
                  </a:schemeClr>
                </a:solidFill>
              </a:rPr>
              <a:t>OnPrem:</a:t>
            </a:r>
          </a:p>
          <a:p>
            <a:r>
              <a:rPr lang="en-US" b="1" dirty="0">
                <a:solidFill>
                  <a:schemeClr val="accent1">
                    <a:lumMod val="75000"/>
                  </a:schemeClr>
                </a:solidFill>
              </a:rPr>
              <a:t>Capex</a:t>
            </a:r>
            <a:r>
              <a:rPr lang="en-US" dirty="0">
                <a:solidFill>
                  <a:schemeClr val="accent1">
                    <a:lumMod val="75000"/>
                  </a:schemeClr>
                </a:solidFill>
              </a:rPr>
              <a:t>: Defined workload with near recent changes expected in the Infra.  (Capital Expenditure)</a:t>
            </a:r>
          </a:p>
          <a:p>
            <a:endParaRPr lang="en-US" b="1" dirty="0">
              <a:solidFill>
                <a:schemeClr val="accent1">
                  <a:lumMod val="75000"/>
                </a:schemeClr>
              </a:solidFill>
            </a:endParaRPr>
          </a:p>
          <a:p>
            <a:r>
              <a:rPr lang="en-US" b="1" u="sng" dirty="0">
                <a:solidFill>
                  <a:schemeClr val="accent1">
                    <a:lumMod val="75000"/>
                  </a:schemeClr>
                </a:solidFill>
              </a:rPr>
              <a:t>Cloud:</a:t>
            </a:r>
          </a:p>
          <a:p>
            <a:r>
              <a:rPr lang="en-US" b="1" dirty="0" err="1">
                <a:solidFill>
                  <a:schemeClr val="accent1">
                    <a:lumMod val="75000"/>
                  </a:schemeClr>
                </a:solidFill>
              </a:rPr>
              <a:t>Opex</a:t>
            </a:r>
            <a:r>
              <a:rPr lang="en-US" dirty="0">
                <a:solidFill>
                  <a:schemeClr val="accent1">
                    <a:lumMod val="75000"/>
                  </a:schemeClr>
                </a:solidFill>
              </a:rPr>
              <a:t>: Variable workload with frequent changes expected in the Infra. (Operational Expenditure – </a:t>
            </a:r>
            <a:r>
              <a:rPr lang="en-US" sz="1600" dirty="0">
                <a:solidFill>
                  <a:schemeClr val="accent1">
                    <a:lumMod val="75000"/>
                  </a:schemeClr>
                </a:solidFill>
              </a:rPr>
              <a:t>Pay as you go/Pay per use</a:t>
            </a:r>
            <a:r>
              <a:rPr lang="en-US" dirty="0">
                <a:solidFill>
                  <a:schemeClr val="accent1">
                    <a:lumMod val="75000"/>
                  </a:schemeClr>
                </a:solidFill>
              </a:rPr>
              <a:t>)</a:t>
            </a:r>
            <a:endParaRPr lang="en-US" b="1" u="sng" dirty="0">
              <a:solidFill>
                <a:schemeClr val="accent1">
                  <a:lumMod val="75000"/>
                </a:schemeClr>
              </a:solidFill>
            </a:endParaRPr>
          </a:p>
          <a:p>
            <a:endParaRPr lang="en-US" b="1" u="sng" dirty="0">
              <a:solidFill>
                <a:schemeClr val="accent1">
                  <a:lumMod val="75000"/>
                </a:schemeClr>
              </a:solidFill>
            </a:endParaRPr>
          </a:p>
          <a:p>
            <a:r>
              <a:rPr lang="en-US" b="1" u="sng" dirty="0" err="1">
                <a:solidFill>
                  <a:schemeClr val="accent1">
                    <a:lumMod val="75000"/>
                  </a:schemeClr>
                </a:solidFill>
              </a:rPr>
              <a:t>IaaS</a:t>
            </a:r>
            <a:r>
              <a:rPr lang="en-US" dirty="0">
                <a:solidFill>
                  <a:schemeClr val="accent1">
                    <a:lumMod val="75000"/>
                  </a:schemeClr>
                </a:solidFill>
              </a:rPr>
              <a:t>: cloud-based services, pay-as-you-go for services such as storage, networking, and virtualization. </a:t>
            </a:r>
          </a:p>
          <a:p>
            <a:endParaRPr lang="en-US" dirty="0">
              <a:solidFill>
                <a:schemeClr val="accent1">
                  <a:lumMod val="75000"/>
                </a:schemeClr>
              </a:solidFill>
            </a:endParaRPr>
          </a:p>
          <a:p>
            <a:r>
              <a:rPr lang="en-US" b="1" u="sng" dirty="0">
                <a:solidFill>
                  <a:schemeClr val="accent1">
                    <a:lumMod val="75000"/>
                  </a:schemeClr>
                </a:solidFill>
              </a:rPr>
              <a:t>PaaS</a:t>
            </a:r>
            <a:r>
              <a:rPr lang="en-US" dirty="0">
                <a:solidFill>
                  <a:schemeClr val="accent1">
                    <a:lumMod val="75000"/>
                  </a:schemeClr>
                </a:solidFill>
              </a:rPr>
              <a:t>: Software tools like middleware, OS available over the internet. </a:t>
            </a:r>
          </a:p>
          <a:p>
            <a:endParaRPr lang="en-US" dirty="0">
              <a:solidFill>
                <a:schemeClr val="accent1">
                  <a:lumMod val="75000"/>
                </a:schemeClr>
              </a:solidFill>
            </a:endParaRPr>
          </a:p>
          <a:p>
            <a:r>
              <a:rPr lang="en-US" b="1" u="sng" dirty="0">
                <a:solidFill>
                  <a:schemeClr val="accent1">
                    <a:lumMod val="75000"/>
                  </a:schemeClr>
                </a:solidFill>
              </a:rPr>
              <a:t>SaaS</a:t>
            </a:r>
            <a:r>
              <a:rPr lang="en-US" dirty="0">
                <a:solidFill>
                  <a:schemeClr val="accent1">
                    <a:lumMod val="75000"/>
                  </a:schemeClr>
                </a:solidFill>
              </a:rPr>
              <a:t>: Software like applications, DB servers, Clusters that's available via a third-party over the internet.</a:t>
            </a:r>
          </a:p>
          <a:p>
            <a:endParaRPr lang="en-US" dirty="0">
              <a:solidFill>
                <a:schemeClr val="accent1">
                  <a:lumMod val="75000"/>
                </a:schemeClr>
              </a:solidFill>
            </a:endParaRPr>
          </a:p>
          <a:p>
            <a:r>
              <a:rPr lang="en-US" b="1" u="sng" dirty="0">
                <a:solidFill>
                  <a:schemeClr val="accent1">
                    <a:lumMod val="75000"/>
                  </a:schemeClr>
                </a:solidFill>
              </a:rPr>
              <a:t>Hybrid:</a:t>
            </a:r>
            <a:endParaRPr lang="en-US" dirty="0"/>
          </a:p>
          <a:p>
            <a:endParaRPr lang="en-US" dirty="0">
              <a:solidFill>
                <a:schemeClr val="accent1">
                  <a:lumMod val="75000"/>
                </a:schemeClr>
              </a:solidFill>
            </a:endParaRPr>
          </a:p>
          <a:p>
            <a:r>
              <a:rPr lang="en-US" dirty="0">
                <a:solidFill>
                  <a:schemeClr val="accent1">
                    <a:lumMod val="75000"/>
                  </a:schemeClr>
                </a:solidFill>
              </a:rPr>
              <a:t>Features of CapEx of On </a:t>
            </a:r>
            <a:r>
              <a:rPr lang="en-US" dirty="0" err="1">
                <a:solidFill>
                  <a:schemeClr val="accent1">
                    <a:lumMod val="75000"/>
                  </a:schemeClr>
                </a:solidFill>
              </a:rPr>
              <a:t>Prem</a:t>
            </a:r>
            <a:r>
              <a:rPr lang="en-US" dirty="0">
                <a:solidFill>
                  <a:schemeClr val="accent1">
                    <a:lumMod val="75000"/>
                  </a:schemeClr>
                </a:solidFill>
              </a:rPr>
              <a:t> &amp; OpEx of Cloud </a:t>
            </a:r>
          </a:p>
        </p:txBody>
      </p:sp>
      <p:pic>
        <p:nvPicPr>
          <p:cNvPr id="2050" name="Picture 2" descr="What is Ia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2342" y="477402"/>
            <a:ext cx="7496881" cy="4787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208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118203" y="115110"/>
            <a:ext cx="5726568" cy="338554"/>
          </a:xfrm>
          <a:prstGeom prst="rect">
            <a:avLst/>
          </a:prstGeom>
        </p:spPr>
        <p:txBody>
          <a:bodyPr wrap="none">
            <a:spAutoFit/>
          </a:bodyPr>
          <a:lstStyle/>
          <a:p>
            <a:r>
              <a:rPr lang="en-US" sz="1600" b="1" u="sng" dirty="0">
                <a:solidFill>
                  <a:srgbClr val="FF0000"/>
                </a:solidFill>
              </a:rPr>
              <a:t>Cloud Computing Solutions – Unmanaged, Managed &amp; Serverless</a:t>
            </a:r>
            <a:endParaRPr lang="en-US" sz="1600" b="1" u="sng" dirty="0"/>
          </a:p>
        </p:txBody>
      </p:sp>
      <p:pic>
        <p:nvPicPr>
          <p:cNvPr id="3074" name="Picture 2" descr="Infographic explaining the difference between managed cloud and unmanaged cloud, with differences split into five sections: management, support, costs, reliability and secur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34" y="484442"/>
            <a:ext cx="6483366" cy="7446456"/>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0057" y="5099974"/>
            <a:ext cx="1236084" cy="1190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4375" y="5161779"/>
            <a:ext cx="1307646" cy="10864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2370" y="5119492"/>
            <a:ext cx="1574380" cy="1171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0368" y="2818748"/>
            <a:ext cx="5881156" cy="21989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6044218" y="2731995"/>
            <a:ext cx="6084498" cy="389051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9"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4784" y="299776"/>
            <a:ext cx="3684595" cy="16973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4" name="TextBox 3"/>
          <p:cNvSpPr txBox="1"/>
          <p:nvPr/>
        </p:nvSpPr>
        <p:spPr>
          <a:xfrm>
            <a:off x="8196141" y="2455293"/>
            <a:ext cx="2489977" cy="307777"/>
          </a:xfrm>
          <a:prstGeom prst="rect">
            <a:avLst/>
          </a:prstGeom>
          <a:noFill/>
        </p:spPr>
        <p:txBody>
          <a:bodyPr wrap="none" rtlCol="0">
            <a:spAutoFit/>
          </a:bodyPr>
          <a:lstStyle/>
          <a:p>
            <a:r>
              <a:rPr lang="en-IN" sz="1400" b="1" dirty="0">
                <a:solidFill>
                  <a:schemeClr val="tx1">
                    <a:lumMod val="65000"/>
                    <a:lumOff val="35000"/>
                  </a:schemeClr>
                </a:solidFill>
                <a:effectLst>
                  <a:outerShdw blurRad="38100" dist="38100" dir="2700000" algn="tl">
                    <a:srgbClr val="000000">
                      <a:alpha val="43137"/>
                    </a:srgbClr>
                  </a:outerShdw>
                </a:effectLst>
              </a:rPr>
              <a:t>Server </a:t>
            </a:r>
            <a:r>
              <a:rPr lang="en-IN" sz="1400" b="1" dirty="0">
                <a:effectLst>
                  <a:outerShdw blurRad="38100" dist="38100" dir="2700000" algn="tl">
                    <a:srgbClr val="000000">
                      <a:alpha val="43137"/>
                    </a:srgbClr>
                  </a:outerShdw>
                </a:effectLst>
              </a:rPr>
              <a:t>less</a:t>
            </a:r>
            <a:r>
              <a:rPr lang="en-IN" sz="1400" b="1" dirty="0">
                <a:solidFill>
                  <a:schemeClr val="tx1">
                    <a:lumMod val="65000"/>
                    <a:lumOff val="35000"/>
                  </a:schemeClr>
                </a:solidFill>
                <a:effectLst>
                  <a:outerShdw blurRad="38100" dist="38100" dir="2700000" algn="tl">
                    <a:srgbClr val="000000">
                      <a:alpha val="43137"/>
                    </a:srgbClr>
                  </a:outerShdw>
                </a:effectLst>
              </a:rPr>
              <a:t> Computing Benefits</a:t>
            </a:r>
          </a:p>
        </p:txBody>
      </p:sp>
      <mc:AlternateContent xmlns:mc="http://schemas.openxmlformats.org/markup-compatibility/2006" xmlns:p14="http://schemas.microsoft.com/office/powerpoint/2010/main">
        <mc:Choice Requires="p14">
          <p:contentPart p14:bwMode="auto" r:id="rId8">
            <p14:nvContentPartPr>
              <p14:cNvPr id="3" name="Ink 2"/>
              <p14:cNvContentPartPr/>
              <p14:nvPr/>
            </p14:nvContentPartPr>
            <p14:xfrm>
              <a:off x="1942920" y="2266920"/>
              <a:ext cx="6680880" cy="120960"/>
            </p14:xfrm>
          </p:contentPart>
        </mc:Choice>
        <mc:Fallback xmlns="">
          <p:pic>
            <p:nvPicPr>
              <p:cNvPr id="3" name="Ink 2"/>
              <p:cNvPicPr/>
              <p:nvPr/>
            </p:nvPicPr>
            <p:blipFill>
              <a:blip r:embed="rId9"/>
              <a:stretch>
                <a:fillRect/>
              </a:stretch>
            </p:blipFill>
            <p:spPr>
              <a:xfrm>
                <a:off x="1933560" y="2257560"/>
                <a:ext cx="6699600" cy="139680"/>
              </a:xfrm>
              <a:prstGeom prst="rect">
                <a:avLst/>
              </a:prstGeom>
            </p:spPr>
          </p:pic>
        </mc:Fallback>
      </mc:AlternateContent>
      <p:sp>
        <p:nvSpPr>
          <p:cNvPr id="13" name="TextBox 12"/>
          <p:cNvSpPr txBox="1"/>
          <p:nvPr/>
        </p:nvSpPr>
        <p:spPr>
          <a:xfrm>
            <a:off x="8207668" y="-35105"/>
            <a:ext cx="2790508" cy="307777"/>
          </a:xfrm>
          <a:prstGeom prst="rect">
            <a:avLst/>
          </a:prstGeom>
          <a:noFill/>
        </p:spPr>
        <p:txBody>
          <a:bodyPr wrap="none" rtlCol="0">
            <a:spAutoFit/>
          </a:bodyPr>
          <a:lstStyle/>
          <a:p>
            <a:r>
              <a:rPr lang="en-IN" sz="1400" b="1" dirty="0">
                <a:solidFill>
                  <a:schemeClr val="tx1">
                    <a:lumMod val="65000"/>
                    <a:lumOff val="35000"/>
                  </a:schemeClr>
                </a:solidFill>
                <a:effectLst>
                  <a:outerShdw blurRad="38100" dist="38100" dir="2700000" algn="tl">
                    <a:srgbClr val="000000">
                      <a:alpha val="43137"/>
                    </a:srgbClr>
                  </a:outerShdw>
                </a:effectLst>
              </a:rPr>
              <a:t>Server </a:t>
            </a:r>
            <a:r>
              <a:rPr lang="en-IN" sz="1400" b="1" dirty="0" err="1">
                <a:solidFill>
                  <a:schemeClr val="tx1">
                    <a:lumMod val="65000"/>
                    <a:lumOff val="35000"/>
                  </a:schemeClr>
                </a:solidFill>
                <a:effectLst>
                  <a:outerShdw blurRad="38100" dist="38100" dir="2700000" algn="tl">
                    <a:srgbClr val="000000">
                      <a:alpha val="43137"/>
                    </a:srgbClr>
                  </a:outerShdw>
                </a:effectLst>
              </a:rPr>
              <a:t>ful</a:t>
            </a:r>
            <a:r>
              <a:rPr lang="en-IN" sz="1400" b="1" dirty="0">
                <a:solidFill>
                  <a:schemeClr val="tx1">
                    <a:lumMod val="65000"/>
                    <a:lumOff val="35000"/>
                  </a:schemeClr>
                </a:solidFill>
                <a:effectLst>
                  <a:outerShdw blurRad="38100" dist="38100" dir="2700000" algn="tl">
                    <a:srgbClr val="000000">
                      <a:alpha val="43137"/>
                    </a:srgbClr>
                  </a:outerShdw>
                </a:effectLst>
              </a:rPr>
              <a:t> vs Server </a:t>
            </a:r>
            <a:r>
              <a:rPr lang="en-IN" sz="1400" b="1" dirty="0">
                <a:effectLst>
                  <a:outerShdw blurRad="38100" dist="38100" dir="2700000" algn="tl">
                    <a:srgbClr val="000000">
                      <a:alpha val="43137"/>
                    </a:srgbClr>
                  </a:outerShdw>
                </a:effectLst>
              </a:rPr>
              <a:t>less</a:t>
            </a:r>
            <a:r>
              <a:rPr lang="en-IN" sz="1400" b="1" dirty="0">
                <a:solidFill>
                  <a:schemeClr val="tx1">
                    <a:lumMod val="65000"/>
                    <a:lumOff val="35000"/>
                  </a:schemeClr>
                </a:solidFill>
                <a:effectLst>
                  <a:outerShdw blurRad="38100" dist="38100" dir="2700000" algn="tl">
                    <a:srgbClr val="000000">
                      <a:alpha val="43137"/>
                    </a:srgbClr>
                  </a:outerShdw>
                </a:effectLst>
              </a:rPr>
              <a:t> Computing</a:t>
            </a:r>
          </a:p>
        </p:txBody>
      </p:sp>
      <p:cxnSp>
        <p:nvCxnSpPr>
          <p:cNvPr id="7" name="Straight Connector 6"/>
          <p:cNvCxnSpPr/>
          <p:nvPr/>
        </p:nvCxnSpPr>
        <p:spPr>
          <a:xfrm>
            <a:off x="5952565" y="0"/>
            <a:ext cx="8964" cy="685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788841" y="508578"/>
            <a:ext cx="1055930" cy="646331"/>
          </a:xfrm>
          <a:prstGeom prst="rect">
            <a:avLst/>
          </a:prstGeom>
          <a:noFill/>
        </p:spPr>
        <p:txBody>
          <a:bodyPr wrap="none" rtlCol="0">
            <a:spAutoFit/>
          </a:bodyPr>
          <a:lstStyle/>
          <a:p>
            <a:r>
              <a:rPr lang="en-IN" b="1" dirty="0" err="1" smtClean="0"/>
              <a:t>Dataproc</a:t>
            </a:r>
            <a:endParaRPr lang="en-IN" b="1" dirty="0" smtClean="0"/>
          </a:p>
          <a:p>
            <a:r>
              <a:rPr lang="en-IN" b="1" dirty="0" smtClean="0"/>
              <a:t>     GCP</a:t>
            </a:r>
            <a:endParaRPr lang="en-IN" b="1" dirty="0"/>
          </a:p>
        </p:txBody>
      </p:sp>
      <p:sp>
        <p:nvSpPr>
          <p:cNvPr id="20" name="TextBox 19"/>
          <p:cNvSpPr txBox="1"/>
          <p:nvPr/>
        </p:nvSpPr>
        <p:spPr>
          <a:xfrm>
            <a:off x="9441129" y="1962850"/>
            <a:ext cx="1742721" cy="646331"/>
          </a:xfrm>
          <a:prstGeom prst="rect">
            <a:avLst/>
          </a:prstGeom>
          <a:noFill/>
        </p:spPr>
        <p:txBody>
          <a:bodyPr wrap="none" rtlCol="0">
            <a:spAutoFit/>
          </a:bodyPr>
          <a:lstStyle/>
          <a:p>
            <a:r>
              <a:rPr lang="en-IN" b="1" dirty="0" smtClean="0"/>
              <a:t>Spark </a:t>
            </a:r>
            <a:r>
              <a:rPr lang="en-IN" b="1" dirty="0" err="1" smtClean="0"/>
              <a:t>Serverless</a:t>
            </a:r>
            <a:endParaRPr lang="en-IN" b="1" dirty="0" smtClean="0"/>
          </a:p>
          <a:p>
            <a:r>
              <a:rPr lang="en-IN" b="1" dirty="0" smtClean="0"/>
              <a:t>          GCP</a:t>
            </a:r>
            <a:endParaRPr lang="en-IN" b="1" dirty="0"/>
          </a:p>
        </p:txBody>
      </p:sp>
      <p:sp>
        <p:nvSpPr>
          <p:cNvPr id="21" name="TextBox 20"/>
          <p:cNvSpPr txBox="1"/>
          <p:nvPr/>
        </p:nvSpPr>
        <p:spPr>
          <a:xfrm>
            <a:off x="2981487" y="1808962"/>
            <a:ext cx="1191480" cy="923330"/>
          </a:xfrm>
          <a:prstGeom prst="rect">
            <a:avLst/>
          </a:prstGeom>
          <a:noFill/>
        </p:spPr>
        <p:txBody>
          <a:bodyPr wrap="none" rtlCol="0">
            <a:spAutoFit/>
          </a:bodyPr>
          <a:lstStyle/>
          <a:p>
            <a:r>
              <a:rPr lang="en-IN" b="1" dirty="0" err="1" smtClean="0"/>
              <a:t>Databricks</a:t>
            </a:r>
            <a:endParaRPr lang="en-IN" b="1" dirty="0" smtClean="0"/>
          </a:p>
          <a:p>
            <a:r>
              <a:rPr lang="en-IN" b="1" dirty="0" smtClean="0"/>
              <a:t>       HDI</a:t>
            </a:r>
          </a:p>
          <a:p>
            <a:r>
              <a:rPr lang="en-IN" b="1" dirty="0" smtClean="0"/>
              <a:t>     Azure</a:t>
            </a:r>
            <a:endParaRPr lang="en-IN" b="1" dirty="0"/>
          </a:p>
        </p:txBody>
      </p:sp>
      <p:sp>
        <p:nvSpPr>
          <p:cNvPr id="24" name="TextBox 23"/>
          <p:cNvSpPr txBox="1"/>
          <p:nvPr/>
        </p:nvSpPr>
        <p:spPr>
          <a:xfrm>
            <a:off x="3577227" y="502143"/>
            <a:ext cx="1044453" cy="646331"/>
          </a:xfrm>
          <a:prstGeom prst="rect">
            <a:avLst/>
          </a:prstGeom>
          <a:noFill/>
        </p:spPr>
        <p:txBody>
          <a:bodyPr wrap="square" rtlCol="0">
            <a:spAutoFit/>
          </a:bodyPr>
          <a:lstStyle/>
          <a:p>
            <a:r>
              <a:rPr lang="en-IN" b="1" dirty="0" smtClean="0"/>
              <a:t>     EMR</a:t>
            </a:r>
          </a:p>
          <a:p>
            <a:r>
              <a:rPr lang="en-IN" b="1" dirty="0" smtClean="0"/>
              <a:t>     AWS</a:t>
            </a:r>
            <a:endParaRPr lang="en-IN" b="1" dirty="0"/>
          </a:p>
        </p:txBody>
      </p:sp>
      <p:sp>
        <p:nvSpPr>
          <p:cNvPr id="22" name="TextBox 21"/>
          <p:cNvSpPr txBox="1"/>
          <p:nvPr/>
        </p:nvSpPr>
        <p:spPr>
          <a:xfrm>
            <a:off x="1042587" y="609971"/>
            <a:ext cx="1176925" cy="646331"/>
          </a:xfrm>
          <a:prstGeom prst="rect">
            <a:avLst/>
          </a:prstGeom>
          <a:noFill/>
        </p:spPr>
        <p:txBody>
          <a:bodyPr wrap="none" rtlCol="0">
            <a:spAutoFit/>
          </a:bodyPr>
          <a:lstStyle/>
          <a:p>
            <a:r>
              <a:rPr lang="en-IN" b="1" dirty="0" err="1" smtClean="0"/>
              <a:t>VM+Spark</a:t>
            </a:r>
            <a:endParaRPr lang="en-IN" b="1" dirty="0" smtClean="0"/>
          </a:p>
          <a:p>
            <a:r>
              <a:rPr lang="en-IN" b="1" dirty="0" smtClean="0"/>
              <a:t>     Azure</a:t>
            </a:r>
            <a:endParaRPr lang="en-IN" b="1" dirty="0"/>
          </a:p>
        </p:txBody>
      </p:sp>
    </p:spTree>
    <p:extLst>
      <p:ext uri="{BB962C8B-B14F-4D97-AF65-F5344CB8AC3E}">
        <p14:creationId xmlns:p14="http://schemas.microsoft.com/office/powerpoint/2010/main" val="2537773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161332" y="8078"/>
            <a:ext cx="8036880" cy="369332"/>
          </a:xfrm>
          <a:prstGeom prst="rect">
            <a:avLst/>
          </a:prstGeom>
        </p:spPr>
        <p:txBody>
          <a:bodyPr wrap="none">
            <a:spAutoFit/>
          </a:bodyPr>
          <a:lstStyle/>
          <a:p>
            <a:r>
              <a:rPr lang="en-US" b="1" u="sng" dirty="0" err="1">
                <a:solidFill>
                  <a:srgbClr val="FF0000"/>
                </a:solidFill>
              </a:rPr>
              <a:t>BigData</a:t>
            </a:r>
            <a:r>
              <a:rPr lang="en-US" b="1" u="sng" dirty="0">
                <a:solidFill>
                  <a:srgbClr val="FF0000"/>
                </a:solidFill>
              </a:rPr>
              <a:t> components Comparison of  Different Cloud Providers      </a:t>
            </a:r>
            <a:r>
              <a:rPr lang="en-US" sz="1200" b="1" u="sng" dirty="0">
                <a:solidFill>
                  <a:srgbClr val="FF0000"/>
                </a:solidFill>
              </a:rPr>
              <a:t>https://comparecloud.in/</a:t>
            </a:r>
            <a:endParaRPr lang="en-US" sz="1200" b="1" u="sng" dirty="0"/>
          </a:p>
        </p:txBody>
      </p:sp>
      <p:graphicFrame>
        <p:nvGraphicFramePr>
          <p:cNvPr id="9" name="Table 8"/>
          <p:cNvGraphicFramePr>
            <a:graphicFrameLocks noGrp="1"/>
          </p:cNvGraphicFramePr>
          <p:nvPr>
            <p:extLst>
              <p:ext uri="{D42A27DB-BD31-4B8C-83A1-F6EECF244321}">
                <p14:modId xmlns:p14="http://schemas.microsoft.com/office/powerpoint/2010/main" val="2742156770"/>
              </p:ext>
            </p:extLst>
          </p:nvPr>
        </p:nvGraphicFramePr>
        <p:xfrm>
          <a:off x="68988" y="301183"/>
          <a:ext cx="12054023" cy="6214630"/>
        </p:xfrm>
        <a:graphic>
          <a:graphicData uri="http://schemas.openxmlformats.org/drawingml/2006/table">
            <a:tbl>
              <a:tblPr/>
              <a:tblGrid>
                <a:gridCol w="1106637">
                  <a:extLst>
                    <a:ext uri="{9D8B030D-6E8A-4147-A177-3AD203B41FA5}">
                      <a16:colId xmlns="" xmlns:a16="http://schemas.microsoft.com/office/drawing/2014/main" val="20000"/>
                    </a:ext>
                  </a:extLst>
                </a:gridCol>
                <a:gridCol w="1154235">
                  <a:extLst>
                    <a:ext uri="{9D8B030D-6E8A-4147-A177-3AD203B41FA5}">
                      <a16:colId xmlns="" xmlns:a16="http://schemas.microsoft.com/office/drawing/2014/main" val="20001"/>
                    </a:ext>
                  </a:extLst>
                </a:gridCol>
                <a:gridCol w="1154235">
                  <a:extLst>
                    <a:ext uri="{9D8B030D-6E8A-4147-A177-3AD203B41FA5}">
                      <a16:colId xmlns="" xmlns:a16="http://schemas.microsoft.com/office/drawing/2014/main" val="20002"/>
                    </a:ext>
                  </a:extLst>
                </a:gridCol>
                <a:gridCol w="1273228">
                  <a:extLst>
                    <a:ext uri="{9D8B030D-6E8A-4147-A177-3AD203B41FA5}">
                      <a16:colId xmlns="" xmlns:a16="http://schemas.microsoft.com/office/drawing/2014/main" val="20003"/>
                    </a:ext>
                  </a:extLst>
                </a:gridCol>
                <a:gridCol w="1603244">
                  <a:extLst>
                    <a:ext uri="{9D8B030D-6E8A-4147-A177-3AD203B41FA5}">
                      <a16:colId xmlns="" xmlns:a16="http://schemas.microsoft.com/office/drawing/2014/main" val="20004"/>
                    </a:ext>
                  </a:extLst>
                </a:gridCol>
                <a:gridCol w="1268083">
                  <a:extLst>
                    <a:ext uri="{9D8B030D-6E8A-4147-A177-3AD203B41FA5}">
                      <a16:colId xmlns="" xmlns:a16="http://schemas.microsoft.com/office/drawing/2014/main" val="20005"/>
                    </a:ext>
                  </a:extLst>
                </a:gridCol>
                <a:gridCol w="4494361">
                  <a:extLst>
                    <a:ext uri="{9D8B030D-6E8A-4147-A177-3AD203B41FA5}">
                      <a16:colId xmlns="" xmlns:a16="http://schemas.microsoft.com/office/drawing/2014/main" val="20006"/>
                    </a:ext>
                  </a:extLst>
                </a:gridCol>
              </a:tblGrid>
              <a:tr h="130190">
                <a:tc>
                  <a:txBody>
                    <a:bodyPr/>
                    <a:lstStyle/>
                    <a:p>
                      <a:pPr algn="ctr" fontAlgn="b"/>
                      <a:r>
                        <a:rPr lang="en-IN" sz="1200" b="1" i="0" u="none" strike="noStrike" dirty="0">
                          <a:solidFill>
                            <a:srgbClr val="000000"/>
                          </a:solidFill>
                          <a:effectLst/>
                          <a:latin typeface="Calibri"/>
                        </a:rPr>
                        <a:t>Service Category</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a:solidFill>
                            <a:srgbClr val="000000"/>
                          </a:solidFill>
                          <a:effectLst/>
                          <a:latin typeface="Calibri"/>
                        </a:rPr>
                        <a:t>Service Type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err="1">
                          <a:solidFill>
                            <a:srgbClr val="000000"/>
                          </a:solidFill>
                          <a:effectLst/>
                          <a:latin typeface="Calibri"/>
                        </a:rPr>
                        <a:t>OnPrem</a:t>
                      </a:r>
                      <a:endParaRPr lang="en-IN" sz="1200" b="1" i="0" u="none" strike="noStrike" dirty="0">
                        <a:solidFill>
                          <a:srgbClr val="000000"/>
                        </a:solidFill>
                        <a:effectLst/>
                        <a:latin typeface="Calibri"/>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a:solidFill>
                            <a:srgbClr val="000000"/>
                          </a:solidFill>
                          <a:effectLst/>
                          <a:latin typeface="Calibri"/>
                        </a:rPr>
                        <a:t>AWS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a:solidFill>
                            <a:srgbClr val="000000"/>
                          </a:solidFill>
                          <a:effectLst/>
                          <a:latin typeface="Calibri"/>
                        </a:rPr>
                        <a:t>MS Azure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a:solidFill>
                            <a:srgbClr val="000000"/>
                          </a:solidFill>
                          <a:effectLst/>
                          <a:latin typeface="Calibri"/>
                        </a:rPr>
                        <a:t>GCP</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tc>
                  <a:txBody>
                    <a:bodyPr/>
                    <a:lstStyle/>
                    <a:p>
                      <a:pPr algn="ctr" fontAlgn="b"/>
                      <a:r>
                        <a:rPr lang="en-IN" sz="1200" b="1" i="0" u="none" strike="noStrike" dirty="0">
                          <a:solidFill>
                            <a:srgbClr val="000000"/>
                          </a:solidFill>
                          <a:effectLst/>
                          <a:latin typeface="Calibri"/>
                        </a:rPr>
                        <a:t>Description</a:t>
                      </a:r>
                    </a:p>
                  </a:txBody>
                  <a:tcPr marL="5007" marR="5007" marT="50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DD5"/>
                    </a:solidFill>
                  </a:tcPr>
                </a:tc>
                <a:extLst>
                  <a:ext uri="{0D108BD9-81ED-4DB2-BD59-A6C34878D82A}">
                    <a16:rowId xmlns="" xmlns:a16="http://schemas.microsoft.com/office/drawing/2014/main" val="10000"/>
                  </a:ext>
                </a:extLst>
              </a:tr>
              <a:tr h="230335">
                <a:tc>
                  <a:txBody>
                    <a:bodyPr/>
                    <a:lstStyle/>
                    <a:p>
                      <a:pPr algn="ctr" fontAlgn="t"/>
                      <a:r>
                        <a:rPr lang="en-IN" sz="1050" b="1" i="0" u="none" strike="noStrike" dirty="0">
                          <a:solidFill>
                            <a:srgbClr val="202124"/>
                          </a:solidFill>
                          <a:effectLst/>
                          <a:latin typeface="Arial"/>
                        </a:rPr>
                        <a:t>Storage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IN" sz="1050" b="0" i="0" u="none" strike="noStrike" dirty="0">
                          <a:solidFill>
                            <a:srgbClr val="202124"/>
                          </a:solidFill>
                          <a:effectLst/>
                          <a:latin typeface="Arial"/>
                        </a:rPr>
                        <a:t>Object storage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IN" sz="1050" b="0" i="0" u="none" strike="noStrike" dirty="0">
                          <a:solidFill>
                            <a:srgbClr val="202124"/>
                          </a:solidFill>
                          <a:effectLst/>
                          <a:latin typeface="Arial"/>
                        </a:rPr>
                        <a:t>HDFS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US" sz="1050" b="0" i="0" u="none" strike="noStrike" dirty="0">
                          <a:solidFill>
                            <a:srgbClr val="202124"/>
                          </a:solidFill>
                          <a:effectLst/>
                          <a:latin typeface="Arial"/>
                        </a:rPr>
                        <a:t>AWS Simple Storage Service (S3)</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IN" sz="1050" b="0" i="0" u="none" strike="noStrike" dirty="0">
                          <a:solidFill>
                            <a:srgbClr val="202124"/>
                          </a:solidFill>
                          <a:effectLst/>
                          <a:latin typeface="Arial"/>
                        </a:rPr>
                        <a:t>Azure Blob Storage</a:t>
                      </a:r>
                    </a:p>
                    <a:p>
                      <a:pPr algn="ctr" fontAlgn="t"/>
                      <a:r>
                        <a:rPr lang="en-US" sz="1050" b="0" i="0" u="none" strike="noStrike" dirty="0">
                          <a:solidFill>
                            <a:srgbClr val="202124"/>
                          </a:solidFill>
                          <a:effectLst/>
                          <a:latin typeface="Arial"/>
                        </a:rPr>
                        <a:t>Azure Data Lake Service Gen2</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en-IN" sz="1050" b="0" i="0" u="none" strike="noStrike" dirty="0">
                          <a:solidFill>
                            <a:srgbClr val="202124"/>
                          </a:solidFill>
                          <a:effectLst/>
                          <a:latin typeface="Arial"/>
                          <a:hlinkClick r:id="rId2"/>
                        </a:rPr>
                        <a:t>Cloud Storage</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just" fontAlgn="t"/>
                      <a:r>
                        <a:rPr lang="en-US" sz="1050" b="0" i="0" u="none" strike="noStrike" dirty="0">
                          <a:solidFill>
                            <a:srgbClr val="202124"/>
                          </a:solidFill>
                          <a:effectLst/>
                          <a:latin typeface="Arial"/>
                        </a:rPr>
                        <a:t>Store any amount of data and retrieve it as often as you'd like, using Google Cloud's object storage offering.</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 xmlns:a16="http://schemas.microsoft.com/office/drawing/2014/main" val="10001"/>
                  </a:ext>
                </a:extLst>
              </a:tr>
              <a:tr h="345503">
                <a:tc>
                  <a:txBody>
                    <a:bodyPr/>
                    <a:lstStyle/>
                    <a:p>
                      <a:pPr marL="0" algn="ctr" defTabSz="914400" rtl="0" eaLnBrk="1" fontAlgn="t" latinLnBrk="0" hangingPunct="1"/>
                      <a:r>
                        <a:rPr lang="en-IN" sz="1050" b="1" i="0" u="none" strike="noStrike" dirty="0">
                          <a:solidFill>
                            <a:srgbClr val="202124"/>
                          </a:solidFill>
                          <a:effectLst/>
                          <a:latin typeface="Arial"/>
                        </a:rPr>
                        <a:t>Storage</a:t>
                      </a:r>
                      <a:endParaRPr lang="en-IN" sz="1050" b="1" i="0" u="none" strike="noStrike" kern="1200" dirty="0">
                        <a:solidFill>
                          <a:srgbClr val="202124"/>
                        </a:solidFill>
                        <a:effectLst/>
                        <a:latin typeface="Arial"/>
                        <a:ea typeface="+mn-ea"/>
                        <a:cs typeface="+mn-cs"/>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dirty="0">
                          <a:solidFill>
                            <a:srgbClr val="202124"/>
                          </a:solidFill>
                          <a:effectLst/>
                          <a:latin typeface="Arial"/>
                        </a:rPr>
                        <a:t>Block</a:t>
                      </a:r>
                      <a:r>
                        <a:rPr lang="en-IN" sz="1050" b="0" i="0" u="none" strike="noStrike" baseline="0" dirty="0">
                          <a:solidFill>
                            <a:srgbClr val="202124"/>
                          </a:solidFill>
                          <a:effectLst/>
                          <a:latin typeface="Arial"/>
                        </a:rPr>
                        <a:t> Storage</a:t>
                      </a:r>
                      <a:endParaRPr lang="en-IN" sz="1050" b="0" i="0" u="none" strike="noStrike" kern="1200" dirty="0">
                        <a:solidFill>
                          <a:srgbClr val="202124"/>
                        </a:solidFill>
                        <a:effectLst/>
                        <a:latin typeface="Arial"/>
                        <a:ea typeface="+mn-ea"/>
                        <a:cs typeface="+mn-cs"/>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kern="1200" dirty="0">
                          <a:solidFill>
                            <a:srgbClr val="202124"/>
                          </a:solidFill>
                          <a:effectLst/>
                          <a:latin typeface="Arial"/>
                          <a:ea typeface="+mn-ea"/>
                          <a:cs typeface="+mn-cs"/>
                        </a:rPr>
                        <a:t>HDD/SSD</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kern="1200" dirty="0">
                          <a:solidFill>
                            <a:srgbClr val="202124"/>
                          </a:solidFill>
                          <a:effectLst/>
                          <a:latin typeface="Arial"/>
                          <a:ea typeface="+mn-ea"/>
                          <a:cs typeface="+mn-cs"/>
                        </a:rPr>
                        <a:t>Amazon Elastic Block Store (EBS)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kern="1200" dirty="0">
                          <a:solidFill>
                            <a:srgbClr val="202124"/>
                          </a:solidFill>
                          <a:effectLst/>
                          <a:latin typeface="Arial"/>
                          <a:ea typeface="+mn-ea"/>
                          <a:cs typeface="+mn-cs"/>
                        </a:rPr>
                        <a:t>Azure Managed Disks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ctr" defTabSz="914400" rtl="0" eaLnBrk="1" fontAlgn="t" latinLnBrk="0" hangingPunct="1"/>
                      <a:r>
                        <a:rPr lang="en-IN" sz="1050" b="0" i="0" u="none" strike="noStrike" kern="1200" dirty="0">
                          <a:solidFill>
                            <a:srgbClr val="202124"/>
                          </a:solidFill>
                          <a:effectLst/>
                          <a:latin typeface="Arial"/>
                          <a:ea typeface="+mn-ea"/>
                          <a:cs typeface="+mn-cs"/>
                          <a:hlinkClick r:id="rId3"/>
                        </a:rPr>
                        <a:t>Persistent Disk</a:t>
                      </a:r>
                      <a:endParaRPr lang="en-IN" sz="1050" b="0" i="0" u="none" strike="noStrike" kern="1200" dirty="0">
                        <a:solidFill>
                          <a:srgbClr val="202124"/>
                        </a:solidFill>
                        <a:effectLst/>
                        <a:latin typeface="Arial"/>
                        <a:ea typeface="+mn-ea"/>
                        <a:cs typeface="+mn-cs"/>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algn="l" defTabSz="914400" rtl="0" eaLnBrk="1" fontAlgn="t" latinLnBrk="0" hangingPunct="1"/>
                      <a:r>
                        <a:rPr lang="en-US" sz="1050" b="0" i="0" u="none" strike="noStrike" kern="1200" dirty="0">
                          <a:solidFill>
                            <a:srgbClr val="202124"/>
                          </a:solidFill>
                          <a:effectLst/>
                          <a:latin typeface="Arial"/>
                          <a:ea typeface="+mn-ea"/>
                          <a:cs typeface="+mn-cs"/>
                        </a:rPr>
                        <a:t>Reliable, high-performance block storage for VM instances.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2"/>
                  </a:ext>
                </a:extLst>
              </a:tr>
              <a:tr h="345503">
                <a:tc>
                  <a:txBody>
                    <a:bodyPr/>
                    <a:lstStyle/>
                    <a:p>
                      <a:pPr algn="ctr" fontAlgn="t"/>
                      <a:r>
                        <a:rPr lang="en-IN" sz="1050" b="1" i="0" u="none" strike="noStrike" dirty="0">
                          <a:solidFill>
                            <a:srgbClr val="202124"/>
                          </a:solidFill>
                          <a:effectLst/>
                          <a:latin typeface="Arial"/>
                        </a:rPr>
                        <a:t>Compute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a:solidFill>
                            <a:srgbClr val="202124"/>
                          </a:solidFill>
                          <a:effectLst/>
                          <a:latin typeface="Arial"/>
                        </a:rPr>
                        <a:t>Core compute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dirty="0">
                          <a:solidFill>
                            <a:srgbClr val="202124"/>
                          </a:solidFill>
                          <a:effectLst/>
                          <a:latin typeface="Arial"/>
                        </a:rPr>
                        <a:t>Physical Node/VM</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dirty="0">
                          <a:solidFill>
                            <a:srgbClr val="202124"/>
                          </a:solidFill>
                          <a:effectLst/>
                          <a:latin typeface="Arial"/>
                        </a:rPr>
                        <a:t>Amazon Elastic Compute Cloud (EC2)</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dirty="0">
                          <a:solidFill>
                            <a:srgbClr val="202124"/>
                          </a:solidFill>
                          <a:effectLst/>
                          <a:latin typeface="Arial"/>
                        </a:rPr>
                        <a:t>Azure Virtual Machines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t"/>
                      <a:r>
                        <a:rPr lang="en-IN" sz="1050" b="0" i="0" u="none" strike="noStrike" dirty="0">
                          <a:solidFill>
                            <a:srgbClr val="202124"/>
                          </a:solidFill>
                          <a:effectLst/>
                          <a:latin typeface="Arial"/>
                          <a:hlinkClick r:id="rId4"/>
                        </a:rPr>
                        <a:t>Compute Engine</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just" fontAlgn="t"/>
                      <a:r>
                        <a:rPr lang="en-US" sz="1050" b="0" i="0" u="none" strike="noStrike" dirty="0">
                          <a:solidFill>
                            <a:srgbClr val="202124"/>
                          </a:solidFill>
                          <a:effectLst/>
                          <a:latin typeface="Arial"/>
                        </a:rPr>
                        <a:t>Accelerate your digital transformation with high-performance VMs.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extLst>
                  <a:ext uri="{0D108BD9-81ED-4DB2-BD59-A6C34878D82A}">
                    <a16:rowId xmlns="" xmlns:a16="http://schemas.microsoft.com/office/drawing/2014/main" val="10003"/>
                  </a:ext>
                </a:extLst>
              </a:tr>
              <a:tr h="220321">
                <a:tc>
                  <a:txBody>
                    <a:bodyPr/>
                    <a:lstStyle/>
                    <a:p>
                      <a:pPr algn="ctr" fontAlgn="t"/>
                      <a:r>
                        <a:rPr lang="en-IN" sz="1050" b="0" i="0" u="none" strike="noStrike" dirty="0">
                          <a:solidFill>
                            <a:srgbClr val="202124"/>
                          </a:solidFill>
                          <a:effectLst/>
                          <a:latin typeface="Arial"/>
                        </a:rPr>
                        <a:t>Database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1" i="0" u="none" strike="noStrike" dirty="0">
                          <a:solidFill>
                            <a:srgbClr val="202124"/>
                          </a:solidFill>
                          <a:effectLst/>
                          <a:latin typeface="Arial"/>
                        </a:rPr>
                        <a:t>RDBMS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MYSQL/Derby</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Amazon Aurora</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Azure SQL Database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hlinkClick r:id="rId5"/>
                        </a:rPr>
                        <a:t>Cloud Spanner</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just" fontAlgn="t"/>
                      <a:r>
                        <a:rPr lang="en-US" sz="1050" b="0" i="0" u="none" strike="noStrike" dirty="0">
                          <a:solidFill>
                            <a:srgbClr val="202124"/>
                          </a:solidFill>
                          <a:effectLst/>
                          <a:latin typeface="Arial"/>
                        </a:rPr>
                        <a:t>Manage relational data with massive scale, strong consistency worldwide, and up to 99.999% availability.</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extLst>
                  <a:ext uri="{0D108BD9-81ED-4DB2-BD59-A6C34878D82A}">
                    <a16:rowId xmlns="" xmlns:a16="http://schemas.microsoft.com/office/drawing/2014/main" val="10004"/>
                  </a:ext>
                </a:extLst>
              </a:tr>
              <a:tr h="460671">
                <a:tc>
                  <a:txBody>
                    <a:bodyPr/>
                    <a:lstStyle/>
                    <a:p>
                      <a:pPr algn="ctr" fontAlgn="t"/>
                      <a:r>
                        <a:rPr lang="en-IN" sz="1050" b="0" i="0" u="none" strike="noStrike" dirty="0">
                          <a:solidFill>
                            <a:srgbClr val="202124"/>
                          </a:solidFill>
                          <a:effectLst/>
                          <a:latin typeface="Arial"/>
                        </a:rPr>
                        <a:t>Database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RDBMS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err="1">
                          <a:solidFill>
                            <a:srgbClr val="202124"/>
                          </a:solidFill>
                          <a:effectLst/>
                          <a:latin typeface="Arial"/>
                        </a:rPr>
                        <a:t>Postgres</a:t>
                      </a:r>
                      <a:r>
                        <a:rPr lang="en-IN" sz="1050" b="0" i="0" u="none" strike="noStrike" dirty="0">
                          <a:solidFill>
                            <a:srgbClr val="202124"/>
                          </a:solidFill>
                          <a:effectLst/>
                          <a:latin typeface="Arial"/>
                        </a:rPr>
                        <a:t>/MYSQL</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Amazon Relational Database Service (RDS), Amazon Aurora</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rPr>
                        <a:t>Azure Database for MySQL and Azure Database for PostgreSQL</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t"/>
                      <a:r>
                        <a:rPr lang="en-IN" sz="1050" b="0" i="0" u="none" strike="noStrike" dirty="0">
                          <a:solidFill>
                            <a:srgbClr val="202124"/>
                          </a:solidFill>
                          <a:effectLst/>
                          <a:latin typeface="Arial"/>
                          <a:hlinkClick r:id="rId6"/>
                        </a:rPr>
                        <a:t>Cloud SQL</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just" fontAlgn="t"/>
                      <a:r>
                        <a:rPr lang="en-US" sz="1050" b="0" i="0" u="none" strike="noStrike" dirty="0">
                          <a:solidFill>
                            <a:srgbClr val="202124"/>
                          </a:solidFill>
                          <a:effectLst/>
                          <a:latin typeface="Arial"/>
                        </a:rPr>
                        <a:t>Manage relational data for MySQL, PostgreSQL, and SQL Server for workloads under 30TB.</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extLst>
                  <a:ext uri="{0D108BD9-81ED-4DB2-BD59-A6C34878D82A}">
                    <a16:rowId xmlns="" xmlns:a16="http://schemas.microsoft.com/office/drawing/2014/main" val="10005"/>
                  </a:ext>
                </a:extLst>
              </a:tr>
              <a:tr h="230335">
                <a:tc>
                  <a:txBody>
                    <a:bodyPr/>
                    <a:lstStyle/>
                    <a:p>
                      <a:pPr algn="ctr" fontAlgn="t"/>
                      <a:r>
                        <a:rPr lang="en-IN" sz="1050" b="0" i="0" u="none" strike="noStrike" dirty="0">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a:solidFill>
                            <a:srgbClr val="202124"/>
                          </a:solidFill>
                          <a:effectLst/>
                          <a:latin typeface="Arial"/>
                        </a:rPr>
                        <a:t>Business intelligence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err="1">
                          <a:solidFill>
                            <a:srgbClr val="202124"/>
                          </a:solidFill>
                          <a:effectLst/>
                          <a:latin typeface="Arial"/>
                        </a:rPr>
                        <a:t>Kibana</a:t>
                      </a:r>
                      <a:r>
                        <a:rPr lang="en-IN" sz="1050" b="0" i="0" u="none" strike="noStrike" dirty="0">
                          <a:solidFill>
                            <a:srgbClr val="202124"/>
                          </a:solidFill>
                          <a:effectLst/>
                          <a:latin typeface="Arial"/>
                        </a:rPr>
                        <a:t>/</a:t>
                      </a:r>
                      <a:r>
                        <a:rPr lang="en-IN" sz="1050" b="0" i="0" u="none" strike="noStrike" dirty="0" err="1">
                          <a:solidFill>
                            <a:srgbClr val="202124"/>
                          </a:solidFill>
                          <a:effectLst/>
                          <a:latin typeface="Arial"/>
                        </a:rPr>
                        <a:t>Grafana</a:t>
                      </a:r>
                      <a:r>
                        <a:rPr lang="en-IN" sz="1050" b="0" i="0" u="none" strike="noStrike" dirty="0">
                          <a:solidFill>
                            <a:srgbClr val="202124"/>
                          </a:solidFill>
                          <a:effectLst/>
                          <a:latin typeface="Arial"/>
                        </a:rPr>
                        <a:t>/Tableau..</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Amazon </a:t>
                      </a:r>
                      <a:r>
                        <a:rPr lang="en-IN" sz="1050" b="0" i="0" u="none" strike="noStrike" dirty="0" err="1">
                          <a:solidFill>
                            <a:srgbClr val="202124"/>
                          </a:solidFill>
                          <a:effectLst/>
                          <a:latin typeface="Arial"/>
                        </a:rPr>
                        <a:t>QuickSight</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Microsoft Power BI</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hlinkClick r:id="rId7"/>
                        </a:rPr>
                        <a:t>Looker</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Explore, share, and visualize your company's data so that you can make better business decisions.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06"/>
                  </a:ext>
                </a:extLst>
              </a:tr>
              <a:tr h="230335">
                <a:tc>
                  <a:txBody>
                    <a:bodyPr/>
                    <a:lstStyle/>
                    <a:p>
                      <a:pPr algn="ctr" fontAlgn="t"/>
                      <a:r>
                        <a:rPr lang="en-IN" sz="1050" b="0" i="0" u="none" strike="noStrike" dirty="0">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Data warehouse</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1" i="0" u="none" strike="noStrike" dirty="0">
                          <a:solidFill>
                            <a:srgbClr val="202124"/>
                          </a:solidFill>
                          <a:effectLst/>
                          <a:latin typeface="Arial"/>
                        </a:rPr>
                        <a:t>Hive</a:t>
                      </a:r>
                      <a:r>
                        <a:rPr lang="en-IN" sz="1050" b="0" i="0" u="none" strike="noStrike" dirty="0">
                          <a:solidFill>
                            <a:srgbClr val="202124"/>
                          </a:solidFill>
                          <a:effectLst/>
                          <a:latin typeface="Arial"/>
                        </a:rPr>
                        <a:t>/Presto/Impala</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Amazon Athena, Amazon Redshift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Azure Synapse Analytics</a:t>
                      </a:r>
                    </a:p>
                    <a:p>
                      <a:pPr algn="ctr" fontAlgn="t"/>
                      <a:r>
                        <a:rPr lang="en-IN" sz="1050" b="0" i="0" u="none" strike="noStrike" dirty="0">
                          <a:solidFill>
                            <a:srgbClr val="202124"/>
                          </a:solidFill>
                          <a:effectLst/>
                          <a:latin typeface="Arial"/>
                        </a:rPr>
                        <a:t>Databricks SQL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err="1">
                          <a:solidFill>
                            <a:srgbClr val="202124"/>
                          </a:solidFill>
                          <a:effectLst/>
                          <a:latin typeface="Arial"/>
                          <a:hlinkClick r:id="rId8"/>
                        </a:rPr>
                        <a:t>BigQuery</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Serverless, highly scalable, and cost-effective multi-cloud data warehouse designed for business agility.</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07"/>
                  </a:ext>
                </a:extLst>
              </a:tr>
              <a:tr h="220321">
                <a:tc>
                  <a:txBody>
                    <a:bodyPr/>
                    <a:lstStyle/>
                    <a:p>
                      <a:pPr algn="ctr" fontAlgn="t"/>
                      <a:r>
                        <a:rPr lang="en-IN" sz="1050" b="0" i="0" u="none" strike="noStrike">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Stream data ingest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Kafka</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Amazon Kinesis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Azure Event Hubs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hlinkClick r:id="rId9"/>
                        </a:rPr>
                        <a:t>Pub/Sub</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Create scalable messaging and ingestion for event-driven systems and streaming analytics.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08"/>
                  </a:ext>
                </a:extLst>
              </a:tr>
              <a:tr h="460671">
                <a:tc>
                  <a:txBody>
                    <a:bodyPr/>
                    <a:lstStyle/>
                    <a:p>
                      <a:pPr algn="ctr" fontAlgn="t"/>
                      <a:r>
                        <a:rPr lang="en-IN" sz="1050" b="0" i="0" u="none" strike="noStrike">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a:solidFill>
                            <a:srgbClr val="202124"/>
                          </a:solidFill>
                          <a:effectLst/>
                          <a:latin typeface="Arial"/>
                        </a:rPr>
                        <a:t>Open source processing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IZ/Hortonworks/Cloudera/DB Community Distributions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US" sz="1050" b="0" i="0" u="none" strike="noStrike" dirty="0">
                          <a:solidFill>
                            <a:srgbClr val="202124"/>
                          </a:solidFill>
                          <a:effectLst/>
                          <a:latin typeface="Arial"/>
                        </a:rPr>
                        <a:t>Amazon Elastic MapReduce (EMR), AWS Batch, AWS Glue, </a:t>
                      </a:r>
                      <a:r>
                        <a:rPr lang="en-US" sz="1050" b="0" i="0" u="none" strike="noStrike" dirty="0" err="1">
                          <a:solidFill>
                            <a:srgbClr val="202124"/>
                          </a:solidFill>
                          <a:effectLst/>
                          <a:latin typeface="Arial"/>
                        </a:rPr>
                        <a:t>DataBricks</a:t>
                      </a:r>
                      <a:endParaRPr lang="en-US"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US" sz="1050" b="0" i="0" u="none" strike="noStrike" dirty="0">
                          <a:solidFill>
                            <a:srgbClr val="202124"/>
                          </a:solidFill>
                          <a:effectLst/>
                          <a:latin typeface="Arial"/>
                        </a:rPr>
                        <a:t>Azure </a:t>
                      </a:r>
                      <a:r>
                        <a:rPr lang="en-US" sz="1050" b="0" i="0" u="none" strike="noStrike" dirty="0" err="1">
                          <a:solidFill>
                            <a:srgbClr val="202124"/>
                          </a:solidFill>
                          <a:effectLst/>
                          <a:latin typeface="Arial"/>
                        </a:rPr>
                        <a:t>DataBricks</a:t>
                      </a:r>
                      <a:r>
                        <a:rPr lang="en-US" sz="1050" b="0" i="0" u="none" strike="noStrike" dirty="0">
                          <a:solidFill>
                            <a:srgbClr val="202124"/>
                          </a:solidFill>
                          <a:effectLst/>
                          <a:latin typeface="Arial"/>
                        </a:rPr>
                        <a:t>, HDInsight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err="1">
                          <a:solidFill>
                            <a:srgbClr val="202124"/>
                          </a:solidFill>
                          <a:effectLst/>
                          <a:latin typeface="Arial"/>
                          <a:hlinkClick r:id="rId10"/>
                        </a:rPr>
                        <a:t>Dataproc</a:t>
                      </a:r>
                      <a:r>
                        <a:rPr lang="en-IN" sz="1050" b="0" i="0" u="none" strike="noStrike" dirty="0">
                          <a:solidFill>
                            <a:srgbClr val="202124"/>
                          </a:solidFill>
                          <a:effectLst/>
                          <a:latin typeface="Arial"/>
                        </a:rPr>
                        <a:t>,</a:t>
                      </a:r>
                    </a:p>
                    <a:p>
                      <a:pPr algn="ctr" fontAlgn="t"/>
                      <a:r>
                        <a:rPr lang="en-US" sz="1050" b="0" i="0" u="none" strike="noStrike" dirty="0" err="1">
                          <a:solidFill>
                            <a:srgbClr val="202124"/>
                          </a:solidFill>
                          <a:effectLst/>
                          <a:latin typeface="Arial"/>
                        </a:rPr>
                        <a:t>DataBricks</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Deploy open-source data and analytics processing services (Apache Hadoop, Apache Spark, etc.) with improved efficiency and security.</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09"/>
                  </a:ext>
                </a:extLst>
              </a:tr>
              <a:tr h="460671">
                <a:tc>
                  <a:txBody>
                    <a:bodyPr/>
                    <a:lstStyle/>
                    <a:p>
                      <a:pPr algn="ctr" fontAlgn="t"/>
                      <a:r>
                        <a:rPr lang="en-IN" sz="1050" b="0" i="0" u="none" strike="noStrike">
                          <a:solidFill>
                            <a:srgbClr val="202124"/>
                          </a:solidFill>
                          <a:effectLst/>
                          <a:latin typeface="Arial"/>
                        </a:rPr>
                        <a:t>Data analytics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a:solidFill>
                            <a:srgbClr val="202124"/>
                          </a:solidFill>
                          <a:effectLst/>
                          <a:latin typeface="Arial"/>
                        </a:rPr>
                        <a:t>Workflow orchestration</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err="1">
                          <a:solidFill>
                            <a:srgbClr val="202124"/>
                          </a:solidFill>
                          <a:effectLst/>
                          <a:latin typeface="Arial"/>
                        </a:rPr>
                        <a:t>Oozie</a:t>
                      </a:r>
                      <a:r>
                        <a:rPr lang="en-IN" sz="1050" b="0" i="0" u="none" strike="noStrike" dirty="0">
                          <a:solidFill>
                            <a:srgbClr val="202124"/>
                          </a:solidFill>
                          <a:effectLst/>
                          <a:latin typeface="Arial"/>
                        </a:rPr>
                        <a:t>/</a:t>
                      </a:r>
                      <a:r>
                        <a:rPr lang="en-IN" sz="1050" b="0" i="0" u="none" strike="noStrike" dirty="0" err="1">
                          <a:solidFill>
                            <a:srgbClr val="202124"/>
                          </a:solidFill>
                          <a:effectLst/>
                          <a:latin typeface="Arial"/>
                        </a:rPr>
                        <a:t>Cron</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US" sz="1050" b="0" i="0" u="none" strike="noStrike" dirty="0">
                          <a:solidFill>
                            <a:srgbClr val="202124"/>
                          </a:solidFill>
                          <a:effectLst/>
                          <a:latin typeface="Arial"/>
                        </a:rPr>
                        <a:t>Amazon Data Pipeline, AWS Glue, Managed Workflows for Apache Airflow</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rPr>
                        <a:t>Azure Data Factory</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IN" sz="1050" b="0" i="0" u="none" strike="noStrike" dirty="0">
                          <a:solidFill>
                            <a:srgbClr val="202124"/>
                          </a:solidFill>
                          <a:effectLst/>
                          <a:latin typeface="Arial"/>
                          <a:hlinkClick r:id="rId11"/>
                        </a:rPr>
                        <a:t>Cloud Composer</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just" fontAlgn="t"/>
                      <a:r>
                        <a:rPr lang="en-US" sz="1050" b="0" i="0" u="none" strike="noStrike" dirty="0">
                          <a:solidFill>
                            <a:srgbClr val="202124"/>
                          </a:solidFill>
                          <a:effectLst/>
                          <a:latin typeface="Arial"/>
                        </a:rPr>
                        <a:t>Author, schedule, and monitor pipelines that span across hybrid and multi-cloud environments using this fully managed workflow orchestration service built on Apache Airflow.</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 xmlns:a16="http://schemas.microsoft.com/office/drawing/2014/main" val="10010"/>
                  </a:ext>
                </a:extLst>
              </a:tr>
              <a:tr h="440642">
                <a:tc>
                  <a:txBody>
                    <a:bodyPr/>
                    <a:lstStyle/>
                    <a:p>
                      <a:pPr algn="ctr" fontAlgn="t"/>
                      <a:r>
                        <a:rPr lang="en-IN" sz="1050" b="1" i="0" u="none" strike="noStrike" dirty="0">
                          <a:solidFill>
                            <a:srgbClr val="202124"/>
                          </a:solidFill>
                          <a:effectLst/>
                          <a:latin typeface="Arial"/>
                        </a:rPr>
                        <a:t>Networking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rPr>
                        <a:t>Virtual networks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rPr>
                        <a:t>VPN</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rPr>
                        <a:t>Amazon Virtual Private Cloud (VPC)</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rPr>
                        <a:t>Azure Virtual Network</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t"/>
                      <a:r>
                        <a:rPr lang="en-IN" sz="1050" b="0" i="0" u="none" strike="noStrike" dirty="0">
                          <a:solidFill>
                            <a:srgbClr val="202124"/>
                          </a:solidFill>
                          <a:effectLst/>
                          <a:latin typeface="Arial"/>
                          <a:hlinkClick r:id="rId12"/>
                        </a:rPr>
                        <a:t>Virtual Private Cloud</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just" fontAlgn="t"/>
                      <a:r>
                        <a:rPr lang="en-IN" sz="1050" b="0" i="0" u="none" strike="noStrike">
                          <a:solidFill>
                            <a:srgbClr val="202124"/>
                          </a:solidFill>
                          <a:effectLst/>
                          <a:latin typeface="Arial"/>
                        </a:rPr>
                        <a:t>Provide managed networking functionality for your cloud-based services running on Compute Engine VM instances, Google Kubernetes Engine, App Engine flexible environment instances, and other Google Cloud products built on Compute Engine VMs.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 xmlns:a16="http://schemas.microsoft.com/office/drawing/2014/main" val="10011"/>
                  </a:ext>
                </a:extLst>
              </a:tr>
              <a:tr h="345503">
                <a:tc>
                  <a:txBody>
                    <a:bodyPr/>
                    <a:lstStyle/>
                    <a:p>
                      <a:pPr algn="ctr" fontAlgn="t"/>
                      <a:r>
                        <a:rPr lang="en-IN" sz="1050" b="0" i="0" u="none" strike="noStrike">
                          <a:solidFill>
                            <a:srgbClr val="202124"/>
                          </a:solidFill>
                          <a:effectLst/>
                          <a:latin typeface="Arial"/>
                        </a:rPr>
                        <a:t>Operations</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a:solidFill>
                            <a:srgbClr val="202124"/>
                          </a:solidFill>
                          <a:effectLst/>
                          <a:latin typeface="Arial"/>
                        </a:rPr>
                        <a:t>Monitoring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dirty="0">
                          <a:solidFill>
                            <a:srgbClr val="202124"/>
                          </a:solidFill>
                          <a:effectLst/>
                          <a:latin typeface="Arial"/>
                        </a:rPr>
                        <a:t>Ganglia/Nagios/</a:t>
                      </a:r>
                      <a:r>
                        <a:rPr lang="en-IN" sz="1050" b="0" i="0" u="none" strike="noStrike" dirty="0" err="1">
                          <a:solidFill>
                            <a:srgbClr val="202124"/>
                          </a:solidFill>
                          <a:effectLst/>
                          <a:latin typeface="Arial"/>
                        </a:rPr>
                        <a:t>Ambari</a:t>
                      </a:r>
                      <a:r>
                        <a:rPr lang="en-IN" sz="1050" b="0" i="0" u="none" strike="noStrike" dirty="0">
                          <a:solidFill>
                            <a:srgbClr val="202124"/>
                          </a:solidFill>
                          <a:effectLst/>
                          <a:latin typeface="Arial"/>
                        </a:rPr>
                        <a:t>/Cloudera Manager</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dirty="0">
                          <a:solidFill>
                            <a:srgbClr val="202124"/>
                          </a:solidFill>
                          <a:effectLst/>
                          <a:latin typeface="Arial"/>
                        </a:rPr>
                        <a:t>Amazon </a:t>
                      </a:r>
                      <a:r>
                        <a:rPr lang="en-IN" sz="1050" b="0" i="0" u="none" strike="noStrike" dirty="0" err="1">
                          <a:solidFill>
                            <a:srgbClr val="202124"/>
                          </a:solidFill>
                          <a:effectLst/>
                          <a:latin typeface="Arial"/>
                        </a:rPr>
                        <a:t>CloudWatch</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dirty="0">
                          <a:solidFill>
                            <a:srgbClr val="202124"/>
                          </a:solidFill>
                          <a:effectLst/>
                          <a:latin typeface="Arial"/>
                        </a:rPr>
                        <a:t>Azure Monitor</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t"/>
                      <a:r>
                        <a:rPr lang="en-IN" sz="1050" b="0" i="0" u="none" strike="noStrike" dirty="0">
                          <a:solidFill>
                            <a:srgbClr val="202124"/>
                          </a:solidFill>
                          <a:effectLst/>
                          <a:latin typeface="Arial"/>
                          <a:hlinkClick r:id="rId13"/>
                        </a:rPr>
                        <a:t>Cloud Monitoring</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just" fontAlgn="t"/>
                      <a:r>
                        <a:rPr lang="en-US" sz="1050" b="0" i="0" u="none" strike="noStrike" dirty="0">
                          <a:solidFill>
                            <a:srgbClr val="202124"/>
                          </a:solidFill>
                          <a:effectLst/>
                          <a:latin typeface="Arial"/>
                        </a:rPr>
                        <a:t>Monitor the performance, availability, and health of your applications and infrastructure.</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extLst>
                  <a:ext uri="{0D108BD9-81ED-4DB2-BD59-A6C34878D82A}">
                    <a16:rowId xmlns="" xmlns:a16="http://schemas.microsoft.com/office/drawing/2014/main" val="10012"/>
                  </a:ext>
                </a:extLst>
              </a:tr>
              <a:tr h="345503">
                <a:tc>
                  <a:txBody>
                    <a:bodyPr/>
                    <a:lstStyle/>
                    <a:p>
                      <a:pPr algn="ctr" fontAlgn="t"/>
                      <a:r>
                        <a:rPr lang="en-IN" sz="1050" b="1" i="0" u="none" strike="noStrike" dirty="0">
                          <a:solidFill>
                            <a:srgbClr val="202124"/>
                          </a:solidFill>
                          <a:effectLst/>
                          <a:latin typeface="Arial"/>
                        </a:rPr>
                        <a:t>Security &amp; identity</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IAM</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SSL/LDAP/SSO</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US" sz="1050" b="0" i="0" u="none" strike="noStrike" dirty="0">
                          <a:solidFill>
                            <a:srgbClr val="202124"/>
                          </a:solidFill>
                          <a:effectLst/>
                          <a:latin typeface="Arial"/>
                        </a:rPr>
                        <a:t>Amazon Identity and Access Management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Azure Identity Management</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hlinkClick r:id="rId14"/>
                        </a:rPr>
                        <a:t>Identity and Access Management</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just" fontAlgn="t"/>
                      <a:r>
                        <a:rPr lang="en-US" sz="1050" b="0" i="0" u="none" strike="noStrike" dirty="0">
                          <a:solidFill>
                            <a:srgbClr val="202124"/>
                          </a:solidFill>
                          <a:effectLst/>
                          <a:latin typeface="Arial"/>
                        </a:rPr>
                        <a:t>Provide fine-grained access control and visibility for centrally managing resources.</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extLst>
                  <a:ext uri="{0D108BD9-81ED-4DB2-BD59-A6C34878D82A}">
                    <a16:rowId xmlns="" xmlns:a16="http://schemas.microsoft.com/office/drawing/2014/main" val="10013"/>
                  </a:ext>
                </a:extLst>
              </a:tr>
            </a:tbl>
          </a:graphicData>
        </a:graphic>
      </p:graphicFrame>
      <p:graphicFrame>
        <p:nvGraphicFramePr>
          <p:cNvPr id="2" name="Table 1">
            <a:extLst>
              <a:ext uri="{FF2B5EF4-FFF2-40B4-BE49-F238E27FC236}">
                <a16:creationId xmlns="" xmlns:a16="http://schemas.microsoft.com/office/drawing/2014/main" id="{9904BE2A-5E32-46D5-61FA-2C23E2419A07}"/>
              </a:ext>
            </a:extLst>
          </p:cNvPr>
          <p:cNvGraphicFramePr>
            <a:graphicFrameLocks noGrp="1"/>
          </p:cNvGraphicFramePr>
          <p:nvPr>
            <p:extLst>
              <p:ext uri="{D42A27DB-BD31-4B8C-83A1-F6EECF244321}">
                <p14:modId xmlns:p14="http://schemas.microsoft.com/office/powerpoint/2010/main" val="3005518444"/>
              </p:ext>
            </p:extLst>
          </p:nvPr>
        </p:nvGraphicFramePr>
        <p:xfrm>
          <a:off x="68988" y="6515813"/>
          <a:ext cx="12054023" cy="485067"/>
        </p:xfrm>
        <a:graphic>
          <a:graphicData uri="http://schemas.openxmlformats.org/drawingml/2006/table">
            <a:tbl>
              <a:tblPr/>
              <a:tblGrid>
                <a:gridCol w="1106637">
                  <a:extLst>
                    <a:ext uri="{9D8B030D-6E8A-4147-A177-3AD203B41FA5}">
                      <a16:colId xmlns="" xmlns:a16="http://schemas.microsoft.com/office/drawing/2014/main" val="1385002525"/>
                    </a:ext>
                  </a:extLst>
                </a:gridCol>
                <a:gridCol w="1154235">
                  <a:extLst>
                    <a:ext uri="{9D8B030D-6E8A-4147-A177-3AD203B41FA5}">
                      <a16:colId xmlns="" xmlns:a16="http://schemas.microsoft.com/office/drawing/2014/main" val="3518846103"/>
                    </a:ext>
                  </a:extLst>
                </a:gridCol>
                <a:gridCol w="1154235">
                  <a:extLst>
                    <a:ext uri="{9D8B030D-6E8A-4147-A177-3AD203B41FA5}">
                      <a16:colId xmlns="" xmlns:a16="http://schemas.microsoft.com/office/drawing/2014/main" val="338546282"/>
                    </a:ext>
                  </a:extLst>
                </a:gridCol>
                <a:gridCol w="1273228">
                  <a:extLst>
                    <a:ext uri="{9D8B030D-6E8A-4147-A177-3AD203B41FA5}">
                      <a16:colId xmlns="" xmlns:a16="http://schemas.microsoft.com/office/drawing/2014/main" val="3542746899"/>
                    </a:ext>
                  </a:extLst>
                </a:gridCol>
                <a:gridCol w="1603244">
                  <a:extLst>
                    <a:ext uri="{9D8B030D-6E8A-4147-A177-3AD203B41FA5}">
                      <a16:colId xmlns="" xmlns:a16="http://schemas.microsoft.com/office/drawing/2014/main" val="2056613460"/>
                    </a:ext>
                  </a:extLst>
                </a:gridCol>
                <a:gridCol w="1268083">
                  <a:extLst>
                    <a:ext uri="{9D8B030D-6E8A-4147-A177-3AD203B41FA5}">
                      <a16:colId xmlns="" xmlns:a16="http://schemas.microsoft.com/office/drawing/2014/main" val="1330678681"/>
                    </a:ext>
                  </a:extLst>
                </a:gridCol>
                <a:gridCol w="4494361">
                  <a:extLst>
                    <a:ext uri="{9D8B030D-6E8A-4147-A177-3AD203B41FA5}">
                      <a16:colId xmlns="" xmlns:a16="http://schemas.microsoft.com/office/drawing/2014/main" val="3062032114"/>
                    </a:ext>
                  </a:extLst>
                </a:gridCol>
              </a:tblGrid>
              <a:tr h="345503">
                <a:tc>
                  <a:txBody>
                    <a:bodyPr/>
                    <a:lstStyle/>
                    <a:p>
                      <a:pPr algn="ctr" fontAlgn="t"/>
                      <a:r>
                        <a:rPr lang="en-IN" sz="1050" b="1" i="0" u="none" strike="noStrike" dirty="0">
                          <a:solidFill>
                            <a:srgbClr val="202124"/>
                          </a:solidFill>
                          <a:effectLst/>
                          <a:latin typeface="Arial"/>
                        </a:rPr>
                        <a:t>Realtime Streaming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IAM</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err="1">
                          <a:solidFill>
                            <a:srgbClr val="202124"/>
                          </a:solidFill>
                          <a:effectLst/>
                          <a:latin typeface="Arial"/>
                        </a:rPr>
                        <a:t>Nifi</a:t>
                      </a:r>
                      <a:endParaRPr lang="en-IN" sz="1050" b="0" i="0" u="none" strike="noStrike" dirty="0">
                        <a:solidFill>
                          <a:srgbClr val="202124"/>
                        </a:solidFill>
                        <a:effectLst/>
                        <a:latin typeface="Arial"/>
                      </a:endParaRP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US" sz="1050" b="0" i="0" u="none" strike="noStrike" dirty="0">
                          <a:solidFill>
                            <a:srgbClr val="202124"/>
                          </a:solidFill>
                          <a:effectLst/>
                          <a:latin typeface="Arial"/>
                        </a:rPr>
                        <a:t>Amazon Kinesis Stream</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0" i="0" u="none" strike="noStrike" dirty="0">
                          <a:solidFill>
                            <a:srgbClr val="202124"/>
                          </a:solidFill>
                          <a:effectLst/>
                          <a:latin typeface="Arial"/>
                        </a:rPr>
                        <a:t>Azure Stream Analytics/</a:t>
                      </a:r>
                    </a:p>
                    <a:p>
                      <a:pPr algn="ctr" fontAlgn="t"/>
                      <a:r>
                        <a:rPr lang="en-IN" sz="1050" b="0" i="0" u="none" strike="noStrike" dirty="0">
                          <a:solidFill>
                            <a:srgbClr val="202124"/>
                          </a:solidFill>
                          <a:effectLst/>
                          <a:latin typeface="Arial"/>
                        </a:rPr>
                        <a:t>Databricks DLT/Spark Struct Streaming</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ctr" fontAlgn="t"/>
                      <a:r>
                        <a:rPr lang="en-IN" sz="1050" b="1" i="0" u="none" strike="noStrike" dirty="0">
                          <a:solidFill>
                            <a:srgbClr val="202124"/>
                          </a:solidFill>
                          <a:effectLst/>
                          <a:latin typeface="Arial"/>
                        </a:rPr>
                        <a:t>Dataflow</a:t>
                      </a:r>
                    </a:p>
                  </a:txBody>
                  <a:tcPr marL="5007" marR="5007" marT="5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tc>
                  <a:txBody>
                    <a:bodyPr/>
                    <a:lstStyle/>
                    <a:p>
                      <a:pPr algn="just" fontAlgn="t"/>
                      <a:r>
                        <a:rPr lang="en-US" sz="1050" b="0" i="0" u="none" strike="noStrike" dirty="0">
                          <a:solidFill>
                            <a:srgbClr val="202124"/>
                          </a:solidFill>
                          <a:effectLst/>
                          <a:latin typeface="Arial"/>
                        </a:rPr>
                        <a:t>Event Based/Micro batch based Streaming solution.</a:t>
                      </a:r>
                    </a:p>
                  </a:txBody>
                  <a:tcPr marL="5007" marR="5007" marT="500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F8F"/>
                    </a:solidFill>
                  </a:tcPr>
                </a:tc>
                <a:extLst>
                  <a:ext uri="{0D108BD9-81ED-4DB2-BD59-A6C34878D82A}">
                    <a16:rowId xmlns="" xmlns:a16="http://schemas.microsoft.com/office/drawing/2014/main" val="834445232"/>
                  </a:ext>
                </a:extLst>
              </a:tr>
            </a:tbl>
          </a:graphicData>
        </a:graphic>
      </p:graphicFrame>
    </p:spTree>
    <p:extLst>
      <p:ext uri="{BB962C8B-B14F-4D97-AF65-F5344CB8AC3E}">
        <p14:creationId xmlns:p14="http://schemas.microsoft.com/office/powerpoint/2010/main" val="1346146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p:cNvSpPr>
            <a:spLocks noGrp="1" noChangeArrowheads="1"/>
          </p:cNvSpPr>
          <p:nvPr>
            <p:ph type="ctrTitle"/>
          </p:nvPr>
        </p:nvSpPr>
        <p:spPr>
          <a:xfrm>
            <a:off x="411227" y="2250393"/>
            <a:ext cx="10363200" cy="1143000"/>
          </a:xfrm>
        </p:spPr>
        <p:txBody>
          <a:bodyPr vert="horz" lIns="91440" tIns="45720" rIns="91440" bIns="45720" rtlCol="0" anchor="ctr">
            <a:noAutofit/>
          </a:bodyPr>
          <a:lstStyle/>
          <a:p>
            <a:r>
              <a:rPr lang="en-US" sz="4800" b="1" dirty="0" smtClean="0">
                <a:solidFill>
                  <a:srgbClr val="FF0000"/>
                </a:solidFill>
              </a:rPr>
              <a:t>Azure </a:t>
            </a:r>
            <a:r>
              <a:rPr lang="en-US" sz="4800" b="1" dirty="0">
                <a:solidFill>
                  <a:srgbClr val="FF0000"/>
                </a:solidFill>
              </a:rPr>
              <a:t>– </a:t>
            </a:r>
            <a:r>
              <a:rPr lang="en-US" sz="4800" b="1" dirty="0" smtClean="0">
                <a:solidFill>
                  <a:srgbClr val="FF0000"/>
                </a:solidFill>
              </a:rPr>
              <a:t>Account Creation</a:t>
            </a:r>
            <a:br>
              <a:rPr lang="en-US" sz="4800" b="1" dirty="0" smtClean="0">
                <a:solidFill>
                  <a:srgbClr val="FF0000"/>
                </a:solidFill>
              </a:rPr>
            </a:br>
            <a:r>
              <a:rPr lang="en-US" sz="4800" b="1" u="sng" dirty="0" smtClean="0">
                <a:solidFill>
                  <a:srgbClr val="FF0000"/>
                </a:solidFill>
              </a:rPr>
              <a:t>We will do it later</a:t>
            </a:r>
            <a:br>
              <a:rPr lang="en-US" sz="4800" b="1" u="sng" dirty="0" smtClean="0">
                <a:solidFill>
                  <a:srgbClr val="FF0000"/>
                </a:solidFill>
              </a:rPr>
            </a:br>
            <a:r>
              <a:rPr lang="en-US" sz="4800" b="1" dirty="0" smtClean="0">
                <a:solidFill>
                  <a:srgbClr val="0070C0"/>
                </a:solidFill>
              </a:rPr>
              <a:t>Programmatic access </a:t>
            </a:r>
            <a:endParaRPr lang="cs-CZ" sz="4800" b="1" dirty="0">
              <a:solidFill>
                <a:srgbClr val="0070C0"/>
              </a:solidFill>
            </a:endParaRPr>
          </a:p>
        </p:txBody>
      </p:sp>
    </p:spTree>
    <p:extLst>
      <p:ext uri="{BB962C8B-B14F-4D97-AF65-F5344CB8AC3E}">
        <p14:creationId xmlns:p14="http://schemas.microsoft.com/office/powerpoint/2010/main" val="52719329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D989169-B54D-3783-7C90-1CF6FAF1FFA8}"/>
            </a:ext>
          </a:extLst>
        </p:cNvPr>
        <p:cNvGrpSpPr/>
        <p:nvPr/>
      </p:nvGrpSpPr>
      <p:grpSpPr>
        <a:xfrm>
          <a:off x="0" y="0"/>
          <a:ext cx="0" cy="0"/>
          <a:chOff x="0" y="0"/>
          <a:chExt cx="0" cy="0"/>
        </a:xfrm>
      </p:grpSpPr>
      <p:pic>
        <p:nvPicPr>
          <p:cNvPr id="1026" name="Picture 2">
            <a:extLst>
              <a:ext uri="{FF2B5EF4-FFF2-40B4-BE49-F238E27FC236}">
                <a16:creationId xmlns="" xmlns:a16="http://schemas.microsoft.com/office/drawing/2014/main" id="{C46991DC-48D2-5B62-DD14-68822EAF3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000" y="583883"/>
            <a:ext cx="6124452" cy="24830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 xmlns:a16="http://schemas.microsoft.com/office/drawing/2014/main" id="{60EBAE74-E670-9C35-93C0-F7BE9E0214F1}"/>
                  </a:ext>
                </a:extLst>
              </p14:cNvPr>
              <p14:cNvContentPartPr/>
              <p14:nvPr/>
            </p14:nvContentPartPr>
            <p14:xfrm>
              <a:off x="7689960" y="3740040"/>
              <a:ext cx="360" cy="360"/>
            </p14:xfrm>
          </p:contentPart>
        </mc:Choice>
        <mc:Fallback xmlns="">
          <p:pic>
            <p:nvPicPr>
              <p:cNvPr id="2" name="Ink 1">
                <a:extLst>
                  <a:ext uri="{FF2B5EF4-FFF2-40B4-BE49-F238E27FC236}">
                    <a16:creationId xmlns:a16="http://schemas.microsoft.com/office/drawing/2014/main" id="{60EBAE74-E670-9C35-93C0-F7BE9E0214F1}"/>
                  </a:ext>
                </a:extLst>
              </p:cNvPr>
              <p:cNvPicPr/>
              <p:nvPr/>
            </p:nvPicPr>
            <p:blipFill>
              <a:blip r:embed="rId5"/>
              <a:stretch>
                <a:fillRect/>
              </a:stretch>
            </p:blipFill>
            <p:spPr>
              <a:xfrm>
                <a:off x="7680600" y="3730680"/>
                <a:ext cx="19080" cy="19080"/>
              </a:xfrm>
              <a:prstGeom prst="rect">
                <a:avLst/>
              </a:prstGeom>
            </p:spPr>
          </p:pic>
        </mc:Fallback>
      </mc:AlternateContent>
      <p:sp>
        <p:nvSpPr>
          <p:cNvPr id="5" name="Rectangle 4">
            <a:extLst>
              <a:ext uri="{FF2B5EF4-FFF2-40B4-BE49-F238E27FC236}">
                <a16:creationId xmlns="" xmlns:a16="http://schemas.microsoft.com/office/drawing/2014/main" id="{55A84217-FB91-A3FC-74BE-378915C2E303}"/>
              </a:ext>
            </a:extLst>
          </p:cNvPr>
          <p:cNvSpPr/>
          <p:nvPr/>
        </p:nvSpPr>
        <p:spPr>
          <a:xfrm>
            <a:off x="590550" y="861596"/>
            <a:ext cx="3228975" cy="307777"/>
          </a:xfrm>
          <a:prstGeom prst="rect">
            <a:avLst/>
          </a:prstGeom>
        </p:spPr>
        <p:txBody>
          <a:bodyPr wrap="square">
            <a:spAutoFit/>
          </a:bodyPr>
          <a:lstStyle/>
          <a:p>
            <a:r>
              <a:rPr lang="en-IN" sz="1400" b="1" dirty="0">
                <a:solidFill>
                  <a:srgbClr val="0070C0"/>
                </a:solidFill>
              </a:rPr>
              <a:t>https://azure.microsoft.com/en-in/free</a:t>
            </a:r>
          </a:p>
        </p:txBody>
      </p:sp>
      <p:sp>
        <p:nvSpPr>
          <p:cNvPr id="6" name="Rectangle 5">
            <a:extLst>
              <a:ext uri="{FF2B5EF4-FFF2-40B4-BE49-F238E27FC236}">
                <a16:creationId xmlns="" xmlns:a16="http://schemas.microsoft.com/office/drawing/2014/main" id="{CFE54AF6-815A-4002-1E7E-D9E110775A3F}"/>
              </a:ext>
            </a:extLst>
          </p:cNvPr>
          <p:cNvSpPr/>
          <p:nvPr/>
        </p:nvSpPr>
        <p:spPr>
          <a:xfrm>
            <a:off x="85725" y="95250"/>
            <a:ext cx="6819900" cy="400110"/>
          </a:xfrm>
          <a:prstGeom prst="rect">
            <a:avLst/>
          </a:prstGeom>
        </p:spPr>
        <p:txBody>
          <a:bodyPr wrap="square">
            <a:spAutoFit/>
          </a:bodyPr>
          <a:lstStyle/>
          <a:p>
            <a:r>
              <a:rPr lang="en-US" sz="2000" dirty="0">
                <a:solidFill>
                  <a:srgbClr val="C00000"/>
                </a:solidFill>
              </a:rPr>
              <a:t> </a:t>
            </a:r>
            <a:r>
              <a:rPr lang="en-US" sz="2000" b="1" dirty="0">
                <a:solidFill>
                  <a:srgbClr val="C00000"/>
                </a:solidFill>
              </a:rPr>
              <a:t>Creating Microsoft Cloud Free Account</a:t>
            </a:r>
            <a:endParaRPr lang="en-IN" sz="2000" dirty="0">
              <a:solidFill>
                <a:srgbClr val="C00000"/>
              </a:solidFill>
            </a:endParaRPr>
          </a:p>
        </p:txBody>
      </p:sp>
      <p:pic>
        <p:nvPicPr>
          <p:cNvPr id="1027" name="Picture 3">
            <a:extLst>
              <a:ext uri="{FF2B5EF4-FFF2-40B4-BE49-F238E27FC236}">
                <a16:creationId xmlns="" xmlns:a16="http://schemas.microsoft.com/office/drawing/2014/main" id="{BA05337B-96E1-2358-3B97-DB4DEF2C99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000" y="3206526"/>
            <a:ext cx="3323823" cy="34775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8" name="Picture 4">
            <a:extLst>
              <a:ext uri="{FF2B5EF4-FFF2-40B4-BE49-F238E27FC236}">
                <a16:creationId xmlns="" xmlns:a16="http://schemas.microsoft.com/office/drawing/2014/main" id="{A9AD8F7F-3326-7540-FD1F-40AABC9BF24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5481" y="3309426"/>
            <a:ext cx="4093388" cy="33061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9" name="Picture 5">
            <a:extLst>
              <a:ext uri="{FF2B5EF4-FFF2-40B4-BE49-F238E27FC236}">
                <a16:creationId xmlns="" xmlns:a16="http://schemas.microsoft.com/office/drawing/2014/main" id="{6DB5700F-FFF1-F989-1978-5BB6B6EF83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6994" y="3299901"/>
            <a:ext cx="3735575" cy="30557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2" name="Heptagon 11">
            <a:extLst>
              <a:ext uri="{FF2B5EF4-FFF2-40B4-BE49-F238E27FC236}">
                <a16:creationId xmlns="" xmlns:a16="http://schemas.microsoft.com/office/drawing/2014/main" id="{F585B9BD-F94A-6B21-B32B-A9B399E63753}"/>
              </a:ext>
            </a:extLst>
          </p:cNvPr>
          <p:cNvSpPr/>
          <p:nvPr/>
        </p:nvSpPr>
        <p:spPr>
          <a:xfrm>
            <a:off x="4175837" y="531737"/>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1</a:t>
            </a:r>
            <a:endParaRPr lang="en-IN" sz="3600" b="1" dirty="0">
              <a:solidFill>
                <a:prstClr val="white"/>
              </a:solidFill>
            </a:endParaRPr>
          </a:p>
        </p:txBody>
      </p:sp>
      <p:sp>
        <p:nvSpPr>
          <p:cNvPr id="13" name="Heptagon 12">
            <a:extLst>
              <a:ext uri="{FF2B5EF4-FFF2-40B4-BE49-F238E27FC236}">
                <a16:creationId xmlns="" xmlns:a16="http://schemas.microsoft.com/office/drawing/2014/main" id="{21BC0E36-7C14-74A5-981E-592439F60050}"/>
              </a:ext>
            </a:extLst>
          </p:cNvPr>
          <p:cNvSpPr/>
          <p:nvPr/>
        </p:nvSpPr>
        <p:spPr>
          <a:xfrm>
            <a:off x="2964135" y="3232120"/>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2</a:t>
            </a:r>
            <a:endParaRPr lang="en-IN" sz="3600" b="1" dirty="0">
              <a:solidFill>
                <a:prstClr val="white"/>
              </a:solidFill>
            </a:endParaRPr>
          </a:p>
        </p:txBody>
      </p:sp>
      <p:sp>
        <p:nvSpPr>
          <p:cNvPr id="14" name="Heptagon 13">
            <a:extLst>
              <a:ext uri="{FF2B5EF4-FFF2-40B4-BE49-F238E27FC236}">
                <a16:creationId xmlns="" xmlns:a16="http://schemas.microsoft.com/office/drawing/2014/main" id="{E9108496-3089-ABB3-868F-66DE88491DE5}"/>
              </a:ext>
            </a:extLst>
          </p:cNvPr>
          <p:cNvSpPr/>
          <p:nvPr/>
        </p:nvSpPr>
        <p:spPr>
          <a:xfrm>
            <a:off x="7038380" y="3299901"/>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3</a:t>
            </a:r>
            <a:endParaRPr lang="en-IN" sz="3600" b="1" dirty="0">
              <a:solidFill>
                <a:prstClr val="white"/>
              </a:solidFill>
            </a:endParaRPr>
          </a:p>
        </p:txBody>
      </p:sp>
      <p:sp>
        <p:nvSpPr>
          <p:cNvPr id="15" name="Heptagon 14">
            <a:extLst>
              <a:ext uri="{FF2B5EF4-FFF2-40B4-BE49-F238E27FC236}">
                <a16:creationId xmlns="" xmlns:a16="http://schemas.microsoft.com/office/drawing/2014/main" id="{BA785C3F-CD18-8B63-4AAC-7AA12FDE9A3A}"/>
              </a:ext>
            </a:extLst>
          </p:cNvPr>
          <p:cNvSpPr/>
          <p:nvPr/>
        </p:nvSpPr>
        <p:spPr>
          <a:xfrm>
            <a:off x="11362730" y="3192143"/>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4</a:t>
            </a:r>
            <a:endParaRPr lang="en-IN" sz="3600" b="1" dirty="0">
              <a:solidFill>
                <a:prstClr val="white"/>
              </a:solidFill>
            </a:endParaRPr>
          </a:p>
        </p:txBody>
      </p:sp>
      <p:pic>
        <p:nvPicPr>
          <p:cNvPr id="16" name="Picture 2">
            <a:extLst>
              <a:ext uri="{FF2B5EF4-FFF2-40B4-BE49-F238E27FC236}">
                <a16:creationId xmlns="" xmlns:a16="http://schemas.microsoft.com/office/drawing/2014/main" id="{F5777CF8-DB51-ED2D-8627-2FF5B992B34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5408819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7689960" y="3740040"/>
              <a:ext cx="360" cy="360"/>
            </p14:xfrm>
          </p:contentPart>
        </mc:Choice>
        <mc:Fallback xmlns="">
          <p:pic>
            <p:nvPicPr>
              <p:cNvPr id="2" name="Ink 1"/>
              <p:cNvPicPr/>
              <p:nvPr/>
            </p:nvPicPr>
            <p:blipFill>
              <a:blip r:embed="rId5"/>
              <a:stretch>
                <a:fillRect/>
              </a:stretch>
            </p:blipFill>
            <p:spPr>
              <a:xfrm>
                <a:off x="7680600" y="3730680"/>
                <a:ext cx="19080" cy="19080"/>
              </a:xfrm>
              <a:prstGeom prst="rect">
                <a:avLst/>
              </a:prstGeom>
            </p:spPr>
          </p:pic>
        </mc:Fallback>
      </mc:AlternateContent>
      <p:sp>
        <p:nvSpPr>
          <p:cNvPr id="6" name="Rectangle 5"/>
          <p:cNvSpPr/>
          <p:nvPr/>
        </p:nvSpPr>
        <p:spPr>
          <a:xfrm>
            <a:off x="85725" y="95250"/>
            <a:ext cx="6819900" cy="400110"/>
          </a:xfrm>
          <a:prstGeom prst="rect">
            <a:avLst/>
          </a:prstGeom>
        </p:spPr>
        <p:txBody>
          <a:bodyPr wrap="square">
            <a:spAutoFit/>
          </a:bodyPr>
          <a:lstStyle/>
          <a:p>
            <a:r>
              <a:rPr lang="en-US" sz="2000" dirty="0">
                <a:solidFill>
                  <a:srgbClr val="C00000"/>
                </a:solidFill>
              </a:rPr>
              <a:t> </a:t>
            </a:r>
            <a:r>
              <a:rPr lang="en-US" sz="2000" b="1" dirty="0">
                <a:solidFill>
                  <a:srgbClr val="C00000"/>
                </a:solidFill>
              </a:rPr>
              <a:t>Creating Microsoft Cloud Free Account</a:t>
            </a:r>
            <a:endParaRPr lang="en-IN" sz="2000" dirty="0">
              <a:solidFill>
                <a:srgbClr val="C00000"/>
              </a:solidFill>
            </a:endParaRPr>
          </a:p>
        </p:txBody>
      </p:sp>
      <p:pic>
        <p:nvPicPr>
          <p:cNvPr id="2050"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3860" y="612646"/>
            <a:ext cx="5061531" cy="22055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3860" y="3224325"/>
            <a:ext cx="5233238" cy="30001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2"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04515" y="220128"/>
            <a:ext cx="2811970" cy="32420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 name="Rectangle 2"/>
          <p:cNvSpPr/>
          <p:nvPr/>
        </p:nvSpPr>
        <p:spPr>
          <a:xfrm>
            <a:off x="6180589" y="3875232"/>
            <a:ext cx="3035896" cy="338554"/>
          </a:xfrm>
          <a:prstGeom prst="rect">
            <a:avLst/>
          </a:prstGeom>
        </p:spPr>
        <p:txBody>
          <a:bodyPr wrap="none">
            <a:spAutoFit/>
          </a:bodyPr>
          <a:lstStyle/>
          <a:p>
            <a:r>
              <a:rPr lang="en-IN" sz="1600" b="1" dirty="0">
                <a:solidFill>
                  <a:srgbClr val="0070C0"/>
                </a:solidFill>
              </a:rPr>
              <a:t>https://portal.azure.com/#home </a:t>
            </a:r>
          </a:p>
        </p:txBody>
      </p:sp>
      <p:pic>
        <p:nvPicPr>
          <p:cNvPr id="2053" name="Picture 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73208" y="4191219"/>
            <a:ext cx="4193032" cy="18474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 name="Heptagon 13"/>
          <p:cNvSpPr/>
          <p:nvPr/>
        </p:nvSpPr>
        <p:spPr>
          <a:xfrm>
            <a:off x="5223200" y="418748"/>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5</a:t>
            </a:r>
            <a:endParaRPr lang="en-IN" sz="3600" b="1" dirty="0">
              <a:solidFill>
                <a:prstClr val="white"/>
              </a:solidFill>
            </a:endParaRPr>
          </a:p>
        </p:txBody>
      </p:sp>
      <p:sp>
        <p:nvSpPr>
          <p:cNvPr id="15" name="Heptagon 14"/>
          <p:cNvSpPr/>
          <p:nvPr/>
        </p:nvSpPr>
        <p:spPr>
          <a:xfrm>
            <a:off x="5263571" y="3074431"/>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6</a:t>
            </a:r>
            <a:endParaRPr lang="en-IN" sz="3600" b="1" dirty="0">
              <a:solidFill>
                <a:prstClr val="white"/>
              </a:solidFill>
            </a:endParaRPr>
          </a:p>
        </p:txBody>
      </p:sp>
      <p:sp>
        <p:nvSpPr>
          <p:cNvPr id="16" name="Heptagon 15"/>
          <p:cNvSpPr/>
          <p:nvPr/>
        </p:nvSpPr>
        <p:spPr>
          <a:xfrm>
            <a:off x="9095780" y="93373"/>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7</a:t>
            </a:r>
            <a:endParaRPr lang="en-IN" sz="3600" b="1" dirty="0">
              <a:solidFill>
                <a:prstClr val="white"/>
              </a:solidFill>
            </a:endParaRPr>
          </a:p>
        </p:txBody>
      </p:sp>
      <p:sp>
        <p:nvSpPr>
          <p:cNvPr id="20" name="Heptagon 19"/>
          <p:cNvSpPr/>
          <p:nvPr/>
        </p:nvSpPr>
        <p:spPr>
          <a:xfrm>
            <a:off x="9872342" y="3981789"/>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8</a:t>
            </a:r>
            <a:endParaRPr lang="en-IN" sz="3600" b="1" dirty="0">
              <a:solidFill>
                <a:prstClr val="white"/>
              </a:solidFill>
            </a:endParaRPr>
          </a:p>
        </p:txBody>
      </p:sp>
      <p:pic>
        <p:nvPicPr>
          <p:cNvPr id="13"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508324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14</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0" y="-306561"/>
            <a:ext cx="10972800" cy="1143000"/>
          </a:xfrm>
        </p:spPr>
        <p:txBody>
          <a:bodyPr vert="horz" lIns="91440" tIns="45720" rIns="91440" bIns="45720" rtlCol="0" anchor="ctr">
            <a:normAutofit/>
          </a:bodyPr>
          <a:lstStyle/>
          <a:p>
            <a:r>
              <a:rPr lang="en-US" sz="2800" b="1" dirty="0">
                <a:solidFill>
                  <a:srgbClr val="FF0000"/>
                </a:solidFill>
              </a:rPr>
              <a:t>About Azure</a:t>
            </a:r>
          </a:p>
        </p:txBody>
      </p:sp>
      <p:sp>
        <p:nvSpPr>
          <p:cNvPr id="13" name="Rectangle 12"/>
          <p:cNvSpPr/>
          <p:nvPr/>
        </p:nvSpPr>
        <p:spPr>
          <a:xfrm>
            <a:off x="149956" y="484516"/>
            <a:ext cx="11946793" cy="523220"/>
          </a:xfrm>
          <a:prstGeom prst="rect">
            <a:avLst/>
          </a:prstGeom>
        </p:spPr>
        <p:txBody>
          <a:bodyPr wrap="square">
            <a:spAutoFit/>
          </a:bodyPr>
          <a:lstStyle/>
          <a:p>
            <a:r>
              <a:rPr lang="en-US" sz="1400" b="1" dirty="0">
                <a:solidFill>
                  <a:prstClr val="black"/>
                </a:solidFill>
              </a:rPr>
              <a:t>Microsoft Azure is a public cloud vendor</a:t>
            </a:r>
            <a:r>
              <a:rPr lang="en-US" sz="1400" dirty="0">
                <a:solidFill>
                  <a:prstClr val="black"/>
                </a:solidFill>
              </a:rPr>
              <a:t> — like competitors Amazon Web Services (AWS) and GCP and other cloud vendors, customers are able to access computer resources housed in Microsoft data centers around the world for free or on a pay-per-use basis.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307" y="1726872"/>
            <a:ext cx="8234485" cy="3520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283307" y="1130309"/>
            <a:ext cx="4957126" cy="523220"/>
          </a:xfrm>
          <a:prstGeom prst="rect">
            <a:avLst/>
          </a:prstGeom>
        </p:spPr>
        <p:txBody>
          <a:bodyPr wrap="none">
            <a:spAutoFit/>
          </a:bodyPr>
          <a:lstStyle/>
          <a:p>
            <a:r>
              <a:rPr lang="en-IN" sz="1400" dirty="0">
                <a:solidFill>
                  <a:prstClr val="black"/>
                </a:solidFill>
                <a:hlinkClick r:id="rId3"/>
              </a:rPr>
              <a:t>https://datacenters.microsoft.com/globe/explore/</a:t>
            </a:r>
            <a:endParaRPr lang="en-IN" sz="1400" dirty="0">
              <a:solidFill>
                <a:prstClr val="black"/>
              </a:solidFill>
            </a:endParaRPr>
          </a:p>
          <a:p>
            <a:r>
              <a:rPr lang="en-IN" sz="1400" dirty="0">
                <a:solidFill>
                  <a:srgbClr val="0070C0"/>
                </a:solidFill>
              </a:rPr>
              <a:t>https://azure.microsoft.com/en-us/explore/global-infrastructure/</a:t>
            </a: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25" y="5334000"/>
            <a:ext cx="7239000"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9907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Title 1"/>
          <p:cNvSpPr>
            <a:spLocks noGrp="1"/>
          </p:cNvSpPr>
          <p:nvPr>
            <p:ph type="title"/>
          </p:nvPr>
        </p:nvSpPr>
        <p:spPr>
          <a:xfrm>
            <a:off x="790575" y="3429000"/>
            <a:ext cx="10515600" cy="562796"/>
          </a:xfrm>
        </p:spPr>
        <p:txBody>
          <a:bodyPr>
            <a:normAutofit fontScale="90000"/>
          </a:bodyPr>
          <a:lstStyle/>
          <a:p>
            <a:pPr algn="ctr"/>
            <a:r>
              <a:rPr lang="en-US" b="1" dirty="0">
                <a:solidFill>
                  <a:srgbClr val="C00000"/>
                </a:solidFill>
              </a:rPr>
              <a:t>Azure Data </a:t>
            </a:r>
            <a:r>
              <a:rPr lang="en-US" b="1" dirty="0" smtClean="0">
                <a:solidFill>
                  <a:srgbClr val="C00000"/>
                </a:solidFill>
              </a:rPr>
              <a:t>Engineering/AI/BI Services (Software)</a:t>
            </a:r>
            <a:endParaRPr lang="en-IN" b="1" dirty="0">
              <a:solidFill>
                <a:srgbClr val="C00000"/>
              </a:solidFill>
            </a:endParaRPr>
          </a:p>
        </p:txBody>
      </p:sp>
      <p:graphicFrame>
        <p:nvGraphicFramePr>
          <p:cNvPr id="488" name="Diagram 487"/>
          <p:cNvGraphicFramePr/>
          <p:nvPr>
            <p:extLst>
              <p:ext uri="{D42A27DB-BD31-4B8C-83A1-F6EECF244321}">
                <p14:modId xmlns:p14="http://schemas.microsoft.com/office/powerpoint/2010/main" val="2356415055"/>
              </p:ext>
            </p:extLst>
          </p:nvPr>
        </p:nvGraphicFramePr>
        <p:xfrm>
          <a:off x="293019" y="4113590"/>
          <a:ext cx="11522635" cy="634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89" name="Diagram 488"/>
          <p:cNvGraphicFramePr/>
          <p:nvPr>
            <p:extLst>
              <p:ext uri="{D42A27DB-BD31-4B8C-83A1-F6EECF244321}">
                <p14:modId xmlns:p14="http://schemas.microsoft.com/office/powerpoint/2010/main" val="1555700217"/>
              </p:ext>
            </p:extLst>
          </p:nvPr>
        </p:nvGraphicFramePr>
        <p:xfrm>
          <a:off x="8546" y="1912477"/>
          <a:ext cx="11819191" cy="59998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96" name="Title 1"/>
          <p:cNvSpPr txBox="1">
            <a:spLocks/>
          </p:cNvSpPr>
          <p:nvPr/>
        </p:nvSpPr>
        <p:spPr>
          <a:xfrm>
            <a:off x="670982" y="1054407"/>
            <a:ext cx="10515600" cy="774393"/>
          </a:xfrm>
          <a:prstGeom prst="rect">
            <a:avLst/>
          </a:prstGeom>
        </p:spPr>
        <p:txBody>
          <a:bodyPr vert="horz" lIns="91440" tIns="45720" rIns="91440" bIns="45720" rtlCol="0" anchor="ctr">
            <a:normAutofit fontScale="3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800" b="1" dirty="0">
                <a:solidFill>
                  <a:srgbClr val="C00000"/>
                </a:solidFill>
              </a:rPr>
              <a:t>Azure Core </a:t>
            </a:r>
            <a:r>
              <a:rPr lang="en-US" sz="12800" b="1" dirty="0" smtClean="0">
                <a:solidFill>
                  <a:srgbClr val="C00000"/>
                </a:solidFill>
              </a:rPr>
              <a:t>Services (Infra &amp; Platform)</a:t>
            </a:r>
          </a:p>
          <a:p>
            <a:pPr algn="ctr"/>
            <a:r>
              <a:rPr lang="en-US" sz="6200" b="1" dirty="0" smtClean="0">
                <a:solidFill>
                  <a:srgbClr val="C00000"/>
                </a:solidFill>
              </a:rPr>
              <a:t>Cricket Ground</a:t>
            </a:r>
            <a:endParaRPr lang="en-IN" b="1" dirty="0">
              <a:solidFill>
                <a:srgbClr val="C00000"/>
              </a:solidFill>
            </a:endParaRPr>
          </a:p>
        </p:txBody>
      </p:sp>
      <p:graphicFrame>
        <p:nvGraphicFramePr>
          <p:cNvPr id="7" name="Diagram 6"/>
          <p:cNvGraphicFramePr/>
          <p:nvPr>
            <p:extLst>
              <p:ext uri="{D42A27DB-BD31-4B8C-83A1-F6EECF244321}">
                <p14:modId xmlns:p14="http://schemas.microsoft.com/office/powerpoint/2010/main" val="2708445128"/>
              </p:ext>
            </p:extLst>
          </p:nvPr>
        </p:nvGraphicFramePr>
        <p:xfrm>
          <a:off x="325779" y="5129114"/>
          <a:ext cx="11522635" cy="63400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2" name="Rectangle 1"/>
          <p:cNvSpPr/>
          <p:nvPr/>
        </p:nvSpPr>
        <p:spPr>
          <a:xfrm>
            <a:off x="4002880" y="2560671"/>
            <a:ext cx="3661259" cy="369332"/>
          </a:xfrm>
          <a:prstGeom prst="rect">
            <a:avLst/>
          </a:prstGeom>
        </p:spPr>
        <p:txBody>
          <a:bodyPr wrap="none">
            <a:spAutoFit/>
          </a:bodyPr>
          <a:lstStyle/>
          <a:p>
            <a:r>
              <a:rPr lang="en-IN" b="1" dirty="0">
                <a:hlinkClick r:id="rId17"/>
              </a:rPr>
              <a:t>https://</a:t>
            </a:r>
            <a:r>
              <a:rPr lang="en-IN" b="1" dirty="0" smtClean="0">
                <a:hlinkClick r:id="rId17"/>
              </a:rPr>
              <a:t>inceptezlabs.com/cloudengg</a:t>
            </a:r>
            <a:endParaRPr lang="en-IN" b="1" dirty="0"/>
          </a:p>
        </p:txBody>
      </p:sp>
    </p:spTree>
    <p:extLst>
      <p:ext uri="{BB962C8B-B14F-4D97-AF65-F5344CB8AC3E}">
        <p14:creationId xmlns:p14="http://schemas.microsoft.com/office/powerpoint/2010/main" val="2471906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p:cNvSpPr>
            <a:spLocks noGrp="1" noChangeArrowheads="1"/>
          </p:cNvSpPr>
          <p:nvPr>
            <p:ph type="ctrTitle"/>
          </p:nvPr>
        </p:nvSpPr>
        <p:spPr>
          <a:xfrm>
            <a:off x="778696" y="2899873"/>
            <a:ext cx="10363200" cy="1143000"/>
          </a:xfrm>
        </p:spPr>
        <p:txBody>
          <a:bodyPr vert="horz" lIns="91440" tIns="45720" rIns="91440" bIns="45720" rtlCol="0" anchor="ctr">
            <a:noAutofit/>
          </a:bodyPr>
          <a:lstStyle/>
          <a:p>
            <a:r>
              <a:rPr lang="en-US" sz="4800" b="1" dirty="0">
                <a:solidFill>
                  <a:srgbClr val="FF0000"/>
                </a:solidFill>
              </a:rPr>
              <a:t>        Azure – Resource Hierarchy</a:t>
            </a:r>
            <a:endParaRPr lang="cs-CZ" sz="4800" b="1" dirty="0">
              <a:solidFill>
                <a:srgbClr val="FF0000"/>
              </a:solidFill>
            </a:endParaRPr>
          </a:p>
        </p:txBody>
      </p:sp>
      <p:sp>
        <p:nvSpPr>
          <p:cNvPr id="2" name="TextBox 1"/>
          <p:cNvSpPr txBox="1"/>
          <p:nvPr/>
        </p:nvSpPr>
        <p:spPr>
          <a:xfrm>
            <a:off x="152401" y="386135"/>
            <a:ext cx="7294882" cy="646331"/>
          </a:xfrm>
          <a:prstGeom prst="rect">
            <a:avLst/>
          </a:prstGeom>
          <a:noFill/>
        </p:spPr>
        <p:txBody>
          <a:bodyPr wrap="none" rtlCol="0">
            <a:spAutoFit/>
          </a:bodyPr>
          <a:lstStyle/>
          <a:p>
            <a:r>
              <a:rPr lang="en-IN" b="1" dirty="0" smtClean="0">
                <a:solidFill>
                  <a:prstClr val="black"/>
                </a:solidFill>
              </a:rPr>
              <a:t>PC/Computer Resource Hierarchy</a:t>
            </a:r>
          </a:p>
          <a:p>
            <a:r>
              <a:rPr lang="en-IN" b="1" dirty="0" smtClean="0">
                <a:solidFill>
                  <a:prstClr val="black"/>
                </a:solidFill>
              </a:rPr>
              <a:t>Connect (Browser/CLI) -&gt; This PC -&gt; Partitions -&gt; Folder -&gt; Subfolder -&gt; </a:t>
            </a:r>
            <a:r>
              <a:rPr lang="en-IN" b="1" dirty="0" smtClean="0">
                <a:solidFill>
                  <a:srgbClr val="C00000"/>
                </a:solidFill>
              </a:rPr>
              <a:t>Files</a:t>
            </a:r>
          </a:p>
        </p:txBody>
      </p:sp>
      <p:sp>
        <p:nvSpPr>
          <p:cNvPr id="4" name="TextBox 3"/>
          <p:cNvSpPr txBox="1"/>
          <p:nvPr/>
        </p:nvSpPr>
        <p:spPr>
          <a:xfrm>
            <a:off x="152401" y="1256532"/>
            <a:ext cx="9527993" cy="738664"/>
          </a:xfrm>
          <a:prstGeom prst="rect">
            <a:avLst/>
          </a:prstGeom>
          <a:noFill/>
        </p:spPr>
        <p:txBody>
          <a:bodyPr wrap="none" rtlCol="0">
            <a:spAutoFit/>
          </a:bodyPr>
          <a:lstStyle/>
          <a:p>
            <a:r>
              <a:rPr lang="en-IN" b="1" dirty="0" smtClean="0">
                <a:solidFill>
                  <a:prstClr val="black"/>
                </a:solidFill>
              </a:rPr>
              <a:t>Azure Resource Hierarchy</a:t>
            </a:r>
          </a:p>
          <a:p>
            <a:r>
              <a:rPr lang="en-IN" sz="1200" b="1" dirty="0">
                <a:solidFill>
                  <a:prstClr val="black"/>
                </a:solidFill>
              </a:rPr>
              <a:t>Connect </a:t>
            </a:r>
            <a:r>
              <a:rPr lang="en-IN" sz="1200" b="1" dirty="0" smtClean="0">
                <a:solidFill>
                  <a:prstClr val="black"/>
                </a:solidFill>
              </a:rPr>
              <a:t>(AD/</a:t>
            </a:r>
            <a:r>
              <a:rPr lang="en-IN" sz="1200" b="1" dirty="0" err="1" smtClean="0">
                <a:solidFill>
                  <a:prstClr val="black"/>
                </a:solidFill>
              </a:rPr>
              <a:t>Entra</a:t>
            </a:r>
            <a:r>
              <a:rPr lang="en-IN" sz="1200" b="1" dirty="0" smtClean="0">
                <a:solidFill>
                  <a:prstClr val="black"/>
                </a:solidFill>
              </a:rPr>
              <a:t>/Tenant) Company </a:t>
            </a:r>
            <a:r>
              <a:rPr lang="en-IN" sz="1200" b="1" dirty="0">
                <a:solidFill>
                  <a:prstClr val="black"/>
                </a:solidFill>
              </a:rPr>
              <a:t>-&gt; </a:t>
            </a:r>
            <a:r>
              <a:rPr lang="en-IN" sz="1200" b="1" dirty="0" smtClean="0">
                <a:solidFill>
                  <a:prstClr val="black"/>
                </a:solidFill>
              </a:rPr>
              <a:t>Management Group (</a:t>
            </a:r>
            <a:r>
              <a:rPr lang="en-IN" sz="1200" b="1" dirty="0" err="1" smtClean="0">
                <a:solidFill>
                  <a:prstClr val="black"/>
                </a:solidFill>
              </a:rPr>
              <a:t>Dept</a:t>
            </a:r>
            <a:r>
              <a:rPr lang="en-IN" sz="1200" b="1" dirty="0" smtClean="0">
                <a:solidFill>
                  <a:prstClr val="black"/>
                </a:solidFill>
              </a:rPr>
              <a:t>) </a:t>
            </a:r>
            <a:r>
              <a:rPr lang="en-IN" sz="1200" b="1" dirty="0">
                <a:solidFill>
                  <a:prstClr val="black"/>
                </a:solidFill>
              </a:rPr>
              <a:t>-&gt; </a:t>
            </a:r>
            <a:r>
              <a:rPr lang="en-IN" sz="1200" b="1" dirty="0" smtClean="0">
                <a:solidFill>
                  <a:prstClr val="black"/>
                </a:solidFill>
              </a:rPr>
              <a:t>Subscription(Accounts/Projects) </a:t>
            </a:r>
            <a:r>
              <a:rPr lang="en-IN" sz="1200" b="1" dirty="0">
                <a:solidFill>
                  <a:prstClr val="black"/>
                </a:solidFill>
              </a:rPr>
              <a:t>-&gt; </a:t>
            </a:r>
            <a:r>
              <a:rPr lang="en-IN" sz="1200" b="1" dirty="0" smtClean="0">
                <a:solidFill>
                  <a:prstClr val="black"/>
                </a:solidFill>
              </a:rPr>
              <a:t>Resource Group (Collection of Resources) </a:t>
            </a:r>
          </a:p>
          <a:p>
            <a:r>
              <a:rPr lang="en-IN" sz="1200" b="1" dirty="0" smtClean="0">
                <a:solidFill>
                  <a:prstClr val="black"/>
                </a:solidFill>
              </a:rPr>
              <a:t>-&gt; Resources</a:t>
            </a:r>
            <a:endParaRPr lang="en-IN" sz="1200" b="1" dirty="0">
              <a:solidFill>
                <a:srgbClr val="C00000"/>
              </a:solidFill>
            </a:endParaRPr>
          </a:p>
        </p:txBody>
      </p:sp>
      <p:sp>
        <p:nvSpPr>
          <p:cNvPr id="5" name="TextBox 4"/>
          <p:cNvSpPr txBox="1"/>
          <p:nvPr/>
        </p:nvSpPr>
        <p:spPr>
          <a:xfrm>
            <a:off x="152401" y="2297695"/>
            <a:ext cx="11808104" cy="538609"/>
          </a:xfrm>
          <a:prstGeom prst="rect">
            <a:avLst/>
          </a:prstGeom>
          <a:noFill/>
        </p:spPr>
        <p:txBody>
          <a:bodyPr wrap="square" rtlCol="0">
            <a:spAutoFit/>
          </a:bodyPr>
          <a:lstStyle/>
          <a:p>
            <a:r>
              <a:rPr lang="en-IN" b="1" u="sng" dirty="0" smtClean="0">
                <a:solidFill>
                  <a:prstClr val="black"/>
                </a:solidFill>
              </a:rPr>
              <a:t>GCP Resource Hierarchy</a:t>
            </a:r>
          </a:p>
          <a:p>
            <a:r>
              <a:rPr lang="en-IN" sz="1100" b="1" dirty="0" smtClean="0">
                <a:solidFill>
                  <a:prstClr val="black"/>
                </a:solidFill>
              </a:rPr>
              <a:t>Workspace Account (Organization) -&gt; Folder (</a:t>
            </a:r>
            <a:r>
              <a:rPr lang="en-IN" sz="1100" b="1" dirty="0" err="1" smtClean="0">
                <a:solidFill>
                  <a:prstClr val="black"/>
                </a:solidFill>
              </a:rPr>
              <a:t>Dept</a:t>
            </a:r>
            <a:r>
              <a:rPr lang="en-IN" sz="1100" b="1" dirty="0" smtClean="0">
                <a:solidFill>
                  <a:prstClr val="black"/>
                </a:solidFill>
              </a:rPr>
              <a:t>) </a:t>
            </a:r>
            <a:r>
              <a:rPr lang="en-IN" sz="1100" b="1" dirty="0">
                <a:solidFill>
                  <a:prstClr val="black"/>
                </a:solidFill>
              </a:rPr>
              <a:t>-&gt; </a:t>
            </a:r>
            <a:r>
              <a:rPr lang="en-IN" sz="1100" b="1" dirty="0" smtClean="0">
                <a:solidFill>
                  <a:prstClr val="black"/>
                </a:solidFill>
              </a:rPr>
              <a:t>Project (Accounts/Projects</a:t>
            </a:r>
            <a:r>
              <a:rPr lang="en-IN" sz="1100" b="1" dirty="0">
                <a:solidFill>
                  <a:prstClr val="black"/>
                </a:solidFill>
              </a:rPr>
              <a:t>) </a:t>
            </a:r>
            <a:r>
              <a:rPr lang="en-IN" sz="1100" b="1" dirty="0" smtClean="0">
                <a:solidFill>
                  <a:prstClr val="black"/>
                </a:solidFill>
              </a:rPr>
              <a:t>&amp; Project </a:t>
            </a:r>
            <a:r>
              <a:rPr lang="en-IN" sz="1100" b="1" dirty="0">
                <a:solidFill>
                  <a:prstClr val="black"/>
                </a:solidFill>
              </a:rPr>
              <a:t>(Collection of Resources) </a:t>
            </a:r>
            <a:r>
              <a:rPr lang="en-IN" sz="1100" b="1" dirty="0" smtClean="0">
                <a:solidFill>
                  <a:prstClr val="black"/>
                </a:solidFill>
              </a:rPr>
              <a:t> -&gt; Services (Resources)</a:t>
            </a:r>
            <a:endParaRPr lang="en-IN" sz="2000" b="1" u="sng" dirty="0" smtClean="0">
              <a:solidFill>
                <a:prstClr val="black"/>
              </a:solidFill>
            </a:endParaRPr>
          </a:p>
        </p:txBody>
      </p:sp>
    </p:spTree>
    <p:extLst>
      <p:ext uri="{BB962C8B-B14F-4D97-AF65-F5344CB8AC3E}">
        <p14:creationId xmlns:p14="http://schemas.microsoft.com/office/powerpoint/2010/main" val="314038701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C:\Users\moham\Downloads\azure hierarchy2.jpg"/>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8000"/>
                    </a14:imgEffect>
                  </a14:imgLayer>
                </a14:imgProps>
              </a:ext>
              <a:ext uri="{28A0092B-C50C-407E-A947-70E740481C1C}">
                <a14:useLocalDpi xmlns:a14="http://schemas.microsoft.com/office/drawing/2010/main" val="0"/>
              </a:ext>
            </a:extLst>
          </a:blip>
          <a:srcRect/>
          <a:stretch>
            <a:fillRect/>
          </a:stretch>
        </p:blipFill>
        <p:spPr bwMode="auto">
          <a:xfrm>
            <a:off x="1910037" y="961604"/>
            <a:ext cx="8572591" cy="571053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6" name="Rectangle 2"/>
          <p:cNvSpPr txBox="1">
            <a:spLocks noChangeArrowheads="1"/>
          </p:cNvSpPr>
          <p:nvPr/>
        </p:nvSpPr>
        <p:spPr>
          <a:xfrm>
            <a:off x="65774" y="136732"/>
            <a:ext cx="7446520" cy="714555"/>
          </a:xfrm>
          <a:prstGeom prst="rect">
            <a:avLst/>
          </a:prstGeom>
        </p:spPr>
        <p:txBody>
          <a:bodyPr vert="horz" lIns="91440" tIns="45720" rIns="91440" bIns="45720" rtlCol="0" anchor="ctr">
            <a:normAutofit fontScale="92500" lnSpcReduction="10000"/>
          </a:bodyPr>
          <a:lstStyle>
            <a:lvl1pPr>
              <a:lnSpc>
                <a:spcPct val="90000"/>
              </a:lnSpc>
              <a:spcBef>
                <a:spcPct val="0"/>
              </a:spcBef>
              <a:buNone/>
              <a:defRPr sz="2800" b="1">
                <a:solidFill>
                  <a:srgbClr val="FF0000"/>
                </a:solidFill>
                <a:latin typeface="+mj-lt"/>
                <a:ea typeface="+mj-ea"/>
                <a:cs typeface="+mj-cs"/>
              </a:defRPr>
            </a:lvl1pPr>
          </a:lstStyle>
          <a:p>
            <a:r>
              <a:rPr lang="en-US" sz="3500" dirty="0"/>
              <a:t>AZURE Fundamental Organization Hierarchy</a:t>
            </a:r>
          </a:p>
          <a:p>
            <a:r>
              <a:rPr lang="en-US" sz="2100" dirty="0"/>
              <a:t>Tenant, Management group, Subscription, Resource Group, Resources</a:t>
            </a:r>
            <a:endParaRPr lang="cs-CZ" sz="2100" dirty="0"/>
          </a:p>
        </p:txBody>
      </p:sp>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4908600" y="2698920"/>
              <a:ext cx="360" cy="360"/>
            </p14:xfrm>
          </p:contentPart>
        </mc:Choice>
        <mc:Fallback xmlns="">
          <p:pic>
            <p:nvPicPr>
              <p:cNvPr id="2" name="Ink 1"/>
              <p:cNvPicPr/>
              <p:nvPr/>
            </p:nvPicPr>
            <p:blipFill>
              <a:blip r:embed="rId6"/>
              <a:stretch>
                <a:fillRect/>
              </a:stretch>
            </p:blipFill>
            <p:spPr>
              <a:xfrm>
                <a:off x="4899240" y="2689560"/>
                <a:ext cx="19080" cy="19080"/>
              </a:xfrm>
              <a:prstGeom prst="rect">
                <a:avLst/>
              </a:prstGeom>
            </p:spPr>
          </p:pic>
        </mc:Fallback>
      </mc:AlternateContent>
      <p:sp>
        <p:nvSpPr>
          <p:cNvPr id="3" name="TextBox 2"/>
          <p:cNvSpPr txBox="1"/>
          <p:nvPr/>
        </p:nvSpPr>
        <p:spPr>
          <a:xfrm>
            <a:off x="3059395" y="2864318"/>
            <a:ext cx="1135696" cy="307777"/>
          </a:xfrm>
          <a:prstGeom prst="rect">
            <a:avLst/>
          </a:prstGeom>
          <a:noFill/>
        </p:spPr>
        <p:txBody>
          <a:bodyPr wrap="none" rtlCol="0">
            <a:spAutoFit/>
          </a:bodyPr>
          <a:lstStyle/>
          <a:p>
            <a:r>
              <a:rPr lang="en-IN" sz="1400" b="1" dirty="0" smtClean="0">
                <a:solidFill>
                  <a:prstClr val="black"/>
                </a:solidFill>
              </a:rPr>
              <a:t>Organization</a:t>
            </a:r>
            <a:endParaRPr lang="en-IN" sz="1400" b="1" dirty="0">
              <a:solidFill>
                <a:prstClr val="black"/>
              </a:solidFill>
            </a:endParaRPr>
          </a:p>
        </p:txBody>
      </p:sp>
      <p:sp>
        <p:nvSpPr>
          <p:cNvPr id="7" name="TextBox 6"/>
          <p:cNvSpPr txBox="1"/>
          <p:nvPr/>
        </p:nvSpPr>
        <p:spPr>
          <a:xfrm>
            <a:off x="5330111" y="2869523"/>
            <a:ext cx="1158907" cy="307777"/>
          </a:xfrm>
          <a:prstGeom prst="rect">
            <a:avLst/>
          </a:prstGeom>
          <a:noFill/>
        </p:spPr>
        <p:txBody>
          <a:bodyPr wrap="none" rtlCol="0">
            <a:spAutoFit/>
          </a:bodyPr>
          <a:lstStyle/>
          <a:p>
            <a:r>
              <a:rPr lang="en-IN" sz="1400" b="1" dirty="0" err="1" smtClean="0">
                <a:solidFill>
                  <a:prstClr val="black"/>
                </a:solidFill>
              </a:rPr>
              <a:t>Entra</a:t>
            </a:r>
            <a:r>
              <a:rPr lang="en-IN" sz="1400" b="1" dirty="0" smtClean="0">
                <a:solidFill>
                  <a:prstClr val="black"/>
                </a:solidFill>
              </a:rPr>
              <a:t>/Tenant</a:t>
            </a:r>
            <a:endParaRPr lang="en-IN" sz="1400" b="1" dirty="0">
              <a:solidFill>
                <a:prstClr val="black"/>
              </a:solidFill>
            </a:endParaRPr>
          </a:p>
        </p:txBody>
      </p:sp>
      <p:sp>
        <p:nvSpPr>
          <p:cNvPr id="8" name="TextBox 7"/>
          <p:cNvSpPr txBox="1"/>
          <p:nvPr/>
        </p:nvSpPr>
        <p:spPr>
          <a:xfrm>
            <a:off x="2076202" y="3808433"/>
            <a:ext cx="725327" cy="307777"/>
          </a:xfrm>
          <a:prstGeom prst="rect">
            <a:avLst/>
          </a:prstGeom>
          <a:noFill/>
        </p:spPr>
        <p:txBody>
          <a:bodyPr wrap="none" rtlCol="0">
            <a:spAutoFit/>
          </a:bodyPr>
          <a:lstStyle/>
          <a:p>
            <a:r>
              <a:rPr lang="en-IN" sz="1400" b="1" dirty="0" smtClean="0">
                <a:solidFill>
                  <a:prstClr val="black"/>
                </a:solidFill>
              </a:rPr>
              <a:t>Folders</a:t>
            </a:r>
            <a:endParaRPr lang="en-IN" sz="1400" b="1" dirty="0">
              <a:solidFill>
                <a:prstClr val="black"/>
              </a:solidFill>
            </a:endParaRPr>
          </a:p>
        </p:txBody>
      </p:sp>
      <p:sp>
        <p:nvSpPr>
          <p:cNvPr id="9" name="TextBox 8"/>
          <p:cNvSpPr txBox="1"/>
          <p:nvPr/>
        </p:nvSpPr>
        <p:spPr>
          <a:xfrm>
            <a:off x="6057118" y="3642500"/>
            <a:ext cx="1179747" cy="523220"/>
          </a:xfrm>
          <a:prstGeom prst="rect">
            <a:avLst/>
          </a:prstGeom>
          <a:noFill/>
        </p:spPr>
        <p:txBody>
          <a:bodyPr wrap="none" rtlCol="0">
            <a:spAutoFit/>
          </a:bodyPr>
          <a:lstStyle/>
          <a:p>
            <a:r>
              <a:rPr lang="en-IN" sz="1400" b="1" dirty="0" smtClean="0">
                <a:solidFill>
                  <a:prstClr val="black"/>
                </a:solidFill>
              </a:rPr>
              <a:t>Management</a:t>
            </a:r>
          </a:p>
          <a:p>
            <a:r>
              <a:rPr lang="en-IN" sz="1400" b="1" dirty="0" smtClean="0">
                <a:solidFill>
                  <a:prstClr val="black"/>
                </a:solidFill>
              </a:rPr>
              <a:t>Group</a:t>
            </a:r>
            <a:endParaRPr lang="en-IN" sz="1400" b="1" dirty="0">
              <a:solidFill>
                <a:prstClr val="black"/>
              </a:solidFill>
            </a:endParaRPr>
          </a:p>
        </p:txBody>
      </p:sp>
      <p:sp>
        <p:nvSpPr>
          <p:cNvPr id="10" name="TextBox 9"/>
          <p:cNvSpPr txBox="1"/>
          <p:nvPr/>
        </p:nvSpPr>
        <p:spPr>
          <a:xfrm>
            <a:off x="6124060" y="4405148"/>
            <a:ext cx="1112805" cy="307777"/>
          </a:xfrm>
          <a:prstGeom prst="rect">
            <a:avLst/>
          </a:prstGeom>
          <a:noFill/>
        </p:spPr>
        <p:txBody>
          <a:bodyPr wrap="none" rtlCol="0">
            <a:spAutoFit/>
          </a:bodyPr>
          <a:lstStyle/>
          <a:p>
            <a:r>
              <a:rPr lang="en-IN" sz="1400" b="1" dirty="0" smtClean="0">
                <a:solidFill>
                  <a:prstClr val="black"/>
                </a:solidFill>
              </a:rPr>
              <a:t>Subscription</a:t>
            </a:r>
            <a:endParaRPr lang="en-IN" sz="1400" b="1" dirty="0">
              <a:solidFill>
                <a:prstClr val="black"/>
              </a:solidFill>
            </a:endParaRPr>
          </a:p>
        </p:txBody>
      </p:sp>
      <p:sp>
        <p:nvSpPr>
          <p:cNvPr id="11" name="TextBox 10"/>
          <p:cNvSpPr txBox="1"/>
          <p:nvPr/>
        </p:nvSpPr>
        <p:spPr>
          <a:xfrm>
            <a:off x="6090588" y="4970517"/>
            <a:ext cx="904030" cy="523220"/>
          </a:xfrm>
          <a:prstGeom prst="rect">
            <a:avLst/>
          </a:prstGeom>
          <a:noFill/>
        </p:spPr>
        <p:txBody>
          <a:bodyPr wrap="none" rtlCol="0">
            <a:spAutoFit/>
          </a:bodyPr>
          <a:lstStyle/>
          <a:p>
            <a:r>
              <a:rPr lang="en-IN" sz="1400" b="1" dirty="0" smtClean="0">
                <a:solidFill>
                  <a:prstClr val="black"/>
                </a:solidFill>
              </a:rPr>
              <a:t>Resource </a:t>
            </a:r>
          </a:p>
          <a:p>
            <a:r>
              <a:rPr lang="en-IN" sz="1400" b="1" dirty="0" smtClean="0">
                <a:solidFill>
                  <a:prstClr val="black"/>
                </a:solidFill>
              </a:rPr>
              <a:t>Group</a:t>
            </a:r>
            <a:endParaRPr lang="en-IN" sz="1400" b="1" dirty="0">
              <a:solidFill>
                <a:prstClr val="black"/>
              </a:solidFill>
            </a:endParaRPr>
          </a:p>
        </p:txBody>
      </p:sp>
      <p:sp>
        <p:nvSpPr>
          <p:cNvPr id="12" name="TextBox 11"/>
          <p:cNvSpPr txBox="1"/>
          <p:nvPr/>
        </p:nvSpPr>
        <p:spPr>
          <a:xfrm>
            <a:off x="5909564" y="5650123"/>
            <a:ext cx="1324530" cy="523220"/>
          </a:xfrm>
          <a:prstGeom prst="rect">
            <a:avLst/>
          </a:prstGeom>
          <a:noFill/>
        </p:spPr>
        <p:txBody>
          <a:bodyPr wrap="none" rtlCol="0">
            <a:spAutoFit/>
          </a:bodyPr>
          <a:lstStyle/>
          <a:p>
            <a:r>
              <a:rPr lang="en-IN" sz="1400" b="1" dirty="0" smtClean="0">
                <a:solidFill>
                  <a:prstClr val="black"/>
                </a:solidFill>
              </a:rPr>
              <a:t>Resources</a:t>
            </a:r>
          </a:p>
          <a:p>
            <a:r>
              <a:rPr lang="en-IN" sz="1400" b="1" dirty="0" smtClean="0">
                <a:solidFill>
                  <a:prstClr val="black"/>
                </a:solidFill>
              </a:rPr>
              <a:t>ADF/ADLS/DB..</a:t>
            </a:r>
            <a:endParaRPr lang="en-IN" sz="1400" b="1" dirty="0">
              <a:solidFill>
                <a:prstClr val="black"/>
              </a:solidFill>
            </a:endParaRPr>
          </a:p>
        </p:txBody>
      </p:sp>
      <p:sp>
        <p:nvSpPr>
          <p:cNvPr id="13" name="TextBox 12"/>
          <p:cNvSpPr txBox="1"/>
          <p:nvPr/>
        </p:nvSpPr>
        <p:spPr>
          <a:xfrm>
            <a:off x="2076202" y="4816628"/>
            <a:ext cx="713080" cy="307777"/>
          </a:xfrm>
          <a:prstGeom prst="rect">
            <a:avLst/>
          </a:prstGeom>
          <a:noFill/>
        </p:spPr>
        <p:txBody>
          <a:bodyPr wrap="none" rtlCol="0">
            <a:spAutoFit/>
          </a:bodyPr>
          <a:lstStyle/>
          <a:p>
            <a:r>
              <a:rPr lang="en-IN" sz="1400" b="1" dirty="0" smtClean="0">
                <a:solidFill>
                  <a:prstClr val="black"/>
                </a:solidFill>
              </a:rPr>
              <a:t>Project</a:t>
            </a:r>
            <a:endParaRPr lang="en-IN" sz="1400" b="1" dirty="0">
              <a:solidFill>
                <a:prstClr val="black"/>
              </a:solidFill>
            </a:endParaRPr>
          </a:p>
        </p:txBody>
      </p:sp>
      <p:sp>
        <p:nvSpPr>
          <p:cNvPr id="14" name="TextBox 13"/>
          <p:cNvSpPr txBox="1"/>
          <p:nvPr/>
        </p:nvSpPr>
        <p:spPr>
          <a:xfrm>
            <a:off x="1910037" y="5650123"/>
            <a:ext cx="1675330" cy="523220"/>
          </a:xfrm>
          <a:prstGeom prst="rect">
            <a:avLst/>
          </a:prstGeom>
          <a:noFill/>
        </p:spPr>
        <p:txBody>
          <a:bodyPr wrap="none" rtlCol="0">
            <a:spAutoFit/>
          </a:bodyPr>
          <a:lstStyle/>
          <a:p>
            <a:r>
              <a:rPr lang="en-IN" sz="1400" b="1" dirty="0" smtClean="0">
                <a:solidFill>
                  <a:prstClr val="black"/>
                </a:solidFill>
              </a:rPr>
              <a:t>Services/Resources</a:t>
            </a:r>
          </a:p>
          <a:p>
            <a:r>
              <a:rPr lang="en-IN" sz="1400" b="1" dirty="0" smtClean="0">
                <a:solidFill>
                  <a:prstClr val="black"/>
                </a:solidFill>
              </a:rPr>
              <a:t>BQ/DP/DB/DF/CR…</a:t>
            </a:r>
            <a:endParaRPr lang="en-IN" sz="1400" b="1" dirty="0">
              <a:solidFill>
                <a:prstClr val="black"/>
              </a:solidFill>
            </a:endParaRPr>
          </a:p>
        </p:txBody>
      </p:sp>
      <p:sp>
        <p:nvSpPr>
          <p:cNvPr id="17" name="Smiley Face 16"/>
          <p:cNvSpPr/>
          <p:nvPr/>
        </p:nvSpPr>
        <p:spPr>
          <a:xfrm>
            <a:off x="5844896" y="4165930"/>
            <a:ext cx="457200" cy="393107"/>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err="1" smtClean="0">
                <a:solidFill>
                  <a:srgbClr val="C00000"/>
                </a:solidFill>
              </a:rPr>
              <a:t>sp</a:t>
            </a:r>
            <a:endParaRPr lang="en-IN" sz="1100" b="1" dirty="0">
              <a:solidFill>
                <a:srgbClr val="C00000"/>
              </a:solidFill>
            </a:endParaRPr>
          </a:p>
        </p:txBody>
      </p:sp>
      <p:cxnSp>
        <p:nvCxnSpPr>
          <p:cNvPr id="18" name="Elbow Connector 17"/>
          <p:cNvCxnSpPr/>
          <p:nvPr/>
        </p:nvCxnSpPr>
        <p:spPr>
          <a:xfrm rot="10800000" flipV="1">
            <a:off x="5330112" y="4670260"/>
            <a:ext cx="579453" cy="388849"/>
          </a:xfrm>
          <a:prstGeom prst="bentConnector3">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rot="16200000" flipH="1">
            <a:off x="5756268" y="4823557"/>
            <a:ext cx="454148" cy="147552"/>
          </a:xfrm>
          <a:prstGeom prst="bentConnector3">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Smiley Face 22"/>
          <p:cNvSpPr/>
          <p:nvPr/>
        </p:nvSpPr>
        <p:spPr>
          <a:xfrm>
            <a:off x="5042256" y="2502726"/>
            <a:ext cx="457200" cy="393107"/>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err="1" smtClean="0">
                <a:solidFill>
                  <a:srgbClr val="C00000"/>
                </a:solidFill>
              </a:rPr>
              <a:t>sp</a:t>
            </a:r>
            <a:endParaRPr lang="en-IN" sz="1100" b="1" dirty="0">
              <a:solidFill>
                <a:srgbClr val="C00000"/>
              </a:solidFill>
            </a:endParaRPr>
          </a:p>
        </p:txBody>
      </p:sp>
    </p:spTree>
    <p:extLst>
      <p:ext uri="{BB962C8B-B14F-4D97-AF65-F5344CB8AC3E}">
        <p14:creationId xmlns:p14="http://schemas.microsoft.com/office/powerpoint/2010/main" val="389351386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 y="1663700"/>
            <a:ext cx="11791950" cy="3530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6"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4908600" y="2698920"/>
              <a:ext cx="360" cy="360"/>
            </p14:xfrm>
          </p:contentPart>
        </mc:Choice>
        <mc:Fallback xmlns="">
          <p:pic>
            <p:nvPicPr>
              <p:cNvPr id="2" name="Ink 1"/>
              <p:cNvPicPr/>
              <p:nvPr/>
            </p:nvPicPr>
            <p:blipFill>
              <a:blip r:embed="rId6"/>
              <a:stretch>
                <a:fillRect/>
              </a:stretch>
            </p:blipFill>
            <p:spPr>
              <a:xfrm>
                <a:off x="4899240" y="2689560"/>
                <a:ext cx="19080" cy="19080"/>
              </a:xfrm>
              <a:prstGeom prst="rect">
                <a:avLst/>
              </a:prstGeom>
            </p:spPr>
          </p:pic>
        </mc:Fallback>
      </mc:AlternateContent>
      <p:sp>
        <p:nvSpPr>
          <p:cNvPr id="8" name="Rectangle 7"/>
          <p:cNvSpPr/>
          <p:nvPr/>
        </p:nvSpPr>
        <p:spPr>
          <a:xfrm>
            <a:off x="9628428" y="1663700"/>
            <a:ext cx="406335"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 name="Rectangle 3"/>
          <p:cNvSpPr/>
          <p:nvPr/>
        </p:nvSpPr>
        <p:spPr>
          <a:xfrm>
            <a:off x="123824" y="467410"/>
            <a:ext cx="8087974" cy="369332"/>
          </a:xfrm>
          <a:prstGeom prst="rect">
            <a:avLst/>
          </a:prstGeom>
        </p:spPr>
        <p:txBody>
          <a:bodyPr wrap="square">
            <a:spAutoFit/>
          </a:bodyPr>
          <a:lstStyle/>
          <a:p>
            <a:r>
              <a:rPr lang="en-US" b="1" dirty="0">
                <a:solidFill>
                  <a:prstClr val="black"/>
                </a:solidFill>
              </a:rPr>
              <a:t>1. Tenant/Directory (AD) (Organization) – Created by default (Admin).</a:t>
            </a:r>
            <a:endParaRPr lang="cs-CZ" b="1" dirty="0">
              <a:solidFill>
                <a:prstClr val="black"/>
              </a:solidFill>
            </a:endParaRPr>
          </a:p>
        </p:txBody>
      </p:sp>
      <p:sp>
        <p:nvSpPr>
          <p:cNvPr id="10" name="Rectangle 9"/>
          <p:cNvSpPr/>
          <p:nvPr/>
        </p:nvSpPr>
        <p:spPr>
          <a:xfrm>
            <a:off x="2351049" y="4971805"/>
            <a:ext cx="9231351"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11"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731817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540" y="1034460"/>
            <a:ext cx="8667750" cy="5486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6"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sp>
        <p:nvSpPr>
          <p:cNvPr id="7" name="Rectangle 6"/>
          <p:cNvSpPr/>
          <p:nvPr/>
        </p:nvSpPr>
        <p:spPr>
          <a:xfrm>
            <a:off x="6936543" y="2349379"/>
            <a:ext cx="1275255"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8" name="Rectangle 7"/>
          <p:cNvSpPr/>
          <p:nvPr/>
        </p:nvSpPr>
        <p:spPr>
          <a:xfrm>
            <a:off x="3547121" y="1968379"/>
            <a:ext cx="71984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9" name="Rectangle 8"/>
          <p:cNvSpPr/>
          <p:nvPr/>
        </p:nvSpPr>
        <p:spPr>
          <a:xfrm>
            <a:off x="6917493" y="6235579"/>
            <a:ext cx="71984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 name="Rectangle 3"/>
          <p:cNvSpPr/>
          <p:nvPr/>
        </p:nvSpPr>
        <p:spPr>
          <a:xfrm>
            <a:off x="123823" y="467410"/>
            <a:ext cx="11412821" cy="369332"/>
          </a:xfrm>
          <a:prstGeom prst="rect">
            <a:avLst/>
          </a:prstGeom>
        </p:spPr>
        <p:txBody>
          <a:bodyPr wrap="square">
            <a:spAutoFit/>
          </a:bodyPr>
          <a:lstStyle/>
          <a:p>
            <a:r>
              <a:rPr lang="en-US" b="1" dirty="0">
                <a:solidFill>
                  <a:prstClr val="black"/>
                </a:solidFill>
              </a:rPr>
              <a:t>2. Create a </a:t>
            </a:r>
            <a:r>
              <a:rPr lang="en-US" b="1" u="sng" dirty="0">
                <a:solidFill>
                  <a:prstClr val="black"/>
                </a:solidFill>
              </a:rPr>
              <a:t>Management group (Folder)</a:t>
            </a:r>
            <a:r>
              <a:rPr lang="en-US" b="1" dirty="0">
                <a:solidFill>
                  <a:prstClr val="black"/>
                </a:solidFill>
              </a:rPr>
              <a:t> under (Tenant/Directory) – Search for “Management Group” in the search</a:t>
            </a:r>
            <a:endParaRPr lang="cs-CZ" b="1" dirty="0">
              <a:solidFill>
                <a:prstClr val="black"/>
              </a:solidFill>
            </a:endParaRPr>
          </a:p>
        </p:txBody>
      </p:sp>
      <p:pic>
        <p:nvPicPr>
          <p:cNvPr id="10"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7005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sp>
        <p:nvSpPr>
          <p:cNvPr id="7"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p:sp>
        <p:nvSpPr>
          <p:cNvPr id="8" name="Rectangle 7"/>
          <p:cNvSpPr/>
          <p:nvPr/>
        </p:nvSpPr>
        <p:spPr>
          <a:xfrm>
            <a:off x="123824" y="467410"/>
            <a:ext cx="8087974" cy="369332"/>
          </a:xfrm>
          <a:prstGeom prst="rect">
            <a:avLst/>
          </a:prstGeom>
        </p:spPr>
        <p:txBody>
          <a:bodyPr wrap="square">
            <a:spAutoFit/>
          </a:bodyPr>
          <a:lstStyle/>
          <a:p>
            <a:r>
              <a:rPr lang="en-US" b="1" dirty="0">
                <a:solidFill>
                  <a:prstClr val="black"/>
                </a:solidFill>
              </a:rPr>
              <a:t>3. Create a </a:t>
            </a:r>
            <a:r>
              <a:rPr lang="en-US" b="1" u="sng" dirty="0">
                <a:solidFill>
                  <a:prstClr val="black"/>
                </a:solidFill>
              </a:rPr>
              <a:t>Subscription (Project)</a:t>
            </a:r>
            <a:r>
              <a:rPr lang="en-US" b="1" dirty="0">
                <a:solidFill>
                  <a:prstClr val="black"/>
                </a:solidFill>
              </a:rPr>
              <a:t> under (Management Group)</a:t>
            </a:r>
            <a:endParaRPr lang="cs-CZ" b="1" dirty="0">
              <a:solidFill>
                <a:prstClr val="black"/>
              </a:solidFill>
            </a:endParaRPr>
          </a:p>
        </p:txBody>
      </p:sp>
      <p:grpSp>
        <p:nvGrpSpPr>
          <p:cNvPr id="13" name="Group 12">
            <a:extLst>
              <a:ext uri="{FF2B5EF4-FFF2-40B4-BE49-F238E27FC236}">
                <a16:creationId xmlns="" xmlns:a16="http://schemas.microsoft.com/office/drawing/2014/main" id="{30637170-0D01-C4B7-BDAB-4791F2CE2519}"/>
              </a:ext>
            </a:extLst>
          </p:cNvPr>
          <p:cNvGrpSpPr/>
          <p:nvPr/>
        </p:nvGrpSpPr>
        <p:grpSpPr>
          <a:xfrm>
            <a:off x="2231613" y="941295"/>
            <a:ext cx="8064500" cy="5492750"/>
            <a:chOff x="3943681" y="897840"/>
            <a:chExt cx="8064500" cy="5492750"/>
          </a:xfrm>
        </p:grpSpPr>
        <p:grpSp>
          <p:nvGrpSpPr>
            <p:cNvPr id="3" name="Group 2">
              <a:extLst>
                <a:ext uri="{FF2B5EF4-FFF2-40B4-BE49-F238E27FC236}">
                  <a16:creationId xmlns="" xmlns:a16="http://schemas.microsoft.com/office/drawing/2014/main" id="{E0AA9B85-2DF3-1730-CEE2-D46AA6AC00C4}"/>
                </a:ext>
              </a:extLst>
            </p:cNvPr>
            <p:cNvGrpSpPr/>
            <p:nvPr/>
          </p:nvGrpSpPr>
          <p:grpSpPr>
            <a:xfrm>
              <a:off x="3943681" y="897840"/>
              <a:ext cx="8064500" cy="5492750"/>
              <a:chOff x="1453400" y="1014319"/>
              <a:chExt cx="8064500" cy="5492750"/>
            </a:xfrm>
          </p:grpSpPr>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3400" y="1014319"/>
                <a:ext cx="8064500" cy="5492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0" name="Rectangle 9"/>
              <p:cNvSpPr/>
              <p:nvPr/>
            </p:nvSpPr>
            <p:spPr>
              <a:xfrm>
                <a:off x="4240312" y="2000382"/>
                <a:ext cx="95811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1" name="Rectangle 10"/>
              <p:cNvSpPr/>
              <p:nvPr/>
            </p:nvSpPr>
            <p:spPr>
              <a:xfrm>
                <a:off x="6831116" y="2228169"/>
                <a:ext cx="95811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
          <p:nvSpPr>
            <p:cNvPr id="12" name="Rectangle 11"/>
            <p:cNvSpPr/>
            <p:nvPr/>
          </p:nvSpPr>
          <p:spPr>
            <a:xfrm>
              <a:off x="9321397" y="6168095"/>
              <a:ext cx="719848"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pic>
        <p:nvPicPr>
          <p:cNvPr id="9"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743031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9081" y="2950137"/>
              <a:ext cx="360" cy="360"/>
            </p14:xfrm>
          </p:contentPart>
        </mc:Choice>
        <mc:Fallback xmlns="">
          <p:pic>
            <p:nvPicPr>
              <p:cNvPr id="2" name="Ink 1"/>
              <p:cNvPicPr/>
              <p:nvPr/>
            </p:nvPicPr>
            <p:blipFill>
              <a:blip r:embed="rId4"/>
              <a:stretch>
                <a:fillRect/>
              </a:stretch>
            </p:blipFill>
            <p:spPr>
              <a:xfrm>
                <a:off x="4899721" y="2940777"/>
                <a:ext cx="19080" cy="19080"/>
              </a:xfrm>
              <a:prstGeom prst="rect">
                <a:avLst/>
              </a:prstGeom>
            </p:spPr>
          </p:pic>
        </mc:Fallback>
      </mc:AlternateContent>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2" y="1736344"/>
            <a:ext cx="5343351" cy="38214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53390" y="1736344"/>
            <a:ext cx="3355007" cy="32367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94417" y="1736344"/>
            <a:ext cx="2476500" cy="5016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7"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p:sp>
        <p:nvSpPr>
          <p:cNvPr id="8" name="Rectangle 7"/>
          <p:cNvSpPr/>
          <p:nvPr/>
        </p:nvSpPr>
        <p:spPr>
          <a:xfrm>
            <a:off x="95247" y="362857"/>
            <a:ext cx="10029225" cy="584775"/>
          </a:xfrm>
          <a:prstGeom prst="rect">
            <a:avLst/>
          </a:prstGeom>
        </p:spPr>
        <p:txBody>
          <a:bodyPr wrap="square">
            <a:spAutoFit/>
          </a:bodyPr>
          <a:lstStyle/>
          <a:p>
            <a:r>
              <a:rPr lang="en-US" b="1" dirty="0">
                <a:solidFill>
                  <a:prstClr val="black"/>
                </a:solidFill>
              </a:rPr>
              <a:t>4. Create a </a:t>
            </a:r>
            <a:r>
              <a:rPr lang="en-US" b="1" u="sng" dirty="0">
                <a:solidFill>
                  <a:prstClr val="black"/>
                </a:solidFill>
              </a:rPr>
              <a:t>Resource group</a:t>
            </a:r>
            <a:r>
              <a:rPr lang="en-US" b="1" dirty="0">
                <a:solidFill>
                  <a:prstClr val="black"/>
                </a:solidFill>
              </a:rPr>
              <a:t> under (Subscription)</a:t>
            </a:r>
          </a:p>
          <a:p>
            <a:r>
              <a:rPr lang="en-US" sz="1400" b="1" dirty="0">
                <a:solidFill>
                  <a:prstClr val="black"/>
                </a:solidFill>
              </a:rPr>
              <a:t>Search for the Resource Group -&gt; Create -&gt; Resource group name -&gt; Review + Create</a:t>
            </a:r>
          </a:p>
        </p:txBody>
      </p:sp>
      <p:sp>
        <p:nvSpPr>
          <p:cNvPr id="9" name="Heptagon 8"/>
          <p:cNvSpPr/>
          <p:nvPr/>
        </p:nvSpPr>
        <p:spPr>
          <a:xfrm>
            <a:off x="4269452" y="1612844"/>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1</a:t>
            </a:r>
            <a:endParaRPr lang="en-IN" sz="3600" b="1" dirty="0">
              <a:solidFill>
                <a:prstClr val="white"/>
              </a:solidFill>
            </a:endParaRPr>
          </a:p>
        </p:txBody>
      </p:sp>
      <p:sp>
        <p:nvSpPr>
          <p:cNvPr id="10" name="Heptagon 9"/>
          <p:cNvSpPr/>
          <p:nvPr/>
        </p:nvSpPr>
        <p:spPr>
          <a:xfrm>
            <a:off x="6996098" y="1612844"/>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2</a:t>
            </a:r>
            <a:endParaRPr lang="en-IN" sz="3600" b="1" dirty="0">
              <a:solidFill>
                <a:prstClr val="white"/>
              </a:solidFill>
            </a:endParaRPr>
          </a:p>
        </p:txBody>
      </p:sp>
      <p:sp>
        <p:nvSpPr>
          <p:cNvPr id="11" name="Heptagon 10"/>
          <p:cNvSpPr/>
          <p:nvPr/>
        </p:nvSpPr>
        <p:spPr>
          <a:xfrm>
            <a:off x="11323990" y="1542445"/>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3</a:t>
            </a:r>
            <a:endParaRPr lang="en-IN" sz="3600" b="1" dirty="0">
              <a:solidFill>
                <a:prstClr val="white"/>
              </a:solidFill>
            </a:endParaRPr>
          </a:p>
        </p:txBody>
      </p:sp>
      <p:sp>
        <p:nvSpPr>
          <p:cNvPr id="12" name="Rectangle 11"/>
          <p:cNvSpPr/>
          <p:nvPr/>
        </p:nvSpPr>
        <p:spPr>
          <a:xfrm>
            <a:off x="201161" y="2538469"/>
            <a:ext cx="491665" cy="22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3" name="Rectangle 12"/>
          <p:cNvSpPr/>
          <p:nvPr/>
        </p:nvSpPr>
        <p:spPr>
          <a:xfrm>
            <a:off x="6996098" y="3235640"/>
            <a:ext cx="606453" cy="2022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4" name="Rectangle 13"/>
          <p:cNvSpPr/>
          <p:nvPr/>
        </p:nvSpPr>
        <p:spPr>
          <a:xfrm>
            <a:off x="9486431" y="6425536"/>
            <a:ext cx="667098" cy="2692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15"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01366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51215" y="5580"/>
            <a:ext cx="10868870" cy="35727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dirty="0"/>
              <a:t>AZURE Fundamental Organization Hierarchy</a:t>
            </a:r>
          </a:p>
        </p:txBody>
      </p:sp>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48640" y="384038"/>
            <a:ext cx="12479761" cy="615553"/>
          </a:xfrm>
          <a:prstGeom prst="rect">
            <a:avLst/>
          </a:prstGeom>
        </p:spPr>
        <p:txBody>
          <a:bodyPr wrap="square">
            <a:spAutoFit/>
          </a:bodyPr>
          <a:lstStyle/>
          <a:p>
            <a:r>
              <a:rPr lang="en-US" b="1" dirty="0">
                <a:solidFill>
                  <a:prstClr val="black"/>
                </a:solidFill>
              </a:rPr>
              <a:t>5. Create a </a:t>
            </a:r>
            <a:r>
              <a:rPr lang="en-US" b="1" u="sng" dirty="0">
                <a:solidFill>
                  <a:prstClr val="black"/>
                </a:solidFill>
              </a:rPr>
              <a:t>Resource  </a:t>
            </a:r>
            <a:r>
              <a:rPr lang="en-US" b="1" dirty="0">
                <a:solidFill>
                  <a:prstClr val="black"/>
                </a:solidFill>
              </a:rPr>
              <a:t>under (Resource Group)</a:t>
            </a:r>
          </a:p>
          <a:p>
            <a:r>
              <a:rPr lang="en-US" sz="1600" b="1" dirty="0">
                <a:solidFill>
                  <a:prstClr val="black"/>
                </a:solidFill>
              </a:rPr>
              <a:t>Once the resource group is created -&gt; Create -&gt; resource Account -&gt; Market place -&gt; Azure services only -&gt; search for Databricks/storage account</a:t>
            </a:r>
            <a:endParaRPr lang="cs-CZ" sz="1600" b="1" dirty="0">
              <a:solidFill>
                <a:prstClr val="black"/>
              </a:solidFill>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312" y="1036099"/>
            <a:ext cx="4352315" cy="43132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5650" y="1186786"/>
            <a:ext cx="5791200" cy="5238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 name="Rectangle 13"/>
          <p:cNvSpPr/>
          <p:nvPr/>
        </p:nvSpPr>
        <p:spPr>
          <a:xfrm>
            <a:off x="7060669" y="6215037"/>
            <a:ext cx="905279" cy="183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8" name="Rectangle 17"/>
          <p:cNvSpPr/>
          <p:nvPr/>
        </p:nvSpPr>
        <p:spPr>
          <a:xfrm>
            <a:off x="1940936" y="1885084"/>
            <a:ext cx="905279" cy="183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0" name="Rectangle 19"/>
          <p:cNvSpPr/>
          <p:nvPr/>
        </p:nvSpPr>
        <p:spPr>
          <a:xfrm>
            <a:off x="1838344" y="5103415"/>
            <a:ext cx="680150" cy="183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1" name="Rectangle 20"/>
          <p:cNvSpPr/>
          <p:nvPr/>
        </p:nvSpPr>
        <p:spPr>
          <a:xfrm>
            <a:off x="7513308" y="3881718"/>
            <a:ext cx="1128668" cy="2491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2" name="Heptagon 21"/>
          <p:cNvSpPr/>
          <p:nvPr/>
        </p:nvSpPr>
        <p:spPr>
          <a:xfrm>
            <a:off x="4075554" y="1094722"/>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1</a:t>
            </a:r>
            <a:endParaRPr lang="en-IN" sz="3600" b="1" dirty="0">
              <a:solidFill>
                <a:prstClr val="white"/>
              </a:solidFill>
            </a:endParaRPr>
          </a:p>
        </p:txBody>
      </p:sp>
      <p:sp>
        <p:nvSpPr>
          <p:cNvPr id="23" name="Heptagon 22"/>
          <p:cNvSpPr/>
          <p:nvPr/>
        </p:nvSpPr>
        <p:spPr>
          <a:xfrm>
            <a:off x="8660206" y="1094722"/>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2</a:t>
            </a:r>
            <a:endParaRPr lang="en-IN" sz="3600" b="1" dirty="0">
              <a:solidFill>
                <a:prstClr val="white"/>
              </a:solidFill>
            </a:endParaRPr>
          </a:p>
        </p:txBody>
      </p:sp>
    </p:spTree>
    <p:extLst>
      <p:ext uri="{BB962C8B-B14F-4D97-AF65-F5344CB8AC3E}">
        <p14:creationId xmlns:p14="http://schemas.microsoft.com/office/powerpoint/2010/main" val="329103057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p:cNvSpPr>
            <a:spLocks noGrp="1" noChangeArrowheads="1"/>
          </p:cNvSpPr>
          <p:nvPr>
            <p:ph type="ctrTitle"/>
          </p:nvPr>
        </p:nvSpPr>
        <p:spPr>
          <a:xfrm>
            <a:off x="804333" y="2438400"/>
            <a:ext cx="10363200" cy="1143000"/>
          </a:xfrm>
        </p:spPr>
        <p:txBody>
          <a:bodyPr vert="horz" lIns="91440" tIns="45720" rIns="91440" bIns="45720" rtlCol="0" anchor="ctr">
            <a:noAutofit/>
          </a:bodyPr>
          <a:lstStyle/>
          <a:p>
            <a:r>
              <a:rPr lang="en-US" sz="4800" b="1" dirty="0">
                <a:solidFill>
                  <a:srgbClr val="FF0000"/>
                </a:solidFill>
              </a:rPr>
              <a:t>        Azure – </a:t>
            </a:r>
            <a:r>
              <a:rPr lang="en-US" sz="4800" b="1" dirty="0" smtClean="0">
                <a:solidFill>
                  <a:srgbClr val="FF0000"/>
                </a:solidFill>
              </a:rPr>
              <a:t>Connectivity</a:t>
            </a:r>
            <a:br>
              <a:rPr lang="en-US" sz="4800" b="1" dirty="0" smtClean="0">
                <a:solidFill>
                  <a:srgbClr val="FF0000"/>
                </a:solidFill>
              </a:rPr>
            </a:br>
            <a:r>
              <a:rPr lang="en-US" sz="4800" b="1" dirty="0">
                <a:solidFill>
                  <a:srgbClr val="FF0000"/>
                </a:solidFill>
              </a:rPr>
              <a:t> </a:t>
            </a:r>
            <a:r>
              <a:rPr lang="en-US" sz="4800" b="1" dirty="0" smtClean="0">
                <a:solidFill>
                  <a:srgbClr val="FF0000"/>
                </a:solidFill>
              </a:rPr>
              <a:t>  </a:t>
            </a:r>
            <a:r>
              <a:rPr lang="en-US" sz="2800" b="1" dirty="0" smtClean="0">
                <a:solidFill>
                  <a:srgbClr val="FF0000"/>
                </a:solidFill>
              </a:rPr>
              <a:t>(CLI/Programmatic/UI)</a:t>
            </a:r>
            <a:endParaRPr lang="cs-CZ" sz="4800" b="1" dirty="0">
              <a:solidFill>
                <a:srgbClr val="FF0000"/>
              </a:solidFill>
            </a:endParaRPr>
          </a:p>
        </p:txBody>
      </p:sp>
    </p:spTree>
    <p:extLst>
      <p:ext uri="{BB962C8B-B14F-4D97-AF65-F5344CB8AC3E}">
        <p14:creationId xmlns:p14="http://schemas.microsoft.com/office/powerpoint/2010/main" val="137498181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702577" y="1421362"/>
            <a:ext cx="11560543"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600" dirty="0"/>
              <a:t>          SDK/CLI Connectivity </a:t>
            </a:r>
          </a:p>
          <a:p>
            <a:r>
              <a:rPr lang="en-US" sz="3600" dirty="0"/>
              <a:t>          from </a:t>
            </a:r>
            <a:r>
              <a:rPr lang="en-US" sz="3600" dirty="0" err="1"/>
              <a:t>Edgenode</a:t>
            </a:r>
            <a:r>
              <a:rPr lang="en-US" sz="3600" dirty="0"/>
              <a:t> to Cloud</a:t>
            </a:r>
          </a:p>
        </p:txBody>
      </p:sp>
      <p:grpSp>
        <p:nvGrpSpPr>
          <p:cNvPr id="3" name="Group 2"/>
          <p:cNvGrpSpPr/>
          <p:nvPr/>
        </p:nvGrpSpPr>
        <p:grpSpPr>
          <a:xfrm>
            <a:off x="131843" y="160285"/>
            <a:ext cx="1392157" cy="1474784"/>
            <a:chOff x="8622919" y="-50014"/>
            <a:chExt cx="1457840" cy="1544366"/>
          </a:xfrm>
        </p:grpSpPr>
        <p:pic>
          <p:nvPicPr>
            <p:cNvPr id="4" name="Picture 3"/>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60000" contrast="80000"/>
                      </a14:imgEffect>
                    </a14:imgLayer>
                  </a14:imgProps>
                </a:ext>
                <a:ext uri="{28A0092B-C50C-407E-A947-70E740481C1C}">
                  <a14:useLocalDpi xmlns:a14="http://schemas.microsoft.com/office/drawing/2010/main" val="0"/>
                </a:ext>
              </a:extLst>
            </a:blip>
            <a:srcRect/>
            <a:stretch>
              <a:fillRect/>
            </a:stretch>
          </p:blipFill>
          <p:spPr bwMode="auto">
            <a:xfrm>
              <a:off x="8688429" y="-50014"/>
              <a:ext cx="1251285" cy="1251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5" name="TextBox 4"/>
            <p:cNvSpPr txBox="1"/>
            <p:nvPr/>
          </p:nvSpPr>
          <p:spPr>
            <a:xfrm>
              <a:off x="8622919" y="1204284"/>
              <a:ext cx="1457840" cy="290068"/>
            </a:xfrm>
            <a:prstGeom prst="rect">
              <a:avLst/>
            </a:prstGeom>
            <a:noFill/>
          </p:spPr>
          <p:txBody>
            <a:bodyPr wrap="square" rtlCol="0">
              <a:spAutoFit/>
            </a:bodyPr>
            <a:lstStyle/>
            <a:p>
              <a:r>
                <a:rPr lang="en-US" sz="1200" b="1" dirty="0">
                  <a:solidFill>
                    <a:prstClr val="black"/>
                  </a:solidFill>
                  <a:effectLst>
                    <a:outerShdw blurRad="38100" dist="38100" dir="2700000" algn="tl">
                      <a:srgbClr val="000000">
                        <a:alpha val="43137"/>
                      </a:srgbClr>
                    </a:outerShdw>
                  </a:effectLst>
                </a:rPr>
                <a:t>Cloud Admin Role</a:t>
              </a:r>
              <a:endParaRPr lang="en-IN" sz="1200" b="1" dirty="0">
                <a:solidFill>
                  <a:prstClr val="black"/>
                </a:solidFill>
                <a:effectLst>
                  <a:outerShdw blurRad="38100" dist="38100" dir="2700000" algn="tl">
                    <a:srgbClr val="000000">
                      <a:alpha val="43137"/>
                    </a:srgbClr>
                  </a:outerShdw>
                </a:effectLst>
              </a:endParaRPr>
            </a:p>
          </p:txBody>
        </p:sp>
      </p:grpSp>
      <p:sp>
        <p:nvSpPr>
          <p:cNvPr id="2" name="Rectangle 1"/>
          <p:cNvSpPr/>
          <p:nvPr/>
        </p:nvSpPr>
        <p:spPr>
          <a:xfrm>
            <a:off x="173364" y="3110702"/>
            <a:ext cx="7070716" cy="2677656"/>
          </a:xfrm>
          <a:prstGeom prst="rect">
            <a:avLst/>
          </a:prstGeom>
        </p:spPr>
        <p:txBody>
          <a:bodyPr wrap="square">
            <a:spAutoFit/>
          </a:bodyPr>
          <a:lstStyle/>
          <a:p>
            <a:r>
              <a:rPr lang="en-US" sz="2800" b="1" dirty="0">
                <a:solidFill>
                  <a:prstClr val="black"/>
                </a:solidFill>
              </a:rPr>
              <a:t>Download &amp; Install SDK in </a:t>
            </a:r>
            <a:r>
              <a:rPr lang="en-US" sz="2800" b="1" dirty="0" err="1">
                <a:solidFill>
                  <a:prstClr val="black"/>
                </a:solidFill>
              </a:rPr>
              <a:t>Edgenode</a:t>
            </a:r>
            <a:r>
              <a:rPr lang="en-US" sz="2800" b="1" dirty="0">
                <a:solidFill>
                  <a:prstClr val="black"/>
                </a:solidFill>
              </a:rPr>
              <a:t> for CLI connectivity to Cloud for using </a:t>
            </a:r>
            <a:r>
              <a:rPr lang="en-US" sz="2800" b="1" dirty="0" err="1">
                <a:solidFill>
                  <a:prstClr val="black"/>
                </a:solidFill>
              </a:rPr>
              <a:t>Utils</a:t>
            </a:r>
            <a:r>
              <a:rPr lang="en-US" sz="2800" dirty="0">
                <a:solidFill>
                  <a:prstClr val="black"/>
                </a:solidFill>
              </a:rPr>
              <a:t> </a:t>
            </a:r>
          </a:p>
          <a:p>
            <a:endParaRPr lang="en-US" sz="2800" dirty="0">
              <a:solidFill>
                <a:prstClr val="black"/>
              </a:solidFill>
            </a:endParaRPr>
          </a:p>
          <a:p>
            <a:pPr marL="800100" lvl="1" indent="-342900">
              <a:buFontTx/>
              <a:buAutoNum type="alphaLcPeriod"/>
            </a:pPr>
            <a:r>
              <a:rPr lang="en-US" sz="2800" dirty="0">
                <a:solidFill>
                  <a:prstClr val="black"/>
                </a:solidFill>
              </a:rPr>
              <a:t>Download and Install Cloud </a:t>
            </a:r>
            <a:r>
              <a:rPr lang="en-US" sz="2800" b="1" dirty="0">
                <a:solidFill>
                  <a:prstClr val="black"/>
                </a:solidFill>
              </a:rPr>
              <a:t>SDK</a:t>
            </a:r>
          </a:p>
          <a:p>
            <a:pPr marL="800100" lvl="1" indent="-342900">
              <a:buFontTx/>
              <a:buAutoNum type="alphaLcPeriod"/>
            </a:pPr>
            <a:r>
              <a:rPr lang="en-US" sz="2800" dirty="0">
                <a:solidFill>
                  <a:prstClr val="black"/>
                </a:solidFill>
              </a:rPr>
              <a:t>Enable Cloud login</a:t>
            </a:r>
          </a:p>
          <a:p>
            <a:pPr marL="800100" lvl="1" indent="-342900">
              <a:buFontTx/>
              <a:buAutoNum type="alphaLcPeriod"/>
            </a:pPr>
            <a:r>
              <a:rPr lang="en-US" sz="2800" dirty="0">
                <a:solidFill>
                  <a:prstClr val="black"/>
                </a:solidFill>
              </a:rPr>
              <a:t>Test sample </a:t>
            </a:r>
            <a:r>
              <a:rPr lang="en-US" sz="2800" dirty="0" err="1">
                <a:solidFill>
                  <a:prstClr val="black"/>
                </a:solidFill>
              </a:rPr>
              <a:t>utils</a:t>
            </a:r>
            <a:r>
              <a:rPr lang="en-US" sz="2800" dirty="0">
                <a:solidFill>
                  <a:prstClr val="black"/>
                </a:solidFill>
              </a:rPr>
              <a:t> commands (</a:t>
            </a:r>
            <a:r>
              <a:rPr lang="en-US" sz="2800" dirty="0" err="1">
                <a:solidFill>
                  <a:prstClr val="black"/>
                </a:solidFill>
              </a:rPr>
              <a:t>az</a:t>
            </a:r>
            <a:r>
              <a:rPr lang="en-US" sz="2800" dirty="0">
                <a:solidFill>
                  <a:prstClr val="black"/>
                </a:solidFill>
              </a:rPr>
              <a:t>)</a:t>
            </a:r>
          </a:p>
        </p:txBody>
      </p:sp>
      <p:pic>
        <p:nvPicPr>
          <p:cNvPr id="28678" name="Picture 6" descr="C:\Users\MOHAMED\AppData\Local\Packages\Microsoft.Windows.Photos_8wekyb3d8bbwe\TempState\ShareServiceTempFolder\Designer (13).jpe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34739" y="1114"/>
            <a:ext cx="4136478" cy="4136478"/>
          </a:xfrm>
          <a:prstGeom prst="rect">
            <a:avLst/>
          </a:prstGeom>
          <a:noFill/>
          <a:extLst>
            <a:ext uri="{909E8E84-426E-40DD-AFC4-6F175D3DCCD1}">
              <a14:hiddenFill xmlns:a14="http://schemas.microsoft.com/office/drawing/2010/main">
                <a:solidFill>
                  <a:srgbClr val="FFFFFF"/>
                </a:solidFill>
              </a14:hiddenFill>
            </a:ext>
          </a:extLst>
        </p:spPr>
      </p:pic>
      <p:pic>
        <p:nvPicPr>
          <p:cNvPr id="28674" name="Picture 2" descr="C:\Users\MOHAMED\AppData\Local\Packages\Microsoft.Windows.Photos_8wekyb3d8bbwe\TempState\ShareServiceTempFolder\Designer (15).jpe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41520" y="4593605"/>
            <a:ext cx="1929697" cy="19296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0" name="Picture 2" descr="Information about recruitment and hiring platform in Malaysia"/>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6302" y="4731702"/>
            <a:ext cx="2881313" cy="19173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8">
            <p14:nvContentPartPr>
              <p14:cNvPr id="9" name="Ink 8"/>
              <p14:cNvContentPartPr/>
              <p14:nvPr/>
            </p14:nvContentPartPr>
            <p14:xfrm>
              <a:off x="628560" y="3543120"/>
              <a:ext cx="3181680" cy="1587960"/>
            </p14:xfrm>
          </p:contentPart>
        </mc:Choice>
        <mc:Fallback xmlns="">
          <p:pic>
            <p:nvPicPr>
              <p:cNvPr id="9" name="Ink 8"/>
              <p:cNvPicPr/>
              <p:nvPr/>
            </p:nvPicPr>
            <p:blipFill>
              <a:blip r:embed="rId9"/>
              <a:stretch>
                <a:fillRect/>
              </a:stretch>
            </p:blipFill>
            <p:spPr>
              <a:xfrm>
                <a:off x="619200" y="3533760"/>
                <a:ext cx="3200400" cy="1606680"/>
              </a:xfrm>
              <a:prstGeom prst="rect">
                <a:avLst/>
              </a:prstGeom>
            </p:spPr>
          </p:pic>
        </mc:Fallback>
      </mc:AlternateContent>
      <p:sp>
        <p:nvSpPr>
          <p:cNvPr id="7" name="Rectangle 6"/>
          <p:cNvSpPr/>
          <p:nvPr/>
        </p:nvSpPr>
        <p:spPr>
          <a:xfrm>
            <a:off x="9955013" y="4160162"/>
            <a:ext cx="2220480" cy="369332"/>
          </a:xfrm>
          <a:prstGeom prst="rect">
            <a:avLst/>
          </a:prstGeom>
        </p:spPr>
        <p:txBody>
          <a:bodyPr wrap="none">
            <a:spAutoFit/>
          </a:bodyPr>
          <a:lstStyle/>
          <a:p>
            <a:r>
              <a:rPr lang="en-US" b="1" dirty="0" smtClean="0">
                <a:solidFill>
                  <a:prstClr val="black"/>
                </a:solidFill>
              </a:rPr>
              <a:t>Cloud Shell (Chennai)</a:t>
            </a:r>
            <a:endParaRPr lang="en-IN" dirty="0">
              <a:solidFill>
                <a:prstClr val="black"/>
              </a:solidFill>
            </a:endParaRPr>
          </a:p>
        </p:txBody>
      </p:sp>
      <p:sp>
        <p:nvSpPr>
          <p:cNvPr id="12" name="Rectangle 11"/>
          <p:cNvSpPr/>
          <p:nvPr/>
        </p:nvSpPr>
        <p:spPr>
          <a:xfrm>
            <a:off x="7444031" y="388407"/>
            <a:ext cx="1563248" cy="369332"/>
          </a:xfrm>
          <a:prstGeom prst="rect">
            <a:avLst/>
          </a:prstGeom>
        </p:spPr>
        <p:txBody>
          <a:bodyPr wrap="none">
            <a:spAutoFit/>
          </a:bodyPr>
          <a:lstStyle/>
          <a:p>
            <a:r>
              <a:rPr lang="en-US" b="1" dirty="0" smtClean="0">
                <a:solidFill>
                  <a:prstClr val="black"/>
                </a:solidFill>
              </a:rPr>
              <a:t>Chennai Cloud</a:t>
            </a:r>
            <a:endParaRPr lang="en-IN" dirty="0">
              <a:solidFill>
                <a:prstClr val="black"/>
              </a:solidFill>
            </a:endParaRPr>
          </a:p>
        </p:txBody>
      </p:sp>
      <p:sp>
        <p:nvSpPr>
          <p:cNvPr id="13" name="Rectangle 12"/>
          <p:cNvSpPr/>
          <p:nvPr/>
        </p:nvSpPr>
        <p:spPr>
          <a:xfrm>
            <a:off x="6996744" y="4224273"/>
            <a:ext cx="2135008" cy="369332"/>
          </a:xfrm>
          <a:prstGeom prst="rect">
            <a:avLst/>
          </a:prstGeom>
        </p:spPr>
        <p:txBody>
          <a:bodyPr wrap="none">
            <a:spAutoFit/>
          </a:bodyPr>
          <a:lstStyle/>
          <a:p>
            <a:r>
              <a:rPr lang="en-US" b="1" dirty="0" err="1" smtClean="0">
                <a:solidFill>
                  <a:prstClr val="black"/>
                </a:solidFill>
              </a:rPr>
              <a:t>Cmd</a:t>
            </a:r>
            <a:r>
              <a:rPr lang="en-US" b="1" dirty="0" smtClean="0">
                <a:solidFill>
                  <a:prstClr val="black"/>
                </a:solidFill>
              </a:rPr>
              <a:t> prompt (Japan)</a:t>
            </a:r>
            <a:endParaRPr lang="en-IN" dirty="0">
              <a:solidFill>
                <a:prstClr val="black"/>
              </a:solidFill>
            </a:endParaRPr>
          </a:p>
        </p:txBody>
      </p:sp>
      <p:cxnSp>
        <p:nvCxnSpPr>
          <p:cNvPr id="10" name="Straight Arrow Connector 9"/>
          <p:cNvCxnSpPr>
            <a:stCxn id="2050" idx="0"/>
            <a:endCxn id="28678" idx="2"/>
          </p:cNvCxnSpPr>
          <p:nvPr/>
        </p:nvCxnSpPr>
        <p:spPr>
          <a:xfrm flipV="1">
            <a:off x="8066959" y="4137592"/>
            <a:ext cx="1636019" cy="59411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28678" idx="2"/>
            <a:endCxn id="7" idx="2"/>
          </p:cNvCxnSpPr>
          <p:nvPr/>
        </p:nvCxnSpPr>
        <p:spPr>
          <a:xfrm>
            <a:off x="9702978" y="4137592"/>
            <a:ext cx="1362275" cy="391902"/>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49135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25</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0" y="0"/>
            <a:ext cx="10972800" cy="719847"/>
          </a:xfrm>
        </p:spPr>
        <p:txBody>
          <a:bodyPr vert="horz" lIns="91440" tIns="45720" rIns="91440" bIns="45720" rtlCol="0" anchor="ctr">
            <a:normAutofit/>
          </a:bodyPr>
          <a:lstStyle/>
          <a:p>
            <a:r>
              <a:rPr lang="en-US" sz="2800" b="1" dirty="0">
                <a:solidFill>
                  <a:srgbClr val="FF0000"/>
                </a:solidFill>
              </a:rPr>
              <a:t>Cloud SDK &amp; CLIs </a:t>
            </a:r>
          </a:p>
        </p:txBody>
      </p:sp>
      <p:sp>
        <p:nvSpPr>
          <p:cNvPr id="13" name="Rectangle 12"/>
          <p:cNvSpPr/>
          <p:nvPr/>
        </p:nvSpPr>
        <p:spPr>
          <a:xfrm>
            <a:off x="0" y="725048"/>
            <a:ext cx="11988800" cy="5216813"/>
          </a:xfrm>
          <a:prstGeom prst="rect">
            <a:avLst/>
          </a:prstGeom>
        </p:spPr>
        <p:txBody>
          <a:bodyPr wrap="square">
            <a:spAutoFit/>
          </a:bodyPr>
          <a:lstStyle/>
          <a:p>
            <a:r>
              <a:rPr lang="en-IN" b="1" dirty="0">
                <a:solidFill>
                  <a:prstClr val="black"/>
                </a:solidFill>
              </a:rPr>
              <a:t>Azure Cloud SDK: </a:t>
            </a:r>
            <a:endParaRPr lang="en-IN" dirty="0">
              <a:solidFill>
                <a:prstClr val="black"/>
              </a:solidFill>
            </a:endParaRPr>
          </a:p>
          <a:p>
            <a:pPr marL="285750" indent="-285750">
              <a:buFont typeface="Wingdings" panose="05000000000000000000" pitchFamily="2" charset="2"/>
              <a:buChar char="ü"/>
            </a:pPr>
            <a:r>
              <a:rPr lang="en-IN" b="1" dirty="0">
                <a:solidFill>
                  <a:prstClr val="black"/>
                </a:solidFill>
              </a:rPr>
              <a:t>Azure Cloud CLI (</a:t>
            </a:r>
            <a:r>
              <a:rPr lang="en-IN" b="1" dirty="0" err="1">
                <a:solidFill>
                  <a:prstClr val="black"/>
                </a:solidFill>
              </a:rPr>
              <a:t>az</a:t>
            </a:r>
            <a:r>
              <a:rPr lang="en-IN" b="1" dirty="0">
                <a:solidFill>
                  <a:prstClr val="black"/>
                </a:solidFill>
              </a:rPr>
              <a:t>)</a:t>
            </a:r>
            <a:r>
              <a:rPr lang="en-IN" dirty="0">
                <a:solidFill>
                  <a:prstClr val="black"/>
                </a:solidFill>
              </a:rPr>
              <a:t> lets you manage resources and services from the command </a:t>
            </a:r>
            <a:r>
              <a:rPr lang="en-IN" dirty="0" smtClean="0">
                <a:solidFill>
                  <a:prstClr val="black"/>
                </a:solidFill>
              </a:rPr>
              <a:t>line</a:t>
            </a:r>
            <a:r>
              <a:rPr lang="en-IN" dirty="0">
                <a:solidFill>
                  <a:prstClr val="black"/>
                </a:solidFill>
              </a:rPr>
              <a:t> </a:t>
            </a:r>
            <a:r>
              <a:rPr lang="en-IN" dirty="0" smtClean="0">
                <a:solidFill>
                  <a:prstClr val="black"/>
                </a:solidFill>
              </a:rPr>
              <a:t>(Only if I programmatic access).</a:t>
            </a:r>
            <a:endParaRPr lang="en-IN" dirty="0">
              <a:solidFill>
                <a:prstClr val="black"/>
              </a:solidFill>
            </a:endParaRPr>
          </a:p>
          <a:p>
            <a:pPr marL="285750" indent="-285750">
              <a:buFont typeface="Wingdings" panose="05000000000000000000" pitchFamily="2" charset="2"/>
              <a:buChar char="ü"/>
            </a:pPr>
            <a:r>
              <a:rPr lang="en-IN" b="1" dirty="0">
                <a:solidFill>
                  <a:prstClr val="black"/>
                </a:solidFill>
              </a:rPr>
              <a:t>Cloud Shell (online)</a:t>
            </a:r>
            <a:r>
              <a:rPr lang="en-IN" dirty="0">
                <a:solidFill>
                  <a:prstClr val="black"/>
                </a:solidFill>
              </a:rPr>
              <a:t> lets you code or use a terminal directly in the web-browser rather than using an </a:t>
            </a:r>
            <a:r>
              <a:rPr lang="en-IN" dirty="0" err="1">
                <a:solidFill>
                  <a:prstClr val="black"/>
                </a:solidFill>
              </a:rPr>
              <a:t>onprem</a:t>
            </a:r>
            <a:r>
              <a:rPr lang="en-IN" dirty="0">
                <a:solidFill>
                  <a:prstClr val="black"/>
                </a:solidFill>
              </a:rPr>
              <a:t> </a:t>
            </a:r>
            <a:r>
              <a:rPr lang="en-IN" dirty="0" err="1">
                <a:solidFill>
                  <a:prstClr val="black"/>
                </a:solidFill>
              </a:rPr>
              <a:t>linux</a:t>
            </a:r>
            <a:r>
              <a:rPr lang="en-IN" dirty="0">
                <a:solidFill>
                  <a:prstClr val="black"/>
                </a:solidFill>
              </a:rPr>
              <a:t>/windows </a:t>
            </a:r>
            <a:r>
              <a:rPr lang="en-IN" dirty="0" smtClean="0">
                <a:solidFill>
                  <a:prstClr val="black"/>
                </a:solidFill>
              </a:rPr>
              <a:t>box (provided if you have the UI user access).</a:t>
            </a:r>
            <a:endParaRPr lang="en-IN" dirty="0">
              <a:solidFill>
                <a:prstClr val="black"/>
              </a:solidFill>
            </a:endParaRPr>
          </a:p>
          <a:p>
            <a:endParaRPr lang="en-IN" dirty="0">
              <a:solidFill>
                <a:prstClr val="black"/>
              </a:solidFill>
            </a:endParaRPr>
          </a:p>
          <a:p>
            <a:r>
              <a:rPr lang="en-IN" b="1" dirty="0">
                <a:solidFill>
                  <a:prstClr val="black"/>
                </a:solidFill>
              </a:rPr>
              <a:t>What is the </a:t>
            </a:r>
            <a:r>
              <a:rPr lang="en-IN" b="1" dirty="0" err="1">
                <a:solidFill>
                  <a:prstClr val="black"/>
                </a:solidFill>
              </a:rPr>
              <a:t>az</a:t>
            </a:r>
            <a:r>
              <a:rPr lang="en-IN" b="1" dirty="0">
                <a:solidFill>
                  <a:prstClr val="black"/>
                </a:solidFill>
              </a:rPr>
              <a:t> CLI?</a:t>
            </a:r>
            <a:endParaRPr lang="en-IN" dirty="0">
              <a:solidFill>
                <a:prstClr val="black"/>
              </a:solidFill>
            </a:endParaRPr>
          </a:p>
          <a:p>
            <a:pPr marL="285750" indent="-285750">
              <a:buFont typeface="Wingdings" panose="05000000000000000000" pitchFamily="2" charset="2"/>
              <a:buChar char="ü"/>
            </a:pPr>
            <a:r>
              <a:rPr lang="en-US" dirty="0">
                <a:solidFill>
                  <a:prstClr val="black"/>
                </a:solidFill>
              </a:rPr>
              <a:t>Command line interface to interact with Azure cloud resources</a:t>
            </a:r>
            <a:endParaRPr lang="en-IN" dirty="0">
              <a:solidFill>
                <a:prstClr val="black"/>
              </a:solidFill>
            </a:endParaRPr>
          </a:p>
          <a:p>
            <a:pPr marL="285750" indent="-285750">
              <a:buFont typeface="Wingdings" panose="05000000000000000000" pitchFamily="2" charset="2"/>
              <a:buChar char="ü"/>
            </a:pPr>
            <a:r>
              <a:rPr lang="en-IN" dirty="0">
                <a:solidFill>
                  <a:prstClr val="black"/>
                </a:solidFill>
              </a:rPr>
              <a:t>You can use these tools to perform many </a:t>
            </a:r>
            <a:r>
              <a:rPr lang="en-IN" b="1" i="1" dirty="0">
                <a:solidFill>
                  <a:prstClr val="black"/>
                </a:solidFill>
              </a:rPr>
              <a:t>common platform tasks</a:t>
            </a:r>
            <a:r>
              <a:rPr lang="en-IN" dirty="0">
                <a:solidFill>
                  <a:prstClr val="black"/>
                </a:solidFill>
              </a:rPr>
              <a:t> from the command line or through scripts and other </a:t>
            </a:r>
            <a:r>
              <a:rPr lang="en-IN" dirty="0" smtClean="0">
                <a:solidFill>
                  <a:prstClr val="black"/>
                </a:solidFill>
              </a:rPr>
              <a:t>automation (Terraform).</a:t>
            </a:r>
            <a:endParaRPr lang="en-IN" dirty="0">
              <a:solidFill>
                <a:prstClr val="black"/>
              </a:solidFill>
            </a:endParaRPr>
          </a:p>
          <a:p>
            <a:pPr>
              <a:lnSpc>
                <a:spcPct val="150000"/>
              </a:lnSpc>
              <a:buFont typeface="Wingdings" pitchFamily="2" charset="2"/>
              <a:buChar char="ü"/>
            </a:pPr>
            <a:r>
              <a:rPr lang="en-US" b="1" i="1" dirty="0">
                <a:solidFill>
                  <a:srgbClr val="C00000"/>
                </a:solidFill>
              </a:rPr>
              <a:t>Most azure services are managed by the admin from CLI using </a:t>
            </a:r>
            <a:r>
              <a:rPr lang="en-US" b="1" i="1" dirty="0" err="1">
                <a:solidFill>
                  <a:srgbClr val="C00000"/>
                </a:solidFill>
              </a:rPr>
              <a:t>az</a:t>
            </a:r>
            <a:r>
              <a:rPr lang="en-US" b="1" i="1" dirty="0">
                <a:solidFill>
                  <a:srgbClr val="C00000"/>
                </a:solidFill>
              </a:rPr>
              <a:t> rather than going into the </a:t>
            </a:r>
            <a:r>
              <a:rPr lang="en-US" b="1" i="1" dirty="0" smtClean="0">
                <a:solidFill>
                  <a:srgbClr val="C00000"/>
                </a:solidFill>
              </a:rPr>
              <a:t>console.</a:t>
            </a:r>
            <a:endParaRPr lang="en-US" b="1" i="1" dirty="0">
              <a:solidFill>
                <a:srgbClr val="C00000"/>
              </a:solidFill>
            </a:endParaRPr>
          </a:p>
          <a:p>
            <a:pPr>
              <a:lnSpc>
                <a:spcPct val="150000"/>
              </a:lnSpc>
              <a:buFont typeface="Wingdings" pitchFamily="2" charset="2"/>
              <a:buChar char="ü"/>
            </a:pPr>
            <a:r>
              <a:rPr lang="en-US" dirty="0">
                <a:solidFill>
                  <a:prstClr val="black"/>
                </a:solidFill>
              </a:rPr>
              <a:t> We can create/delete/update/read existing resources and perform actions like deployment as well using the </a:t>
            </a:r>
            <a:r>
              <a:rPr lang="en-US" dirty="0" err="1">
                <a:solidFill>
                  <a:prstClr val="black"/>
                </a:solidFill>
              </a:rPr>
              <a:t>az</a:t>
            </a:r>
            <a:r>
              <a:rPr lang="en-US" dirty="0">
                <a:solidFill>
                  <a:prstClr val="black"/>
                </a:solidFill>
              </a:rPr>
              <a:t>/cloud </a:t>
            </a:r>
            <a:r>
              <a:rPr lang="en-US" dirty="0" err="1">
                <a:solidFill>
                  <a:prstClr val="black"/>
                </a:solidFill>
              </a:rPr>
              <a:t>utils</a:t>
            </a:r>
            <a:endParaRPr lang="en-US" dirty="0">
              <a:solidFill>
                <a:prstClr val="black"/>
              </a:solidFill>
            </a:endParaRPr>
          </a:p>
          <a:p>
            <a:pPr marL="285750" indent="-285750">
              <a:buFont typeface="Wingdings" panose="05000000000000000000" pitchFamily="2" charset="2"/>
              <a:buChar char="ü"/>
            </a:pPr>
            <a:endParaRPr lang="en-IN" dirty="0">
              <a:solidFill>
                <a:prstClr val="black"/>
              </a:solidFill>
            </a:endParaRPr>
          </a:p>
          <a:p>
            <a:r>
              <a:rPr lang="en-IN" b="1" i="1" dirty="0">
                <a:solidFill>
                  <a:prstClr val="black"/>
                </a:solidFill>
              </a:rPr>
              <a:t>For example, you can use the </a:t>
            </a:r>
            <a:r>
              <a:rPr lang="en-IN" b="1" i="1" dirty="0" err="1">
                <a:solidFill>
                  <a:prstClr val="black"/>
                </a:solidFill>
              </a:rPr>
              <a:t>az</a:t>
            </a:r>
            <a:r>
              <a:rPr lang="en-IN" b="1" i="1" dirty="0">
                <a:solidFill>
                  <a:prstClr val="black"/>
                </a:solidFill>
              </a:rPr>
              <a:t> CLI to create and manage the following services:</a:t>
            </a:r>
          </a:p>
          <a:p>
            <a:r>
              <a:rPr lang="en-IN" dirty="0">
                <a:solidFill>
                  <a:prstClr val="black"/>
                </a:solidFill>
              </a:rPr>
              <a:t>Compute Engine virtual machine instances and other resources</a:t>
            </a:r>
          </a:p>
          <a:p>
            <a:r>
              <a:rPr lang="en-IN" dirty="0">
                <a:solidFill>
                  <a:prstClr val="black"/>
                </a:solidFill>
              </a:rPr>
              <a:t>Azure SQL instances </a:t>
            </a:r>
          </a:p>
          <a:p>
            <a:r>
              <a:rPr lang="en-IN" dirty="0">
                <a:solidFill>
                  <a:prstClr val="black"/>
                </a:solidFill>
              </a:rPr>
              <a:t>HDInsight clusters and jobs</a:t>
            </a:r>
          </a:p>
          <a:p>
            <a:pPr>
              <a:lnSpc>
                <a:spcPct val="150000"/>
              </a:lnSpc>
            </a:pPr>
            <a:r>
              <a:rPr lang="en-US" dirty="0">
                <a:solidFill>
                  <a:prstClr val="black"/>
                </a:solidFill>
              </a:rPr>
              <a:t> </a:t>
            </a:r>
          </a:p>
        </p:txBody>
      </p:sp>
    </p:spTree>
    <p:extLst>
      <p:ext uri="{BB962C8B-B14F-4D97-AF65-F5344CB8AC3E}">
        <p14:creationId xmlns:p14="http://schemas.microsoft.com/office/powerpoint/2010/main" val="469339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26</a:t>
            </a:fld>
            <a:endParaRPr lang="en-US">
              <a:solidFill>
                <a:prstClr val="black">
                  <a:tint val="75000"/>
                </a:prstClr>
              </a:solidFill>
            </a:endParaRPr>
          </a:p>
        </p:txBody>
      </p:sp>
      <p:sp>
        <p:nvSpPr>
          <p:cNvPr id="12" name="Title 1"/>
          <p:cNvSpPr>
            <a:spLocks noGrp="1"/>
          </p:cNvSpPr>
          <p:nvPr>
            <p:ph type="title"/>
          </p:nvPr>
        </p:nvSpPr>
        <p:spPr>
          <a:xfrm>
            <a:off x="0" y="0"/>
            <a:ext cx="10972800" cy="1143000"/>
          </a:xfrm>
        </p:spPr>
        <p:txBody>
          <a:bodyPr vert="horz" lIns="91440" tIns="45720" rIns="91440" bIns="45720" rtlCol="0" anchor="ctr">
            <a:normAutofit/>
          </a:bodyPr>
          <a:lstStyle/>
          <a:p>
            <a:r>
              <a:rPr lang="en-US" sz="2800" b="1" dirty="0">
                <a:solidFill>
                  <a:srgbClr val="FF0000"/>
                </a:solidFill>
              </a:rPr>
              <a:t>1. Download &amp; Install </a:t>
            </a:r>
            <a:r>
              <a:rPr lang="en-US" sz="2800" b="1" dirty="0" err="1">
                <a:solidFill>
                  <a:srgbClr val="FF0000"/>
                </a:solidFill>
              </a:rPr>
              <a:t>az</a:t>
            </a:r>
            <a:r>
              <a:rPr lang="en-US" sz="2800" b="1" dirty="0">
                <a:solidFill>
                  <a:srgbClr val="FF0000"/>
                </a:solidFill>
              </a:rPr>
              <a:t> SDK</a:t>
            </a:r>
            <a:r>
              <a:rPr lang="en-US" sz="2800" i="1" u="sng" dirty="0">
                <a:effectLst>
                  <a:outerShdw blurRad="38100" dist="38100" dir="2700000" algn="tl">
                    <a:srgbClr val="000000">
                      <a:alpha val="43137"/>
                    </a:srgbClr>
                  </a:outerShdw>
                </a:effectLst>
              </a:rPr>
              <a:t> - Classroom - Practice</a:t>
            </a:r>
            <a:endParaRPr lang="en-US" sz="2800" b="1" dirty="0">
              <a:solidFill>
                <a:srgbClr val="FF0000"/>
              </a:solidFill>
            </a:endParaRPr>
          </a:p>
        </p:txBody>
      </p:sp>
      <p:sp>
        <p:nvSpPr>
          <p:cNvPr id="2" name="TextBox 1"/>
          <p:cNvSpPr txBox="1"/>
          <p:nvPr/>
        </p:nvSpPr>
        <p:spPr>
          <a:xfrm>
            <a:off x="132080" y="883920"/>
            <a:ext cx="3224857" cy="769441"/>
          </a:xfrm>
          <a:prstGeom prst="rect">
            <a:avLst/>
          </a:prstGeom>
          <a:noFill/>
        </p:spPr>
        <p:txBody>
          <a:bodyPr wrap="none" rtlCol="0">
            <a:spAutoFit/>
          </a:bodyPr>
          <a:lstStyle/>
          <a:p>
            <a:pPr marL="342900" indent="-342900">
              <a:buFontTx/>
              <a:buAutoNum type="alphaUcPeriod"/>
            </a:pPr>
            <a:r>
              <a:rPr lang="en-IN" sz="1600" b="1" dirty="0">
                <a:solidFill>
                  <a:prstClr val="black"/>
                </a:solidFill>
              </a:rPr>
              <a:t>Go to the below URL </a:t>
            </a:r>
          </a:p>
          <a:p>
            <a:r>
              <a:rPr lang="en-IN" sz="1400" dirty="0">
                <a:solidFill>
                  <a:prstClr val="black"/>
                </a:solidFill>
                <a:hlinkClick r:id="rId2"/>
              </a:rPr>
              <a:t>https://aka.ms/installazurecliwindowsx64</a:t>
            </a:r>
            <a:endParaRPr lang="en-IN" sz="1400" dirty="0">
              <a:solidFill>
                <a:prstClr val="black"/>
              </a:solidFill>
            </a:endParaRPr>
          </a:p>
          <a:p>
            <a:r>
              <a:rPr lang="en-US" sz="1400" b="1" dirty="0">
                <a:solidFill>
                  <a:srgbClr val="0070C0"/>
                </a:solidFill>
              </a:rPr>
              <a:t>brew update &amp;&amp; brew install azure-cli</a:t>
            </a:r>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Group 13"/>
          <p:cNvGrpSpPr/>
          <p:nvPr/>
        </p:nvGrpSpPr>
        <p:grpSpPr>
          <a:xfrm>
            <a:off x="10464800" y="4139882"/>
            <a:ext cx="1392157" cy="1474784"/>
            <a:chOff x="8622919" y="-50014"/>
            <a:chExt cx="1457840" cy="1544366"/>
          </a:xfrm>
        </p:grpSpPr>
        <p:pic>
          <p:nvPicPr>
            <p:cNvPr id="15" name="Picture 14"/>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60000" contrast="80000"/>
                      </a14:imgEffect>
                    </a14:imgLayer>
                  </a14:imgProps>
                </a:ext>
                <a:ext uri="{28A0092B-C50C-407E-A947-70E740481C1C}">
                  <a14:useLocalDpi xmlns:a14="http://schemas.microsoft.com/office/drawing/2010/main" val="0"/>
                </a:ext>
              </a:extLst>
            </a:blip>
            <a:srcRect/>
            <a:stretch>
              <a:fillRect/>
            </a:stretch>
          </p:blipFill>
          <p:spPr bwMode="auto">
            <a:xfrm>
              <a:off x="8688429" y="-50014"/>
              <a:ext cx="1251285" cy="1251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6" name="TextBox 15"/>
            <p:cNvSpPr txBox="1"/>
            <p:nvPr/>
          </p:nvSpPr>
          <p:spPr>
            <a:xfrm>
              <a:off x="8622919" y="1204284"/>
              <a:ext cx="1457840" cy="290068"/>
            </a:xfrm>
            <a:prstGeom prst="rect">
              <a:avLst/>
            </a:prstGeom>
            <a:noFill/>
          </p:spPr>
          <p:txBody>
            <a:bodyPr wrap="square" rtlCol="0">
              <a:spAutoFit/>
            </a:bodyPr>
            <a:lstStyle/>
            <a:p>
              <a:r>
                <a:rPr lang="en-US" sz="1200" b="1" dirty="0">
                  <a:solidFill>
                    <a:prstClr val="black"/>
                  </a:solidFill>
                  <a:effectLst>
                    <a:outerShdw blurRad="38100" dist="38100" dir="2700000" algn="tl">
                      <a:srgbClr val="000000">
                        <a:alpha val="43137"/>
                      </a:srgbClr>
                    </a:outerShdw>
                  </a:effectLst>
                </a:rPr>
                <a:t>Cloud Admin Role</a:t>
              </a:r>
              <a:endParaRPr lang="en-IN" sz="1200" b="1" dirty="0">
                <a:solidFill>
                  <a:prstClr val="black"/>
                </a:solidFill>
                <a:effectLst>
                  <a:outerShdw blurRad="38100" dist="38100" dir="2700000" algn="tl">
                    <a:srgbClr val="000000">
                      <a:alpha val="43137"/>
                    </a:srgbClr>
                  </a:outerShdw>
                </a:effectLst>
              </a:endParaRPr>
            </a:p>
          </p:txBody>
        </p:sp>
      </p:gr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964" y="2523113"/>
            <a:ext cx="3974985" cy="29340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 name="Rectangle 2"/>
          <p:cNvSpPr/>
          <p:nvPr/>
        </p:nvSpPr>
        <p:spPr>
          <a:xfrm>
            <a:off x="377825" y="5930732"/>
            <a:ext cx="7613650" cy="369332"/>
          </a:xfrm>
          <a:prstGeom prst="rect">
            <a:avLst/>
          </a:prstGeom>
        </p:spPr>
        <p:txBody>
          <a:bodyPr wrap="square">
            <a:spAutoFit/>
          </a:bodyPr>
          <a:lstStyle/>
          <a:p>
            <a:r>
              <a:rPr lang="en-US" dirty="0">
                <a:solidFill>
                  <a:prstClr val="black"/>
                </a:solidFill>
              </a:rPr>
              <a:t>Select a subscription and tenant (Type a number or Enter for no changes): 1</a:t>
            </a:r>
            <a:endParaRPr lang="en-IN" dirty="0">
              <a:solidFill>
                <a:prstClr val="black"/>
              </a:solidFill>
            </a:endParaRPr>
          </a:p>
        </p:txBody>
      </p:sp>
      <p:pic>
        <p:nvPicPr>
          <p:cNvPr id="409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64155" y="2523113"/>
            <a:ext cx="3505552" cy="30915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5" name="Picture 4">
            <a:extLst>
              <a:ext uri="{FF2B5EF4-FFF2-40B4-BE49-F238E27FC236}">
                <a16:creationId xmlns:a16="http://schemas.microsoft.com/office/drawing/2014/main" xmlns="" id="{04B8BFC7-760F-1389-6A11-4E902B1F5536}"/>
              </a:ext>
            </a:extLst>
          </p:cNvPr>
          <p:cNvPicPr>
            <a:picLocks noChangeAspect="1"/>
          </p:cNvPicPr>
          <p:nvPr/>
        </p:nvPicPr>
        <p:blipFill>
          <a:blip r:embed="rId8"/>
          <a:stretch>
            <a:fillRect/>
          </a:stretch>
        </p:blipFill>
        <p:spPr>
          <a:xfrm>
            <a:off x="8123897" y="279719"/>
            <a:ext cx="3936023" cy="1621727"/>
          </a:xfrm>
          <a:prstGeom prst="rect">
            <a:avLst/>
          </a:prstGeom>
        </p:spPr>
      </p:pic>
      <p:sp>
        <p:nvSpPr>
          <p:cNvPr id="4" name="Rectangle 3"/>
          <p:cNvSpPr/>
          <p:nvPr/>
        </p:nvSpPr>
        <p:spPr>
          <a:xfrm>
            <a:off x="664852" y="1777403"/>
            <a:ext cx="1498580" cy="4401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smtClean="0"/>
              <a:t>Admin</a:t>
            </a:r>
            <a:r>
              <a:rPr lang="en-IN" sz="1100" dirty="0" smtClean="0"/>
              <a:t> -&gt; </a:t>
            </a:r>
          </a:p>
          <a:p>
            <a:pPr algn="ctr"/>
            <a:r>
              <a:rPr lang="en-IN" sz="1100" dirty="0" smtClean="0"/>
              <a:t>SP user, password file</a:t>
            </a:r>
            <a:endParaRPr lang="en-IN" sz="1100" dirty="0"/>
          </a:p>
        </p:txBody>
      </p:sp>
      <p:sp>
        <p:nvSpPr>
          <p:cNvPr id="17" name="Rectangle 16"/>
          <p:cNvSpPr/>
          <p:nvPr/>
        </p:nvSpPr>
        <p:spPr>
          <a:xfrm>
            <a:off x="2686069" y="1653361"/>
            <a:ext cx="2655051" cy="688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smtClean="0"/>
              <a:t>User</a:t>
            </a:r>
            <a:r>
              <a:rPr lang="en-IN" sz="1100" dirty="0" smtClean="0"/>
              <a:t> -&gt; </a:t>
            </a:r>
          </a:p>
          <a:p>
            <a:pPr algn="ctr"/>
            <a:r>
              <a:rPr lang="en-IN" sz="1100" dirty="0" smtClean="0"/>
              <a:t>AZ SDK -&gt; copied password file -&gt;  </a:t>
            </a:r>
            <a:r>
              <a:rPr lang="en-IN" sz="1100" dirty="0" err="1" smtClean="0"/>
              <a:t>Cmd</a:t>
            </a:r>
            <a:r>
              <a:rPr lang="en-IN" sz="1100" dirty="0" smtClean="0"/>
              <a:t> -&gt; connected Cloud using SP -&gt; </a:t>
            </a:r>
          </a:p>
          <a:p>
            <a:pPr algn="ctr"/>
            <a:r>
              <a:rPr lang="en-IN" sz="1100" dirty="0" smtClean="0"/>
              <a:t>Directory create</a:t>
            </a:r>
            <a:endParaRPr lang="en-IN" sz="1100" dirty="0"/>
          </a:p>
        </p:txBody>
      </p:sp>
      <p:sp>
        <p:nvSpPr>
          <p:cNvPr id="6" name="Rectangle 5"/>
          <p:cNvSpPr/>
          <p:nvPr/>
        </p:nvSpPr>
        <p:spPr>
          <a:xfrm>
            <a:off x="664852" y="2159615"/>
            <a:ext cx="1750607" cy="369332"/>
          </a:xfrm>
          <a:prstGeom prst="rect">
            <a:avLst/>
          </a:prstGeom>
        </p:spPr>
        <p:txBody>
          <a:bodyPr wrap="none">
            <a:spAutoFit/>
          </a:bodyPr>
          <a:lstStyle/>
          <a:p>
            <a:r>
              <a:rPr lang="en-IN" b="1" dirty="0"/>
              <a:t>sp-cli-user-we47</a:t>
            </a:r>
          </a:p>
        </p:txBody>
      </p:sp>
    </p:spTree>
    <p:extLst>
      <p:ext uri="{BB962C8B-B14F-4D97-AF65-F5344CB8AC3E}">
        <p14:creationId xmlns:p14="http://schemas.microsoft.com/office/powerpoint/2010/main" val="2101223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27</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0" y="-152405"/>
            <a:ext cx="10972800" cy="1143000"/>
          </a:xfrm>
        </p:spPr>
        <p:txBody>
          <a:bodyPr vert="horz" lIns="91440" tIns="45720" rIns="91440" bIns="45720" rtlCol="0" anchor="ctr">
            <a:normAutofit/>
          </a:bodyPr>
          <a:lstStyle/>
          <a:p>
            <a:r>
              <a:rPr lang="en-US" sz="2000" b="1" dirty="0">
                <a:solidFill>
                  <a:srgbClr val="FF0000"/>
                </a:solidFill>
              </a:rPr>
              <a:t>3. </a:t>
            </a:r>
            <a:r>
              <a:rPr lang="en-US" sz="2000" b="1" dirty="0" err="1" smtClean="0">
                <a:solidFill>
                  <a:srgbClr val="FF0000"/>
                </a:solidFill>
              </a:rPr>
              <a:t>Az</a:t>
            </a:r>
            <a:r>
              <a:rPr lang="en-US" sz="2000" b="1" dirty="0" smtClean="0">
                <a:solidFill>
                  <a:srgbClr val="FF0000"/>
                </a:solidFill>
              </a:rPr>
              <a:t> </a:t>
            </a:r>
            <a:r>
              <a:rPr lang="en-US" sz="2000" b="1" dirty="0">
                <a:solidFill>
                  <a:srgbClr val="FF0000"/>
                </a:solidFill>
              </a:rPr>
              <a:t>Commands list -</a:t>
            </a:r>
            <a:r>
              <a:rPr lang="en-US" sz="2800" b="1" dirty="0">
                <a:solidFill>
                  <a:srgbClr val="FF0000"/>
                </a:solidFill>
              </a:rPr>
              <a:t> </a:t>
            </a:r>
            <a:r>
              <a:rPr lang="en-US" sz="2800" i="1" u="sng" dirty="0">
                <a:effectLst>
                  <a:outerShdw blurRad="38100" dist="38100" dir="2700000" algn="tl">
                    <a:srgbClr val="000000">
                      <a:alpha val="43137"/>
                    </a:srgbClr>
                  </a:outerShdw>
                </a:effectLst>
              </a:rPr>
              <a:t>Classroom - Practice</a:t>
            </a:r>
            <a:endParaRPr lang="en-US" sz="2800" b="1" dirty="0">
              <a:solidFill>
                <a:srgbClr val="FF0000"/>
              </a:solidFill>
            </a:endParaRPr>
          </a:p>
        </p:txBody>
      </p:sp>
      <p:pic>
        <p:nvPicPr>
          <p:cNvPr id="1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44700"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9" name="Group 18"/>
          <p:cNvGrpSpPr/>
          <p:nvPr/>
        </p:nvGrpSpPr>
        <p:grpSpPr>
          <a:xfrm>
            <a:off x="10770051" y="116723"/>
            <a:ext cx="1392157" cy="1474784"/>
            <a:chOff x="8622919" y="-50014"/>
            <a:chExt cx="1457840" cy="1544366"/>
          </a:xfrm>
        </p:grpSpPr>
        <p:pic>
          <p:nvPicPr>
            <p:cNvPr id="20" name="Picture 19"/>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60000" contrast="80000"/>
                      </a14:imgEffect>
                    </a14:imgLayer>
                  </a14:imgProps>
                </a:ext>
                <a:ext uri="{28A0092B-C50C-407E-A947-70E740481C1C}">
                  <a14:useLocalDpi xmlns:a14="http://schemas.microsoft.com/office/drawing/2010/main" val="0"/>
                </a:ext>
              </a:extLst>
            </a:blip>
            <a:srcRect/>
            <a:stretch>
              <a:fillRect/>
            </a:stretch>
          </p:blipFill>
          <p:spPr bwMode="auto">
            <a:xfrm>
              <a:off x="8688429" y="-50014"/>
              <a:ext cx="1251285" cy="1251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1" name="TextBox 20"/>
            <p:cNvSpPr txBox="1"/>
            <p:nvPr/>
          </p:nvSpPr>
          <p:spPr>
            <a:xfrm>
              <a:off x="8622919" y="1204284"/>
              <a:ext cx="1457840" cy="290068"/>
            </a:xfrm>
            <a:prstGeom prst="rect">
              <a:avLst/>
            </a:prstGeom>
            <a:noFill/>
          </p:spPr>
          <p:txBody>
            <a:bodyPr wrap="square" rtlCol="0">
              <a:spAutoFit/>
            </a:bodyPr>
            <a:lstStyle/>
            <a:p>
              <a:r>
                <a:rPr lang="en-US" sz="1200" b="1" dirty="0">
                  <a:solidFill>
                    <a:prstClr val="black"/>
                  </a:solidFill>
                  <a:effectLst>
                    <a:outerShdw blurRad="38100" dist="38100" dir="2700000" algn="tl">
                      <a:srgbClr val="000000">
                        <a:alpha val="43137"/>
                      </a:srgbClr>
                    </a:outerShdw>
                  </a:effectLst>
                </a:rPr>
                <a:t>Cloud Admin Role</a:t>
              </a:r>
              <a:endParaRPr lang="en-IN" sz="1200" b="1" dirty="0">
                <a:solidFill>
                  <a:prstClr val="black"/>
                </a:solidFill>
                <a:effectLst>
                  <a:outerShdw blurRad="38100" dist="38100" dir="2700000" algn="tl">
                    <a:srgbClr val="000000">
                      <a:alpha val="43137"/>
                    </a:srgbClr>
                  </a:outerShdw>
                </a:effectLst>
              </a:endParaRPr>
            </a:p>
          </p:txBody>
        </p:sp>
      </p:grpSp>
      <p:sp>
        <p:nvSpPr>
          <p:cNvPr id="27" name="TextBox 26"/>
          <p:cNvSpPr txBox="1"/>
          <p:nvPr/>
        </p:nvSpPr>
        <p:spPr>
          <a:xfrm>
            <a:off x="92350" y="586651"/>
            <a:ext cx="10952678" cy="6540252"/>
          </a:xfrm>
          <a:prstGeom prst="rect">
            <a:avLst/>
          </a:prstGeom>
          <a:noFill/>
        </p:spPr>
        <p:txBody>
          <a:bodyPr wrap="none" rtlCol="0">
            <a:spAutoFit/>
          </a:bodyPr>
          <a:lstStyle/>
          <a:p>
            <a:pPr marL="342900" indent="-342900">
              <a:buFontTx/>
              <a:buAutoNum type="alphaUcPeriod"/>
            </a:pPr>
            <a:r>
              <a:rPr lang="en-IN" sz="1400" b="1" dirty="0">
                <a:solidFill>
                  <a:prstClr val="black"/>
                </a:solidFill>
              </a:rPr>
              <a:t>Only for the </a:t>
            </a:r>
            <a:r>
              <a:rPr lang="en-IN" sz="1400" b="1" i="1" dirty="0">
                <a:solidFill>
                  <a:srgbClr val="C00000"/>
                </a:solidFill>
              </a:rPr>
              <a:t>first</a:t>
            </a:r>
            <a:r>
              <a:rPr lang="en-IN" sz="1400" b="1" i="1" dirty="0">
                <a:solidFill>
                  <a:prstClr val="black"/>
                </a:solidFill>
              </a:rPr>
              <a:t> time</a:t>
            </a:r>
            <a:r>
              <a:rPr lang="en-IN" sz="1400" b="1" dirty="0">
                <a:solidFill>
                  <a:prstClr val="black"/>
                </a:solidFill>
              </a:rPr>
              <a:t> to initialize </a:t>
            </a:r>
            <a:r>
              <a:rPr lang="en-IN" sz="1400" b="1" dirty="0" err="1">
                <a:solidFill>
                  <a:prstClr val="black"/>
                </a:solidFill>
              </a:rPr>
              <a:t>az</a:t>
            </a:r>
            <a:r>
              <a:rPr lang="en-IN" sz="1400" b="1" dirty="0">
                <a:solidFill>
                  <a:prstClr val="black"/>
                </a:solidFill>
              </a:rPr>
              <a:t> access, define the user, project, configuration</a:t>
            </a:r>
          </a:p>
          <a:p>
            <a:r>
              <a:rPr lang="en-US" sz="1100" b="1" dirty="0">
                <a:solidFill>
                  <a:prstClr val="black"/>
                </a:solidFill>
              </a:rPr>
              <a:t>B. To login into a given/different user account</a:t>
            </a:r>
            <a:endParaRPr lang="en-US" sz="1100" dirty="0">
              <a:solidFill>
                <a:prstClr val="black"/>
              </a:solidFill>
            </a:endParaRPr>
          </a:p>
          <a:p>
            <a:r>
              <a:rPr lang="en-US" sz="1200" dirty="0" err="1">
                <a:solidFill>
                  <a:srgbClr val="5B9BD5">
                    <a:lumMod val="75000"/>
                  </a:srgbClr>
                </a:solidFill>
              </a:rPr>
              <a:t>az</a:t>
            </a:r>
            <a:r>
              <a:rPr lang="en-US" sz="1200" dirty="0">
                <a:solidFill>
                  <a:srgbClr val="5B9BD5">
                    <a:lumMod val="75000"/>
                  </a:srgbClr>
                </a:solidFill>
              </a:rPr>
              <a:t> login</a:t>
            </a:r>
          </a:p>
          <a:p>
            <a:r>
              <a:rPr lang="en-US" sz="1200" i="1" dirty="0">
                <a:solidFill>
                  <a:prstClr val="black">
                    <a:lumMod val="50000"/>
                    <a:lumOff val="50000"/>
                  </a:prstClr>
                </a:solidFill>
              </a:rPr>
              <a:t>#Get the directory id by clicking the settings button in the top right corner</a:t>
            </a:r>
            <a:endParaRPr lang="en-IN" sz="1200" i="1" dirty="0">
              <a:solidFill>
                <a:prstClr val="black">
                  <a:lumMod val="50000"/>
                  <a:lumOff val="50000"/>
                </a:prstClr>
              </a:solidFill>
            </a:endParaRPr>
          </a:p>
          <a:p>
            <a:r>
              <a:rPr lang="en-IN" sz="1200" b="1" dirty="0" err="1">
                <a:solidFill>
                  <a:srgbClr val="5B9BD5">
                    <a:lumMod val="75000"/>
                  </a:srgbClr>
                </a:solidFill>
              </a:rPr>
              <a:t>az</a:t>
            </a:r>
            <a:r>
              <a:rPr lang="en-IN" sz="1200" b="1" dirty="0">
                <a:solidFill>
                  <a:srgbClr val="5B9BD5">
                    <a:lumMod val="75000"/>
                  </a:srgbClr>
                </a:solidFill>
              </a:rPr>
              <a:t> login --tenant </a:t>
            </a:r>
            <a:r>
              <a:rPr lang="en-US" sz="1200" b="1" dirty="0">
                <a:solidFill>
                  <a:srgbClr val="5B9BD5">
                    <a:lumMod val="75000"/>
                  </a:srgbClr>
                </a:solidFill>
              </a:rPr>
              <a:t>dc0ce96f-6b44-4a0c-b4eb-5cacfff7dd94</a:t>
            </a:r>
            <a:endParaRPr lang="en-IN" sz="1200" b="1" dirty="0">
              <a:solidFill>
                <a:srgbClr val="5B9BD5">
                  <a:lumMod val="75000"/>
                </a:srgbClr>
              </a:solidFill>
            </a:endParaRPr>
          </a:p>
          <a:p>
            <a:endParaRPr lang="en-US" sz="1200" u="sng" dirty="0">
              <a:solidFill>
                <a:srgbClr val="5B9BD5">
                  <a:lumMod val="75000"/>
                </a:srgbClr>
              </a:solidFill>
            </a:endParaRPr>
          </a:p>
          <a:p>
            <a:r>
              <a:rPr lang="en-US" sz="1200" b="1" i="1" dirty="0">
                <a:solidFill>
                  <a:prstClr val="black"/>
                </a:solidFill>
              </a:rPr>
              <a:t>#To </a:t>
            </a:r>
            <a:r>
              <a:rPr lang="en-IN" sz="1200" b="1" i="1" dirty="0">
                <a:solidFill>
                  <a:prstClr val="black"/>
                </a:solidFill>
              </a:rPr>
              <a:t>List which account we have logged in</a:t>
            </a:r>
            <a:r>
              <a:rPr lang="en-IN" sz="1200" b="1" i="1" dirty="0" smtClean="0">
                <a:solidFill>
                  <a:prstClr val="black"/>
                </a:solidFill>
              </a:rPr>
              <a:t>? </a:t>
            </a:r>
            <a:r>
              <a:rPr lang="en-US" sz="1200" dirty="0" err="1" smtClean="0">
                <a:solidFill>
                  <a:srgbClr val="5B9BD5">
                    <a:lumMod val="75000"/>
                  </a:srgbClr>
                </a:solidFill>
              </a:rPr>
              <a:t>gcloud</a:t>
            </a:r>
            <a:r>
              <a:rPr lang="en-US" sz="1200" dirty="0" smtClean="0">
                <a:solidFill>
                  <a:srgbClr val="5B9BD5">
                    <a:lumMod val="75000"/>
                  </a:srgbClr>
                </a:solidFill>
              </a:rPr>
              <a:t> </a:t>
            </a:r>
            <a:r>
              <a:rPr lang="en-US" sz="1200" dirty="0" err="1" smtClean="0">
                <a:solidFill>
                  <a:srgbClr val="5B9BD5">
                    <a:lumMod val="75000"/>
                  </a:srgbClr>
                </a:solidFill>
              </a:rPr>
              <a:t>config</a:t>
            </a:r>
            <a:r>
              <a:rPr lang="en-US" sz="1200" dirty="0" smtClean="0">
                <a:solidFill>
                  <a:srgbClr val="5B9BD5">
                    <a:lumMod val="75000"/>
                  </a:srgbClr>
                </a:solidFill>
              </a:rPr>
              <a:t> list</a:t>
            </a:r>
            <a:endParaRPr lang="en-US" sz="1200" i="1" dirty="0">
              <a:solidFill>
                <a:prstClr val="black"/>
              </a:solidFill>
            </a:endParaRPr>
          </a:p>
          <a:p>
            <a:r>
              <a:rPr lang="en-US" sz="1200" dirty="0" err="1">
                <a:solidFill>
                  <a:srgbClr val="5B9BD5">
                    <a:lumMod val="75000"/>
                  </a:srgbClr>
                </a:solidFill>
              </a:rPr>
              <a:t>az</a:t>
            </a:r>
            <a:r>
              <a:rPr lang="en-US" sz="1200" dirty="0">
                <a:solidFill>
                  <a:srgbClr val="5B9BD5">
                    <a:lumMod val="75000"/>
                  </a:srgbClr>
                </a:solidFill>
              </a:rPr>
              <a:t> account show</a:t>
            </a:r>
          </a:p>
          <a:p>
            <a:endParaRPr lang="en-US" sz="1200" u="sng" dirty="0">
              <a:solidFill>
                <a:srgbClr val="5B9BD5">
                  <a:lumMod val="75000"/>
                </a:srgbClr>
              </a:solidFill>
            </a:endParaRPr>
          </a:p>
          <a:p>
            <a:r>
              <a:rPr lang="en-US" sz="1200" b="1" i="1" dirty="0">
                <a:solidFill>
                  <a:prstClr val="black"/>
                </a:solidFill>
              </a:rPr>
              <a:t>#To </a:t>
            </a:r>
            <a:r>
              <a:rPr lang="en-IN" sz="1200" b="1" i="1" dirty="0">
                <a:solidFill>
                  <a:prstClr val="black"/>
                </a:solidFill>
              </a:rPr>
              <a:t>List available subscriptions </a:t>
            </a:r>
            <a:r>
              <a:rPr lang="en-US" sz="1200" dirty="0" err="1">
                <a:solidFill>
                  <a:srgbClr val="5B9BD5">
                    <a:lumMod val="75000"/>
                  </a:srgbClr>
                </a:solidFill>
              </a:rPr>
              <a:t>gcloud</a:t>
            </a:r>
            <a:r>
              <a:rPr lang="en-US" sz="1200" dirty="0">
                <a:solidFill>
                  <a:srgbClr val="5B9BD5">
                    <a:lumMod val="75000"/>
                  </a:srgbClr>
                </a:solidFill>
              </a:rPr>
              <a:t> </a:t>
            </a:r>
            <a:r>
              <a:rPr lang="en-US" sz="1200" dirty="0" err="1">
                <a:solidFill>
                  <a:srgbClr val="5B9BD5">
                    <a:lumMod val="75000"/>
                  </a:srgbClr>
                </a:solidFill>
              </a:rPr>
              <a:t>auth</a:t>
            </a:r>
            <a:r>
              <a:rPr lang="en-US" sz="1200" dirty="0">
                <a:solidFill>
                  <a:srgbClr val="5B9BD5">
                    <a:lumMod val="75000"/>
                  </a:srgbClr>
                </a:solidFill>
              </a:rPr>
              <a:t> list</a:t>
            </a:r>
            <a:endParaRPr lang="en-US" sz="1200" i="1" dirty="0">
              <a:solidFill>
                <a:prstClr val="black"/>
              </a:solidFill>
            </a:endParaRPr>
          </a:p>
          <a:p>
            <a:r>
              <a:rPr lang="en-US" sz="1200" dirty="0" err="1">
                <a:solidFill>
                  <a:srgbClr val="5B9BD5">
                    <a:lumMod val="75000"/>
                  </a:srgbClr>
                </a:solidFill>
              </a:rPr>
              <a:t>az</a:t>
            </a:r>
            <a:r>
              <a:rPr lang="en-US" sz="1200" dirty="0">
                <a:solidFill>
                  <a:srgbClr val="5B9BD5">
                    <a:lumMod val="75000"/>
                  </a:srgbClr>
                </a:solidFill>
              </a:rPr>
              <a:t> account list --output table</a:t>
            </a:r>
          </a:p>
          <a:p>
            <a:endParaRPr lang="en-US" sz="1200" u="sng" dirty="0">
              <a:solidFill>
                <a:srgbClr val="5B9BD5">
                  <a:lumMod val="75000"/>
                </a:srgbClr>
              </a:solidFill>
            </a:endParaRPr>
          </a:p>
          <a:p>
            <a:r>
              <a:rPr lang="en-US" sz="1200" b="1" dirty="0">
                <a:solidFill>
                  <a:prstClr val="black"/>
                </a:solidFill>
              </a:rPr>
              <a:t>B. To login into a given/different user account (capture the subscription id from the above output)</a:t>
            </a:r>
            <a:endParaRPr lang="en-US" sz="1200" b="1" i="1" dirty="0">
              <a:solidFill>
                <a:prstClr val="black"/>
              </a:solidFill>
            </a:endParaRPr>
          </a:p>
          <a:p>
            <a:r>
              <a:rPr lang="en-US" sz="1200" b="1" i="1" dirty="0">
                <a:solidFill>
                  <a:prstClr val="black"/>
                </a:solidFill>
              </a:rPr>
              <a:t>#To</a:t>
            </a:r>
            <a:r>
              <a:rPr lang="en-IN" sz="1200" b="1" i="1" dirty="0">
                <a:solidFill>
                  <a:prstClr val="black"/>
                </a:solidFill>
              </a:rPr>
              <a:t> Set the subscription</a:t>
            </a:r>
            <a:r>
              <a:rPr lang="en-IN" sz="1200" b="1" i="1" dirty="0" smtClean="0">
                <a:solidFill>
                  <a:prstClr val="black"/>
                </a:solidFill>
              </a:rPr>
              <a:t>: </a:t>
            </a:r>
            <a:r>
              <a:rPr lang="en-US" sz="1200" dirty="0" err="1" smtClean="0">
                <a:solidFill>
                  <a:prstClr val="white">
                    <a:lumMod val="75000"/>
                  </a:prstClr>
                </a:solidFill>
              </a:rPr>
              <a:t>gcloud</a:t>
            </a:r>
            <a:r>
              <a:rPr lang="en-US" sz="1200" dirty="0" smtClean="0">
                <a:solidFill>
                  <a:prstClr val="white">
                    <a:lumMod val="75000"/>
                  </a:prstClr>
                </a:solidFill>
              </a:rPr>
              <a:t> </a:t>
            </a:r>
            <a:r>
              <a:rPr lang="en-US" sz="1200" dirty="0" err="1" smtClean="0">
                <a:solidFill>
                  <a:prstClr val="white">
                    <a:lumMod val="75000"/>
                  </a:prstClr>
                </a:solidFill>
              </a:rPr>
              <a:t>config</a:t>
            </a:r>
            <a:r>
              <a:rPr lang="en-US" sz="1200" dirty="0" smtClean="0">
                <a:solidFill>
                  <a:prstClr val="white">
                    <a:lumMod val="75000"/>
                  </a:prstClr>
                </a:solidFill>
              </a:rPr>
              <a:t> </a:t>
            </a:r>
            <a:r>
              <a:rPr lang="en-US" sz="1200" b="1" dirty="0" smtClean="0">
                <a:solidFill>
                  <a:prstClr val="white">
                    <a:lumMod val="75000"/>
                  </a:prstClr>
                </a:solidFill>
              </a:rPr>
              <a:t>set project “wd32-proj-1234”</a:t>
            </a:r>
            <a:endParaRPr lang="en-IN" sz="1200" b="1" dirty="0">
              <a:solidFill>
                <a:prstClr val="white">
                  <a:lumMod val="75000"/>
                </a:prstClr>
              </a:solidFill>
            </a:endParaRPr>
          </a:p>
          <a:p>
            <a:r>
              <a:rPr lang="en-US" sz="1200" dirty="0" err="1">
                <a:solidFill>
                  <a:srgbClr val="5B9BD5">
                    <a:lumMod val="75000"/>
                  </a:srgbClr>
                </a:solidFill>
              </a:rPr>
              <a:t>az</a:t>
            </a:r>
            <a:r>
              <a:rPr lang="en-US" sz="1200" dirty="0">
                <a:solidFill>
                  <a:srgbClr val="5B9BD5">
                    <a:lumMod val="75000"/>
                  </a:srgbClr>
                </a:solidFill>
              </a:rPr>
              <a:t> account </a:t>
            </a:r>
            <a:r>
              <a:rPr lang="en-US" sz="1200" b="1" dirty="0">
                <a:solidFill>
                  <a:srgbClr val="5B9BD5">
                    <a:lumMod val="75000"/>
                  </a:srgbClr>
                </a:solidFill>
              </a:rPr>
              <a:t>set --subscription "445b9ed0-3121-4340-bd7f-8935df4be9f0"</a:t>
            </a:r>
          </a:p>
          <a:p>
            <a:endParaRPr lang="en-US" sz="1200" dirty="0">
              <a:solidFill>
                <a:srgbClr val="5B9BD5">
                  <a:lumMod val="75000"/>
                </a:srgbClr>
              </a:solidFill>
            </a:endParaRPr>
          </a:p>
          <a:p>
            <a:r>
              <a:rPr lang="en-IN" sz="1200" b="1" dirty="0">
                <a:solidFill>
                  <a:prstClr val="black"/>
                </a:solidFill>
              </a:rPr>
              <a:t>#</a:t>
            </a:r>
            <a:r>
              <a:rPr lang="en-IN" sz="1200" b="1" i="1" dirty="0">
                <a:solidFill>
                  <a:prstClr val="black"/>
                </a:solidFill>
              </a:rPr>
              <a:t>To </a:t>
            </a:r>
            <a:r>
              <a:rPr lang="en-US" sz="1200" b="1" i="1" dirty="0">
                <a:solidFill>
                  <a:prstClr val="black"/>
                </a:solidFill>
              </a:rPr>
              <a:t>logout of the given user/principals </a:t>
            </a:r>
            <a:r>
              <a:rPr lang="en-US" sz="1200" b="1" i="1" dirty="0" smtClean="0">
                <a:solidFill>
                  <a:prstClr val="black"/>
                </a:solidFill>
              </a:rPr>
              <a:t>account </a:t>
            </a:r>
            <a:r>
              <a:rPr lang="en-US" sz="1200" dirty="0" err="1" smtClean="0">
                <a:solidFill>
                  <a:srgbClr val="5B9BD5">
                    <a:lumMod val="75000"/>
                  </a:srgbClr>
                </a:solidFill>
              </a:rPr>
              <a:t>gcloud</a:t>
            </a:r>
            <a:r>
              <a:rPr lang="en-US" sz="1200" dirty="0" smtClean="0">
                <a:solidFill>
                  <a:srgbClr val="5B9BD5">
                    <a:lumMod val="75000"/>
                  </a:srgbClr>
                </a:solidFill>
              </a:rPr>
              <a:t> </a:t>
            </a:r>
            <a:r>
              <a:rPr lang="en-US" sz="1200" dirty="0" err="1" smtClean="0">
                <a:solidFill>
                  <a:srgbClr val="5B9BD5">
                    <a:lumMod val="75000"/>
                  </a:srgbClr>
                </a:solidFill>
              </a:rPr>
              <a:t>auth</a:t>
            </a:r>
            <a:r>
              <a:rPr lang="en-US" sz="1200" dirty="0" smtClean="0">
                <a:solidFill>
                  <a:srgbClr val="5B9BD5">
                    <a:lumMod val="75000"/>
                  </a:srgbClr>
                </a:solidFill>
              </a:rPr>
              <a:t> revoke</a:t>
            </a:r>
            <a:r>
              <a:rPr lang="en-US" sz="1400" b="1" dirty="0" smtClean="0">
                <a:solidFill>
                  <a:srgbClr val="5B9BD5">
                    <a:lumMod val="75000"/>
                  </a:srgbClr>
                </a:solidFill>
              </a:rPr>
              <a:t> </a:t>
            </a:r>
            <a:endParaRPr lang="en-US" sz="1400" b="1" dirty="0">
              <a:solidFill>
                <a:srgbClr val="5B9BD5">
                  <a:lumMod val="75000"/>
                </a:srgbClr>
              </a:solidFill>
            </a:endParaRPr>
          </a:p>
          <a:p>
            <a:r>
              <a:rPr lang="en-US" sz="1200" strike="sngStrike" dirty="0" err="1">
                <a:solidFill>
                  <a:srgbClr val="5B9BD5">
                    <a:lumMod val="75000"/>
                  </a:srgbClr>
                </a:solidFill>
              </a:rPr>
              <a:t>az</a:t>
            </a:r>
            <a:r>
              <a:rPr lang="en-US" sz="1200" strike="sngStrike" dirty="0">
                <a:solidFill>
                  <a:srgbClr val="5B9BD5">
                    <a:lumMod val="75000"/>
                  </a:srgbClr>
                </a:solidFill>
              </a:rPr>
              <a:t> account clear</a:t>
            </a:r>
          </a:p>
          <a:p>
            <a:endParaRPr lang="en-US" sz="1200" dirty="0">
              <a:solidFill>
                <a:srgbClr val="5B9BD5">
                  <a:lumMod val="75000"/>
                </a:srgbClr>
              </a:solidFill>
            </a:endParaRPr>
          </a:p>
          <a:p>
            <a:r>
              <a:rPr lang="en-IN" sz="1200" b="1" dirty="0">
                <a:solidFill>
                  <a:prstClr val="black"/>
                </a:solidFill>
              </a:rPr>
              <a:t>#To list available resource groups </a:t>
            </a:r>
            <a:r>
              <a:rPr lang="en-IN" sz="1200" i="1" dirty="0">
                <a:solidFill>
                  <a:prstClr val="black"/>
                </a:solidFill>
              </a:rPr>
              <a:t>(We use these resource group later to create resources/access resources)</a:t>
            </a:r>
            <a:endParaRPr lang="en-IN" sz="1200" i="1" dirty="0">
              <a:solidFill>
                <a:srgbClr val="5B9BD5">
                  <a:lumMod val="75000"/>
                </a:srgbClr>
              </a:solidFill>
            </a:endParaRPr>
          </a:p>
          <a:p>
            <a:r>
              <a:rPr lang="en-IN" sz="1200" b="1" dirty="0" err="1">
                <a:solidFill>
                  <a:srgbClr val="5B9BD5">
                    <a:lumMod val="75000"/>
                  </a:srgbClr>
                </a:solidFill>
              </a:rPr>
              <a:t>az</a:t>
            </a:r>
            <a:r>
              <a:rPr lang="en-IN" sz="1200" b="1" dirty="0">
                <a:solidFill>
                  <a:srgbClr val="5B9BD5">
                    <a:lumMod val="75000"/>
                  </a:srgbClr>
                </a:solidFill>
              </a:rPr>
              <a:t> group list --output table</a:t>
            </a:r>
          </a:p>
          <a:p>
            <a:r>
              <a:rPr lang="en-US" sz="1200" i="1" dirty="0">
                <a:solidFill>
                  <a:srgbClr val="5B9BD5">
                    <a:lumMod val="75000"/>
                  </a:srgbClr>
                </a:solidFill>
              </a:rPr>
              <a:t>#Copy the resource group listed above</a:t>
            </a:r>
            <a:endParaRPr lang="en-IN" sz="1200" i="1" dirty="0">
              <a:solidFill>
                <a:srgbClr val="5B9BD5">
                  <a:lumMod val="75000"/>
                </a:srgbClr>
              </a:solidFill>
            </a:endParaRPr>
          </a:p>
          <a:p>
            <a:endParaRPr lang="en-US" sz="1200" dirty="0">
              <a:solidFill>
                <a:srgbClr val="5B9BD5">
                  <a:lumMod val="75000"/>
                </a:srgbClr>
              </a:solidFill>
            </a:endParaRPr>
          </a:p>
          <a:p>
            <a:r>
              <a:rPr lang="en-US" sz="1200" b="1" dirty="0">
                <a:solidFill>
                  <a:prstClr val="black"/>
                </a:solidFill>
              </a:rPr>
              <a:t>#To activate the ad’s (</a:t>
            </a:r>
            <a:r>
              <a:rPr lang="en-US" sz="1200" b="1" dirty="0" err="1">
                <a:solidFill>
                  <a:prstClr val="black"/>
                </a:solidFill>
              </a:rPr>
              <a:t>entra</a:t>
            </a:r>
            <a:r>
              <a:rPr lang="en-US" sz="1200" b="1" dirty="0">
                <a:solidFill>
                  <a:prstClr val="black"/>
                </a:solidFill>
              </a:rPr>
              <a:t>) service principal </a:t>
            </a:r>
            <a:r>
              <a:rPr lang="en-US" sz="1200" b="1" strike="sngStrike" dirty="0" smtClean="0">
                <a:solidFill>
                  <a:prstClr val="black"/>
                </a:solidFill>
              </a:rPr>
              <a:t>(Service Account)</a:t>
            </a:r>
            <a:r>
              <a:rPr lang="en-US" sz="1200" b="1" dirty="0" smtClean="0">
                <a:solidFill>
                  <a:prstClr val="black"/>
                </a:solidFill>
              </a:rPr>
              <a:t> (</a:t>
            </a:r>
            <a:r>
              <a:rPr lang="en-US" sz="1200" b="1" dirty="0">
                <a:solidFill>
                  <a:prstClr val="black"/>
                </a:solidFill>
              </a:rPr>
              <a:t>IAM authenticating) for RBAC - </a:t>
            </a:r>
            <a:r>
              <a:rPr lang="en-US" sz="800" b="1" strike="sngStrike" dirty="0" err="1">
                <a:solidFill>
                  <a:srgbClr val="5B9BD5">
                    <a:lumMod val="75000"/>
                  </a:srgbClr>
                </a:solidFill>
              </a:rPr>
              <a:t>gcloud</a:t>
            </a:r>
            <a:r>
              <a:rPr lang="en-US" sz="800" b="1" strike="sngStrike" dirty="0">
                <a:solidFill>
                  <a:srgbClr val="5B9BD5">
                    <a:lumMod val="75000"/>
                  </a:srgbClr>
                </a:solidFill>
              </a:rPr>
              <a:t> auth activate-service-account --key-file</a:t>
            </a:r>
            <a:r>
              <a:rPr lang="en-US" sz="800" b="1" strike="sngStrike" dirty="0">
                <a:solidFill>
                  <a:srgbClr val="C00000"/>
                </a:solidFill>
              </a:rPr>
              <a:t>=/home/</a:t>
            </a:r>
            <a:r>
              <a:rPr lang="en-US" sz="800" b="1" strike="sngStrike" dirty="0" err="1">
                <a:solidFill>
                  <a:srgbClr val="C00000"/>
                </a:solidFill>
              </a:rPr>
              <a:t>hduser</a:t>
            </a:r>
            <a:r>
              <a:rPr lang="en-US" sz="800" b="1" strike="sngStrike" dirty="0">
                <a:solidFill>
                  <a:srgbClr val="C00000"/>
                </a:solidFill>
              </a:rPr>
              <a:t>/weekday-32-proj-427802-a6-fd822f730117.json</a:t>
            </a:r>
          </a:p>
          <a:p>
            <a:r>
              <a:rPr lang="en-US" sz="800" b="1" dirty="0">
                <a:solidFill>
                  <a:prstClr val="black"/>
                </a:solidFill>
              </a:rPr>
              <a:t>#Generate a Private Key</a:t>
            </a:r>
          </a:p>
          <a:p>
            <a:r>
              <a:rPr lang="en-US" sz="800" dirty="0" err="1">
                <a:solidFill>
                  <a:srgbClr val="0070C0"/>
                </a:solidFill>
              </a:rPr>
              <a:t>openssl</a:t>
            </a:r>
            <a:r>
              <a:rPr lang="en-US" sz="800" dirty="0">
                <a:solidFill>
                  <a:srgbClr val="0070C0"/>
                </a:solidFill>
              </a:rPr>
              <a:t> </a:t>
            </a:r>
            <a:r>
              <a:rPr lang="en-US" sz="800" dirty="0" err="1">
                <a:solidFill>
                  <a:srgbClr val="0070C0"/>
                </a:solidFill>
              </a:rPr>
              <a:t>genrsa</a:t>
            </a:r>
            <a:r>
              <a:rPr lang="en-US" sz="800" dirty="0">
                <a:solidFill>
                  <a:srgbClr val="0070C0"/>
                </a:solidFill>
              </a:rPr>
              <a:t> -out </a:t>
            </a:r>
            <a:r>
              <a:rPr lang="en-US" sz="800" dirty="0" err="1">
                <a:solidFill>
                  <a:srgbClr val="0070C0"/>
                </a:solidFill>
              </a:rPr>
              <a:t>sp_private.pem</a:t>
            </a:r>
            <a:r>
              <a:rPr lang="en-US" sz="800" dirty="0">
                <a:solidFill>
                  <a:srgbClr val="0070C0"/>
                </a:solidFill>
              </a:rPr>
              <a:t> 2048</a:t>
            </a:r>
          </a:p>
          <a:p>
            <a:endParaRPr lang="en-US" sz="800" b="1" dirty="0">
              <a:solidFill>
                <a:prstClr val="black"/>
              </a:solidFill>
            </a:endParaRPr>
          </a:p>
          <a:p>
            <a:r>
              <a:rPr lang="en-US" sz="800" b="1" dirty="0">
                <a:solidFill>
                  <a:prstClr val="black"/>
                </a:solidFill>
              </a:rPr>
              <a:t>#Create a self-signed certificate (valid 1 year)</a:t>
            </a:r>
          </a:p>
          <a:p>
            <a:r>
              <a:rPr lang="en-US" sz="800" b="1" dirty="0" err="1">
                <a:solidFill>
                  <a:srgbClr val="0070C0"/>
                </a:solidFill>
              </a:rPr>
              <a:t>openssl</a:t>
            </a:r>
            <a:r>
              <a:rPr lang="en-US" sz="800" b="1" dirty="0">
                <a:solidFill>
                  <a:srgbClr val="0070C0"/>
                </a:solidFill>
              </a:rPr>
              <a:t> req -new -x509 -key </a:t>
            </a:r>
            <a:r>
              <a:rPr lang="en-US" sz="800" b="1" dirty="0" err="1">
                <a:solidFill>
                  <a:srgbClr val="0070C0"/>
                </a:solidFill>
              </a:rPr>
              <a:t>sp_private.pem</a:t>
            </a:r>
            <a:r>
              <a:rPr lang="en-US" sz="800" b="1" dirty="0">
                <a:solidFill>
                  <a:srgbClr val="0070C0"/>
                </a:solidFill>
              </a:rPr>
              <a:t> -out </a:t>
            </a:r>
            <a:r>
              <a:rPr lang="en-US" sz="800" b="1" dirty="0" err="1">
                <a:solidFill>
                  <a:srgbClr val="0070C0"/>
                </a:solidFill>
              </a:rPr>
              <a:t>sp_cert.pem</a:t>
            </a:r>
            <a:r>
              <a:rPr lang="en-US" sz="800" b="1" dirty="0">
                <a:solidFill>
                  <a:srgbClr val="0070C0"/>
                </a:solidFill>
              </a:rPr>
              <a:t> -days 365 -subj "/CN=</a:t>
            </a:r>
            <a:r>
              <a:rPr lang="en-US" sz="800" b="1" dirty="0" err="1">
                <a:solidFill>
                  <a:srgbClr val="0070C0"/>
                </a:solidFill>
              </a:rPr>
              <a:t>MySPNCert</a:t>
            </a:r>
            <a:r>
              <a:rPr lang="en-US" sz="800" b="1" dirty="0">
                <a:solidFill>
                  <a:srgbClr val="0070C0"/>
                </a:solidFill>
              </a:rPr>
              <a:t>"</a:t>
            </a:r>
          </a:p>
          <a:p>
            <a:endParaRPr lang="en-US" sz="800" b="1" dirty="0">
              <a:solidFill>
                <a:prstClr val="black"/>
              </a:solidFill>
            </a:endParaRPr>
          </a:p>
          <a:p>
            <a:r>
              <a:rPr lang="en-US" sz="800" b="1" dirty="0">
                <a:solidFill>
                  <a:prstClr val="black"/>
                </a:solidFill>
              </a:rPr>
              <a:t>#Create a Service Principal(Service account) in Azure with the Certificate</a:t>
            </a:r>
          </a:p>
          <a:p>
            <a:r>
              <a:rPr lang="en-US" sz="800" b="1" dirty="0" err="1">
                <a:solidFill>
                  <a:srgbClr val="0070C0"/>
                </a:solidFill>
              </a:rPr>
              <a:t>az</a:t>
            </a:r>
            <a:r>
              <a:rPr lang="en-US" sz="800" b="1" dirty="0">
                <a:solidFill>
                  <a:srgbClr val="0070C0"/>
                </a:solidFill>
              </a:rPr>
              <a:t> ad </a:t>
            </a:r>
            <a:r>
              <a:rPr lang="en-US" sz="800" b="1" dirty="0" err="1">
                <a:solidFill>
                  <a:srgbClr val="0070C0"/>
                </a:solidFill>
              </a:rPr>
              <a:t>sp</a:t>
            </a:r>
            <a:r>
              <a:rPr lang="en-US" sz="800" b="1" dirty="0">
                <a:solidFill>
                  <a:srgbClr val="0070C0"/>
                </a:solidFill>
              </a:rPr>
              <a:t> create-for-</a:t>
            </a:r>
            <a:r>
              <a:rPr lang="en-US" sz="800" b="1" dirty="0" err="1">
                <a:solidFill>
                  <a:srgbClr val="0070C0"/>
                </a:solidFill>
              </a:rPr>
              <a:t>rbac</a:t>
            </a:r>
            <a:r>
              <a:rPr lang="en-US" sz="800" b="1" dirty="0">
                <a:solidFill>
                  <a:srgbClr val="0070C0"/>
                </a:solidFill>
              </a:rPr>
              <a:t> --name "my-certificate-</a:t>
            </a:r>
            <a:r>
              <a:rPr lang="en-US" sz="800" b="1" dirty="0" err="1">
                <a:solidFill>
                  <a:srgbClr val="0070C0"/>
                </a:solidFill>
              </a:rPr>
              <a:t>spn</a:t>
            </a:r>
            <a:r>
              <a:rPr lang="en-US" sz="800" b="1" dirty="0">
                <a:solidFill>
                  <a:srgbClr val="0070C0"/>
                </a:solidFill>
              </a:rPr>
              <a:t>" --cert "@</a:t>
            </a:r>
            <a:r>
              <a:rPr lang="en-US" sz="800" b="1" dirty="0" err="1">
                <a:solidFill>
                  <a:srgbClr val="0070C0"/>
                </a:solidFill>
              </a:rPr>
              <a:t>sp_cert.pem</a:t>
            </a:r>
            <a:r>
              <a:rPr lang="en-US" sz="800" b="1" dirty="0">
                <a:solidFill>
                  <a:srgbClr val="0070C0"/>
                </a:solidFill>
              </a:rPr>
              <a:t>" --role </a:t>
            </a:r>
            <a:r>
              <a:rPr lang="en-US" sz="800" b="1" dirty="0">
                <a:solidFill>
                  <a:srgbClr val="00B050"/>
                </a:solidFill>
              </a:rPr>
              <a:t>Contributor</a:t>
            </a:r>
            <a:r>
              <a:rPr lang="en-US" sz="800" b="1" dirty="0">
                <a:solidFill>
                  <a:srgbClr val="0070C0"/>
                </a:solidFill>
              </a:rPr>
              <a:t> --scopes /</a:t>
            </a:r>
            <a:r>
              <a:rPr lang="en-US" sz="800" b="1" dirty="0" smtClean="0">
                <a:solidFill>
                  <a:srgbClr val="0070C0"/>
                </a:solidFill>
              </a:rPr>
              <a:t>subscriptions/</a:t>
            </a:r>
            <a:r>
              <a:rPr lang="en-IN" sz="800" dirty="0" smtClean="0">
                <a:solidFill>
                  <a:prstClr val="black"/>
                </a:solidFill>
              </a:rPr>
              <a:t>7b676d44-6580-4871-8821-52ad8aef4a14</a:t>
            </a:r>
            <a:endParaRPr lang="en-IN" sz="800" dirty="0">
              <a:solidFill>
                <a:prstClr val="black"/>
              </a:solidFill>
            </a:endParaRPr>
          </a:p>
          <a:p>
            <a:endParaRPr lang="en-US" sz="800" b="1" dirty="0">
              <a:solidFill>
                <a:prstClr val="black"/>
              </a:solidFill>
            </a:endParaRPr>
          </a:p>
          <a:p>
            <a:r>
              <a:rPr lang="en-US" sz="800" b="1" dirty="0">
                <a:solidFill>
                  <a:prstClr val="black"/>
                </a:solidFill>
              </a:rPr>
              <a:t>#Combine Key + Certificate into One .</a:t>
            </a:r>
            <a:r>
              <a:rPr lang="en-US" sz="800" b="1" dirty="0" err="1">
                <a:solidFill>
                  <a:prstClr val="black"/>
                </a:solidFill>
              </a:rPr>
              <a:t>pem</a:t>
            </a:r>
            <a:r>
              <a:rPr lang="en-US" sz="800" b="1" dirty="0">
                <a:solidFill>
                  <a:prstClr val="black"/>
                </a:solidFill>
              </a:rPr>
              <a:t> (for login)</a:t>
            </a:r>
          </a:p>
          <a:p>
            <a:r>
              <a:rPr lang="en-US" sz="800" b="1" dirty="0">
                <a:solidFill>
                  <a:srgbClr val="0070C0"/>
                </a:solidFill>
              </a:rPr>
              <a:t>cat </a:t>
            </a:r>
            <a:r>
              <a:rPr lang="en-US" sz="800" b="1" dirty="0" err="1">
                <a:solidFill>
                  <a:srgbClr val="0070C0"/>
                </a:solidFill>
              </a:rPr>
              <a:t>sp_private.pem</a:t>
            </a:r>
            <a:r>
              <a:rPr lang="en-US" sz="800" b="1" dirty="0">
                <a:solidFill>
                  <a:srgbClr val="0070C0"/>
                </a:solidFill>
              </a:rPr>
              <a:t> </a:t>
            </a:r>
            <a:r>
              <a:rPr lang="en-US" sz="800" b="1" dirty="0" err="1">
                <a:solidFill>
                  <a:srgbClr val="0070C0"/>
                </a:solidFill>
              </a:rPr>
              <a:t>sp_cert.pem</a:t>
            </a:r>
            <a:r>
              <a:rPr lang="en-US" sz="800" b="1" dirty="0">
                <a:solidFill>
                  <a:srgbClr val="0070C0"/>
                </a:solidFill>
              </a:rPr>
              <a:t> &gt; </a:t>
            </a:r>
            <a:r>
              <a:rPr lang="en-US" sz="800" b="1" dirty="0" err="1">
                <a:solidFill>
                  <a:srgbClr val="0070C0"/>
                </a:solidFill>
              </a:rPr>
              <a:t>azure_sp.pem</a:t>
            </a:r>
            <a:endParaRPr lang="en-US" sz="800" b="1" dirty="0">
              <a:solidFill>
                <a:srgbClr val="0070C0"/>
              </a:solidFill>
            </a:endParaRPr>
          </a:p>
          <a:p>
            <a:r>
              <a:rPr lang="en-US" sz="800" b="1" dirty="0">
                <a:solidFill>
                  <a:prstClr val="black"/>
                </a:solidFill>
              </a:rPr>
              <a:t>  </a:t>
            </a:r>
          </a:p>
          <a:p>
            <a:r>
              <a:rPr lang="en-US" sz="800" b="1" dirty="0">
                <a:solidFill>
                  <a:prstClr val="black"/>
                </a:solidFill>
              </a:rPr>
              <a:t>#Login Using the Certificate  (username is </a:t>
            </a:r>
            <a:r>
              <a:rPr lang="en-US" sz="800" b="1" dirty="0" err="1">
                <a:solidFill>
                  <a:prstClr val="black"/>
                </a:solidFill>
              </a:rPr>
              <a:t>appId</a:t>
            </a:r>
            <a:r>
              <a:rPr lang="en-US" sz="800" b="1" dirty="0">
                <a:solidFill>
                  <a:prstClr val="black"/>
                </a:solidFill>
              </a:rPr>
              <a:t>)</a:t>
            </a:r>
          </a:p>
          <a:p>
            <a:r>
              <a:rPr lang="en-US" sz="800" b="1" dirty="0" err="1">
                <a:solidFill>
                  <a:srgbClr val="0070C0"/>
                </a:solidFill>
              </a:rPr>
              <a:t>az</a:t>
            </a:r>
            <a:r>
              <a:rPr lang="en-US" sz="800" b="1" dirty="0">
                <a:solidFill>
                  <a:srgbClr val="0070C0"/>
                </a:solidFill>
              </a:rPr>
              <a:t> login --service-principal --username "d1df90e1-8e06-4fa6-8870-b3a46b12c086" --tenant "dc0ce96f-6b44-4a0c-b4eb-5cacfff7dd94" --certificate "</a:t>
            </a:r>
            <a:r>
              <a:rPr lang="en-US" sz="800" b="1" dirty="0" err="1">
                <a:solidFill>
                  <a:srgbClr val="0070C0"/>
                </a:solidFill>
              </a:rPr>
              <a:t>azure_sp.pem</a:t>
            </a:r>
            <a:r>
              <a:rPr lang="en-US" sz="800" b="1" dirty="0">
                <a:solidFill>
                  <a:srgbClr val="0070C0"/>
                </a:solidFill>
              </a:rPr>
              <a:t>"</a:t>
            </a:r>
            <a:endParaRPr lang="en-US" sz="1200" b="1" dirty="0">
              <a:solidFill>
                <a:srgbClr val="0070C0"/>
              </a:solidFill>
            </a:endParaRPr>
          </a:p>
        </p:txBody>
      </p:sp>
      <p:graphicFrame>
        <p:nvGraphicFramePr>
          <p:cNvPr id="28" name="Table 27"/>
          <p:cNvGraphicFramePr>
            <a:graphicFrameLocks noGrp="1"/>
          </p:cNvGraphicFramePr>
          <p:nvPr>
            <p:extLst>
              <p:ext uri="{D42A27DB-BD31-4B8C-83A1-F6EECF244321}">
                <p14:modId xmlns:p14="http://schemas.microsoft.com/office/powerpoint/2010/main" val="326737200"/>
              </p:ext>
            </p:extLst>
          </p:nvPr>
        </p:nvGraphicFramePr>
        <p:xfrm>
          <a:off x="8027090" y="60864"/>
          <a:ext cx="2717610" cy="1306625"/>
        </p:xfrm>
        <a:graphic>
          <a:graphicData uri="http://schemas.openxmlformats.org/drawingml/2006/table">
            <a:tbl>
              <a:tblPr/>
              <a:tblGrid>
                <a:gridCol w="868363">
                  <a:extLst>
                    <a:ext uri="{9D8B030D-6E8A-4147-A177-3AD203B41FA5}">
                      <a16:colId xmlns:a16="http://schemas.microsoft.com/office/drawing/2014/main" xmlns="" val="20000"/>
                    </a:ext>
                  </a:extLst>
                </a:gridCol>
                <a:gridCol w="1849247">
                  <a:extLst>
                    <a:ext uri="{9D8B030D-6E8A-4147-A177-3AD203B41FA5}">
                      <a16:colId xmlns:a16="http://schemas.microsoft.com/office/drawing/2014/main" xmlns="" val="20001"/>
                    </a:ext>
                  </a:extLst>
                </a:gridCol>
              </a:tblGrid>
              <a:tr h="314166">
                <a:tc>
                  <a:txBody>
                    <a:bodyPr/>
                    <a:lstStyle/>
                    <a:p>
                      <a:pPr algn="ctr" rtl="0" fontAlgn="ctr"/>
                      <a:r>
                        <a:rPr lang="en-IN" sz="1400" b="1" i="0" u="none" strike="noStrike" dirty="0" smtClean="0">
                          <a:solidFill>
                            <a:srgbClr val="000000"/>
                          </a:solidFill>
                          <a:effectLst/>
                          <a:latin typeface="Calibri"/>
                        </a:rPr>
                        <a:t>GCP</a:t>
                      </a:r>
                      <a:endParaRPr lang="en-IN" sz="1400" b="1" i="0" u="none" strike="noStrike" dirty="0">
                        <a:solidFill>
                          <a:srgbClr val="000000"/>
                        </a:solidFill>
                        <a:effectLst/>
                        <a:latin typeface="Calibri"/>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BB59"/>
                    </a:solidFill>
                  </a:tcPr>
                </a:tc>
                <a:tc>
                  <a:txBody>
                    <a:bodyPr/>
                    <a:lstStyle/>
                    <a:p>
                      <a:pPr algn="ctr" rtl="0" fontAlgn="ctr"/>
                      <a:r>
                        <a:rPr lang="en-IN" sz="1400" b="1" i="0" u="none" strike="noStrike" dirty="0">
                          <a:solidFill>
                            <a:srgbClr val="000000"/>
                          </a:solidFill>
                          <a:effectLst/>
                          <a:latin typeface="Calibri"/>
                        </a:rPr>
                        <a:t>Azure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BB59"/>
                    </a:solidFill>
                  </a:tcPr>
                </a:tc>
                <a:extLst>
                  <a:ext uri="{0D108BD9-81ED-4DB2-BD59-A6C34878D82A}">
                    <a16:rowId xmlns:a16="http://schemas.microsoft.com/office/drawing/2014/main" xmlns="" val="10000"/>
                  </a:ext>
                </a:extLst>
              </a:tr>
              <a:tr h="228554">
                <a:tc>
                  <a:txBody>
                    <a:bodyPr/>
                    <a:lstStyle/>
                    <a:p>
                      <a:pPr algn="l" rtl="0" fontAlgn="ctr"/>
                      <a:r>
                        <a:rPr lang="en-IN" sz="1200" b="0" i="0" u="none" strike="noStrike" dirty="0">
                          <a:solidFill>
                            <a:srgbClr val="000000"/>
                          </a:solidFill>
                          <a:effectLst/>
                          <a:latin typeface="Calibri"/>
                        </a:rPr>
                        <a:t> Organization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rtl="0" fontAlgn="ctr"/>
                      <a:r>
                        <a:rPr lang="en-IN" sz="1200" b="0" i="0" u="none" strike="noStrike" dirty="0">
                          <a:solidFill>
                            <a:srgbClr val="000000"/>
                          </a:solidFill>
                          <a:effectLst/>
                          <a:latin typeface="Calibri"/>
                        </a:rPr>
                        <a:t> Tenant/Directory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extLst>
                  <a:ext uri="{0D108BD9-81ED-4DB2-BD59-A6C34878D82A}">
                    <a16:rowId xmlns:a16="http://schemas.microsoft.com/office/drawing/2014/main" xmlns="" val="10001"/>
                  </a:ext>
                </a:extLst>
              </a:tr>
              <a:tr h="180975">
                <a:tc>
                  <a:txBody>
                    <a:bodyPr/>
                    <a:lstStyle/>
                    <a:p>
                      <a:pPr algn="l" rtl="0" fontAlgn="ctr"/>
                      <a:r>
                        <a:rPr lang="en-IN" sz="1200" b="0" i="0" u="none" strike="noStrike" dirty="0">
                          <a:solidFill>
                            <a:srgbClr val="000000"/>
                          </a:solidFill>
                          <a:effectLst/>
                          <a:latin typeface="Calibri"/>
                        </a:rPr>
                        <a:t> Folders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rtl="0" fontAlgn="ctr"/>
                      <a:r>
                        <a:rPr lang="en-IN" sz="1200" b="0" i="0" u="none" strike="noStrike" dirty="0">
                          <a:solidFill>
                            <a:srgbClr val="000000"/>
                          </a:solidFill>
                          <a:effectLst/>
                          <a:latin typeface="Calibri"/>
                        </a:rPr>
                        <a:t> Management Groups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extLst>
                  <a:ext uri="{0D108BD9-81ED-4DB2-BD59-A6C34878D82A}">
                    <a16:rowId xmlns:a16="http://schemas.microsoft.com/office/drawing/2014/main" xmlns="" val="10002"/>
                  </a:ext>
                </a:extLst>
              </a:tr>
              <a:tr h="171450">
                <a:tc>
                  <a:txBody>
                    <a:bodyPr/>
                    <a:lstStyle/>
                    <a:p>
                      <a:pPr algn="l" rtl="0" fontAlgn="ctr"/>
                      <a:r>
                        <a:rPr lang="en-IN" sz="1200" b="0" i="0" u="none" strike="noStrike" dirty="0">
                          <a:solidFill>
                            <a:srgbClr val="000000"/>
                          </a:solidFill>
                          <a:effectLst/>
                          <a:latin typeface="Calibri"/>
                        </a:rPr>
                        <a:t> Projects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rtl="0" fontAlgn="ctr"/>
                      <a:r>
                        <a:rPr lang="en-IN" sz="1200" b="0" i="0" u="none" strike="noStrike" dirty="0" smtClean="0">
                          <a:solidFill>
                            <a:srgbClr val="000000"/>
                          </a:solidFill>
                          <a:effectLst/>
                          <a:latin typeface="+mn-lt"/>
                        </a:rPr>
                        <a:t>Resource</a:t>
                      </a:r>
                      <a:r>
                        <a:rPr lang="en-IN" sz="1200" b="0" i="0" u="none" strike="noStrike" baseline="0" dirty="0" smtClean="0">
                          <a:solidFill>
                            <a:srgbClr val="000000"/>
                          </a:solidFill>
                          <a:effectLst/>
                          <a:latin typeface="+mn-lt"/>
                        </a:rPr>
                        <a:t> Group &gt;</a:t>
                      </a:r>
                      <a:r>
                        <a:rPr lang="en-IN" sz="1200" b="0" i="0" u="none" strike="noStrike" dirty="0" smtClean="0">
                          <a:solidFill>
                            <a:srgbClr val="000000"/>
                          </a:solidFill>
                          <a:effectLst/>
                          <a:latin typeface="Calibri"/>
                        </a:rPr>
                        <a:t> </a:t>
                      </a:r>
                      <a:r>
                        <a:rPr lang="en-IN" sz="1200" b="0" i="0" u="none" strike="noStrike" dirty="0">
                          <a:solidFill>
                            <a:srgbClr val="000000"/>
                          </a:solidFill>
                          <a:effectLst/>
                          <a:latin typeface="Calibri"/>
                        </a:rPr>
                        <a:t>Subscriptions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extLst>
                  <a:ext uri="{0D108BD9-81ED-4DB2-BD59-A6C34878D82A}">
                    <a16:rowId xmlns:a16="http://schemas.microsoft.com/office/drawing/2014/main" xmlns="" val="10003"/>
                  </a:ext>
                </a:extLst>
              </a:tr>
              <a:tr h="200025">
                <a:tc>
                  <a:txBody>
                    <a:bodyPr/>
                    <a:lstStyle/>
                    <a:p>
                      <a:pPr algn="l" rtl="0" fontAlgn="ctr"/>
                      <a:r>
                        <a:rPr lang="en-IN" sz="1200" b="0" i="0" u="none" strike="noStrike" dirty="0">
                          <a:solidFill>
                            <a:srgbClr val="000000"/>
                          </a:solidFill>
                          <a:effectLst/>
                          <a:latin typeface="Calibri"/>
                        </a:rPr>
                        <a:t> Resources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rtl="0" fontAlgn="ctr"/>
                      <a:r>
                        <a:rPr lang="en-IN" sz="1200" b="0" i="0" u="none" strike="noStrike" dirty="0" smtClean="0">
                          <a:solidFill>
                            <a:srgbClr val="000000"/>
                          </a:solidFill>
                          <a:effectLst/>
                          <a:latin typeface="Calibri"/>
                        </a:rPr>
                        <a:t>Resources</a:t>
                      </a:r>
                      <a:endParaRPr lang="en-IN" sz="1200" b="0" i="0" u="none" strike="noStrike" dirty="0">
                        <a:solidFill>
                          <a:srgbClr val="000000"/>
                        </a:solidFill>
                        <a:effectLst/>
                        <a:latin typeface="Calibri"/>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454852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54379" y="2519756"/>
            <a:ext cx="10363200" cy="1143000"/>
          </a:xfrm>
        </p:spPr>
        <p:txBody>
          <a:bodyPr vert="horz" lIns="91440" tIns="45720" rIns="91440" bIns="45720" rtlCol="0" anchor="ctr">
            <a:noAutofit/>
          </a:bodyPr>
          <a:lstStyle/>
          <a:p>
            <a:r>
              <a:rPr lang="en-US" sz="4800" b="1" dirty="0" err="1">
                <a:solidFill>
                  <a:srgbClr val="FF0000"/>
                </a:solidFill>
              </a:rPr>
              <a:t>Az</a:t>
            </a:r>
            <a:r>
              <a:rPr lang="en-US" sz="4800" b="1" dirty="0">
                <a:solidFill>
                  <a:srgbClr val="FF0000"/>
                </a:solidFill>
              </a:rPr>
              <a:t> – </a:t>
            </a:r>
            <a:r>
              <a:rPr lang="en-US" sz="4800" b="1" dirty="0" smtClean="0">
                <a:solidFill>
                  <a:srgbClr val="FF0000"/>
                </a:solidFill>
              </a:rPr>
              <a:t>SECURITY (core)</a:t>
            </a:r>
            <a:endParaRPr lang="cs-CZ" sz="4800" b="1" dirty="0">
              <a:solidFill>
                <a:srgbClr val="FF0000"/>
              </a:solidFill>
            </a:endParaRPr>
          </a:p>
        </p:txBody>
      </p:sp>
      <p:sp>
        <p:nvSpPr>
          <p:cNvPr id="2" name="Rectangle 1"/>
          <p:cNvSpPr/>
          <p:nvPr/>
        </p:nvSpPr>
        <p:spPr>
          <a:xfrm>
            <a:off x="754379" y="1805940"/>
            <a:ext cx="1686105" cy="569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Autho</a:t>
            </a:r>
            <a:r>
              <a:rPr lang="en-IN" dirty="0" smtClean="0">
                <a:solidFill>
                  <a:srgbClr val="FF0000"/>
                </a:solidFill>
              </a:rPr>
              <a:t>riz</a:t>
            </a:r>
            <a:r>
              <a:rPr lang="en-IN" dirty="0" smtClean="0"/>
              <a:t>ation</a:t>
            </a:r>
          </a:p>
          <a:p>
            <a:pPr algn="ctr"/>
            <a:r>
              <a:rPr lang="en-IN" sz="1100" dirty="0" smtClean="0"/>
              <a:t>Whether he create a resource</a:t>
            </a:r>
            <a:endParaRPr lang="en-IN" sz="1100" dirty="0"/>
          </a:p>
        </p:txBody>
      </p:sp>
      <p:sp>
        <p:nvSpPr>
          <p:cNvPr id="4" name="Rectangle 3"/>
          <p:cNvSpPr/>
          <p:nvPr/>
        </p:nvSpPr>
        <p:spPr>
          <a:xfrm>
            <a:off x="754379" y="1129997"/>
            <a:ext cx="1686105" cy="472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Authen</a:t>
            </a:r>
            <a:r>
              <a:rPr lang="en-IN" dirty="0" smtClean="0">
                <a:solidFill>
                  <a:srgbClr val="FF0000"/>
                </a:solidFill>
              </a:rPr>
              <a:t>tic</a:t>
            </a:r>
            <a:r>
              <a:rPr lang="en-IN" dirty="0" smtClean="0"/>
              <a:t>ation</a:t>
            </a:r>
          </a:p>
          <a:p>
            <a:pPr algn="ctr"/>
            <a:r>
              <a:rPr lang="en-IN" sz="1200" dirty="0" smtClean="0"/>
              <a:t>If a user login</a:t>
            </a:r>
            <a:endParaRPr lang="en-IN" sz="1200" dirty="0"/>
          </a:p>
        </p:txBody>
      </p:sp>
      <p:sp>
        <p:nvSpPr>
          <p:cNvPr id="3" name="Rectangle 2"/>
          <p:cNvSpPr/>
          <p:nvPr/>
        </p:nvSpPr>
        <p:spPr>
          <a:xfrm>
            <a:off x="3421380" y="621694"/>
            <a:ext cx="2316480" cy="4572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IAM</a:t>
            </a:r>
          </a:p>
          <a:p>
            <a:pPr algn="ctr"/>
            <a:r>
              <a:rPr lang="en-IN" sz="1200" dirty="0" smtClean="0"/>
              <a:t>Identity &amp; Access Management</a:t>
            </a:r>
            <a:endParaRPr lang="en-IN" sz="1200" dirty="0"/>
          </a:p>
        </p:txBody>
      </p:sp>
      <p:sp>
        <p:nvSpPr>
          <p:cNvPr id="6" name="Rectangle 5"/>
          <p:cNvSpPr/>
          <p:nvPr/>
        </p:nvSpPr>
        <p:spPr>
          <a:xfrm>
            <a:off x="3421380" y="1188265"/>
            <a:ext cx="231648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 (Who)</a:t>
            </a:r>
          </a:p>
          <a:p>
            <a:pPr algn="ctr"/>
            <a:r>
              <a:rPr lang="en-IN" sz="1200" dirty="0" smtClean="0"/>
              <a:t>Identity</a:t>
            </a:r>
            <a:endParaRPr lang="en-IN" sz="1200" dirty="0"/>
          </a:p>
        </p:txBody>
      </p:sp>
      <p:sp>
        <p:nvSpPr>
          <p:cNvPr id="7" name="Rectangle 6"/>
          <p:cNvSpPr/>
          <p:nvPr/>
        </p:nvSpPr>
        <p:spPr>
          <a:xfrm>
            <a:off x="3421380" y="1805940"/>
            <a:ext cx="231648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AM (What &amp; Where)</a:t>
            </a:r>
          </a:p>
          <a:p>
            <a:pPr algn="ctr"/>
            <a:r>
              <a:rPr lang="en-IN" sz="1200" dirty="0" smtClean="0"/>
              <a:t>Access Management</a:t>
            </a:r>
            <a:endParaRPr lang="en-IN" sz="1200" dirty="0"/>
          </a:p>
        </p:txBody>
      </p:sp>
      <p:cxnSp>
        <p:nvCxnSpPr>
          <p:cNvPr id="8" name="Straight Arrow Connector 7"/>
          <p:cNvCxnSpPr>
            <a:stCxn id="6" idx="1"/>
            <a:endCxn id="4" idx="3"/>
          </p:cNvCxnSpPr>
          <p:nvPr/>
        </p:nvCxnSpPr>
        <p:spPr>
          <a:xfrm flipH="1" flipV="1">
            <a:off x="2440484" y="1366444"/>
            <a:ext cx="980896" cy="504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1"/>
            <a:endCxn id="2" idx="3"/>
          </p:cNvCxnSpPr>
          <p:nvPr/>
        </p:nvCxnSpPr>
        <p:spPr>
          <a:xfrm flipH="1">
            <a:off x="2440484" y="2034540"/>
            <a:ext cx="980896" cy="56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6568440" y="1422248"/>
            <a:ext cx="231648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Role(What)</a:t>
            </a:r>
          </a:p>
          <a:p>
            <a:pPr algn="ctr"/>
            <a:r>
              <a:rPr lang="en-IN" sz="1200" dirty="0" smtClean="0"/>
              <a:t>Owner/Contributor/Reader</a:t>
            </a:r>
            <a:endParaRPr lang="en-IN" sz="1200" dirty="0"/>
          </a:p>
        </p:txBody>
      </p:sp>
      <p:sp>
        <p:nvSpPr>
          <p:cNvPr id="14" name="Rectangle 13"/>
          <p:cNvSpPr/>
          <p:nvPr/>
        </p:nvSpPr>
        <p:spPr>
          <a:xfrm>
            <a:off x="6530340" y="621694"/>
            <a:ext cx="2316480" cy="4572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RBAC</a:t>
            </a:r>
          </a:p>
          <a:p>
            <a:pPr algn="ctr"/>
            <a:r>
              <a:rPr lang="en-IN" sz="1200" dirty="0" smtClean="0"/>
              <a:t>Role Based Access Control</a:t>
            </a:r>
            <a:endParaRPr lang="en-IN" sz="1200" dirty="0"/>
          </a:p>
        </p:txBody>
      </p:sp>
      <p:sp>
        <p:nvSpPr>
          <p:cNvPr id="15" name="Rectangle 14"/>
          <p:cNvSpPr/>
          <p:nvPr/>
        </p:nvSpPr>
        <p:spPr>
          <a:xfrm>
            <a:off x="6568440" y="2062556"/>
            <a:ext cx="231648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Access Control(Where)</a:t>
            </a:r>
          </a:p>
          <a:p>
            <a:pPr algn="ctr"/>
            <a:r>
              <a:rPr lang="en-IN" sz="1200" dirty="0" smtClean="0"/>
              <a:t>MG/Subs/RG/Res level</a:t>
            </a:r>
            <a:endParaRPr lang="en-IN" sz="1200" dirty="0"/>
          </a:p>
        </p:txBody>
      </p:sp>
      <p:cxnSp>
        <p:nvCxnSpPr>
          <p:cNvPr id="16" name="Straight Arrow Connector 15"/>
          <p:cNvCxnSpPr>
            <a:stCxn id="7" idx="3"/>
            <a:endCxn id="13" idx="1"/>
          </p:cNvCxnSpPr>
          <p:nvPr/>
        </p:nvCxnSpPr>
        <p:spPr>
          <a:xfrm flipV="1">
            <a:off x="5737860" y="1650848"/>
            <a:ext cx="830580" cy="3836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7" idx="3"/>
          </p:cNvCxnSpPr>
          <p:nvPr/>
        </p:nvCxnSpPr>
        <p:spPr>
          <a:xfrm>
            <a:off x="5737860" y="2034540"/>
            <a:ext cx="830580" cy="2566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425011" y="3824942"/>
            <a:ext cx="4095287" cy="224257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smtClean="0"/>
              <a:t>Overall Security Concepts in Azure</a:t>
            </a:r>
            <a:endParaRPr lang="en-IN" sz="1400" b="1" dirty="0" smtClean="0"/>
          </a:p>
          <a:p>
            <a:pPr marL="342900" indent="-342900">
              <a:buAutoNum type="arabicPeriod"/>
            </a:pPr>
            <a:r>
              <a:rPr lang="en-IN" sz="1400" b="1" dirty="0" smtClean="0"/>
              <a:t>IAM – RBAC (</a:t>
            </a:r>
            <a:r>
              <a:rPr lang="en-IN" sz="1400" b="1" dirty="0" err="1" smtClean="0"/>
              <a:t>Usr</a:t>
            </a:r>
            <a:r>
              <a:rPr lang="en-IN" sz="1400" b="1" dirty="0" smtClean="0"/>
              <a:t>/Grp/SP/Managed Identity)</a:t>
            </a:r>
          </a:p>
          <a:p>
            <a:r>
              <a:rPr lang="en-IN" sz="1400" b="1" dirty="0" smtClean="0"/>
              <a:t>Specific to Storage resource:</a:t>
            </a:r>
          </a:p>
          <a:p>
            <a:pPr marL="228600" indent="-228600">
              <a:buAutoNum type="arabicPeriod"/>
            </a:pPr>
            <a:r>
              <a:rPr lang="en-IN" sz="1400" dirty="0" smtClean="0"/>
              <a:t>  Access Keys (Storage Resource level)</a:t>
            </a:r>
          </a:p>
          <a:p>
            <a:pPr marL="228600" indent="-228600">
              <a:buAutoNum type="arabicPeriod"/>
            </a:pPr>
            <a:r>
              <a:rPr lang="en-IN" sz="1400" dirty="0"/>
              <a:t> </a:t>
            </a:r>
            <a:r>
              <a:rPr lang="en-IN" sz="1400" dirty="0" smtClean="0"/>
              <a:t> SAS Tokens (Shared Access Signature)</a:t>
            </a:r>
          </a:p>
          <a:p>
            <a:pPr marL="228600" indent="-228600">
              <a:buAutoNum type="arabicPeriod"/>
            </a:pPr>
            <a:r>
              <a:rPr lang="en-IN" sz="1400" dirty="0"/>
              <a:t> </a:t>
            </a:r>
            <a:r>
              <a:rPr lang="en-IN" sz="1400" dirty="0" smtClean="0"/>
              <a:t> ACLs (Access Control List)</a:t>
            </a:r>
          </a:p>
          <a:p>
            <a:pPr marL="228600" indent="-228600">
              <a:buAutoNum type="arabicPeriod"/>
            </a:pPr>
            <a:endParaRPr lang="en-IN" sz="1400" dirty="0"/>
          </a:p>
        </p:txBody>
      </p:sp>
    </p:spTree>
    <p:extLst>
      <p:ext uri="{BB962C8B-B14F-4D97-AF65-F5344CB8AC3E}">
        <p14:creationId xmlns:p14="http://schemas.microsoft.com/office/powerpoint/2010/main" val="140938251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C:\Users\moham\Downloads\azure hierarchy2.jpg"/>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8000"/>
                    </a14:imgEffect>
                  </a14:imgLayer>
                </a14:imgProps>
              </a:ext>
              <a:ext uri="{28A0092B-C50C-407E-A947-70E740481C1C}">
                <a14:useLocalDpi xmlns:a14="http://schemas.microsoft.com/office/drawing/2010/main" val="0"/>
              </a:ext>
            </a:extLst>
          </a:blip>
          <a:srcRect/>
          <a:stretch>
            <a:fillRect/>
          </a:stretch>
        </p:blipFill>
        <p:spPr bwMode="auto">
          <a:xfrm>
            <a:off x="3153179" y="476739"/>
            <a:ext cx="8572591" cy="571053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7" name="Smiley Face 6"/>
          <p:cNvSpPr/>
          <p:nvPr/>
        </p:nvSpPr>
        <p:spPr>
          <a:xfrm>
            <a:off x="228956" y="1686836"/>
            <a:ext cx="457200" cy="457200"/>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solidFill>
                <a:prstClr val="white"/>
              </a:solidFill>
            </a:endParaRPr>
          </a:p>
        </p:txBody>
      </p:sp>
      <p:sp>
        <p:nvSpPr>
          <p:cNvPr id="8" name="TextBox 7"/>
          <p:cNvSpPr txBox="1"/>
          <p:nvPr/>
        </p:nvSpPr>
        <p:spPr>
          <a:xfrm>
            <a:off x="75309" y="1357501"/>
            <a:ext cx="460382" cy="369332"/>
          </a:xfrm>
          <a:prstGeom prst="rect">
            <a:avLst/>
          </a:prstGeom>
          <a:noFill/>
        </p:spPr>
        <p:txBody>
          <a:bodyPr wrap="none" rtlCol="0">
            <a:spAutoFit/>
          </a:bodyPr>
          <a:lstStyle/>
          <a:p>
            <a:r>
              <a:rPr lang="en-IN" b="1" dirty="0" smtClean="0">
                <a:solidFill>
                  <a:prstClr val="black"/>
                </a:solidFill>
              </a:rPr>
              <a:t>HR</a:t>
            </a:r>
            <a:endParaRPr lang="en-IN" b="1" dirty="0">
              <a:solidFill>
                <a:prstClr val="black"/>
              </a:solidFill>
            </a:endParaRPr>
          </a:p>
        </p:txBody>
      </p:sp>
      <p:sp>
        <p:nvSpPr>
          <p:cNvPr id="9" name="TextBox 8"/>
          <p:cNvSpPr txBox="1"/>
          <p:nvPr/>
        </p:nvSpPr>
        <p:spPr>
          <a:xfrm>
            <a:off x="1459354" y="1357501"/>
            <a:ext cx="482824" cy="369332"/>
          </a:xfrm>
          <a:prstGeom prst="rect">
            <a:avLst/>
          </a:prstGeom>
          <a:noFill/>
        </p:spPr>
        <p:txBody>
          <a:bodyPr wrap="none" rtlCol="0">
            <a:spAutoFit/>
          </a:bodyPr>
          <a:lstStyle/>
          <a:p>
            <a:r>
              <a:rPr lang="en-IN" b="1" dirty="0" smtClean="0">
                <a:solidFill>
                  <a:prstClr val="black"/>
                </a:solidFill>
              </a:rPr>
              <a:t>JSE</a:t>
            </a:r>
            <a:endParaRPr lang="en-IN" b="1" dirty="0">
              <a:solidFill>
                <a:prstClr val="black"/>
              </a:solidFill>
            </a:endParaRPr>
          </a:p>
        </p:txBody>
      </p:sp>
      <p:sp>
        <p:nvSpPr>
          <p:cNvPr id="10" name="Smiley Face 9"/>
          <p:cNvSpPr/>
          <p:nvPr/>
        </p:nvSpPr>
        <p:spPr>
          <a:xfrm>
            <a:off x="1761508" y="1621435"/>
            <a:ext cx="457200" cy="45720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solidFill>
                <a:prstClr val="white"/>
              </a:solidFill>
            </a:endParaRPr>
          </a:p>
        </p:txBody>
      </p:sp>
      <p:sp>
        <p:nvSpPr>
          <p:cNvPr id="15" name="Title 1"/>
          <p:cNvSpPr txBox="1">
            <a:spLocks/>
          </p:cNvSpPr>
          <p:nvPr/>
        </p:nvSpPr>
        <p:spPr>
          <a:xfrm>
            <a:off x="-251013" y="-10095"/>
            <a:ext cx="5118847" cy="48683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smtClean="0">
                <a:solidFill>
                  <a:srgbClr val="FF0000"/>
                </a:solidFill>
              </a:rPr>
              <a:t>    IAM (RBAC) – Ms Entra/Ms AD</a:t>
            </a:r>
            <a:endParaRPr lang="en-US" sz="2800" b="1" dirty="0">
              <a:solidFill>
                <a:srgbClr val="FF0000"/>
              </a:solidFill>
            </a:endParaRPr>
          </a:p>
        </p:txBody>
      </p:sp>
      <p:sp>
        <p:nvSpPr>
          <p:cNvPr id="3" name="Rectangle 2"/>
          <p:cNvSpPr/>
          <p:nvPr/>
        </p:nvSpPr>
        <p:spPr>
          <a:xfrm>
            <a:off x="9215" y="2482775"/>
            <a:ext cx="2744803" cy="707886"/>
          </a:xfrm>
          <a:prstGeom prst="rect">
            <a:avLst/>
          </a:prstGeom>
        </p:spPr>
        <p:txBody>
          <a:bodyPr wrap="square">
            <a:spAutoFit/>
          </a:bodyPr>
          <a:lstStyle/>
          <a:p>
            <a:r>
              <a:rPr lang="en-IN" sz="1000" b="1" dirty="0" smtClean="0">
                <a:solidFill>
                  <a:prstClr val="black"/>
                </a:solidFill>
              </a:rPr>
              <a:t>IAM – Identity(Authentication) &amp; Access Management (RBAC-Authorization)</a:t>
            </a:r>
          </a:p>
          <a:p>
            <a:r>
              <a:rPr lang="en-IN" sz="1000" b="1" dirty="0" smtClean="0">
                <a:solidFill>
                  <a:prstClr val="black"/>
                </a:solidFill>
              </a:rPr>
              <a:t>RBAC – Role Based Access Control (Authorization)</a:t>
            </a:r>
            <a:endParaRPr lang="en-IN" sz="1000" dirty="0">
              <a:solidFill>
                <a:prstClr val="black"/>
              </a:solidFill>
            </a:endParaRPr>
          </a:p>
        </p:txBody>
      </p:sp>
      <p:grpSp>
        <p:nvGrpSpPr>
          <p:cNvPr id="20" name="Group 19"/>
          <p:cNvGrpSpPr/>
          <p:nvPr/>
        </p:nvGrpSpPr>
        <p:grpSpPr>
          <a:xfrm>
            <a:off x="230594" y="3654750"/>
            <a:ext cx="2523424" cy="1700256"/>
            <a:chOff x="2565697" y="169593"/>
            <a:chExt cx="2523424" cy="1700256"/>
          </a:xfrm>
        </p:grpSpPr>
        <p:pic>
          <p:nvPicPr>
            <p:cNvPr id="2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5697" y="512629"/>
              <a:ext cx="2523424" cy="13572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2" name="Rectangle 21"/>
            <p:cNvSpPr/>
            <p:nvPr/>
          </p:nvSpPr>
          <p:spPr>
            <a:xfrm>
              <a:off x="3502960" y="169593"/>
              <a:ext cx="607859" cy="369332"/>
            </a:xfrm>
            <a:prstGeom prst="rect">
              <a:avLst/>
            </a:prstGeom>
          </p:spPr>
          <p:txBody>
            <a:bodyPr wrap="none">
              <a:spAutoFit/>
            </a:bodyPr>
            <a:lstStyle/>
            <a:p>
              <a:r>
                <a:rPr lang="en-US" b="1" dirty="0">
                  <a:solidFill>
                    <a:srgbClr val="44546A"/>
                  </a:solidFill>
                  <a:latin typeface="Helvetica" pitchFamily="50" charset="0"/>
                </a:rPr>
                <a:t>IAM</a:t>
              </a:r>
              <a:endParaRPr lang="en-IN" dirty="0">
                <a:solidFill>
                  <a:prstClr val="black"/>
                </a:solidFill>
              </a:endParaRPr>
            </a:p>
          </p:txBody>
        </p:sp>
      </p:grpSp>
      <p:sp>
        <p:nvSpPr>
          <p:cNvPr id="23" name="Rectangle 22"/>
          <p:cNvSpPr/>
          <p:nvPr/>
        </p:nvSpPr>
        <p:spPr>
          <a:xfrm>
            <a:off x="741051" y="4768972"/>
            <a:ext cx="878767" cy="246221"/>
          </a:xfrm>
          <a:prstGeom prst="rect">
            <a:avLst/>
          </a:prstGeom>
        </p:spPr>
        <p:txBody>
          <a:bodyPr wrap="none">
            <a:spAutoFit/>
          </a:bodyPr>
          <a:lstStyle/>
          <a:p>
            <a:r>
              <a:rPr lang="en-US" sz="1000" b="1" dirty="0" smtClean="0">
                <a:solidFill>
                  <a:srgbClr val="44546A"/>
                </a:solidFill>
                <a:latin typeface="Helvetica" pitchFamily="50" charset="0"/>
              </a:rPr>
              <a:t>RBAC (AM)</a:t>
            </a:r>
            <a:endParaRPr lang="en-IN" sz="1000" dirty="0">
              <a:solidFill>
                <a:prstClr val="black"/>
              </a:solidFill>
            </a:endParaRPr>
          </a:p>
        </p:txBody>
      </p:sp>
      <p:sp>
        <p:nvSpPr>
          <p:cNvPr id="24" name="TextBox 23"/>
          <p:cNvSpPr txBox="1"/>
          <p:nvPr/>
        </p:nvSpPr>
        <p:spPr>
          <a:xfrm>
            <a:off x="239140" y="502377"/>
            <a:ext cx="704039" cy="369332"/>
          </a:xfrm>
          <a:prstGeom prst="rect">
            <a:avLst/>
          </a:prstGeom>
          <a:noFill/>
        </p:spPr>
        <p:txBody>
          <a:bodyPr wrap="none" rtlCol="0">
            <a:spAutoFit/>
          </a:bodyPr>
          <a:lstStyle/>
          <a:p>
            <a:r>
              <a:rPr lang="en-IN" b="1" dirty="0" smtClean="0">
                <a:solidFill>
                  <a:prstClr val="black"/>
                </a:solidFill>
              </a:rPr>
              <a:t>IT DH</a:t>
            </a:r>
            <a:endParaRPr lang="en-IN" b="1" dirty="0">
              <a:solidFill>
                <a:prstClr val="black"/>
              </a:solidFill>
            </a:endParaRPr>
          </a:p>
        </p:txBody>
      </p:sp>
      <p:sp>
        <p:nvSpPr>
          <p:cNvPr id="25" name="Smiley Face 24"/>
          <p:cNvSpPr/>
          <p:nvPr/>
        </p:nvSpPr>
        <p:spPr>
          <a:xfrm>
            <a:off x="334947" y="785420"/>
            <a:ext cx="457200" cy="457200"/>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solidFill>
                <a:prstClr val="white"/>
              </a:solidFill>
            </a:endParaRPr>
          </a:p>
        </p:txBody>
      </p:sp>
      <p:sp>
        <p:nvSpPr>
          <p:cNvPr id="33" name="TextBox 32"/>
          <p:cNvSpPr txBox="1"/>
          <p:nvPr/>
        </p:nvSpPr>
        <p:spPr>
          <a:xfrm>
            <a:off x="1340693" y="497123"/>
            <a:ext cx="1393715" cy="369332"/>
          </a:xfrm>
          <a:prstGeom prst="rect">
            <a:avLst/>
          </a:prstGeom>
          <a:noFill/>
        </p:spPr>
        <p:txBody>
          <a:bodyPr wrap="none" rtlCol="0">
            <a:spAutoFit/>
          </a:bodyPr>
          <a:lstStyle/>
          <a:p>
            <a:r>
              <a:rPr lang="en-IN" b="1" dirty="0" smtClean="0">
                <a:solidFill>
                  <a:prstClr val="black"/>
                </a:solidFill>
              </a:rPr>
              <a:t>Accountant1</a:t>
            </a:r>
            <a:endParaRPr lang="en-IN" b="1" dirty="0">
              <a:solidFill>
                <a:prstClr val="black"/>
              </a:solidFill>
            </a:endParaRPr>
          </a:p>
        </p:txBody>
      </p:sp>
      <p:sp>
        <p:nvSpPr>
          <p:cNvPr id="34" name="Smiley Face 33"/>
          <p:cNvSpPr/>
          <p:nvPr/>
        </p:nvSpPr>
        <p:spPr>
          <a:xfrm>
            <a:off x="1664822" y="785420"/>
            <a:ext cx="457200" cy="457200"/>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solidFill>
                <a:prstClr val="white"/>
              </a:solidFill>
            </a:endParaRPr>
          </a:p>
        </p:txBody>
      </p:sp>
      <p:sp>
        <p:nvSpPr>
          <p:cNvPr id="40" name="Rectangle 39"/>
          <p:cNvSpPr/>
          <p:nvPr/>
        </p:nvSpPr>
        <p:spPr>
          <a:xfrm>
            <a:off x="733431" y="5167461"/>
            <a:ext cx="878767" cy="246221"/>
          </a:xfrm>
          <a:prstGeom prst="rect">
            <a:avLst/>
          </a:prstGeom>
        </p:spPr>
        <p:txBody>
          <a:bodyPr wrap="none">
            <a:spAutoFit/>
          </a:bodyPr>
          <a:lstStyle/>
          <a:p>
            <a:r>
              <a:rPr lang="en-US" sz="1000" b="1" dirty="0" smtClean="0">
                <a:solidFill>
                  <a:srgbClr val="44546A"/>
                </a:solidFill>
                <a:latin typeface="Helvetica" pitchFamily="50" charset="0"/>
              </a:rPr>
              <a:t>RBAC (AM)</a:t>
            </a:r>
            <a:endParaRPr lang="en-IN" sz="1000" dirty="0">
              <a:solidFill>
                <a:prstClr val="black"/>
              </a:solidFill>
            </a:endParaRPr>
          </a:p>
        </p:txBody>
      </p:sp>
      <p:sp>
        <p:nvSpPr>
          <p:cNvPr id="39" name="Rectangle 38"/>
          <p:cNvSpPr/>
          <p:nvPr/>
        </p:nvSpPr>
        <p:spPr>
          <a:xfrm>
            <a:off x="698321" y="4382988"/>
            <a:ext cx="797013" cy="246221"/>
          </a:xfrm>
          <a:prstGeom prst="rect">
            <a:avLst/>
          </a:prstGeom>
        </p:spPr>
        <p:txBody>
          <a:bodyPr wrap="none">
            <a:spAutoFit/>
          </a:bodyPr>
          <a:lstStyle/>
          <a:p>
            <a:r>
              <a:rPr lang="en-US" sz="1000" b="1" dirty="0" smtClean="0">
                <a:solidFill>
                  <a:srgbClr val="44546A"/>
                </a:solidFill>
                <a:latin typeface="Helvetica" pitchFamily="50" charset="0"/>
              </a:rPr>
              <a:t>Identity (I)</a:t>
            </a:r>
            <a:endParaRPr lang="en-IN" sz="1000" dirty="0">
              <a:solidFill>
                <a:prstClr val="black"/>
              </a:solidFill>
            </a:endParaRPr>
          </a:p>
        </p:txBody>
      </p:sp>
      <p:sp>
        <p:nvSpPr>
          <p:cNvPr id="41" name="Smiley Face 40"/>
          <p:cNvSpPr/>
          <p:nvPr/>
        </p:nvSpPr>
        <p:spPr>
          <a:xfrm>
            <a:off x="6430947" y="2144036"/>
            <a:ext cx="366093" cy="366093"/>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solidFill>
                <a:prstClr val="white"/>
              </a:solidFill>
            </a:endParaRPr>
          </a:p>
        </p:txBody>
      </p:sp>
      <p:sp>
        <p:nvSpPr>
          <p:cNvPr id="2" name="Rectangle 1"/>
          <p:cNvSpPr/>
          <p:nvPr/>
        </p:nvSpPr>
        <p:spPr>
          <a:xfrm>
            <a:off x="6781799" y="2094494"/>
            <a:ext cx="984565" cy="400110"/>
          </a:xfrm>
          <a:prstGeom prst="rect">
            <a:avLst/>
          </a:prstGeom>
        </p:spPr>
        <p:txBody>
          <a:bodyPr wrap="none">
            <a:spAutoFit/>
          </a:bodyPr>
          <a:lstStyle/>
          <a:p>
            <a:r>
              <a:rPr lang="en-IN" sz="1000" b="1" dirty="0" smtClean="0">
                <a:solidFill>
                  <a:prstClr val="black"/>
                </a:solidFill>
              </a:rPr>
              <a:t>Identity/</a:t>
            </a:r>
          </a:p>
          <a:p>
            <a:r>
              <a:rPr lang="en-IN" sz="1000" b="1" dirty="0" smtClean="0">
                <a:solidFill>
                  <a:prstClr val="black"/>
                </a:solidFill>
              </a:rPr>
              <a:t>Authentication</a:t>
            </a:r>
            <a:endParaRPr lang="en-IN" sz="1000" dirty="0"/>
          </a:p>
        </p:txBody>
      </p:sp>
      <p:sp>
        <p:nvSpPr>
          <p:cNvPr id="42" name="Smiley Face 41"/>
          <p:cNvSpPr/>
          <p:nvPr/>
        </p:nvSpPr>
        <p:spPr>
          <a:xfrm>
            <a:off x="4964397" y="3043273"/>
            <a:ext cx="366093" cy="366093"/>
          </a:xfrm>
          <a:prstGeom prst="smileyFac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solidFill>
                <a:prstClr val="white"/>
              </a:solidFill>
            </a:endParaRPr>
          </a:p>
        </p:txBody>
      </p:sp>
      <p:sp>
        <p:nvSpPr>
          <p:cNvPr id="43" name="Rectangle 42"/>
          <p:cNvSpPr/>
          <p:nvPr/>
        </p:nvSpPr>
        <p:spPr>
          <a:xfrm>
            <a:off x="5284770" y="2994016"/>
            <a:ext cx="1018227" cy="400110"/>
          </a:xfrm>
          <a:prstGeom prst="rect">
            <a:avLst/>
          </a:prstGeom>
        </p:spPr>
        <p:txBody>
          <a:bodyPr wrap="none">
            <a:spAutoFit/>
          </a:bodyPr>
          <a:lstStyle/>
          <a:p>
            <a:r>
              <a:rPr lang="en-IN" sz="1000" b="1" dirty="0" smtClean="0">
                <a:solidFill>
                  <a:prstClr val="black"/>
                </a:solidFill>
              </a:rPr>
              <a:t>Owner (What)</a:t>
            </a:r>
          </a:p>
          <a:p>
            <a:r>
              <a:rPr lang="en-IN" sz="1000" b="1" dirty="0" smtClean="0">
                <a:solidFill>
                  <a:prstClr val="black"/>
                </a:solidFill>
              </a:rPr>
              <a:t>IT </a:t>
            </a:r>
            <a:r>
              <a:rPr lang="en-IN" sz="1000" b="1" dirty="0" err="1" smtClean="0">
                <a:solidFill>
                  <a:prstClr val="black"/>
                </a:solidFill>
              </a:rPr>
              <a:t>dept</a:t>
            </a:r>
            <a:r>
              <a:rPr lang="en-IN" sz="1000" b="1" dirty="0" smtClean="0">
                <a:solidFill>
                  <a:prstClr val="black"/>
                </a:solidFill>
              </a:rPr>
              <a:t> (Where)</a:t>
            </a:r>
          </a:p>
        </p:txBody>
      </p:sp>
      <p:sp>
        <p:nvSpPr>
          <p:cNvPr id="44" name="Smiley Face 43"/>
          <p:cNvSpPr/>
          <p:nvPr/>
        </p:nvSpPr>
        <p:spPr>
          <a:xfrm>
            <a:off x="4411645" y="2327082"/>
            <a:ext cx="366093" cy="366093"/>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solidFill>
                <a:prstClr val="white"/>
              </a:solidFill>
            </a:endParaRPr>
          </a:p>
        </p:txBody>
      </p:sp>
      <p:sp>
        <p:nvSpPr>
          <p:cNvPr id="45" name="Rectangle 44"/>
          <p:cNvSpPr/>
          <p:nvPr/>
        </p:nvSpPr>
        <p:spPr>
          <a:xfrm>
            <a:off x="4724398" y="2288667"/>
            <a:ext cx="984565" cy="400110"/>
          </a:xfrm>
          <a:prstGeom prst="rect">
            <a:avLst/>
          </a:prstGeom>
        </p:spPr>
        <p:txBody>
          <a:bodyPr wrap="none">
            <a:spAutoFit/>
          </a:bodyPr>
          <a:lstStyle/>
          <a:p>
            <a:r>
              <a:rPr lang="en-IN" sz="1000" b="1" dirty="0" smtClean="0">
                <a:solidFill>
                  <a:prstClr val="black"/>
                </a:solidFill>
              </a:rPr>
              <a:t>Identity/</a:t>
            </a:r>
          </a:p>
          <a:p>
            <a:r>
              <a:rPr lang="en-IN" sz="1000" b="1" dirty="0" smtClean="0">
                <a:solidFill>
                  <a:prstClr val="black"/>
                </a:solidFill>
              </a:rPr>
              <a:t>Authentication</a:t>
            </a:r>
            <a:endParaRPr lang="en-IN" sz="1000" dirty="0"/>
          </a:p>
        </p:txBody>
      </p:sp>
      <p:sp>
        <p:nvSpPr>
          <p:cNvPr id="46" name="Smiley Face 45"/>
          <p:cNvSpPr/>
          <p:nvPr/>
        </p:nvSpPr>
        <p:spPr>
          <a:xfrm>
            <a:off x="5936904" y="5512742"/>
            <a:ext cx="366093" cy="366093"/>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solidFill>
                <a:prstClr val="white"/>
              </a:solidFill>
            </a:endParaRPr>
          </a:p>
        </p:txBody>
      </p:sp>
      <p:sp>
        <p:nvSpPr>
          <p:cNvPr id="47" name="Rectangle 46"/>
          <p:cNvSpPr/>
          <p:nvPr/>
        </p:nvSpPr>
        <p:spPr>
          <a:xfrm>
            <a:off x="6209967" y="5695788"/>
            <a:ext cx="1611339" cy="400110"/>
          </a:xfrm>
          <a:prstGeom prst="rect">
            <a:avLst/>
          </a:prstGeom>
        </p:spPr>
        <p:txBody>
          <a:bodyPr wrap="none">
            <a:spAutoFit/>
          </a:bodyPr>
          <a:lstStyle/>
          <a:p>
            <a:r>
              <a:rPr lang="en-IN" sz="1000" b="1" dirty="0" smtClean="0">
                <a:solidFill>
                  <a:prstClr val="black"/>
                </a:solidFill>
              </a:rPr>
              <a:t>Contributor (What)</a:t>
            </a:r>
          </a:p>
          <a:p>
            <a:r>
              <a:rPr lang="en-IN" sz="1000" b="1" dirty="0" smtClean="0">
                <a:solidFill>
                  <a:prstClr val="black"/>
                </a:solidFill>
              </a:rPr>
              <a:t>Storage Container (Where)</a:t>
            </a:r>
          </a:p>
        </p:txBody>
      </p:sp>
      <p:sp>
        <p:nvSpPr>
          <p:cNvPr id="48" name="Smiley Face 47"/>
          <p:cNvSpPr/>
          <p:nvPr/>
        </p:nvSpPr>
        <p:spPr>
          <a:xfrm>
            <a:off x="3654568" y="2203084"/>
            <a:ext cx="457200" cy="457200"/>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solidFill>
                <a:prstClr val="white"/>
              </a:solidFill>
            </a:endParaRPr>
          </a:p>
        </p:txBody>
      </p:sp>
      <p:sp>
        <p:nvSpPr>
          <p:cNvPr id="49" name="Rectangle 48"/>
          <p:cNvSpPr/>
          <p:nvPr/>
        </p:nvSpPr>
        <p:spPr>
          <a:xfrm>
            <a:off x="3368869" y="2697032"/>
            <a:ext cx="984565" cy="400110"/>
          </a:xfrm>
          <a:prstGeom prst="rect">
            <a:avLst/>
          </a:prstGeom>
        </p:spPr>
        <p:txBody>
          <a:bodyPr wrap="none">
            <a:spAutoFit/>
          </a:bodyPr>
          <a:lstStyle/>
          <a:p>
            <a:r>
              <a:rPr lang="en-IN" sz="1000" b="1" dirty="0" smtClean="0">
                <a:solidFill>
                  <a:prstClr val="black"/>
                </a:solidFill>
              </a:rPr>
              <a:t>Identity/</a:t>
            </a:r>
          </a:p>
          <a:p>
            <a:r>
              <a:rPr lang="en-IN" sz="1000" b="1" dirty="0" smtClean="0">
                <a:solidFill>
                  <a:prstClr val="black"/>
                </a:solidFill>
              </a:rPr>
              <a:t>Authentication</a:t>
            </a:r>
            <a:endParaRPr lang="en-IN" sz="1000" dirty="0"/>
          </a:p>
        </p:txBody>
      </p:sp>
      <p:sp>
        <p:nvSpPr>
          <p:cNvPr id="50" name="Smiley Face 49"/>
          <p:cNvSpPr/>
          <p:nvPr/>
        </p:nvSpPr>
        <p:spPr>
          <a:xfrm>
            <a:off x="3768267" y="3755742"/>
            <a:ext cx="343501" cy="312274"/>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solidFill>
                <a:prstClr val="white"/>
              </a:solidFill>
            </a:endParaRPr>
          </a:p>
        </p:txBody>
      </p:sp>
      <p:sp>
        <p:nvSpPr>
          <p:cNvPr id="51" name="Rectangle 50"/>
          <p:cNvSpPr/>
          <p:nvPr/>
        </p:nvSpPr>
        <p:spPr>
          <a:xfrm>
            <a:off x="3080773" y="4016740"/>
            <a:ext cx="1111202" cy="369332"/>
          </a:xfrm>
          <a:prstGeom prst="rect">
            <a:avLst/>
          </a:prstGeom>
        </p:spPr>
        <p:txBody>
          <a:bodyPr wrap="none">
            <a:spAutoFit/>
          </a:bodyPr>
          <a:lstStyle/>
          <a:p>
            <a:r>
              <a:rPr lang="en-IN" sz="900" b="1" dirty="0" smtClean="0">
                <a:solidFill>
                  <a:prstClr val="black"/>
                </a:solidFill>
              </a:rPr>
              <a:t>Contributor (What)</a:t>
            </a:r>
          </a:p>
          <a:p>
            <a:r>
              <a:rPr lang="en-IN" sz="900" b="1" dirty="0" smtClean="0">
                <a:solidFill>
                  <a:prstClr val="black"/>
                </a:solidFill>
              </a:rPr>
              <a:t>Subs1 (Where)</a:t>
            </a:r>
          </a:p>
        </p:txBody>
      </p:sp>
      <p:sp>
        <p:nvSpPr>
          <p:cNvPr id="52" name="Smiley Face 51"/>
          <p:cNvSpPr/>
          <p:nvPr/>
        </p:nvSpPr>
        <p:spPr>
          <a:xfrm>
            <a:off x="5789773" y="1701601"/>
            <a:ext cx="457200" cy="457200"/>
          </a:xfrm>
          <a:prstGeom prst="smileyFace">
            <a:avLst/>
          </a:prstGeom>
          <a:solidFill>
            <a:srgbClr val="7030A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solidFill>
                <a:prstClr val="white"/>
              </a:solidFill>
            </a:endParaRPr>
          </a:p>
        </p:txBody>
      </p:sp>
      <p:sp>
        <p:nvSpPr>
          <p:cNvPr id="54" name="Rectangle 53"/>
          <p:cNvSpPr/>
          <p:nvPr/>
        </p:nvSpPr>
        <p:spPr>
          <a:xfrm>
            <a:off x="6209967" y="1542167"/>
            <a:ext cx="984565" cy="400110"/>
          </a:xfrm>
          <a:prstGeom prst="rect">
            <a:avLst/>
          </a:prstGeom>
        </p:spPr>
        <p:txBody>
          <a:bodyPr wrap="none">
            <a:spAutoFit/>
          </a:bodyPr>
          <a:lstStyle/>
          <a:p>
            <a:r>
              <a:rPr lang="en-IN" sz="1000" b="1" dirty="0" smtClean="0">
                <a:solidFill>
                  <a:prstClr val="black"/>
                </a:solidFill>
              </a:rPr>
              <a:t>Identity/</a:t>
            </a:r>
          </a:p>
          <a:p>
            <a:r>
              <a:rPr lang="en-IN" sz="1000" b="1" dirty="0" smtClean="0">
                <a:solidFill>
                  <a:prstClr val="black"/>
                </a:solidFill>
              </a:rPr>
              <a:t>Authentication</a:t>
            </a:r>
            <a:endParaRPr lang="en-IN" sz="1000" dirty="0"/>
          </a:p>
        </p:txBody>
      </p:sp>
      <p:sp>
        <p:nvSpPr>
          <p:cNvPr id="55" name="Smiley Face 54"/>
          <p:cNvSpPr/>
          <p:nvPr/>
        </p:nvSpPr>
        <p:spPr>
          <a:xfrm>
            <a:off x="6816881" y="2688777"/>
            <a:ext cx="457200" cy="457200"/>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solidFill>
                <a:prstClr val="white"/>
              </a:solidFill>
            </a:endParaRPr>
          </a:p>
        </p:txBody>
      </p:sp>
      <p:sp>
        <p:nvSpPr>
          <p:cNvPr id="56" name="Rectangle 55"/>
          <p:cNvSpPr/>
          <p:nvPr/>
        </p:nvSpPr>
        <p:spPr>
          <a:xfrm>
            <a:off x="6797040" y="2885673"/>
            <a:ext cx="1590500" cy="400110"/>
          </a:xfrm>
          <a:prstGeom prst="rect">
            <a:avLst/>
          </a:prstGeom>
        </p:spPr>
        <p:txBody>
          <a:bodyPr wrap="none">
            <a:spAutoFit/>
          </a:bodyPr>
          <a:lstStyle/>
          <a:p>
            <a:r>
              <a:rPr lang="en-IN" sz="1000" b="1" dirty="0" smtClean="0">
                <a:solidFill>
                  <a:prstClr val="black"/>
                </a:solidFill>
              </a:rPr>
              <a:t>Owner (What)</a:t>
            </a:r>
          </a:p>
          <a:p>
            <a:r>
              <a:rPr lang="en-IN" sz="1000" b="1" dirty="0" smtClean="0">
                <a:solidFill>
                  <a:prstClr val="black"/>
                </a:solidFill>
              </a:rPr>
              <a:t>Management Grp (Where)</a:t>
            </a:r>
          </a:p>
        </p:txBody>
      </p:sp>
      <p:sp>
        <p:nvSpPr>
          <p:cNvPr id="57" name="TextBox 56"/>
          <p:cNvSpPr txBox="1"/>
          <p:nvPr/>
        </p:nvSpPr>
        <p:spPr>
          <a:xfrm>
            <a:off x="2293601" y="2272882"/>
            <a:ext cx="764825" cy="369332"/>
          </a:xfrm>
          <a:prstGeom prst="rect">
            <a:avLst/>
          </a:prstGeom>
          <a:noFill/>
        </p:spPr>
        <p:txBody>
          <a:bodyPr wrap="none" rtlCol="0">
            <a:spAutoFit/>
          </a:bodyPr>
          <a:lstStyle/>
          <a:p>
            <a:r>
              <a:rPr lang="en-IN" b="1" dirty="0" smtClean="0">
                <a:solidFill>
                  <a:prstClr val="black"/>
                </a:solidFill>
              </a:rPr>
              <a:t>Intern</a:t>
            </a:r>
            <a:endParaRPr lang="en-IN" b="1" dirty="0">
              <a:solidFill>
                <a:prstClr val="black"/>
              </a:solidFill>
            </a:endParaRPr>
          </a:p>
        </p:txBody>
      </p:sp>
      <p:sp>
        <p:nvSpPr>
          <p:cNvPr id="58" name="Smiley Face 57"/>
          <p:cNvSpPr/>
          <p:nvPr/>
        </p:nvSpPr>
        <p:spPr>
          <a:xfrm>
            <a:off x="2652605" y="2593666"/>
            <a:ext cx="343501" cy="343501"/>
          </a:xfrm>
          <a:prstGeom prst="smileyFace">
            <a:avLst/>
          </a:prstGeom>
          <a:solidFill>
            <a:schemeClr val="accent6"/>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solidFill>
                <a:prstClr val="white"/>
              </a:solidFill>
            </a:endParaRPr>
          </a:p>
        </p:txBody>
      </p:sp>
      <p:sp>
        <p:nvSpPr>
          <p:cNvPr id="59" name="Smiley Face 58"/>
          <p:cNvSpPr/>
          <p:nvPr/>
        </p:nvSpPr>
        <p:spPr>
          <a:xfrm>
            <a:off x="7360704" y="4597221"/>
            <a:ext cx="343501" cy="343501"/>
          </a:xfrm>
          <a:prstGeom prst="smileyFace">
            <a:avLst/>
          </a:prstGeom>
          <a:solidFill>
            <a:schemeClr val="accent6"/>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solidFill>
                <a:prstClr val="white"/>
              </a:solidFill>
            </a:endParaRPr>
          </a:p>
        </p:txBody>
      </p:sp>
      <p:sp>
        <p:nvSpPr>
          <p:cNvPr id="60" name="Rectangle 59"/>
          <p:cNvSpPr/>
          <p:nvPr/>
        </p:nvSpPr>
        <p:spPr>
          <a:xfrm>
            <a:off x="7339443" y="4890461"/>
            <a:ext cx="963725" cy="400110"/>
          </a:xfrm>
          <a:prstGeom prst="rect">
            <a:avLst/>
          </a:prstGeom>
        </p:spPr>
        <p:txBody>
          <a:bodyPr wrap="none">
            <a:spAutoFit/>
          </a:bodyPr>
          <a:lstStyle/>
          <a:p>
            <a:r>
              <a:rPr lang="en-IN" sz="1000" b="1" dirty="0" smtClean="0">
                <a:solidFill>
                  <a:prstClr val="black"/>
                </a:solidFill>
              </a:rPr>
              <a:t>Reader (What)</a:t>
            </a:r>
          </a:p>
          <a:p>
            <a:r>
              <a:rPr lang="en-IN" sz="1000" b="1" dirty="0" smtClean="0">
                <a:solidFill>
                  <a:prstClr val="black"/>
                </a:solidFill>
              </a:rPr>
              <a:t>VM (Where)</a:t>
            </a:r>
          </a:p>
        </p:txBody>
      </p:sp>
      <p:sp>
        <p:nvSpPr>
          <p:cNvPr id="61" name="Smiley Face 60"/>
          <p:cNvSpPr/>
          <p:nvPr/>
        </p:nvSpPr>
        <p:spPr>
          <a:xfrm>
            <a:off x="1112093" y="2052928"/>
            <a:ext cx="457200" cy="457200"/>
          </a:xfrm>
          <a:prstGeom prst="smileyFace">
            <a:avLst/>
          </a:prstGeom>
          <a:solidFill>
            <a:srgbClr val="7030A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solidFill>
                <a:prstClr val="white"/>
              </a:solidFill>
            </a:endParaRPr>
          </a:p>
        </p:txBody>
      </p:sp>
      <p:sp>
        <p:nvSpPr>
          <p:cNvPr id="62" name="TextBox 61"/>
          <p:cNvSpPr txBox="1"/>
          <p:nvPr/>
        </p:nvSpPr>
        <p:spPr>
          <a:xfrm>
            <a:off x="958446" y="1723593"/>
            <a:ext cx="570221" cy="369332"/>
          </a:xfrm>
          <a:prstGeom prst="rect">
            <a:avLst/>
          </a:prstGeom>
          <a:noFill/>
        </p:spPr>
        <p:txBody>
          <a:bodyPr wrap="none" rtlCol="0">
            <a:spAutoFit/>
          </a:bodyPr>
          <a:lstStyle/>
          <a:p>
            <a:r>
              <a:rPr lang="en-IN" b="1" dirty="0" smtClean="0">
                <a:solidFill>
                  <a:prstClr val="black"/>
                </a:solidFill>
              </a:rPr>
              <a:t>CEO</a:t>
            </a:r>
            <a:endParaRPr lang="en-IN" b="1" dirty="0">
              <a:solidFill>
                <a:prstClr val="black"/>
              </a:solidFill>
            </a:endParaRPr>
          </a:p>
        </p:txBody>
      </p:sp>
    </p:spTree>
    <p:extLst>
      <p:ext uri="{BB962C8B-B14F-4D97-AF65-F5344CB8AC3E}">
        <p14:creationId xmlns:p14="http://schemas.microsoft.com/office/powerpoint/2010/main" val="71637945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30</a:t>
            </a:fld>
            <a:endParaRPr lang="en-US">
              <a:solidFill>
                <a:prstClr val="black">
                  <a:tint val="75000"/>
                </a:prstClr>
              </a:solidFill>
            </a:endParaRPr>
          </a:p>
        </p:txBody>
      </p:sp>
      <p:sp>
        <p:nvSpPr>
          <p:cNvPr id="12" name="Title 1"/>
          <p:cNvSpPr>
            <a:spLocks noGrp="1"/>
          </p:cNvSpPr>
          <p:nvPr>
            <p:ph type="title"/>
          </p:nvPr>
        </p:nvSpPr>
        <p:spPr>
          <a:xfrm>
            <a:off x="-251013" y="-10095"/>
            <a:ext cx="5118847" cy="486834"/>
          </a:xfrm>
        </p:spPr>
        <p:txBody>
          <a:bodyPr vert="horz" lIns="91440" tIns="45720" rIns="91440" bIns="45720" rtlCol="0" anchor="ctr">
            <a:normAutofit/>
          </a:bodyPr>
          <a:lstStyle/>
          <a:p>
            <a:r>
              <a:rPr lang="en-US" sz="2800" b="1" dirty="0">
                <a:solidFill>
                  <a:srgbClr val="FF0000"/>
                </a:solidFill>
              </a:rPr>
              <a:t>    IAM (RBAC) – </a:t>
            </a:r>
            <a:r>
              <a:rPr lang="en-US" sz="2800" b="1" dirty="0" err="1">
                <a:solidFill>
                  <a:srgbClr val="FF0000"/>
                </a:solidFill>
              </a:rPr>
              <a:t>Ms</a:t>
            </a:r>
            <a:r>
              <a:rPr lang="en-US" sz="2800" b="1" dirty="0">
                <a:solidFill>
                  <a:srgbClr val="FF0000"/>
                </a:solidFill>
              </a:rPr>
              <a:t> </a:t>
            </a:r>
            <a:r>
              <a:rPr lang="en-US" sz="2800" b="1" dirty="0" err="1">
                <a:solidFill>
                  <a:srgbClr val="FF0000"/>
                </a:solidFill>
              </a:rPr>
              <a:t>Entra</a:t>
            </a:r>
            <a:r>
              <a:rPr lang="en-US" sz="2800" b="1" dirty="0">
                <a:solidFill>
                  <a:srgbClr val="FF0000"/>
                </a:solidFill>
              </a:rPr>
              <a:t>/</a:t>
            </a:r>
            <a:r>
              <a:rPr lang="en-US" sz="2800" b="1" dirty="0" err="1">
                <a:solidFill>
                  <a:srgbClr val="FF0000"/>
                </a:solidFill>
              </a:rPr>
              <a:t>Ms</a:t>
            </a:r>
            <a:r>
              <a:rPr lang="en-US" sz="2800" b="1" dirty="0">
                <a:solidFill>
                  <a:srgbClr val="FF0000"/>
                </a:solidFill>
              </a:rPr>
              <a:t> AD</a:t>
            </a:r>
          </a:p>
        </p:txBody>
      </p:sp>
      <p:sp>
        <p:nvSpPr>
          <p:cNvPr id="2" name="Rectangle 1"/>
          <p:cNvSpPr/>
          <p:nvPr/>
        </p:nvSpPr>
        <p:spPr>
          <a:xfrm>
            <a:off x="17929" y="568107"/>
            <a:ext cx="6255258" cy="1107996"/>
          </a:xfrm>
          <a:prstGeom prst="rect">
            <a:avLst/>
          </a:prstGeom>
        </p:spPr>
        <p:txBody>
          <a:bodyPr wrap="square">
            <a:spAutoFit/>
          </a:bodyPr>
          <a:lstStyle/>
          <a:p>
            <a:pPr marL="342900" indent="-342900">
              <a:buFont typeface="Wingdings" panose="05000000000000000000" pitchFamily="2" charset="2"/>
              <a:buChar char="ü"/>
            </a:pPr>
            <a:r>
              <a:rPr lang="en-US" sz="1100" dirty="0">
                <a:solidFill>
                  <a:srgbClr val="44546A"/>
                </a:solidFill>
                <a:latin typeface="Helvetica" pitchFamily="50" charset="0"/>
              </a:rPr>
              <a:t>What is IAM </a:t>
            </a:r>
            <a:r>
              <a:rPr lang="en-US" sz="1100" b="1" i="1" dirty="0">
                <a:solidFill>
                  <a:srgbClr val="44546A"/>
                </a:solidFill>
                <a:latin typeface="Helvetica" pitchFamily="50" charset="0"/>
              </a:rPr>
              <a:t>(Identity and Access Management)</a:t>
            </a:r>
          </a:p>
          <a:p>
            <a:r>
              <a:rPr lang="en-US" sz="1100" b="1" i="1" dirty="0">
                <a:solidFill>
                  <a:srgbClr val="44546A"/>
                </a:solidFill>
                <a:latin typeface="Helvetica" pitchFamily="50" charset="0"/>
              </a:rPr>
              <a:t>      Who &gt;&gt; What &gt;&gt; Which</a:t>
            </a:r>
          </a:p>
          <a:p>
            <a:pPr marL="342900" indent="-342900">
              <a:buFont typeface="Wingdings" panose="05000000000000000000" pitchFamily="2" charset="2"/>
              <a:buChar char="ü"/>
            </a:pPr>
            <a:endParaRPr lang="en-US" sz="1100" dirty="0">
              <a:solidFill>
                <a:srgbClr val="44546A"/>
              </a:solidFill>
              <a:latin typeface="Helvetica" pitchFamily="50" charset="0"/>
            </a:endParaRPr>
          </a:p>
          <a:p>
            <a:pPr marL="342900" indent="-342900">
              <a:buFont typeface="Wingdings" panose="05000000000000000000" pitchFamily="2" charset="2"/>
              <a:buChar char="ü"/>
            </a:pPr>
            <a:r>
              <a:rPr lang="en-US" sz="1100" dirty="0">
                <a:solidFill>
                  <a:srgbClr val="44546A"/>
                </a:solidFill>
                <a:latin typeface="Helvetica" pitchFamily="50" charset="0"/>
              </a:rPr>
              <a:t>IAM help the admin provide </a:t>
            </a:r>
          </a:p>
          <a:p>
            <a:pPr marL="742950" lvl="1" indent="-285750">
              <a:buFont typeface="Wingdings" panose="05000000000000000000" pitchFamily="2" charset="2"/>
              <a:buChar char="v"/>
            </a:pPr>
            <a:r>
              <a:rPr lang="en-US" sz="1100" b="1" dirty="0">
                <a:solidFill>
                  <a:srgbClr val="44546A"/>
                </a:solidFill>
                <a:latin typeface="Helvetica" pitchFamily="50" charset="0"/>
              </a:rPr>
              <a:t>Authentication </a:t>
            </a:r>
            <a:r>
              <a:rPr lang="en-US" sz="1100" dirty="0">
                <a:solidFill>
                  <a:srgbClr val="44546A"/>
                </a:solidFill>
                <a:latin typeface="Helvetica" pitchFamily="50" charset="0"/>
              </a:rPr>
              <a:t>(</a:t>
            </a:r>
            <a:r>
              <a:rPr lang="en-US" sz="1100" b="1" dirty="0">
                <a:solidFill>
                  <a:srgbClr val="44546A"/>
                </a:solidFill>
                <a:latin typeface="Helvetica" pitchFamily="50" charset="0"/>
              </a:rPr>
              <a:t>Who</a:t>
            </a:r>
            <a:r>
              <a:rPr lang="en-US" sz="1100" dirty="0">
                <a:solidFill>
                  <a:srgbClr val="44546A"/>
                </a:solidFill>
                <a:latin typeface="Helvetica" pitchFamily="50" charset="0"/>
              </a:rPr>
              <a:t> can Sign in to </a:t>
            </a:r>
            <a:r>
              <a:rPr lang="en-US" sz="1100" dirty="0" err="1">
                <a:solidFill>
                  <a:srgbClr val="44546A"/>
                </a:solidFill>
                <a:latin typeface="Helvetica" pitchFamily="50" charset="0"/>
              </a:rPr>
              <a:t>Az</a:t>
            </a:r>
            <a:r>
              <a:rPr lang="en-US" sz="1100" dirty="0">
                <a:solidFill>
                  <a:srgbClr val="44546A"/>
                </a:solidFill>
                <a:latin typeface="Helvetica" pitchFamily="50" charset="0"/>
              </a:rPr>
              <a:t> account/project)</a:t>
            </a:r>
          </a:p>
          <a:p>
            <a:pPr marL="742950" lvl="1" indent="-285750">
              <a:buFont typeface="Wingdings" panose="05000000000000000000" pitchFamily="2" charset="2"/>
              <a:buChar char="v"/>
            </a:pPr>
            <a:r>
              <a:rPr lang="en-US" sz="1100" b="1" dirty="0">
                <a:solidFill>
                  <a:srgbClr val="44546A"/>
                </a:solidFill>
                <a:latin typeface="Helvetica" pitchFamily="50" charset="0"/>
              </a:rPr>
              <a:t>Authorization </a:t>
            </a:r>
            <a:r>
              <a:rPr lang="en-US" sz="1100" dirty="0">
                <a:solidFill>
                  <a:srgbClr val="44546A"/>
                </a:solidFill>
                <a:latin typeface="Helvetica" pitchFamily="50" charset="0"/>
              </a:rPr>
              <a:t>(</a:t>
            </a:r>
            <a:r>
              <a:rPr lang="en-US" sz="1100" b="1" dirty="0">
                <a:solidFill>
                  <a:srgbClr val="44546A"/>
                </a:solidFill>
                <a:latin typeface="Helvetica" pitchFamily="50" charset="0"/>
              </a:rPr>
              <a:t>What</a:t>
            </a:r>
            <a:r>
              <a:rPr lang="en-US" sz="1100" dirty="0">
                <a:solidFill>
                  <a:srgbClr val="44546A"/>
                </a:solidFill>
                <a:latin typeface="Helvetica" pitchFamily="50" charset="0"/>
              </a:rPr>
              <a:t> can be done on </a:t>
            </a:r>
            <a:r>
              <a:rPr lang="en-US" sz="1100" b="1" dirty="0">
                <a:solidFill>
                  <a:srgbClr val="44546A"/>
                </a:solidFill>
                <a:latin typeface="Helvetica" pitchFamily="50" charset="0"/>
              </a:rPr>
              <a:t>Which</a:t>
            </a:r>
            <a:r>
              <a:rPr lang="en-US" sz="1100" dirty="0">
                <a:solidFill>
                  <a:srgbClr val="44546A"/>
                </a:solidFill>
                <a:latin typeface="Helvetica" pitchFamily="50" charset="0"/>
              </a:rPr>
              <a:t> resources) at project level</a:t>
            </a:r>
          </a:p>
        </p:txBody>
      </p:sp>
      <p:sp>
        <p:nvSpPr>
          <p:cNvPr id="3" name="Rectangle 2"/>
          <p:cNvSpPr/>
          <p:nvPr/>
        </p:nvSpPr>
        <p:spPr>
          <a:xfrm>
            <a:off x="6577933" y="160867"/>
            <a:ext cx="2362867"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a:p>
            <a:pPr algn="ctr"/>
            <a:endParaRPr lang="en-IN" dirty="0">
              <a:solidFill>
                <a:prstClr val="white"/>
              </a:solidFill>
            </a:endParaRPr>
          </a:p>
          <a:p>
            <a:pPr algn="ctr"/>
            <a:endParaRPr lang="en-IN" dirty="0">
              <a:solidFill>
                <a:prstClr val="white"/>
              </a:solidFill>
            </a:endParaRPr>
          </a:p>
          <a:p>
            <a:pPr algn="ctr"/>
            <a:endParaRPr lang="en-IN" dirty="0">
              <a:solidFill>
                <a:prstClr val="white"/>
              </a:solidFill>
            </a:endParaRPr>
          </a:p>
          <a:p>
            <a:pPr algn="ctr"/>
            <a:endParaRPr lang="en-IN" dirty="0">
              <a:solidFill>
                <a:prstClr val="white"/>
              </a:solidFill>
            </a:endParaRPr>
          </a:p>
          <a:p>
            <a:pPr algn="ctr"/>
            <a:r>
              <a:rPr lang="en-IN" dirty="0">
                <a:solidFill>
                  <a:prstClr val="black"/>
                </a:solidFill>
              </a:rPr>
              <a:t>Groups</a:t>
            </a:r>
          </a:p>
        </p:txBody>
      </p:sp>
      <p:sp>
        <p:nvSpPr>
          <p:cNvPr id="4" name="Rectangle 3"/>
          <p:cNvSpPr/>
          <p:nvPr/>
        </p:nvSpPr>
        <p:spPr>
          <a:xfrm>
            <a:off x="6849533" y="233322"/>
            <a:ext cx="1921934" cy="55782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a:solidFill>
                  <a:prstClr val="white"/>
                </a:solidFill>
              </a:rPr>
              <a:t>For A </a:t>
            </a:r>
            <a:r>
              <a:rPr lang="en-IN" sz="1200" b="1" dirty="0">
                <a:solidFill>
                  <a:prstClr val="black"/>
                </a:solidFill>
              </a:rPr>
              <a:t>User</a:t>
            </a:r>
            <a:r>
              <a:rPr lang="en-IN" sz="1200" dirty="0">
                <a:solidFill>
                  <a:prstClr val="white"/>
                </a:solidFill>
              </a:rPr>
              <a:t> create an Account (</a:t>
            </a:r>
            <a:r>
              <a:rPr lang="en-IN" sz="1200" b="1" dirty="0">
                <a:solidFill>
                  <a:prstClr val="black"/>
                </a:solidFill>
              </a:rPr>
              <a:t>Users</a:t>
            </a:r>
            <a:r>
              <a:rPr lang="en-IN" sz="1200" dirty="0">
                <a:solidFill>
                  <a:prstClr val="white"/>
                </a:solidFill>
              </a:rPr>
              <a:t>)</a:t>
            </a:r>
          </a:p>
        </p:txBody>
      </p:sp>
      <p:sp>
        <p:nvSpPr>
          <p:cNvPr id="13" name="Rectangle 12"/>
          <p:cNvSpPr/>
          <p:nvPr/>
        </p:nvSpPr>
        <p:spPr>
          <a:xfrm>
            <a:off x="9258413" y="651090"/>
            <a:ext cx="2188677" cy="45139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a:solidFill>
                  <a:prstClr val="white"/>
                </a:solidFill>
              </a:rPr>
              <a:t>For a Service we create Account </a:t>
            </a:r>
            <a:r>
              <a:rPr lang="en-IN" sz="1200" b="1" i="1" dirty="0">
                <a:solidFill>
                  <a:prstClr val="black"/>
                </a:solidFill>
              </a:rPr>
              <a:t>(Service  Principal)</a:t>
            </a:r>
          </a:p>
        </p:txBody>
      </p:sp>
      <p:sp>
        <p:nvSpPr>
          <p:cNvPr id="15" name="Rectangle 14"/>
          <p:cNvSpPr/>
          <p:nvPr/>
        </p:nvSpPr>
        <p:spPr>
          <a:xfrm>
            <a:off x="6373906" y="29885"/>
            <a:ext cx="5550172" cy="2196848"/>
          </a:xfrm>
          <a:prstGeom prst="rect">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sz="1200" dirty="0">
              <a:solidFill>
                <a:prstClr val="black"/>
              </a:solidFill>
            </a:endParaRPr>
          </a:p>
          <a:p>
            <a:pPr algn="ctr"/>
            <a:endParaRPr lang="en-IN" sz="1200" dirty="0">
              <a:solidFill>
                <a:prstClr val="black"/>
              </a:solidFill>
            </a:endParaRPr>
          </a:p>
          <a:p>
            <a:pPr algn="ctr"/>
            <a:endParaRPr lang="en-IN" sz="1200" dirty="0">
              <a:solidFill>
                <a:prstClr val="black"/>
              </a:solidFill>
            </a:endParaRPr>
          </a:p>
          <a:p>
            <a:pPr algn="ctr"/>
            <a:endParaRPr lang="en-IN" sz="1200" dirty="0">
              <a:solidFill>
                <a:prstClr val="black"/>
              </a:solidFill>
            </a:endParaRPr>
          </a:p>
          <a:p>
            <a:pPr algn="ctr"/>
            <a:endParaRPr lang="en-IN" sz="1200" dirty="0">
              <a:solidFill>
                <a:prstClr val="black"/>
              </a:solidFill>
            </a:endParaRPr>
          </a:p>
          <a:p>
            <a:pPr algn="ctr"/>
            <a:endParaRPr lang="en-IN" sz="1200" dirty="0">
              <a:solidFill>
                <a:prstClr val="black"/>
              </a:solidFill>
            </a:endParaRPr>
          </a:p>
          <a:p>
            <a:pPr algn="ctr"/>
            <a:endParaRPr lang="en-IN" sz="1200" dirty="0">
              <a:solidFill>
                <a:prstClr val="black"/>
              </a:solidFill>
            </a:endParaRPr>
          </a:p>
          <a:p>
            <a:pPr algn="ctr"/>
            <a:endParaRPr lang="en-IN" sz="1200" dirty="0">
              <a:solidFill>
                <a:prstClr val="black"/>
              </a:solidFill>
            </a:endParaRPr>
          </a:p>
          <a:p>
            <a:pPr algn="ctr"/>
            <a:endParaRPr lang="en-IN" sz="1200" dirty="0">
              <a:solidFill>
                <a:prstClr val="black"/>
              </a:solidFill>
            </a:endParaRPr>
          </a:p>
          <a:p>
            <a:pPr algn="ctr"/>
            <a:endParaRPr lang="en-IN" sz="1200" dirty="0">
              <a:solidFill>
                <a:prstClr val="black"/>
              </a:solidFill>
            </a:endParaRPr>
          </a:p>
          <a:p>
            <a:pPr algn="ctr"/>
            <a:r>
              <a:rPr lang="en-IN" sz="1200" dirty="0">
                <a:solidFill>
                  <a:prstClr val="black"/>
                </a:solidFill>
              </a:rPr>
              <a:t>For an Organization</a:t>
            </a:r>
          </a:p>
          <a:p>
            <a:pPr algn="ctr"/>
            <a:r>
              <a:rPr lang="en-IN" sz="1200" b="1" dirty="0">
                <a:solidFill>
                  <a:prstClr val="black"/>
                </a:solidFill>
              </a:rPr>
              <a:t>(Org account (Managed Identity))</a:t>
            </a:r>
          </a:p>
        </p:txBody>
      </p:sp>
      <p:sp>
        <p:nvSpPr>
          <p:cNvPr id="14" name="Rectangle 13"/>
          <p:cNvSpPr/>
          <p:nvPr/>
        </p:nvSpPr>
        <p:spPr>
          <a:xfrm>
            <a:off x="6874933" y="876788"/>
            <a:ext cx="1921934" cy="55782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1200" dirty="0">
                <a:solidFill>
                  <a:prstClr val="white"/>
                </a:solidFill>
              </a:rPr>
              <a:t>For A User create an Account (User)</a:t>
            </a:r>
          </a:p>
        </p:txBody>
      </p:sp>
      <p:grpSp>
        <p:nvGrpSpPr>
          <p:cNvPr id="7" name="Group 6"/>
          <p:cNvGrpSpPr/>
          <p:nvPr/>
        </p:nvGrpSpPr>
        <p:grpSpPr>
          <a:xfrm>
            <a:off x="8211123" y="4715688"/>
            <a:ext cx="3910265" cy="1944740"/>
            <a:chOff x="6849533" y="3925888"/>
            <a:chExt cx="4731421" cy="2588443"/>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9533" y="4401322"/>
              <a:ext cx="4731421" cy="21130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6" name="Rectangle 15"/>
            <p:cNvSpPr/>
            <p:nvPr/>
          </p:nvSpPr>
          <p:spPr>
            <a:xfrm>
              <a:off x="8271605" y="3925888"/>
              <a:ext cx="1659429" cy="369332"/>
            </a:xfrm>
            <a:prstGeom prst="rect">
              <a:avLst/>
            </a:prstGeom>
          </p:spPr>
          <p:txBody>
            <a:bodyPr wrap="none">
              <a:spAutoFit/>
            </a:bodyPr>
            <a:lstStyle/>
            <a:p>
              <a:r>
                <a:rPr lang="en-US" b="1" dirty="0">
                  <a:solidFill>
                    <a:srgbClr val="44546A"/>
                  </a:solidFill>
                  <a:latin typeface="Helvetica" pitchFamily="50" charset="0"/>
                </a:rPr>
                <a:t>Authorization</a:t>
              </a:r>
              <a:endParaRPr lang="en-IN" dirty="0">
                <a:solidFill>
                  <a:prstClr val="black"/>
                </a:solidFill>
              </a:endParaRPr>
            </a:p>
          </p:txBody>
        </p:sp>
      </p:grpSp>
      <p:grpSp>
        <p:nvGrpSpPr>
          <p:cNvPr id="6" name="Group 5"/>
          <p:cNvGrpSpPr/>
          <p:nvPr/>
        </p:nvGrpSpPr>
        <p:grpSpPr>
          <a:xfrm>
            <a:off x="8635665" y="2380748"/>
            <a:ext cx="2523424" cy="1700256"/>
            <a:chOff x="2565697" y="169593"/>
            <a:chExt cx="2523424" cy="1700256"/>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5697" y="512629"/>
              <a:ext cx="2523424" cy="13572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7" name="Rectangle 16"/>
            <p:cNvSpPr/>
            <p:nvPr/>
          </p:nvSpPr>
          <p:spPr>
            <a:xfrm>
              <a:off x="3502960" y="169593"/>
              <a:ext cx="607859" cy="369332"/>
            </a:xfrm>
            <a:prstGeom prst="rect">
              <a:avLst/>
            </a:prstGeom>
          </p:spPr>
          <p:txBody>
            <a:bodyPr wrap="none">
              <a:spAutoFit/>
            </a:bodyPr>
            <a:lstStyle/>
            <a:p>
              <a:r>
                <a:rPr lang="en-US" b="1" dirty="0">
                  <a:solidFill>
                    <a:srgbClr val="44546A"/>
                  </a:solidFill>
                  <a:latin typeface="Helvetica" pitchFamily="50" charset="0"/>
                </a:rPr>
                <a:t>IAM</a:t>
              </a:r>
              <a:endParaRPr lang="en-IN" dirty="0">
                <a:solidFill>
                  <a:prstClr val="black"/>
                </a:solidFill>
              </a:endParaRPr>
            </a:p>
          </p:txBody>
        </p:sp>
      </p:grpSp>
      <p:sp>
        <p:nvSpPr>
          <p:cNvPr id="9" name="Rectangle 8"/>
          <p:cNvSpPr/>
          <p:nvPr/>
        </p:nvSpPr>
        <p:spPr>
          <a:xfrm>
            <a:off x="17929" y="2565414"/>
            <a:ext cx="8193194" cy="4324261"/>
          </a:xfrm>
          <a:prstGeom prst="rect">
            <a:avLst/>
          </a:prstGeom>
        </p:spPr>
        <p:txBody>
          <a:bodyPr wrap="square">
            <a:spAutoFit/>
          </a:bodyPr>
          <a:lstStyle/>
          <a:p>
            <a:r>
              <a:rPr lang="en-US" sz="1100" b="1" u="sng" dirty="0">
                <a:solidFill>
                  <a:prstClr val="black"/>
                </a:solidFill>
              </a:rPr>
              <a:t>Key Components of Azure RBAC – Role Based Access Control (IAM Roles):</a:t>
            </a:r>
          </a:p>
          <a:p>
            <a:r>
              <a:rPr lang="en-US" sz="1100" b="1" dirty="0">
                <a:solidFill>
                  <a:prstClr val="black"/>
                </a:solidFill>
              </a:rPr>
              <a:t>Roles (RBAC)</a:t>
            </a:r>
            <a:r>
              <a:rPr lang="en-US" sz="1100" dirty="0">
                <a:solidFill>
                  <a:prstClr val="black"/>
                </a:solidFill>
              </a:rPr>
              <a:t>: </a:t>
            </a:r>
          </a:p>
          <a:p>
            <a:r>
              <a:rPr lang="en-US" sz="1100" b="1" dirty="0">
                <a:solidFill>
                  <a:prstClr val="black"/>
                </a:solidFill>
              </a:rPr>
              <a:t>Built-in Roles (Privileged Admin Roles) 4 </a:t>
            </a:r>
            <a:r>
              <a:rPr lang="en-US" sz="1100" dirty="0">
                <a:solidFill>
                  <a:prstClr val="black"/>
                </a:solidFill>
              </a:rPr>
              <a:t>: </a:t>
            </a:r>
            <a:r>
              <a:rPr lang="en-US" sz="1100" b="1" dirty="0">
                <a:solidFill>
                  <a:prstClr val="black"/>
                </a:solidFill>
              </a:rPr>
              <a:t>Primitive</a:t>
            </a:r>
            <a:r>
              <a:rPr lang="en-US" sz="1100" dirty="0">
                <a:solidFill>
                  <a:prstClr val="black"/>
                </a:solidFill>
              </a:rPr>
              <a:t>/Basic roles that cover common access scenarios. </a:t>
            </a:r>
          </a:p>
          <a:p>
            <a:r>
              <a:rPr lang="en-US" sz="1100" dirty="0" err="1">
                <a:solidFill>
                  <a:prstClr val="black"/>
                </a:solidFill>
              </a:rPr>
              <a:t>Eg</a:t>
            </a:r>
            <a:r>
              <a:rPr lang="en-US" sz="1100" dirty="0">
                <a:solidFill>
                  <a:prstClr val="black"/>
                </a:solidFill>
              </a:rPr>
              <a:t>: </a:t>
            </a:r>
            <a:r>
              <a:rPr lang="en-US" sz="1100" b="1" i="1" dirty="0">
                <a:solidFill>
                  <a:prstClr val="black"/>
                </a:solidFill>
              </a:rPr>
              <a:t>Owner</a:t>
            </a:r>
            <a:r>
              <a:rPr lang="en-US" sz="1100" i="1" dirty="0">
                <a:solidFill>
                  <a:prstClr val="black"/>
                </a:solidFill>
              </a:rPr>
              <a:t>, </a:t>
            </a:r>
            <a:r>
              <a:rPr lang="en-US" sz="1100" b="1" i="1" dirty="0">
                <a:solidFill>
                  <a:prstClr val="black"/>
                </a:solidFill>
              </a:rPr>
              <a:t>Contributor</a:t>
            </a:r>
            <a:r>
              <a:rPr lang="en-US" sz="1100" i="1" dirty="0">
                <a:solidFill>
                  <a:prstClr val="black"/>
                </a:solidFill>
              </a:rPr>
              <a:t>, </a:t>
            </a:r>
            <a:r>
              <a:rPr lang="en-US" sz="1100" b="1" i="1" dirty="0">
                <a:solidFill>
                  <a:prstClr val="black"/>
                </a:solidFill>
              </a:rPr>
              <a:t>Reader</a:t>
            </a:r>
            <a:r>
              <a:rPr lang="en-US" sz="1100" i="1" dirty="0">
                <a:solidFill>
                  <a:prstClr val="black"/>
                </a:solidFill>
              </a:rPr>
              <a:t>, and </a:t>
            </a:r>
            <a:r>
              <a:rPr lang="en-US" sz="1100" b="1" i="1" dirty="0">
                <a:solidFill>
                  <a:prstClr val="black"/>
                </a:solidFill>
              </a:rPr>
              <a:t>User Access Administrator</a:t>
            </a:r>
            <a:r>
              <a:rPr lang="en-US" sz="1100" i="1" dirty="0">
                <a:solidFill>
                  <a:prstClr val="black"/>
                </a:solidFill>
              </a:rPr>
              <a:t>.  (</a:t>
            </a:r>
            <a:r>
              <a:rPr lang="en-US" sz="1100" b="1" i="1" dirty="0">
                <a:solidFill>
                  <a:prstClr val="black"/>
                </a:solidFill>
              </a:rPr>
              <a:t>GCP: </a:t>
            </a:r>
            <a:r>
              <a:rPr lang="en-US" sz="1100" i="1" dirty="0">
                <a:solidFill>
                  <a:prstClr val="black"/>
                </a:solidFill>
              </a:rPr>
              <a:t>Owner, Editor, Reader/Browser, Owner (with only user creation/deletion access))</a:t>
            </a:r>
          </a:p>
          <a:p>
            <a:r>
              <a:rPr lang="en-US" sz="1100" b="1" dirty="0">
                <a:solidFill>
                  <a:prstClr val="black"/>
                </a:solidFill>
              </a:rPr>
              <a:t>Built-in Roles (Job function Roles) 570+</a:t>
            </a:r>
            <a:r>
              <a:rPr lang="en-US" sz="1100" dirty="0">
                <a:solidFill>
                  <a:prstClr val="black"/>
                </a:solidFill>
              </a:rPr>
              <a:t>  </a:t>
            </a:r>
            <a:r>
              <a:rPr lang="en-US" sz="1100" b="1" dirty="0">
                <a:solidFill>
                  <a:prstClr val="black"/>
                </a:solidFill>
              </a:rPr>
              <a:t>: Curated </a:t>
            </a:r>
            <a:r>
              <a:rPr lang="en-US" sz="1100" dirty="0">
                <a:solidFill>
                  <a:prstClr val="black"/>
                </a:solidFill>
              </a:rPr>
              <a:t>Roles specific to the given resources.</a:t>
            </a:r>
          </a:p>
          <a:p>
            <a:r>
              <a:rPr lang="en-US" sz="1100" dirty="0" err="1">
                <a:solidFill>
                  <a:prstClr val="black"/>
                </a:solidFill>
              </a:rPr>
              <a:t>Eg</a:t>
            </a:r>
            <a:r>
              <a:rPr lang="en-US" sz="1100" dirty="0">
                <a:solidFill>
                  <a:prstClr val="black"/>
                </a:solidFill>
              </a:rPr>
              <a:t>: Storage account Contributor, Storage blob reader …</a:t>
            </a:r>
          </a:p>
          <a:p>
            <a:r>
              <a:rPr lang="en-US" sz="1100" b="1" dirty="0">
                <a:solidFill>
                  <a:prstClr val="black"/>
                </a:solidFill>
              </a:rPr>
              <a:t>Custom Roles</a:t>
            </a:r>
            <a:r>
              <a:rPr lang="en-US" sz="1100" dirty="0">
                <a:solidFill>
                  <a:prstClr val="black"/>
                </a:solidFill>
              </a:rPr>
              <a:t>: You can create custom roles tailored to specific needs.</a:t>
            </a:r>
          </a:p>
          <a:p>
            <a:endParaRPr lang="en-US" sz="1100" b="1" dirty="0">
              <a:solidFill>
                <a:prstClr val="black"/>
              </a:solidFill>
            </a:endParaRPr>
          </a:p>
          <a:p>
            <a:r>
              <a:rPr lang="en-US" sz="1100" b="1" dirty="0">
                <a:solidFill>
                  <a:prstClr val="black"/>
                </a:solidFill>
              </a:rPr>
              <a:t>User (Principals)</a:t>
            </a:r>
            <a:r>
              <a:rPr lang="en-US" sz="1100" dirty="0">
                <a:solidFill>
                  <a:prstClr val="black"/>
                </a:solidFill>
              </a:rPr>
              <a:t>:  4</a:t>
            </a:r>
          </a:p>
          <a:p>
            <a:r>
              <a:rPr lang="en-US" sz="1100" b="1" dirty="0">
                <a:solidFill>
                  <a:prstClr val="black"/>
                </a:solidFill>
              </a:rPr>
              <a:t>Users</a:t>
            </a:r>
            <a:r>
              <a:rPr lang="en-US" sz="1100" dirty="0">
                <a:solidFill>
                  <a:prstClr val="black"/>
                </a:solidFill>
              </a:rPr>
              <a:t>: Individual accounts within Azure AD.</a:t>
            </a:r>
          </a:p>
          <a:p>
            <a:r>
              <a:rPr lang="en-US" sz="1100" b="1" dirty="0">
                <a:solidFill>
                  <a:prstClr val="black"/>
                </a:solidFill>
              </a:rPr>
              <a:t>Groups</a:t>
            </a:r>
            <a:r>
              <a:rPr lang="en-US" sz="1100" dirty="0">
                <a:solidFill>
                  <a:prstClr val="black"/>
                </a:solidFill>
              </a:rPr>
              <a:t>: Collections of users that can be managed together.</a:t>
            </a:r>
          </a:p>
          <a:p>
            <a:r>
              <a:rPr lang="en-US" sz="1100" b="1" dirty="0">
                <a:solidFill>
                  <a:prstClr val="black"/>
                </a:solidFill>
              </a:rPr>
              <a:t>Service Principals</a:t>
            </a:r>
            <a:r>
              <a:rPr lang="en-US" sz="1100" dirty="0">
                <a:solidFill>
                  <a:prstClr val="black"/>
                </a:solidFill>
              </a:rPr>
              <a:t>: Security identities for applications or automation tools that need to access Azure resources.</a:t>
            </a:r>
          </a:p>
          <a:p>
            <a:r>
              <a:rPr lang="en-US" sz="1100" b="1" dirty="0">
                <a:solidFill>
                  <a:prstClr val="black"/>
                </a:solidFill>
              </a:rPr>
              <a:t>Managed Identities</a:t>
            </a:r>
            <a:r>
              <a:rPr lang="en-US" sz="1100" dirty="0">
                <a:solidFill>
                  <a:prstClr val="black"/>
                </a:solidFill>
              </a:rPr>
              <a:t>: A type of service principal that Azure automatically manages, providing secure access without requiring explicit credentials.</a:t>
            </a:r>
          </a:p>
          <a:p>
            <a:endParaRPr lang="en-US" sz="1100" b="1" dirty="0">
              <a:solidFill>
                <a:prstClr val="black"/>
              </a:solidFill>
            </a:endParaRPr>
          </a:p>
          <a:p>
            <a:r>
              <a:rPr lang="en-US" sz="1100" b="1" dirty="0">
                <a:solidFill>
                  <a:prstClr val="black"/>
                </a:solidFill>
              </a:rPr>
              <a:t>Permissions</a:t>
            </a:r>
            <a:r>
              <a:rPr lang="en-US" sz="1100" dirty="0">
                <a:solidFill>
                  <a:prstClr val="black"/>
                </a:solidFill>
              </a:rPr>
              <a:t>: 15k +</a:t>
            </a:r>
          </a:p>
          <a:p>
            <a:r>
              <a:rPr lang="en-US" sz="1100" dirty="0">
                <a:solidFill>
                  <a:prstClr val="black"/>
                </a:solidFill>
              </a:rPr>
              <a:t>Permissions in Azure are actions (like read, write, delete) that can be assigned to roles. </a:t>
            </a:r>
          </a:p>
          <a:p>
            <a:endParaRPr lang="en-US" sz="1100" dirty="0">
              <a:solidFill>
                <a:prstClr val="black"/>
              </a:solidFill>
            </a:endParaRPr>
          </a:p>
          <a:p>
            <a:r>
              <a:rPr lang="en-US" sz="1100" b="1" i="1" dirty="0">
                <a:solidFill>
                  <a:prstClr val="black"/>
                </a:solidFill>
              </a:rPr>
              <a:t>Scope: Roles Can be defined at any level (Tenant/MG/Subscription/RG/Resource).</a:t>
            </a:r>
          </a:p>
          <a:p>
            <a:r>
              <a:rPr lang="en-US" sz="1100" b="1" dirty="0">
                <a:solidFill>
                  <a:prstClr val="black"/>
                </a:solidFill>
              </a:rPr>
              <a:t>Azure RBAC (IAM) Workflow:</a:t>
            </a:r>
          </a:p>
          <a:p>
            <a:r>
              <a:rPr lang="en-US" sz="1100" b="1" dirty="0">
                <a:solidFill>
                  <a:prstClr val="black"/>
                </a:solidFill>
              </a:rPr>
              <a:t>Define a Role</a:t>
            </a:r>
            <a:r>
              <a:rPr lang="en-US" sz="1100" dirty="0">
                <a:solidFill>
                  <a:prstClr val="black"/>
                </a:solidFill>
              </a:rPr>
              <a:t>: Select a built-in role or create a custom role with specific permissions.</a:t>
            </a:r>
          </a:p>
          <a:p>
            <a:r>
              <a:rPr lang="en-US" sz="1100" b="1" dirty="0">
                <a:solidFill>
                  <a:prstClr val="black"/>
                </a:solidFill>
              </a:rPr>
              <a:t>Assign the </a:t>
            </a:r>
            <a:r>
              <a:rPr lang="en-US" sz="1100" dirty="0">
                <a:solidFill>
                  <a:prstClr val="black"/>
                </a:solidFill>
              </a:rPr>
              <a:t>:</a:t>
            </a:r>
            <a:r>
              <a:rPr lang="en-US" sz="1100" b="1" dirty="0">
                <a:solidFill>
                  <a:prstClr val="black"/>
                </a:solidFill>
              </a:rPr>
              <a:t>Role</a:t>
            </a:r>
            <a:r>
              <a:rPr lang="en-US" sz="1100" dirty="0">
                <a:solidFill>
                  <a:prstClr val="black"/>
                </a:solidFill>
              </a:rPr>
              <a:t> Assign the role to a principal (user, group, service principal, or managed identity).</a:t>
            </a:r>
          </a:p>
          <a:p>
            <a:r>
              <a:rPr lang="en-US" sz="1100" b="1" dirty="0">
                <a:solidFill>
                  <a:prstClr val="black"/>
                </a:solidFill>
              </a:rPr>
              <a:t>Manage Access</a:t>
            </a:r>
            <a:r>
              <a:rPr lang="en-US" sz="1100" dirty="0">
                <a:solidFill>
                  <a:prstClr val="black"/>
                </a:solidFill>
              </a:rPr>
              <a:t>: Review and manage access to control the roles(principals) to use the respective subscription -&gt; Resource Group -&gt; Resources</a:t>
            </a:r>
          </a:p>
        </p:txBody>
      </p:sp>
      <p:sp>
        <p:nvSpPr>
          <p:cNvPr id="5" name="Rectangle 4"/>
          <p:cNvSpPr/>
          <p:nvPr/>
        </p:nvSpPr>
        <p:spPr>
          <a:xfrm>
            <a:off x="26895" y="1695874"/>
            <a:ext cx="6255258" cy="869469"/>
          </a:xfrm>
          <a:prstGeom prst="rect">
            <a:avLst/>
          </a:prstGeom>
        </p:spPr>
        <p:txBody>
          <a:bodyPr wrap="square">
            <a:spAutoFit/>
          </a:bodyPr>
          <a:lstStyle/>
          <a:p>
            <a:r>
              <a:rPr lang="en-US" sz="1050" b="1" i="1" u="sng" dirty="0">
                <a:solidFill>
                  <a:srgbClr val="44546A"/>
                </a:solidFill>
                <a:latin typeface="Helvetica" pitchFamily="50" charset="0"/>
              </a:rPr>
              <a:t>What we are learning here:</a:t>
            </a:r>
          </a:p>
          <a:p>
            <a:pPr marL="228600" indent="-228600">
              <a:buFontTx/>
              <a:buAutoNum type="arabicPeriod"/>
            </a:pPr>
            <a:r>
              <a:rPr lang="en-US" sz="800" b="1" i="1" dirty="0">
                <a:solidFill>
                  <a:srgbClr val="44546A"/>
                </a:solidFill>
                <a:latin typeface="Helvetica" pitchFamily="50" charset="0"/>
              </a:rPr>
              <a:t>(Identity)- Define Users/Roles/Service Principals – Can be created by the admin using Active Directory/Microsoft </a:t>
            </a:r>
            <a:r>
              <a:rPr lang="en-US" sz="800" b="1" i="1" dirty="0" err="1">
                <a:solidFill>
                  <a:srgbClr val="44546A"/>
                </a:solidFill>
                <a:latin typeface="Helvetica" pitchFamily="50" charset="0"/>
              </a:rPr>
              <a:t>Entra</a:t>
            </a:r>
            <a:r>
              <a:rPr lang="en-US" sz="800" b="1" i="1" dirty="0">
                <a:solidFill>
                  <a:srgbClr val="44546A"/>
                </a:solidFill>
                <a:latin typeface="Helvetica" pitchFamily="50" charset="0"/>
              </a:rPr>
              <a:t> Id (creating Single Sign On)</a:t>
            </a:r>
          </a:p>
          <a:p>
            <a:r>
              <a:rPr lang="en-US" sz="800" b="1" i="1" dirty="0">
                <a:solidFill>
                  <a:srgbClr val="C00000"/>
                </a:solidFill>
                <a:latin typeface="Helvetica" pitchFamily="50" charset="0"/>
              </a:rPr>
              <a:t>Users=</a:t>
            </a:r>
            <a:r>
              <a:rPr lang="en-US" sz="800" b="1" i="1" strike="sngStrike" dirty="0">
                <a:solidFill>
                  <a:srgbClr val="C00000"/>
                </a:solidFill>
                <a:latin typeface="Helvetica" pitchFamily="50" charset="0"/>
              </a:rPr>
              <a:t>Principal</a:t>
            </a:r>
            <a:r>
              <a:rPr lang="en-US" sz="800" b="1" i="1" dirty="0">
                <a:solidFill>
                  <a:srgbClr val="C00000"/>
                </a:solidFill>
                <a:latin typeface="Helvetica" pitchFamily="50" charset="0"/>
              </a:rPr>
              <a:t>, Group=</a:t>
            </a:r>
            <a:r>
              <a:rPr lang="en-US" sz="800" b="1" i="1" strike="sngStrike" dirty="0">
                <a:solidFill>
                  <a:srgbClr val="C00000"/>
                </a:solidFill>
                <a:latin typeface="Helvetica" pitchFamily="50" charset="0"/>
              </a:rPr>
              <a:t>Group</a:t>
            </a:r>
            <a:r>
              <a:rPr lang="en-US" sz="800" b="1" i="1" dirty="0">
                <a:solidFill>
                  <a:srgbClr val="C00000"/>
                </a:solidFill>
                <a:latin typeface="Helvetica" pitchFamily="50" charset="0"/>
              </a:rPr>
              <a:t>, Service Principal=</a:t>
            </a:r>
            <a:r>
              <a:rPr lang="en-US" sz="800" b="1" i="1" strike="sngStrike" dirty="0">
                <a:solidFill>
                  <a:srgbClr val="C00000"/>
                </a:solidFill>
                <a:latin typeface="Helvetica" pitchFamily="50" charset="0"/>
              </a:rPr>
              <a:t>Service Account</a:t>
            </a:r>
            <a:r>
              <a:rPr lang="en-US" sz="800" b="1" i="1" dirty="0">
                <a:solidFill>
                  <a:srgbClr val="C00000"/>
                </a:solidFill>
                <a:latin typeface="Helvetica" pitchFamily="50" charset="0"/>
              </a:rPr>
              <a:t>, Managed Identity=</a:t>
            </a:r>
            <a:r>
              <a:rPr lang="en-US" sz="800" b="1" i="1" strike="sngStrike" dirty="0">
                <a:solidFill>
                  <a:srgbClr val="C00000"/>
                </a:solidFill>
                <a:latin typeface="Helvetica" pitchFamily="50" charset="0"/>
              </a:rPr>
              <a:t>GCP Owner User</a:t>
            </a:r>
          </a:p>
          <a:p>
            <a:r>
              <a:rPr lang="en-US" sz="800" b="1" i="1" dirty="0">
                <a:solidFill>
                  <a:srgbClr val="44546A"/>
                </a:solidFill>
                <a:latin typeface="Helvetica" pitchFamily="50" charset="0"/>
              </a:rPr>
              <a:t>2.     (Access Management) We are learning about </a:t>
            </a:r>
            <a:r>
              <a:rPr lang="en-US" sz="800" b="1" i="1" dirty="0">
                <a:solidFill>
                  <a:srgbClr val="C00000"/>
                </a:solidFill>
                <a:latin typeface="Helvetica" pitchFamily="50" charset="0"/>
              </a:rPr>
              <a:t>What</a:t>
            </a:r>
            <a:r>
              <a:rPr lang="en-US" sz="800" b="1" i="1" dirty="0">
                <a:solidFill>
                  <a:srgbClr val="44546A"/>
                </a:solidFill>
                <a:latin typeface="Helvetica" pitchFamily="50" charset="0"/>
              </a:rPr>
              <a:t> access can be given for </a:t>
            </a:r>
            <a:r>
              <a:rPr lang="en-US" sz="800" b="1" i="1" dirty="0">
                <a:solidFill>
                  <a:srgbClr val="C00000"/>
                </a:solidFill>
                <a:latin typeface="Helvetica" pitchFamily="50" charset="0"/>
              </a:rPr>
              <a:t>Which</a:t>
            </a:r>
            <a:r>
              <a:rPr lang="en-US" sz="800" b="1" i="1" dirty="0">
                <a:solidFill>
                  <a:srgbClr val="44546A"/>
                </a:solidFill>
                <a:latin typeface="Helvetica" pitchFamily="50" charset="0"/>
              </a:rPr>
              <a:t> Resource at </a:t>
            </a:r>
            <a:r>
              <a:rPr lang="en-US" sz="800" b="1" i="1" dirty="0">
                <a:solidFill>
                  <a:srgbClr val="C00000"/>
                </a:solidFill>
                <a:latin typeface="Helvetica" pitchFamily="50" charset="0"/>
              </a:rPr>
              <a:t>what</a:t>
            </a:r>
            <a:r>
              <a:rPr lang="en-US" sz="800" b="1" i="1" dirty="0">
                <a:solidFill>
                  <a:srgbClr val="44546A"/>
                </a:solidFill>
                <a:latin typeface="Helvetica" pitchFamily="50" charset="0"/>
              </a:rPr>
              <a:t> level of hierarchy  -</a:t>
            </a:r>
          </a:p>
          <a:p>
            <a:r>
              <a:rPr lang="en-US" sz="800" b="1" i="1" dirty="0">
                <a:solidFill>
                  <a:srgbClr val="C00000"/>
                </a:solidFill>
                <a:latin typeface="Helvetica" pitchFamily="50" charset="0"/>
              </a:rPr>
              <a:t>Every level we can control the access</a:t>
            </a:r>
          </a:p>
        </p:txBody>
      </p:sp>
    </p:spTree>
    <p:extLst>
      <p:ext uri="{BB962C8B-B14F-4D97-AF65-F5344CB8AC3E}">
        <p14:creationId xmlns:p14="http://schemas.microsoft.com/office/powerpoint/2010/main" val="24388175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16816" y="-53790"/>
            <a:ext cx="8004369" cy="486834"/>
          </a:xfrm>
        </p:spPr>
        <p:txBody>
          <a:bodyPr vert="horz" lIns="91440" tIns="45720" rIns="91440" bIns="45720" rtlCol="0" anchor="ctr">
            <a:normAutofit fontScale="90000"/>
          </a:bodyPr>
          <a:lstStyle/>
          <a:p>
            <a:r>
              <a:rPr lang="en-US" sz="2800" b="1" dirty="0">
                <a:solidFill>
                  <a:srgbClr val="FF0000"/>
                </a:solidFill>
                <a:latin typeface="+mn-lt"/>
              </a:rPr>
              <a:t>RBAC – IAM (</a:t>
            </a:r>
            <a:r>
              <a:rPr lang="en-US" sz="2800" b="1" u="sng" dirty="0">
                <a:solidFill>
                  <a:srgbClr val="7030A0"/>
                </a:solidFill>
                <a:latin typeface="+mn-lt"/>
              </a:rPr>
              <a:t>Identity</a:t>
            </a:r>
            <a:r>
              <a:rPr lang="en-US" sz="2800" b="1" dirty="0">
                <a:solidFill>
                  <a:srgbClr val="FF0000"/>
                </a:solidFill>
                <a:latin typeface="+mn-lt"/>
              </a:rPr>
              <a:t>) (User/group/role management)</a:t>
            </a:r>
          </a:p>
        </p:txBody>
      </p:sp>
      <p:pic>
        <p:nvPicPr>
          <p:cNvPr id="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44700"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3" name="Group 22"/>
          <p:cNvGrpSpPr/>
          <p:nvPr/>
        </p:nvGrpSpPr>
        <p:grpSpPr>
          <a:xfrm>
            <a:off x="5268758" y="1860155"/>
            <a:ext cx="6650032" cy="3193363"/>
            <a:chOff x="6498489" y="2777128"/>
            <a:chExt cx="5403275" cy="2594667"/>
          </a:xfrm>
        </p:grpSpPr>
        <p:pic>
          <p:nvPicPr>
            <p:cNvPr id="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8489" y="3038966"/>
              <a:ext cx="5403275" cy="23328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7" name="Heptagon 26"/>
            <p:cNvSpPr/>
            <p:nvPr/>
          </p:nvSpPr>
          <p:spPr>
            <a:xfrm>
              <a:off x="11332725" y="2777128"/>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1</a:t>
              </a:r>
              <a:endParaRPr lang="en-IN" sz="3600" b="1" dirty="0">
                <a:solidFill>
                  <a:prstClr val="white"/>
                </a:solidFill>
              </a:endParaRPr>
            </a:p>
          </p:txBody>
        </p:sp>
        <p:sp>
          <p:nvSpPr>
            <p:cNvPr id="28" name="Rectangle 27"/>
            <p:cNvSpPr/>
            <p:nvPr/>
          </p:nvSpPr>
          <p:spPr>
            <a:xfrm>
              <a:off x="10048480" y="4406326"/>
              <a:ext cx="639990" cy="1791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
        <p:nvSpPr>
          <p:cNvPr id="29" name="TextBox 28"/>
          <p:cNvSpPr txBox="1"/>
          <p:nvPr/>
        </p:nvSpPr>
        <p:spPr>
          <a:xfrm>
            <a:off x="208574" y="699665"/>
            <a:ext cx="7221849" cy="769441"/>
          </a:xfrm>
          <a:prstGeom prst="rect">
            <a:avLst/>
          </a:prstGeom>
          <a:noFill/>
        </p:spPr>
        <p:txBody>
          <a:bodyPr wrap="none" rtlCol="0">
            <a:spAutoFit/>
          </a:bodyPr>
          <a:lstStyle/>
          <a:p>
            <a:r>
              <a:rPr lang="en-US" sz="1600" b="1" dirty="0">
                <a:solidFill>
                  <a:prstClr val="black"/>
                </a:solidFill>
              </a:rPr>
              <a:t>To add a new user search for active directory -&gt; Add users/groups (done by Admin)</a:t>
            </a:r>
          </a:p>
          <a:p>
            <a:pPr marL="228600" indent="-228600">
              <a:buFontTx/>
              <a:buAutoNum type="arabicPeriod"/>
            </a:pPr>
            <a:r>
              <a:rPr lang="en-US" sz="1400" dirty="0">
                <a:solidFill>
                  <a:prstClr val="black"/>
                </a:solidFill>
              </a:rPr>
              <a:t>Go to the </a:t>
            </a:r>
            <a:r>
              <a:rPr lang="en-US" sz="1400" b="1" dirty="0">
                <a:solidFill>
                  <a:prstClr val="black"/>
                </a:solidFill>
              </a:rPr>
              <a:t>Azure Active Directory -&gt; </a:t>
            </a:r>
            <a:r>
              <a:rPr lang="en-US" sz="1400" dirty="0">
                <a:solidFill>
                  <a:prstClr val="black"/>
                </a:solidFill>
              </a:rPr>
              <a:t>select </a:t>
            </a:r>
            <a:r>
              <a:rPr lang="en-US" sz="1400" b="1" dirty="0">
                <a:solidFill>
                  <a:prstClr val="black"/>
                </a:solidFill>
              </a:rPr>
              <a:t>Users</a:t>
            </a:r>
            <a:r>
              <a:rPr lang="en-US" sz="1400" dirty="0">
                <a:solidFill>
                  <a:prstClr val="black"/>
                </a:solidFill>
              </a:rPr>
              <a:t> under the "Manage" section</a:t>
            </a:r>
          </a:p>
          <a:p>
            <a:pPr marL="228600" indent="-228600">
              <a:buFontTx/>
              <a:buAutoNum type="arabicPeriod"/>
            </a:pPr>
            <a:r>
              <a:rPr lang="en-US" sz="1400" dirty="0">
                <a:solidFill>
                  <a:prstClr val="black"/>
                </a:solidFill>
              </a:rPr>
              <a:t>Invite external guest user or add a internal member user.</a:t>
            </a:r>
            <a:endParaRPr lang="en-IN" sz="1400" dirty="0">
              <a:solidFill>
                <a:prstClr val="black"/>
              </a:solidFill>
            </a:endParaRP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5981" y="501216"/>
            <a:ext cx="933450" cy="104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48758" y="518368"/>
            <a:ext cx="874568" cy="1021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320" y="1759500"/>
            <a:ext cx="4203595" cy="47231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9654346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16816" y="-53790"/>
            <a:ext cx="6059021" cy="486834"/>
          </a:xfrm>
        </p:spPr>
        <p:txBody>
          <a:bodyPr vert="horz" lIns="91440" tIns="45720" rIns="91440" bIns="45720" rtlCol="0" anchor="ctr">
            <a:normAutofit/>
          </a:bodyPr>
          <a:lstStyle/>
          <a:p>
            <a:r>
              <a:rPr lang="en-US" sz="2800" b="1" dirty="0">
                <a:solidFill>
                  <a:srgbClr val="FF0000"/>
                </a:solidFill>
                <a:latin typeface="+mn-lt"/>
              </a:rPr>
              <a:t>RBAC – IAM </a:t>
            </a:r>
            <a:r>
              <a:rPr lang="en-US" sz="2800" b="1" dirty="0">
                <a:solidFill>
                  <a:srgbClr val="FF0000"/>
                </a:solidFill>
              </a:rPr>
              <a:t>(</a:t>
            </a:r>
            <a:r>
              <a:rPr lang="en-US" sz="2800" b="1" u="sng" dirty="0">
                <a:solidFill>
                  <a:srgbClr val="7030A0"/>
                </a:solidFill>
              </a:rPr>
              <a:t>Access</a:t>
            </a:r>
            <a:r>
              <a:rPr lang="en-US" sz="2800" b="1" dirty="0">
                <a:solidFill>
                  <a:srgbClr val="FF0000"/>
                </a:solidFill>
              </a:rPr>
              <a:t>)</a:t>
            </a:r>
            <a:r>
              <a:rPr lang="en-US" sz="2800" b="1" dirty="0">
                <a:solidFill>
                  <a:srgbClr val="FF0000"/>
                </a:solidFill>
                <a:latin typeface="+mn-lt"/>
              </a:rPr>
              <a:t> (Role Assignment)</a:t>
            </a:r>
          </a:p>
        </p:txBody>
      </p:sp>
      <p:grpSp>
        <p:nvGrpSpPr>
          <p:cNvPr id="2" name="Group 1"/>
          <p:cNvGrpSpPr/>
          <p:nvPr/>
        </p:nvGrpSpPr>
        <p:grpSpPr>
          <a:xfrm>
            <a:off x="129885" y="4361075"/>
            <a:ext cx="7663291" cy="2397970"/>
            <a:chOff x="219836" y="406741"/>
            <a:chExt cx="9272582" cy="3510868"/>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836" y="406741"/>
              <a:ext cx="9199628" cy="35108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8" name="Rectangle 17"/>
            <p:cNvSpPr/>
            <p:nvPr/>
          </p:nvSpPr>
          <p:spPr>
            <a:xfrm>
              <a:off x="263122" y="2977704"/>
              <a:ext cx="9229296" cy="2167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9" name="Rectangle 18"/>
            <p:cNvSpPr/>
            <p:nvPr/>
          </p:nvSpPr>
          <p:spPr>
            <a:xfrm>
              <a:off x="219836" y="407070"/>
              <a:ext cx="2932939" cy="1970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grpSp>
        <p:nvGrpSpPr>
          <p:cNvPr id="4" name="Group 3"/>
          <p:cNvGrpSpPr/>
          <p:nvPr/>
        </p:nvGrpSpPr>
        <p:grpSpPr>
          <a:xfrm>
            <a:off x="6053450" y="149845"/>
            <a:ext cx="6064822" cy="2282302"/>
            <a:chOff x="634382" y="4065872"/>
            <a:chExt cx="7338434" cy="2761585"/>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069" y="6355143"/>
              <a:ext cx="3652562" cy="472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Group 2"/>
            <p:cNvGrpSpPr/>
            <p:nvPr/>
          </p:nvGrpSpPr>
          <p:grpSpPr>
            <a:xfrm>
              <a:off x="634382" y="4065872"/>
              <a:ext cx="7338434" cy="2656586"/>
              <a:chOff x="634382" y="4065872"/>
              <a:chExt cx="7338434" cy="2656586"/>
            </a:xfrm>
          </p:grpSpPr>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382" y="4065872"/>
                <a:ext cx="7338434" cy="22314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7" name="Rectangle 16"/>
              <p:cNvSpPr/>
              <p:nvPr/>
            </p:nvSpPr>
            <p:spPr>
              <a:xfrm>
                <a:off x="1166561" y="6460141"/>
                <a:ext cx="1133782" cy="2623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0" name="Rectangle 19"/>
              <p:cNvSpPr/>
              <p:nvPr/>
            </p:nvSpPr>
            <p:spPr>
              <a:xfrm>
                <a:off x="1886711" y="6017295"/>
                <a:ext cx="2932939" cy="1970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gr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085" y="1122072"/>
            <a:ext cx="4616778" cy="31370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 name="Rectangle 13"/>
          <p:cNvSpPr/>
          <p:nvPr/>
        </p:nvSpPr>
        <p:spPr>
          <a:xfrm>
            <a:off x="317823" y="3121922"/>
            <a:ext cx="934525" cy="1628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5" name="Rectangle 14"/>
          <p:cNvSpPr/>
          <p:nvPr/>
        </p:nvSpPr>
        <p:spPr>
          <a:xfrm>
            <a:off x="3238398" y="4009422"/>
            <a:ext cx="1027977" cy="1628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6" name="Heptagon 15"/>
          <p:cNvSpPr/>
          <p:nvPr/>
        </p:nvSpPr>
        <p:spPr>
          <a:xfrm>
            <a:off x="4611621" y="1122072"/>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1</a:t>
            </a:r>
            <a:endParaRPr lang="en-IN" sz="3600" b="1" dirty="0">
              <a:solidFill>
                <a:prstClr val="white"/>
              </a:solidFill>
            </a:endParaRPr>
          </a:p>
        </p:txBody>
      </p:sp>
      <p:sp>
        <p:nvSpPr>
          <p:cNvPr id="21" name="Heptagon 20"/>
          <p:cNvSpPr/>
          <p:nvPr/>
        </p:nvSpPr>
        <p:spPr>
          <a:xfrm>
            <a:off x="7345088" y="4116225"/>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2</a:t>
            </a:r>
            <a:endParaRPr lang="en-IN" sz="3600" b="1" dirty="0">
              <a:solidFill>
                <a:prstClr val="white"/>
              </a:solidFill>
            </a:endParaRPr>
          </a:p>
        </p:txBody>
      </p:sp>
      <p:sp>
        <p:nvSpPr>
          <p:cNvPr id="22" name="Heptagon 21"/>
          <p:cNvSpPr/>
          <p:nvPr/>
        </p:nvSpPr>
        <p:spPr>
          <a:xfrm>
            <a:off x="9241259" y="77334"/>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prstClr val="white"/>
                </a:solidFill>
              </a:rPr>
              <a:t>3</a:t>
            </a:r>
            <a:endParaRPr lang="en-IN" sz="3600" b="1" dirty="0">
              <a:solidFill>
                <a:prstClr val="white"/>
              </a:solidFill>
            </a:endParaRPr>
          </a:p>
        </p:txBody>
      </p:sp>
      <p:sp>
        <p:nvSpPr>
          <p:cNvPr id="25" name="TextBox 24"/>
          <p:cNvSpPr txBox="1"/>
          <p:nvPr/>
        </p:nvSpPr>
        <p:spPr>
          <a:xfrm>
            <a:off x="129885" y="296017"/>
            <a:ext cx="5770915" cy="769441"/>
          </a:xfrm>
          <a:prstGeom prst="rect">
            <a:avLst/>
          </a:prstGeom>
          <a:noFill/>
        </p:spPr>
        <p:txBody>
          <a:bodyPr wrap="square" rtlCol="0">
            <a:spAutoFit/>
          </a:bodyPr>
          <a:lstStyle/>
          <a:p>
            <a:r>
              <a:rPr lang="en-US" sz="1200" b="1" u="sng" dirty="0">
                <a:solidFill>
                  <a:prstClr val="black"/>
                </a:solidFill>
              </a:rPr>
              <a:t>To Assign roles to the new user, we can directly click on the tenant/management group/</a:t>
            </a:r>
          </a:p>
          <a:p>
            <a:r>
              <a:rPr lang="en-US" sz="1200" b="1" u="sng" dirty="0">
                <a:solidFill>
                  <a:prstClr val="black"/>
                </a:solidFill>
              </a:rPr>
              <a:t>Resource Group/Resource directly</a:t>
            </a:r>
          </a:p>
          <a:p>
            <a:r>
              <a:rPr lang="en-US" sz="1000" b="1" i="1" dirty="0">
                <a:solidFill>
                  <a:srgbClr val="44546A"/>
                </a:solidFill>
                <a:latin typeface="Helvetica" pitchFamily="50" charset="0"/>
              </a:rPr>
              <a:t>(Access Management) We are learning about </a:t>
            </a:r>
            <a:r>
              <a:rPr lang="en-US" sz="1000" b="1" i="1" dirty="0">
                <a:solidFill>
                  <a:srgbClr val="C00000"/>
                </a:solidFill>
                <a:latin typeface="Helvetica" pitchFamily="50" charset="0"/>
              </a:rPr>
              <a:t>What</a:t>
            </a:r>
            <a:r>
              <a:rPr lang="en-US" sz="1000" b="1" i="1" dirty="0">
                <a:solidFill>
                  <a:srgbClr val="44546A"/>
                </a:solidFill>
                <a:latin typeface="Helvetica" pitchFamily="50" charset="0"/>
              </a:rPr>
              <a:t> access can be given for </a:t>
            </a:r>
            <a:r>
              <a:rPr lang="en-US" sz="1000" b="1" i="1" dirty="0">
                <a:solidFill>
                  <a:srgbClr val="C00000"/>
                </a:solidFill>
                <a:latin typeface="Helvetica" pitchFamily="50" charset="0"/>
              </a:rPr>
              <a:t>Which</a:t>
            </a:r>
            <a:r>
              <a:rPr lang="en-US" sz="1000" b="1" i="1" dirty="0">
                <a:solidFill>
                  <a:srgbClr val="44546A"/>
                </a:solidFill>
                <a:latin typeface="Helvetica" pitchFamily="50" charset="0"/>
              </a:rPr>
              <a:t> Resource at </a:t>
            </a:r>
            <a:r>
              <a:rPr lang="en-US" sz="1000" b="1" i="1" dirty="0">
                <a:solidFill>
                  <a:srgbClr val="C00000"/>
                </a:solidFill>
                <a:latin typeface="Helvetica" pitchFamily="50" charset="0"/>
              </a:rPr>
              <a:t>what</a:t>
            </a:r>
            <a:r>
              <a:rPr lang="en-US" sz="1000" b="1" i="1" dirty="0">
                <a:solidFill>
                  <a:srgbClr val="44546A"/>
                </a:solidFill>
                <a:latin typeface="Helvetica" pitchFamily="50" charset="0"/>
              </a:rPr>
              <a:t> level of hierarchy  - </a:t>
            </a:r>
            <a:r>
              <a:rPr lang="en-US" sz="1000" b="1" i="1" dirty="0">
                <a:solidFill>
                  <a:srgbClr val="C00000"/>
                </a:solidFill>
                <a:latin typeface="Helvetica" pitchFamily="50" charset="0"/>
              </a:rPr>
              <a:t>Every level we can control the access</a:t>
            </a:r>
            <a:endParaRPr lang="en-IN" sz="1000" u="sng" dirty="0">
              <a:solidFill>
                <a:prstClr val="black"/>
              </a:solidFill>
            </a:endParaRPr>
          </a:p>
        </p:txBody>
      </p:sp>
      <p:pic>
        <p:nvPicPr>
          <p:cNvPr id="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744700"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ectangle 26"/>
          <p:cNvSpPr/>
          <p:nvPr/>
        </p:nvSpPr>
        <p:spPr>
          <a:xfrm>
            <a:off x="1726857" y="2110650"/>
            <a:ext cx="934525" cy="1628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Tree>
    <p:extLst>
      <p:ext uri="{BB962C8B-B14F-4D97-AF65-F5344CB8AC3E}">
        <p14:creationId xmlns:p14="http://schemas.microsoft.com/office/powerpoint/2010/main" val="1487405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4736" y="3606325"/>
            <a:ext cx="4691641" cy="226463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1" name="Rectangle 2"/>
          <p:cNvSpPr>
            <a:spLocks noGrp="1" noChangeArrowheads="1"/>
          </p:cNvSpPr>
          <p:nvPr>
            <p:ph type="ctrTitle"/>
          </p:nvPr>
        </p:nvSpPr>
        <p:spPr>
          <a:xfrm>
            <a:off x="546032" y="2011530"/>
            <a:ext cx="10363200" cy="1143000"/>
          </a:xfrm>
        </p:spPr>
        <p:txBody>
          <a:bodyPr vert="horz" lIns="91440" tIns="45720" rIns="91440" bIns="45720" rtlCol="0" anchor="ctr">
            <a:noAutofit/>
          </a:bodyPr>
          <a:lstStyle/>
          <a:p>
            <a:r>
              <a:rPr lang="en-US" sz="4800" b="1" dirty="0" smtClean="0">
                <a:solidFill>
                  <a:srgbClr val="FF0000"/>
                </a:solidFill>
              </a:rPr>
              <a:t>Azure Storage Resource</a:t>
            </a:r>
            <a:br>
              <a:rPr lang="en-US" sz="4800" b="1" dirty="0" smtClean="0">
                <a:solidFill>
                  <a:srgbClr val="FF0000"/>
                </a:solidFill>
              </a:rPr>
            </a:br>
            <a:r>
              <a:rPr lang="en-US" sz="2400" b="1" dirty="0" smtClean="0">
                <a:solidFill>
                  <a:srgbClr val="FF0000"/>
                </a:solidFill>
              </a:rPr>
              <a:t>BLOB/ADLS Gen2-V2</a:t>
            </a:r>
            <a:endParaRPr lang="cs-CZ" sz="4800" b="1" dirty="0">
              <a:solidFill>
                <a:srgbClr val="FF0000"/>
              </a:solidFill>
            </a:endParaRPr>
          </a:p>
        </p:txBody>
      </p:sp>
      <p:sp>
        <p:nvSpPr>
          <p:cNvPr id="2" name="Rectangle 1"/>
          <p:cNvSpPr/>
          <p:nvPr/>
        </p:nvSpPr>
        <p:spPr>
          <a:xfrm>
            <a:off x="3250897" y="5099952"/>
            <a:ext cx="1499898" cy="369332"/>
          </a:xfrm>
          <a:prstGeom prst="rect">
            <a:avLst/>
          </a:prstGeom>
        </p:spPr>
        <p:txBody>
          <a:bodyPr wrap="none">
            <a:spAutoFit/>
          </a:bodyPr>
          <a:lstStyle/>
          <a:p>
            <a:r>
              <a:rPr lang="en-US" b="1" dirty="0" smtClean="0">
                <a:solidFill>
                  <a:srgbClr val="FF0000"/>
                </a:solidFill>
              </a:rPr>
              <a:t>BLOB - Object</a:t>
            </a:r>
            <a:endParaRPr lang="en-IN" dirty="0"/>
          </a:p>
        </p:txBody>
      </p:sp>
      <p:sp>
        <p:nvSpPr>
          <p:cNvPr id="3" name="Rectangle 2"/>
          <p:cNvSpPr/>
          <p:nvPr/>
        </p:nvSpPr>
        <p:spPr>
          <a:xfrm>
            <a:off x="2679010" y="4158734"/>
            <a:ext cx="2225481" cy="369332"/>
          </a:xfrm>
          <a:prstGeom prst="rect">
            <a:avLst/>
          </a:prstGeom>
        </p:spPr>
        <p:txBody>
          <a:bodyPr wrap="none">
            <a:spAutoFit/>
          </a:bodyPr>
          <a:lstStyle/>
          <a:p>
            <a:r>
              <a:rPr lang="en-US" b="1" dirty="0">
                <a:solidFill>
                  <a:srgbClr val="FF0000"/>
                </a:solidFill>
              </a:rPr>
              <a:t>ADLS </a:t>
            </a:r>
            <a:r>
              <a:rPr lang="en-US" b="1" dirty="0" smtClean="0">
                <a:solidFill>
                  <a:srgbClr val="FF0000"/>
                </a:solidFill>
              </a:rPr>
              <a:t>Gen2 (HNS) - FS</a:t>
            </a:r>
            <a:endParaRPr lang="en-IN" dirty="0"/>
          </a:p>
        </p:txBody>
      </p:sp>
      <p:cxnSp>
        <p:nvCxnSpPr>
          <p:cNvPr id="5" name="Straight Arrow Connector 4"/>
          <p:cNvCxnSpPr>
            <a:endCxn id="3" idx="1"/>
          </p:cNvCxnSpPr>
          <p:nvPr/>
        </p:nvCxnSpPr>
        <p:spPr>
          <a:xfrm>
            <a:off x="1318598" y="4158734"/>
            <a:ext cx="1360412" cy="1846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endCxn id="2" idx="1"/>
          </p:cNvCxnSpPr>
          <p:nvPr/>
        </p:nvCxnSpPr>
        <p:spPr>
          <a:xfrm>
            <a:off x="1540708" y="5126793"/>
            <a:ext cx="1710189" cy="1578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3" idx="2"/>
            <a:endCxn id="2" idx="0"/>
          </p:cNvCxnSpPr>
          <p:nvPr/>
        </p:nvCxnSpPr>
        <p:spPr>
          <a:xfrm>
            <a:off x="3791751" y="4528066"/>
            <a:ext cx="209095" cy="57188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461849" y="3777787"/>
            <a:ext cx="958404" cy="646331"/>
          </a:xfrm>
          <a:prstGeom prst="rect">
            <a:avLst/>
          </a:prstGeom>
        </p:spPr>
        <p:txBody>
          <a:bodyPr wrap="none">
            <a:spAutoFit/>
          </a:bodyPr>
          <a:lstStyle/>
          <a:p>
            <a:r>
              <a:rPr lang="en-US" b="1" dirty="0" err="1" smtClean="0">
                <a:solidFill>
                  <a:srgbClr val="FF0000"/>
                </a:solidFill>
              </a:rPr>
              <a:t>Bigdata</a:t>
            </a:r>
            <a:endParaRPr lang="en-US" b="1" dirty="0" smtClean="0">
              <a:solidFill>
                <a:srgbClr val="FF0000"/>
              </a:solidFill>
            </a:endParaRPr>
          </a:p>
          <a:p>
            <a:r>
              <a:rPr lang="en-US" b="1" dirty="0" smtClean="0">
                <a:solidFill>
                  <a:srgbClr val="FF0000"/>
                </a:solidFill>
              </a:rPr>
              <a:t>Systems</a:t>
            </a:r>
            <a:endParaRPr lang="en-IN" dirty="0"/>
          </a:p>
        </p:txBody>
      </p:sp>
      <p:sp>
        <p:nvSpPr>
          <p:cNvPr id="12" name="Rectangle 11"/>
          <p:cNvSpPr/>
          <p:nvPr/>
        </p:nvSpPr>
        <p:spPr>
          <a:xfrm>
            <a:off x="582304" y="4803627"/>
            <a:ext cx="1516762" cy="807913"/>
          </a:xfrm>
          <a:prstGeom prst="rect">
            <a:avLst/>
          </a:prstGeom>
        </p:spPr>
        <p:txBody>
          <a:bodyPr wrap="none">
            <a:spAutoFit/>
          </a:bodyPr>
          <a:lstStyle/>
          <a:p>
            <a:r>
              <a:rPr lang="en-US" b="1" dirty="0" smtClean="0">
                <a:solidFill>
                  <a:srgbClr val="FF0000"/>
                </a:solidFill>
              </a:rPr>
              <a:t>Legacy</a:t>
            </a:r>
          </a:p>
          <a:p>
            <a:r>
              <a:rPr lang="en-US" b="1" dirty="0" smtClean="0">
                <a:solidFill>
                  <a:srgbClr val="FF0000"/>
                </a:solidFill>
              </a:rPr>
              <a:t>Systems</a:t>
            </a:r>
          </a:p>
          <a:p>
            <a:r>
              <a:rPr lang="en-US" sz="1050" b="1" dirty="0" smtClean="0">
                <a:solidFill>
                  <a:srgbClr val="FF0000"/>
                </a:solidFill>
              </a:rPr>
              <a:t>(Webservers/Company)</a:t>
            </a:r>
            <a:endParaRPr lang="en-IN" sz="1050" dirty="0"/>
          </a:p>
        </p:txBody>
      </p:sp>
      <p:sp>
        <p:nvSpPr>
          <p:cNvPr id="16" name="Rectangle 15"/>
          <p:cNvSpPr/>
          <p:nvPr/>
        </p:nvSpPr>
        <p:spPr>
          <a:xfrm>
            <a:off x="3335622" y="591811"/>
            <a:ext cx="3161510" cy="103545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smtClean="0"/>
              <a:t>BLOCKS (</a:t>
            </a:r>
            <a:r>
              <a:rPr lang="en-IN" dirty="0" err="1" smtClean="0"/>
              <a:t>os</a:t>
            </a:r>
            <a:r>
              <a:rPr lang="en-IN" dirty="0" smtClean="0"/>
              <a:t>/</a:t>
            </a:r>
            <a:r>
              <a:rPr lang="en-IN" dirty="0" err="1" smtClean="0"/>
              <a:t>hdfs</a:t>
            </a:r>
            <a:r>
              <a:rPr lang="en-IN" dirty="0" smtClean="0"/>
              <a:t>…) </a:t>
            </a:r>
          </a:p>
          <a:p>
            <a:pPr algn="ctr"/>
            <a:r>
              <a:rPr lang="en-IN" dirty="0" smtClean="0"/>
              <a:t>or OBJECTS (Cloud)</a:t>
            </a:r>
            <a:endParaRPr lang="en-IN" dirty="0"/>
          </a:p>
        </p:txBody>
      </p:sp>
      <p:sp>
        <p:nvSpPr>
          <p:cNvPr id="17" name="Rectangle 16"/>
          <p:cNvSpPr/>
          <p:nvPr/>
        </p:nvSpPr>
        <p:spPr>
          <a:xfrm>
            <a:off x="5803544" y="3606325"/>
            <a:ext cx="4691641" cy="226463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8" name="Rectangle 17"/>
          <p:cNvSpPr/>
          <p:nvPr/>
        </p:nvSpPr>
        <p:spPr>
          <a:xfrm>
            <a:off x="8299853" y="5099952"/>
            <a:ext cx="1649491" cy="369332"/>
          </a:xfrm>
          <a:prstGeom prst="rect">
            <a:avLst/>
          </a:prstGeom>
        </p:spPr>
        <p:txBody>
          <a:bodyPr wrap="none">
            <a:spAutoFit/>
          </a:bodyPr>
          <a:lstStyle/>
          <a:p>
            <a:r>
              <a:rPr lang="en-US" b="1" dirty="0" smtClean="0">
                <a:solidFill>
                  <a:srgbClr val="FF0000"/>
                </a:solidFill>
              </a:rPr>
              <a:t>Blocks (128mb)</a:t>
            </a:r>
            <a:endParaRPr lang="en-IN" dirty="0"/>
          </a:p>
        </p:txBody>
      </p:sp>
      <p:sp>
        <p:nvSpPr>
          <p:cNvPr id="19" name="Rectangle 18"/>
          <p:cNvSpPr/>
          <p:nvPr/>
        </p:nvSpPr>
        <p:spPr>
          <a:xfrm>
            <a:off x="8257818" y="4158734"/>
            <a:ext cx="1680653" cy="369332"/>
          </a:xfrm>
          <a:prstGeom prst="rect">
            <a:avLst/>
          </a:prstGeom>
        </p:spPr>
        <p:txBody>
          <a:bodyPr wrap="none">
            <a:spAutoFit/>
          </a:bodyPr>
          <a:lstStyle/>
          <a:p>
            <a:r>
              <a:rPr lang="en-US" b="1" dirty="0" smtClean="0">
                <a:solidFill>
                  <a:srgbClr val="FF0000"/>
                </a:solidFill>
              </a:rPr>
              <a:t>HDFS (HNS) - FS</a:t>
            </a:r>
            <a:endParaRPr lang="en-IN" dirty="0"/>
          </a:p>
        </p:txBody>
      </p:sp>
      <p:cxnSp>
        <p:nvCxnSpPr>
          <p:cNvPr id="20" name="Straight Arrow Connector 19"/>
          <p:cNvCxnSpPr>
            <a:endCxn id="19" idx="1"/>
          </p:cNvCxnSpPr>
          <p:nvPr/>
        </p:nvCxnSpPr>
        <p:spPr>
          <a:xfrm>
            <a:off x="6897406" y="4158734"/>
            <a:ext cx="1360412" cy="1846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9" idx="2"/>
            <a:endCxn id="18" idx="0"/>
          </p:cNvCxnSpPr>
          <p:nvPr/>
        </p:nvCxnSpPr>
        <p:spPr>
          <a:xfrm>
            <a:off x="9098145" y="4528066"/>
            <a:ext cx="26454" cy="57188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6040657" y="3777787"/>
            <a:ext cx="969176" cy="923330"/>
          </a:xfrm>
          <a:prstGeom prst="rect">
            <a:avLst/>
          </a:prstGeom>
        </p:spPr>
        <p:txBody>
          <a:bodyPr wrap="none">
            <a:spAutoFit/>
          </a:bodyPr>
          <a:lstStyle/>
          <a:p>
            <a:r>
              <a:rPr lang="en-US" b="1" dirty="0" err="1" smtClean="0">
                <a:solidFill>
                  <a:srgbClr val="FF0000"/>
                </a:solidFill>
              </a:rPr>
              <a:t>Onprem</a:t>
            </a:r>
            <a:endParaRPr lang="en-US" b="1" dirty="0" smtClean="0">
              <a:solidFill>
                <a:srgbClr val="FF0000"/>
              </a:solidFill>
            </a:endParaRPr>
          </a:p>
          <a:p>
            <a:r>
              <a:rPr lang="en-US" b="1" dirty="0" err="1" smtClean="0">
                <a:solidFill>
                  <a:srgbClr val="FF0000"/>
                </a:solidFill>
              </a:rPr>
              <a:t>Bigdata</a:t>
            </a:r>
            <a:endParaRPr lang="en-US" b="1" dirty="0" smtClean="0">
              <a:solidFill>
                <a:srgbClr val="FF0000"/>
              </a:solidFill>
            </a:endParaRPr>
          </a:p>
          <a:p>
            <a:r>
              <a:rPr lang="en-US" b="1" dirty="0" smtClean="0">
                <a:solidFill>
                  <a:srgbClr val="FF0000"/>
                </a:solidFill>
              </a:rPr>
              <a:t>Systems</a:t>
            </a:r>
            <a:endParaRPr lang="en-IN" dirty="0"/>
          </a:p>
        </p:txBody>
      </p:sp>
    </p:spTree>
    <p:extLst>
      <p:ext uri="{BB962C8B-B14F-4D97-AF65-F5344CB8AC3E}">
        <p14:creationId xmlns:p14="http://schemas.microsoft.com/office/powerpoint/2010/main" val="325284206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mage result for aws i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 name="TextBox 1"/>
          <p:cNvSpPr txBox="1"/>
          <p:nvPr/>
        </p:nvSpPr>
        <p:spPr>
          <a:xfrm>
            <a:off x="90003" y="-32302"/>
            <a:ext cx="4285597" cy="369332"/>
          </a:xfrm>
          <a:prstGeom prst="rect">
            <a:avLst/>
          </a:prstGeom>
          <a:noFill/>
        </p:spPr>
        <p:txBody>
          <a:bodyPr wrap="none" rtlCol="0">
            <a:spAutoFit/>
          </a:bodyPr>
          <a:lstStyle/>
          <a:p>
            <a:r>
              <a:rPr lang="en-US" b="1" dirty="0">
                <a:solidFill>
                  <a:srgbClr val="FF0000"/>
                </a:solidFill>
              </a:rPr>
              <a:t>GCS/ADLS/S3 – Architecture &amp; Comparison</a:t>
            </a:r>
          </a:p>
        </p:txBody>
      </p:sp>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6426360" y="2013120"/>
              <a:ext cx="360" cy="360"/>
            </p14:xfrm>
          </p:contentPart>
        </mc:Choice>
        <mc:Fallback xmlns="">
          <p:pic>
            <p:nvPicPr>
              <p:cNvPr id="7" name="Ink 6"/>
              <p:cNvPicPr/>
              <p:nvPr/>
            </p:nvPicPr>
            <p:blipFill>
              <a:blip r:embed="rId7"/>
              <a:stretch>
                <a:fillRect/>
              </a:stretch>
            </p:blipFill>
            <p:spPr>
              <a:xfrm>
                <a:off x="6417000" y="200376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p14:cNvContentPartPr/>
              <p14:nvPr/>
            </p14:nvContentPartPr>
            <p14:xfrm>
              <a:off x="7931160" y="2901960"/>
              <a:ext cx="360" cy="360"/>
            </p14:xfrm>
          </p:contentPart>
        </mc:Choice>
        <mc:Fallback xmlns="">
          <p:pic>
            <p:nvPicPr>
              <p:cNvPr id="12" name="Ink 11"/>
              <p:cNvPicPr/>
              <p:nvPr/>
            </p:nvPicPr>
            <p:blipFill>
              <a:blip r:embed="rId9"/>
              <a:stretch>
                <a:fillRect/>
              </a:stretch>
            </p:blipFill>
            <p:spPr>
              <a:xfrm>
                <a:off x="7921800" y="2892600"/>
                <a:ext cx="19080" cy="19080"/>
              </a:xfrm>
              <a:prstGeom prst="rect">
                <a:avLst/>
              </a:prstGeom>
            </p:spPr>
          </p:pic>
        </mc:Fallback>
      </mc:AlternateContent>
      <p:sp>
        <p:nvSpPr>
          <p:cNvPr id="10" name="AutoShape 2" descr="https://lh3.googleusercontent.com/gg-dl/AOI_d_-FkaVSupxxfheqer4q0Ep6xZVMVsnsIClPrk25Dr2hzOf6dY4nT7JAk5g0E2wYHpOVCV7acAHi1CW7kc84VTSIbjeQ8cGClZRc3Kyh598k77KD40D68zvhX9nBOh_RWWTQlRpl6iq-lqXliDGabrKuP5XuXO_wby9ldz9_-ljwc44AAQ=s1600-rj"/>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pic>
        <p:nvPicPr>
          <p:cNvPr id="2052" name="Picture 4" descr="C:\Users\moham\Downloads\adls_blob.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03" y="545753"/>
            <a:ext cx="7508632" cy="409561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bject-storag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0221" y="278145"/>
            <a:ext cx="4089964" cy="22576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7912074" y="2764249"/>
            <a:ext cx="4098233" cy="3458190"/>
            <a:chOff x="7912074" y="2764249"/>
            <a:chExt cx="4098233" cy="3458190"/>
          </a:xfrm>
        </p:grpSpPr>
        <p:grpSp>
          <p:nvGrpSpPr>
            <p:cNvPr id="34" name="Group 33"/>
            <p:cNvGrpSpPr/>
            <p:nvPr/>
          </p:nvGrpSpPr>
          <p:grpSpPr>
            <a:xfrm>
              <a:off x="7912074" y="2906349"/>
              <a:ext cx="4098233" cy="3316090"/>
              <a:chOff x="7623416" y="257941"/>
              <a:chExt cx="4098233" cy="3316090"/>
            </a:xfrm>
          </p:grpSpPr>
          <p:grpSp>
            <p:nvGrpSpPr>
              <p:cNvPr id="35" name="Group 34"/>
              <p:cNvGrpSpPr/>
              <p:nvPr/>
            </p:nvGrpSpPr>
            <p:grpSpPr>
              <a:xfrm>
                <a:off x="7623416" y="632876"/>
                <a:ext cx="4098233" cy="2941155"/>
                <a:chOff x="7193899" y="17525"/>
                <a:chExt cx="4958862" cy="3914678"/>
              </a:xfrm>
            </p:grpSpPr>
            <p:pic>
              <p:nvPicPr>
                <p:cNvPr id="45" name="Picture 2" descr="Related imag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93899" y="48200"/>
                  <a:ext cx="4958862" cy="388400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254516" y="17525"/>
                  <a:ext cx="577318" cy="466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7" name="Picture 4" descr="https://www.drupal.org/files/styles/grid-3-2x/public/project-images/google_cloud_storage.png?itok=icnuY-_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306554" y="531668"/>
                  <a:ext cx="910487" cy="646446"/>
                </a:xfrm>
                <a:prstGeom prst="rect">
                  <a:avLst/>
                </a:prstGeom>
                <a:noFill/>
                <a:extLst>
                  <a:ext uri="{909E8E84-426E-40DD-AFC4-6F175D3DCCD1}">
                    <a14:hiddenFill xmlns:a14="http://schemas.microsoft.com/office/drawing/2010/main">
                      <a:solidFill>
                        <a:srgbClr val="FFFFFF"/>
                      </a:solidFill>
                    </a14:hiddenFill>
                  </a:ext>
                </a:extLst>
              </p:spPr>
            </p:pic>
          </p:grpSp>
          <p:pic>
            <p:nvPicPr>
              <p:cNvPr id="38" name="Picture 5" descr="Microsoft Azure Cloud Solutions - Unlock Your Business Potential ..."/>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676809" y="257941"/>
                <a:ext cx="1110870" cy="73923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7" descr="Unlocking the Potential of Azure Data Lake Storage Gen2: 6 Key ..."/>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587146" y="829094"/>
                <a:ext cx="1288610" cy="638245"/>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p:cNvSpPr/>
              <p:nvPr/>
            </p:nvSpPr>
            <p:spPr>
              <a:xfrm>
                <a:off x="8758692" y="1596010"/>
                <a:ext cx="913840" cy="231237"/>
              </a:xfrm>
              <a:prstGeom prst="rect">
                <a:avLst/>
              </a:prstGeom>
              <a:solidFill>
                <a:schemeClr val="accent5">
                  <a:lumMod val="20000"/>
                  <a:lumOff val="80000"/>
                </a:schemeClr>
              </a:solidFill>
            </p:spPr>
            <p:txBody>
              <a:bodyPr wrap="none">
                <a:spAutoFit/>
              </a:bodyPr>
              <a:lstStyle/>
              <a:p>
                <a:r>
                  <a:rPr lang="en-US" sz="1400" b="1" dirty="0">
                    <a:solidFill>
                      <a:prstClr val="black"/>
                    </a:solidFill>
                  </a:rPr>
                  <a:t>Container</a:t>
                </a:r>
                <a:endParaRPr lang="en-IN" sz="1400" dirty="0">
                  <a:solidFill>
                    <a:prstClr val="black"/>
                  </a:solidFill>
                </a:endParaRPr>
              </a:p>
            </p:txBody>
          </p:sp>
          <p:sp>
            <p:nvSpPr>
              <p:cNvPr id="43" name="Rectangle 42"/>
              <p:cNvSpPr/>
              <p:nvPr/>
            </p:nvSpPr>
            <p:spPr>
              <a:xfrm>
                <a:off x="10337981" y="1951366"/>
                <a:ext cx="877420" cy="231237"/>
              </a:xfrm>
              <a:prstGeom prst="rect">
                <a:avLst/>
              </a:prstGeom>
              <a:solidFill>
                <a:schemeClr val="accent5">
                  <a:lumMod val="20000"/>
                  <a:lumOff val="80000"/>
                </a:schemeClr>
              </a:solidFill>
            </p:spPr>
            <p:txBody>
              <a:bodyPr wrap="none">
                <a:spAutoFit/>
              </a:bodyPr>
              <a:lstStyle/>
              <a:p>
                <a:r>
                  <a:rPr lang="en-US" sz="1400" b="1" dirty="0">
                    <a:solidFill>
                      <a:prstClr val="black"/>
                    </a:solidFill>
                  </a:rPr>
                  <a:t>Directory</a:t>
                </a:r>
                <a:endParaRPr lang="en-IN" sz="1400" dirty="0">
                  <a:solidFill>
                    <a:prstClr val="black"/>
                  </a:solidFill>
                </a:endParaRPr>
              </a:p>
            </p:txBody>
          </p:sp>
          <p:sp>
            <p:nvSpPr>
              <p:cNvPr id="44" name="Rectangle 43"/>
              <p:cNvSpPr/>
              <p:nvPr/>
            </p:nvSpPr>
            <p:spPr>
              <a:xfrm>
                <a:off x="11079194" y="2335456"/>
                <a:ext cx="518091" cy="231237"/>
              </a:xfrm>
              <a:prstGeom prst="rect">
                <a:avLst/>
              </a:prstGeom>
              <a:solidFill>
                <a:schemeClr val="accent5">
                  <a:lumMod val="20000"/>
                  <a:lumOff val="80000"/>
                </a:schemeClr>
              </a:solidFill>
            </p:spPr>
            <p:txBody>
              <a:bodyPr wrap="none">
                <a:spAutoFit/>
              </a:bodyPr>
              <a:lstStyle/>
              <a:p>
                <a:r>
                  <a:rPr lang="en-US" sz="1400" b="1" dirty="0">
                    <a:solidFill>
                      <a:prstClr val="black"/>
                    </a:solidFill>
                  </a:rPr>
                  <a:t>Files</a:t>
                </a:r>
                <a:endParaRPr lang="en-IN" sz="1400" dirty="0">
                  <a:solidFill>
                    <a:prstClr val="black"/>
                  </a:solidFill>
                </a:endParaRPr>
              </a:p>
            </p:txBody>
          </p:sp>
        </p:grpSp>
        <p:sp>
          <p:nvSpPr>
            <p:cNvPr id="48" name="Rectangle 47"/>
            <p:cNvSpPr/>
            <p:nvPr/>
          </p:nvSpPr>
          <p:spPr>
            <a:xfrm>
              <a:off x="7949322" y="2764249"/>
              <a:ext cx="2471767" cy="369332"/>
            </a:xfrm>
            <a:prstGeom prst="rect">
              <a:avLst/>
            </a:prstGeom>
          </p:spPr>
          <p:txBody>
            <a:bodyPr wrap="none">
              <a:spAutoFit/>
            </a:bodyPr>
            <a:lstStyle/>
            <a:p>
              <a:r>
                <a:rPr lang="en-US" b="1" u="sng" dirty="0">
                  <a:solidFill>
                    <a:prstClr val="black"/>
                  </a:solidFill>
                </a:rPr>
                <a:t>Azure Storage Hierarchy</a:t>
              </a:r>
              <a:endParaRPr lang="en-IN" u="sng" dirty="0">
                <a:solidFill>
                  <a:prstClr val="black"/>
                </a:solidFill>
              </a:endParaRPr>
            </a:p>
          </p:txBody>
        </p:sp>
        <p:pic>
          <p:nvPicPr>
            <p:cNvPr id="49" name="Picture 2" descr="Microsoft Azure Blob Storage | element61"/>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035158" y="3603935"/>
              <a:ext cx="722488" cy="620787"/>
            </a:xfrm>
            <a:prstGeom prst="rect">
              <a:avLst/>
            </a:prstGeom>
            <a:noFill/>
            <a:extLst>
              <a:ext uri="{909E8E84-426E-40DD-AFC4-6F175D3DCCD1}">
                <a14:hiddenFill xmlns:a14="http://schemas.microsoft.com/office/drawing/2010/main">
                  <a:solidFill>
                    <a:srgbClr val="FFFFFF"/>
                  </a:solidFill>
                </a14:hiddenFill>
              </a:ext>
            </a:extLst>
          </p:spPr>
        </p:pic>
        <p:sp>
          <p:nvSpPr>
            <p:cNvPr id="50" name="Rectangle 49">
              <a:extLst>
                <a:ext uri="{FF2B5EF4-FFF2-40B4-BE49-F238E27FC236}">
                  <a16:creationId xmlns:a16="http://schemas.microsoft.com/office/drawing/2014/main" xmlns="" id="{BCD31034-6593-AB71-7D3C-E1EAD0BA9C96}"/>
                </a:ext>
              </a:extLst>
            </p:cNvPr>
            <p:cNvSpPr/>
            <p:nvPr/>
          </p:nvSpPr>
          <p:spPr>
            <a:xfrm>
              <a:off x="10347618" y="4251433"/>
              <a:ext cx="913840" cy="231237"/>
            </a:xfrm>
            <a:prstGeom prst="rect">
              <a:avLst/>
            </a:prstGeom>
            <a:solidFill>
              <a:schemeClr val="accent5">
                <a:lumMod val="20000"/>
                <a:lumOff val="80000"/>
              </a:schemeClr>
            </a:solidFill>
          </p:spPr>
          <p:txBody>
            <a:bodyPr wrap="none">
              <a:spAutoFit/>
            </a:bodyPr>
            <a:lstStyle/>
            <a:p>
              <a:r>
                <a:rPr lang="en-US" sz="1400" b="1" dirty="0">
                  <a:solidFill>
                    <a:prstClr val="black"/>
                  </a:solidFill>
                </a:rPr>
                <a:t>Container</a:t>
              </a:r>
              <a:endParaRPr lang="en-IN" sz="1400" dirty="0">
                <a:solidFill>
                  <a:prstClr val="black"/>
                </a:solidFill>
              </a:endParaRPr>
            </a:p>
          </p:txBody>
        </p:sp>
      </p:grpSp>
      <p:sp>
        <p:nvSpPr>
          <p:cNvPr id="3" name="TextBox 2"/>
          <p:cNvSpPr txBox="1"/>
          <p:nvPr/>
        </p:nvSpPr>
        <p:spPr>
          <a:xfrm>
            <a:off x="8951543" y="-3068"/>
            <a:ext cx="2129686" cy="307777"/>
          </a:xfrm>
          <a:prstGeom prst="rect">
            <a:avLst/>
          </a:prstGeom>
          <a:noFill/>
        </p:spPr>
        <p:txBody>
          <a:bodyPr wrap="none" rtlCol="0">
            <a:spAutoFit/>
          </a:bodyPr>
          <a:lstStyle/>
          <a:p>
            <a:r>
              <a:rPr lang="en-IN" sz="1400" b="1" dirty="0" smtClean="0">
                <a:solidFill>
                  <a:prstClr val="black"/>
                </a:solidFill>
              </a:rPr>
              <a:t>Types of Storage Available</a:t>
            </a:r>
            <a:endParaRPr lang="en-IN" sz="1400" b="1" dirty="0">
              <a:solidFill>
                <a:prstClr val="black"/>
              </a:solidFill>
            </a:endParaRPr>
          </a:p>
        </p:txBody>
      </p:sp>
      <p:sp>
        <p:nvSpPr>
          <p:cNvPr id="23" name="TextBox 22"/>
          <p:cNvSpPr txBox="1"/>
          <p:nvPr/>
        </p:nvSpPr>
        <p:spPr>
          <a:xfrm>
            <a:off x="8035026" y="2223708"/>
            <a:ext cx="2082621" cy="415498"/>
          </a:xfrm>
          <a:prstGeom prst="rect">
            <a:avLst/>
          </a:prstGeom>
          <a:noFill/>
        </p:spPr>
        <p:txBody>
          <a:bodyPr wrap="none" rtlCol="0">
            <a:spAutoFit/>
          </a:bodyPr>
          <a:lstStyle/>
          <a:p>
            <a:r>
              <a:rPr lang="en-IN" sz="1050" b="1" dirty="0" smtClean="0">
                <a:solidFill>
                  <a:srgbClr val="C00000"/>
                </a:solidFill>
              </a:rPr>
              <a:t>Blocks in Regular Storage Systems</a:t>
            </a:r>
          </a:p>
          <a:p>
            <a:r>
              <a:rPr lang="en-IN" sz="1050" b="1" dirty="0" err="1" smtClean="0">
                <a:solidFill>
                  <a:srgbClr val="C00000"/>
                </a:solidFill>
              </a:rPr>
              <a:t>Eg</a:t>
            </a:r>
            <a:r>
              <a:rPr lang="en-IN" sz="1050" b="1" dirty="0" smtClean="0">
                <a:solidFill>
                  <a:srgbClr val="C00000"/>
                </a:solidFill>
              </a:rPr>
              <a:t>. HDFS/Windows/Linux/MAC</a:t>
            </a:r>
            <a:endParaRPr lang="en-IN" sz="1050" b="1" dirty="0">
              <a:solidFill>
                <a:srgbClr val="C00000"/>
              </a:solidFill>
            </a:endParaRPr>
          </a:p>
        </p:txBody>
      </p:sp>
      <p:sp>
        <p:nvSpPr>
          <p:cNvPr id="24" name="TextBox 23"/>
          <p:cNvSpPr txBox="1"/>
          <p:nvPr/>
        </p:nvSpPr>
        <p:spPr>
          <a:xfrm>
            <a:off x="10238885" y="2192664"/>
            <a:ext cx="2042547" cy="415498"/>
          </a:xfrm>
          <a:prstGeom prst="rect">
            <a:avLst/>
          </a:prstGeom>
          <a:noFill/>
        </p:spPr>
        <p:txBody>
          <a:bodyPr wrap="none" rtlCol="0">
            <a:spAutoFit/>
          </a:bodyPr>
          <a:lstStyle/>
          <a:p>
            <a:r>
              <a:rPr lang="en-IN" sz="1050" b="1" dirty="0" smtClean="0">
                <a:solidFill>
                  <a:srgbClr val="C00000"/>
                </a:solidFill>
              </a:rPr>
              <a:t>Objects in Cloud Storage Systems</a:t>
            </a:r>
          </a:p>
          <a:p>
            <a:r>
              <a:rPr lang="en-IN" sz="1050" b="1" dirty="0" err="1" smtClean="0">
                <a:solidFill>
                  <a:srgbClr val="C00000"/>
                </a:solidFill>
              </a:rPr>
              <a:t>Eg</a:t>
            </a:r>
            <a:r>
              <a:rPr lang="en-IN" sz="1050" b="1" dirty="0" smtClean="0">
                <a:solidFill>
                  <a:srgbClr val="C00000"/>
                </a:solidFill>
              </a:rPr>
              <a:t>. AWS/</a:t>
            </a:r>
            <a:r>
              <a:rPr lang="en-IN" sz="1050" b="1" dirty="0" err="1" smtClean="0">
                <a:solidFill>
                  <a:srgbClr val="C00000"/>
                </a:solidFill>
              </a:rPr>
              <a:t>Az</a:t>
            </a:r>
            <a:r>
              <a:rPr lang="en-IN" sz="1050" b="1" dirty="0" smtClean="0">
                <a:solidFill>
                  <a:srgbClr val="C00000"/>
                </a:solidFill>
              </a:rPr>
              <a:t>/GCP</a:t>
            </a:r>
            <a:endParaRPr lang="en-IN" sz="1050" b="1" dirty="0">
              <a:solidFill>
                <a:srgbClr val="C00000"/>
              </a:solidFill>
            </a:endParaRPr>
          </a:p>
        </p:txBody>
      </p:sp>
      <p:sp>
        <p:nvSpPr>
          <p:cNvPr id="4" name="Frame 3"/>
          <p:cNvSpPr/>
          <p:nvPr/>
        </p:nvSpPr>
        <p:spPr>
          <a:xfrm>
            <a:off x="54292" y="411480"/>
            <a:ext cx="812165" cy="60198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err="1" smtClean="0">
                <a:solidFill>
                  <a:prstClr val="black"/>
                </a:solidFill>
              </a:rPr>
              <a:t>Chn</a:t>
            </a:r>
            <a:endParaRPr lang="en-IN" sz="1200" dirty="0" smtClean="0">
              <a:solidFill>
                <a:prstClr val="black"/>
              </a:solidFill>
            </a:endParaRPr>
          </a:p>
          <a:p>
            <a:pPr algn="ctr"/>
            <a:r>
              <a:rPr lang="en-IN" sz="1200" dirty="0" smtClean="0">
                <a:solidFill>
                  <a:prstClr val="black"/>
                </a:solidFill>
              </a:rPr>
              <a:t>CLI</a:t>
            </a:r>
            <a:endParaRPr lang="en-IN" sz="1200" dirty="0">
              <a:solidFill>
                <a:prstClr val="black"/>
              </a:solidFill>
            </a:endParaRPr>
          </a:p>
        </p:txBody>
      </p:sp>
      <p:cxnSp>
        <p:nvCxnSpPr>
          <p:cNvPr id="8" name="Straight Arrow Connector 7"/>
          <p:cNvCxnSpPr/>
          <p:nvPr/>
        </p:nvCxnSpPr>
        <p:spPr>
          <a:xfrm>
            <a:off x="460374" y="1013460"/>
            <a:ext cx="95886" cy="4953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8720914" y="3729662"/>
            <a:ext cx="693588" cy="369332"/>
          </a:xfrm>
          <a:prstGeom prst="rect">
            <a:avLst/>
          </a:prstGeom>
        </p:spPr>
        <p:txBody>
          <a:bodyPr wrap="none">
            <a:spAutoFit/>
          </a:bodyPr>
          <a:lstStyle/>
          <a:p>
            <a:r>
              <a:rPr lang="en-IN" b="1" dirty="0" smtClean="0">
                <a:solidFill>
                  <a:prstClr val="black"/>
                </a:solidFill>
              </a:rPr>
              <a:t>BLOB</a:t>
            </a:r>
            <a:endParaRPr lang="en-IN" dirty="0">
              <a:solidFill>
                <a:prstClr val="black"/>
              </a:solidFill>
            </a:endParaRPr>
          </a:p>
        </p:txBody>
      </p:sp>
      <p:sp>
        <p:nvSpPr>
          <p:cNvPr id="30" name="Rectangle 29"/>
          <p:cNvSpPr/>
          <p:nvPr/>
        </p:nvSpPr>
        <p:spPr>
          <a:xfrm>
            <a:off x="10734435" y="3615037"/>
            <a:ext cx="676788" cy="369332"/>
          </a:xfrm>
          <a:prstGeom prst="rect">
            <a:avLst/>
          </a:prstGeom>
        </p:spPr>
        <p:txBody>
          <a:bodyPr wrap="none">
            <a:spAutoFit/>
          </a:bodyPr>
          <a:lstStyle/>
          <a:p>
            <a:r>
              <a:rPr lang="en-IN" b="1" dirty="0" smtClean="0">
                <a:solidFill>
                  <a:prstClr val="black"/>
                </a:solidFill>
              </a:rPr>
              <a:t>ADLS</a:t>
            </a:r>
            <a:endParaRPr lang="en-IN" dirty="0">
              <a:solidFill>
                <a:prstClr val="black"/>
              </a:solidFill>
            </a:endParaRPr>
          </a:p>
        </p:txBody>
      </p:sp>
      <p:sp>
        <p:nvSpPr>
          <p:cNvPr id="31" name="Rectangle 30"/>
          <p:cNvSpPr/>
          <p:nvPr/>
        </p:nvSpPr>
        <p:spPr>
          <a:xfrm>
            <a:off x="9606449" y="4647514"/>
            <a:ext cx="1042273" cy="369332"/>
          </a:xfrm>
          <a:prstGeom prst="rect">
            <a:avLst/>
          </a:prstGeom>
        </p:spPr>
        <p:txBody>
          <a:bodyPr wrap="none">
            <a:spAutoFit/>
          </a:bodyPr>
          <a:lstStyle/>
          <a:p>
            <a:r>
              <a:rPr lang="en-IN" sz="900" b="1" dirty="0" smtClean="0">
                <a:solidFill>
                  <a:prstClr val="black"/>
                </a:solidFill>
              </a:rPr>
              <a:t>(File </a:t>
            </a:r>
          </a:p>
          <a:p>
            <a:r>
              <a:rPr lang="en-IN" sz="900" b="1" dirty="0" smtClean="0">
                <a:solidFill>
                  <a:prstClr val="black"/>
                </a:solidFill>
              </a:rPr>
              <a:t>Behind the scene)</a:t>
            </a:r>
            <a:endParaRPr lang="en-IN" sz="900" dirty="0">
              <a:solidFill>
                <a:prstClr val="black"/>
              </a:solidFill>
            </a:endParaRPr>
          </a:p>
        </p:txBody>
      </p:sp>
      <p:sp>
        <p:nvSpPr>
          <p:cNvPr id="32" name="Rectangle 31"/>
          <p:cNvSpPr/>
          <p:nvPr/>
        </p:nvSpPr>
        <p:spPr>
          <a:xfrm>
            <a:off x="11337372" y="4647068"/>
            <a:ext cx="938077" cy="230832"/>
          </a:xfrm>
          <a:prstGeom prst="rect">
            <a:avLst/>
          </a:prstGeom>
        </p:spPr>
        <p:txBody>
          <a:bodyPr wrap="none">
            <a:spAutoFit/>
          </a:bodyPr>
          <a:lstStyle/>
          <a:p>
            <a:r>
              <a:rPr lang="en-IN" sz="900" b="1" dirty="0" smtClean="0">
                <a:solidFill>
                  <a:prstClr val="black"/>
                </a:solidFill>
              </a:rPr>
              <a:t>(Real Directory)</a:t>
            </a:r>
            <a:endParaRPr lang="en-IN" sz="900" dirty="0">
              <a:solidFill>
                <a:prstClr val="black"/>
              </a:solidFill>
            </a:endParaRPr>
          </a:p>
        </p:txBody>
      </p:sp>
      <p:cxnSp>
        <p:nvCxnSpPr>
          <p:cNvPr id="14" name="Straight Arrow Connector 13"/>
          <p:cNvCxnSpPr/>
          <p:nvPr/>
        </p:nvCxnSpPr>
        <p:spPr>
          <a:xfrm flipH="1">
            <a:off x="10127585" y="5099482"/>
            <a:ext cx="1209787" cy="59258"/>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10266610" y="5104268"/>
            <a:ext cx="1083951" cy="507831"/>
          </a:xfrm>
          <a:prstGeom prst="rect">
            <a:avLst/>
          </a:prstGeom>
        </p:spPr>
        <p:txBody>
          <a:bodyPr wrap="none">
            <a:spAutoFit/>
          </a:bodyPr>
          <a:lstStyle/>
          <a:p>
            <a:r>
              <a:rPr lang="en-IN" sz="900" b="1" dirty="0" smtClean="0">
                <a:solidFill>
                  <a:prstClr val="black"/>
                </a:solidFill>
              </a:rPr>
              <a:t>BLOB/ADLS all are </a:t>
            </a:r>
          </a:p>
          <a:p>
            <a:r>
              <a:rPr lang="en-IN" sz="900" b="1" dirty="0" smtClean="0">
                <a:solidFill>
                  <a:prstClr val="black"/>
                </a:solidFill>
              </a:rPr>
              <a:t>Stored as objects </a:t>
            </a:r>
          </a:p>
          <a:p>
            <a:r>
              <a:rPr lang="en-IN" sz="900" b="1" dirty="0" smtClean="0">
                <a:solidFill>
                  <a:prstClr val="black"/>
                </a:solidFill>
              </a:rPr>
              <a:t>behind the scene</a:t>
            </a:r>
            <a:endParaRPr lang="en-IN" sz="900" dirty="0">
              <a:solidFill>
                <a:prstClr val="black"/>
              </a:solidFill>
            </a:endParaRPr>
          </a:p>
        </p:txBody>
      </p:sp>
      <p:pic>
        <p:nvPicPr>
          <p:cNvPr id="37" name="Picture 3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21856" y="4761984"/>
            <a:ext cx="4869563" cy="1947825"/>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15" name="&quot;No&quot; Symbol 14"/>
          <p:cNvSpPr/>
          <p:nvPr/>
        </p:nvSpPr>
        <p:spPr>
          <a:xfrm>
            <a:off x="7059063" y="5097423"/>
            <a:ext cx="457200" cy="4572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black"/>
              </a:solidFill>
            </a:endParaRPr>
          </a:p>
        </p:txBody>
      </p:sp>
      <p:sp>
        <p:nvSpPr>
          <p:cNvPr id="16" name="Rectangle 15"/>
          <p:cNvSpPr/>
          <p:nvPr/>
        </p:nvSpPr>
        <p:spPr>
          <a:xfrm>
            <a:off x="4937760" y="6299200"/>
            <a:ext cx="386080" cy="147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 dirty="0" smtClean="0">
                <a:solidFill>
                  <a:prstClr val="white"/>
                </a:solidFill>
              </a:rPr>
              <a:t>blob1</a:t>
            </a:r>
            <a:endParaRPr lang="en-IN" sz="400" dirty="0">
              <a:solidFill>
                <a:prstClr val="white"/>
              </a:solidFill>
            </a:endParaRPr>
          </a:p>
        </p:txBody>
      </p:sp>
      <p:sp>
        <p:nvSpPr>
          <p:cNvPr id="41" name="Rectangle 40"/>
          <p:cNvSpPr/>
          <p:nvPr/>
        </p:nvSpPr>
        <p:spPr>
          <a:xfrm>
            <a:off x="5410199" y="5023592"/>
            <a:ext cx="981219" cy="213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smtClean="0">
                <a:solidFill>
                  <a:prstClr val="white"/>
                </a:solidFill>
              </a:rPr>
              <a:t>sarang-dir2/file1=blob1</a:t>
            </a:r>
            <a:endParaRPr lang="en-IN" sz="900" dirty="0">
              <a:solidFill>
                <a:prstClr val="white"/>
              </a:solidFill>
            </a:endParaRPr>
          </a:p>
        </p:txBody>
      </p:sp>
      <p:sp>
        <p:nvSpPr>
          <p:cNvPr id="6" name="Smiley Face 5"/>
          <p:cNvSpPr/>
          <p:nvPr/>
        </p:nvSpPr>
        <p:spPr>
          <a:xfrm>
            <a:off x="127634" y="4421925"/>
            <a:ext cx="332740" cy="34146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p:cNvCxnSpPr>
            <a:stCxn id="6" idx="6"/>
          </p:cNvCxnSpPr>
          <p:nvPr/>
        </p:nvCxnSpPr>
        <p:spPr>
          <a:xfrm>
            <a:off x="460374" y="4592655"/>
            <a:ext cx="1144906" cy="1019444"/>
          </a:xfrm>
          <a:prstGeom prst="straightConnector1">
            <a:avLst/>
          </a:prstGeom>
          <a:ln w="28575">
            <a:headEnd type="arrow"/>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40640" y="4847419"/>
            <a:ext cx="1031240" cy="5107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err="1" smtClean="0"/>
              <a:t>Az</a:t>
            </a:r>
            <a:r>
              <a:rPr lang="en-IN" sz="700" dirty="0" smtClean="0"/>
              <a:t> storage </a:t>
            </a:r>
            <a:r>
              <a:rPr lang="en-IN" sz="700" dirty="0" err="1" smtClean="0"/>
              <a:t>adls-sarang-dir</a:t>
            </a:r>
            <a:endParaRPr lang="en-IN" sz="700" dirty="0" smtClean="0"/>
          </a:p>
          <a:p>
            <a:pPr algn="ctr"/>
            <a:r>
              <a:rPr lang="en-IN" sz="700" dirty="0" err="1" smtClean="0"/>
              <a:t>Az</a:t>
            </a:r>
            <a:r>
              <a:rPr lang="en-IN" sz="700" dirty="0" smtClean="0"/>
              <a:t> storage </a:t>
            </a:r>
            <a:r>
              <a:rPr lang="en-IN" sz="700" dirty="0" err="1" smtClean="0"/>
              <a:t>cp</a:t>
            </a:r>
            <a:r>
              <a:rPr lang="en-IN" sz="700" dirty="0" smtClean="0"/>
              <a:t> </a:t>
            </a:r>
            <a:r>
              <a:rPr lang="en-IN" sz="700" dirty="0" err="1" smtClean="0"/>
              <a:t>adlsdir</a:t>
            </a:r>
            <a:r>
              <a:rPr lang="en-IN" sz="700" dirty="0" smtClean="0"/>
              <a:t>/file1(190tb)</a:t>
            </a:r>
          </a:p>
          <a:p>
            <a:pPr algn="ctr"/>
            <a:endParaRPr lang="en-IN" sz="700" dirty="0"/>
          </a:p>
        </p:txBody>
      </p:sp>
      <p:sp>
        <p:nvSpPr>
          <p:cNvPr id="53" name="Rectangle 52"/>
          <p:cNvSpPr/>
          <p:nvPr/>
        </p:nvSpPr>
        <p:spPr>
          <a:xfrm>
            <a:off x="54292" y="5510582"/>
            <a:ext cx="1031240" cy="51076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err="1" smtClean="0"/>
              <a:t>Az</a:t>
            </a:r>
            <a:r>
              <a:rPr lang="en-IN" sz="700" dirty="0" smtClean="0"/>
              <a:t> storage blob-nag-</a:t>
            </a:r>
            <a:r>
              <a:rPr lang="en-IN" sz="700" dirty="0" err="1" smtClean="0"/>
              <a:t>dir</a:t>
            </a:r>
            <a:endParaRPr lang="en-IN" sz="700" dirty="0" smtClean="0"/>
          </a:p>
          <a:p>
            <a:pPr algn="ctr"/>
            <a:r>
              <a:rPr lang="en-IN" sz="700" dirty="0" err="1" smtClean="0"/>
              <a:t>Az</a:t>
            </a:r>
            <a:r>
              <a:rPr lang="en-IN" sz="700" dirty="0" smtClean="0"/>
              <a:t> storage </a:t>
            </a:r>
            <a:r>
              <a:rPr lang="en-IN" sz="700" dirty="0" err="1" smtClean="0"/>
              <a:t>cp</a:t>
            </a:r>
            <a:r>
              <a:rPr lang="en-IN" sz="700" dirty="0" smtClean="0"/>
              <a:t> </a:t>
            </a:r>
            <a:r>
              <a:rPr lang="en-IN" sz="700" dirty="0" err="1" smtClean="0"/>
              <a:t>blobdir</a:t>
            </a:r>
            <a:r>
              <a:rPr lang="en-IN" sz="700" dirty="0" smtClean="0"/>
              <a:t>/file1(190tb)</a:t>
            </a:r>
          </a:p>
          <a:p>
            <a:pPr algn="ctr"/>
            <a:endParaRPr lang="en-IN" sz="700" dirty="0"/>
          </a:p>
        </p:txBody>
      </p:sp>
      <p:sp>
        <p:nvSpPr>
          <p:cNvPr id="54" name="Smiley Face 53"/>
          <p:cNvSpPr/>
          <p:nvPr/>
        </p:nvSpPr>
        <p:spPr>
          <a:xfrm>
            <a:off x="389890" y="6031387"/>
            <a:ext cx="332740" cy="341460"/>
          </a:xfrm>
          <a:prstGeom prst="smileyFac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cxnSp>
        <p:nvCxnSpPr>
          <p:cNvPr id="55" name="Straight Arrow Connector 54"/>
          <p:cNvCxnSpPr>
            <a:stCxn id="54" idx="6"/>
            <a:endCxn id="37" idx="1"/>
          </p:cNvCxnSpPr>
          <p:nvPr/>
        </p:nvCxnSpPr>
        <p:spPr>
          <a:xfrm flipV="1">
            <a:off x="722630" y="5735897"/>
            <a:ext cx="799226" cy="466220"/>
          </a:xfrm>
          <a:prstGeom prst="straightConnector1">
            <a:avLst/>
          </a:prstGeom>
          <a:ln>
            <a:headEnd type="arrow"/>
            <a:tailEnd type="arrow"/>
          </a:ln>
        </p:spPr>
        <p:style>
          <a:lnRef idx="1">
            <a:schemeClr val="accent6"/>
          </a:lnRef>
          <a:fillRef idx="0">
            <a:schemeClr val="accent6"/>
          </a:fillRef>
          <a:effectRef idx="0">
            <a:schemeClr val="accent6"/>
          </a:effectRef>
          <a:fontRef idx="minor">
            <a:schemeClr val="tx1"/>
          </a:fontRef>
        </p:style>
      </p:cxnSp>
      <p:sp>
        <p:nvSpPr>
          <p:cNvPr id="56" name="Rectangle 55"/>
          <p:cNvSpPr/>
          <p:nvPr/>
        </p:nvSpPr>
        <p:spPr>
          <a:xfrm>
            <a:off x="5410198" y="5326023"/>
            <a:ext cx="981219" cy="286076"/>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t>Nag-</a:t>
            </a:r>
          </a:p>
          <a:p>
            <a:pPr algn="ctr"/>
            <a:r>
              <a:rPr lang="en-IN" sz="700" dirty="0" smtClean="0"/>
              <a:t>Blobdir2.file1</a:t>
            </a:r>
          </a:p>
          <a:p>
            <a:pPr algn="ctr"/>
            <a:r>
              <a:rPr lang="en-IN" sz="700" dirty="0" smtClean="0"/>
              <a:t>Blobdir2.file2</a:t>
            </a:r>
            <a:endParaRPr lang="en-IN" sz="700" dirty="0"/>
          </a:p>
        </p:txBody>
      </p:sp>
      <p:sp>
        <p:nvSpPr>
          <p:cNvPr id="57" name="Rectangle 56"/>
          <p:cNvSpPr/>
          <p:nvPr/>
        </p:nvSpPr>
        <p:spPr>
          <a:xfrm>
            <a:off x="5463278" y="5765963"/>
            <a:ext cx="464336" cy="20304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err="1" smtClean="0"/>
              <a:t>Blobdir</a:t>
            </a:r>
            <a:endParaRPr lang="en-IN" sz="700" dirty="0" smtClean="0"/>
          </a:p>
          <a:p>
            <a:pPr algn="ctr"/>
            <a:r>
              <a:rPr lang="en-IN" sz="700" dirty="0" smtClean="0"/>
              <a:t>0bytes</a:t>
            </a:r>
            <a:endParaRPr lang="en-IN" sz="700" dirty="0"/>
          </a:p>
        </p:txBody>
      </p:sp>
      <p:sp>
        <p:nvSpPr>
          <p:cNvPr id="58" name="Rectangle 57"/>
          <p:cNvSpPr/>
          <p:nvPr/>
        </p:nvSpPr>
        <p:spPr>
          <a:xfrm>
            <a:off x="5955911" y="5765963"/>
            <a:ext cx="510770" cy="20304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smtClean="0"/>
              <a:t>File1</a:t>
            </a:r>
          </a:p>
          <a:p>
            <a:pPr algn="ctr"/>
            <a:r>
              <a:rPr lang="en-IN" sz="700" dirty="0" smtClean="0"/>
              <a:t>190 </a:t>
            </a:r>
            <a:r>
              <a:rPr lang="en-IN" sz="700" dirty="0" err="1" smtClean="0"/>
              <a:t>tb</a:t>
            </a:r>
            <a:endParaRPr lang="en-IN" sz="700" dirty="0"/>
          </a:p>
        </p:txBody>
      </p:sp>
    </p:spTree>
    <p:extLst>
      <p:ext uri="{BB962C8B-B14F-4D97-AF65-F5344CB8AC3E}">
        <p14:creationId xmlns:p14="http://schemas.microsoft.com/office/powerpoint/2010/main" val="3774934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35</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8965" y="134475"/>
            <a:ext cx="5969804" cy="480987"/>
          </a:xfrm>
        </p:spPr>
        <p:txBody>
          <a:bodyPr vert="horz" lIns="91440" tIns="45720" rIns="91440" bIns="45720" rtlCol="0" anchor="ctr">
            <a:normAutofit fontScale="90000"/>
          </a:bodyPr>
          <a:lstStyle/>
          <a:p>
            <a:r>
              <a:rPr lang="en-US" sz="2800" b="1" dirty="0" smtClean="0">
                <a:solidFill>
                  <a:srgbClr val="FF0000"/>
                </a:solidFill>
              </a:rPr>
              <a:t>Azure Storage Container Basic Characteristics</a:t>
            </a:r>
            <a:endParaRPr lang="en-US" sz="2000" b="1"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489296973"/>
              </p:ext>
            </p:extLst>
          </p:nvPr>
        </p:nvGraphicFramePr>
        <p:xfrm>
          <a:off x="171352" y="710446"/>
          <a:ext cx="10352454" cy="3283606"/>
        </p:xfrm>
        <a:graphic>
          <a:graphicData uri="http://schemas.openxmlformats.org/drawingml/2006/table">
            <a:tbl>
              <a:tblPr/>
              <a:tblGrid>
                <a:gridCol w="2354188"/>
                <a:gridCol w="7998266"/>
              </a:tblGrid>
              <a:tr h="190500">
                <a:tc>
                  <a:txBody>
                    <a:bodyPr/>
                    <a:lstStyle/>
                    <a:p>
                      <a:pPr algn="l" rtl="0" fontAlgn="ctr"/>
                      <a:r>
                        <a:rPr lang="en-IN" sz="1100" b="1" i="0" u="none" strike="noStrike" dirty="0">
                          <a:solidFill>
                            <a:srgbClr val="1F1F1F"/>
                          </a:solidFill>
                          <a:effectLst/>
                          <a:latin typeface="Arial"/>
                        </a:rPr>
                        <a:t>Azure Storage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IN" sz="1100" b="1" i="0" u="none" strike="noStrike" dirty="0">
                          <a:solidFill>
                            <a:srgbClr val="1F1F1F"/>
                          </a:solidFill>
                          <a:effectLst/>
                          <a:latin typeface="Arial"/>
                        </a:rPr>
                        <a:t>Description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190500">
                <a:tc>
                  <a:txBody>
                    <a:bodyPr/>
                    <a:lstStyle/>
                    <a:p>
                      <a:pPr algn="l" rtl="0" fontAlgn="ctr"/>
                      <a:r>
                        <a:rPr lang="en-IN" sz="1100" b="1" i="0" u="none" strike="noStrike" dirty="0">
                          <a:solidFill>
                            <a:srgbClr val="1F1F1F"/>
                          </a:solidFill>
                          <a:effectLst/>
                          <a:latin typeface="Arial"/>
                        </a:rPr>
                        <a:t>Container</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The logical </a:t>
                      </a:r>
                      <a:r>
                        <a:rPr lang="en-US" sz="1100" b="0" i="0" u="none" strike="noStrike" dirty="0" smtClean="0">
                          <a:solidFill>
                            <a:srgbClr val="1F1F1F"/>
                          </a:solidFill>
                          <a:effectLst/>
                          <a:latin typeface="Arial"/>
                        </a:rPr>
                        <a:t>unit/name </a:t>
                      </a:r>
                      <a:r>
                        <a:rPr lang="en-US" sz="1100" b="0" i="0" u="none" strike="noStrike" dirty="0">
                          <a:solidFill>
                            <a:srgbClr val="1F1F1F"/>
                          </a:solidFill>
                          <a:effectLst/>
                          <a:latin typeface="Arial"/>
                        </a:rPr>
                        <a:t>for holding related </a:t>
                      </a:r>
                      <a:r>
                        <a:rPr lang="en-US" sz="1100" b="1" i="0" u="none" strike="noStrike" dirty="0" smtClean="0">
                          <a:solidFill>
                            <a:srgbClr val="1F1F1F"/>
                          </a:solidFill>
                          <a:effectLst/>
                          <a:latin typeface="Arial"/>
                        </a:rPr>
                        <a:t>Objects</a:t>
                      </a:r>
                      <a:r>
                        <a:rPr lang="en-US" sz="1100" b="0" i="0" u="none" strike="noStrike" baseline="0" dirty="0" smtClean="0">
                          <a:solidFill>
                            <a:srgbClr val="1F1F1F"/>
                          </a:solidFill>
                          <a:effectLst/>
                          <a:latin typeface="Arial"/>
                        </a:rPr>
                        <a:t> (equivalent to a disk partition ‘D:\’ in computers)</a:t>
                      </a:r>
                      <a:endParaRPr lang="en-US" sz="1100" b="0" i="0" u="none" strike="noStrike" dirty="0">
                        <a:solidFill>
                          <a:srgbClr val="1F1F1F"/>
                        </a:solidFill>
                        <a:effectLst/>
                        <a:latin typeface="Arial"/>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3742">
                <a:tc>
                  <a:txBody>
                    <a:bodyPr/>
                    <a:lstStyle/>
                    <a:p>
                      <a:pPr algn="l" rtl="0" fontAlgn="ctr"/>
                      <a:r>
                        <a:rPr lang="en-IN" sz="1100" b="1" i="0" u="none" strike="noStrike" dirty="0">
                          <a:solidFill>
                            <a:srgbClr val="1F1F1F"/>
                          </a:solidFill>
                          <a:effectLst/>
                          <a:latin typeface="Arial"/>
                        </a:rPr>
                        <a:t>Naming Rules</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Name must be </a:t>
                      </a:r>
                      <a:r>
                        <a:rPr lang="en-US" sz="1100" b="1" i="0" u="none" strike="noStrike" dirty="0">
                          <a:solidFill>
                            <a:srgbClr val="1F1F1F"/>
                          </a:solidFill>
                          <a:effectLst/>
                          <a:latin typeface="Arial"/>
                        </a:rPr>
                        <a:t>lowercase</a:t>
                      </a:r>
                      <a:r>
                        <a:rPr lang="en-US" sz="1100" b="0" i="0" u="none" strike="noStrike" dirty="0">
                          <a:solidFill>
                            <a:srgbClr val="1F1F1F"/>
                          </a:solidFill>
                          <a:effectLst/>
                          <a:latin typeface="Arial"/>
                        </a:rPr>
                        <a:t>, </a:t>
                      </a:r>
                      <a:r>
                        <a:rPr lang="en-US" sz="1100" b="1" i="0" u="none" strike="noStrike" dirty="0">
                          <a:solidFill>
                            <a:srgbClr val="1F1F1F"/>
                          </a:solidFill>
                          <a:effectLst/>
                          <a:latin typeface="Arial"/>
                        </a:rPr>
                        <a:t>3–63 characters</a:t>
                      </a:r>
                      <a:r>
                        <a:rPr lang="en-US" sz="1100" b="0" i="0" u="none" strike="noStrike" dirty="0">
                          <a:solidFill>
                            <a:srgbClr val="1F1F1F"/>
                          </a:solidFill>
                          <a:effectLst/>
                          <a:latin typeface="Arial"/>
                        </a:rPr>
                        <a:t>, and can only contain letters, numbers, and dashes (</a:t>
                      </a:r>
                      <a:r>
                        <a:rPr lang="en-US" sz="1100" b="1" i="0" u="none" strike="noStrike" dirty="0">
                          <a:solidFill>
                            <a:srgbClr val="1F1F1F"/>
                          </a:solidFill>
                          <a:effectLst/>
                          <a:latin typeface="Arial"/>
                        </a:rPr>
                        <a:t>-</a:t>
                      </a:r>
                      <a:r>
                        <a:rPr lang="en-US" sz="1100" b="0" i="0" u="none" strike="noStrike" dirty="0">
                          <a:solidFill>
                            <a:srgbClr val="1F1F1F"/>
                          </a:solidFill>
                          <a:effectLst/>
                          <a:latin typeface="Arial"/>
                        </a:rPr>
                        <a: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7392">
                <a:tc>
                  <a:txBody>
                    <a:bodyPr/>
                    <a:lstStyle/>
                    <a:p>
                      <a:pPr algn="l" rtl="0" fontAlgn="ctr"/>
                      <a:r>
                        <a:rPr lang="en-IN" sz="1100" b="1" i="0" u="none" strike="noStrike" dirty="0">
                          <a:solidFill>
                            <a:srgbClr val="1F1F1F"/>
                          </a:solidFill>
                          <a:effectLst/>
                          <a:latin typeface="Arial"/>
                        </a:rPr>
                        <a:t>Unlimited Scale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You can create an </a:t>
                      </a:r>
                      <a:r>
                        <a:rPr lang="en-US" sz="1100" b="1" i="0" u="none" strike="noStrike" dirty="0">
                          <a:solidFill>
                            <a:srgbClr val="1F1F1F"/>
                          </a:solidFill>
                          <a:effectLst/>
                          <a:latin typeface="Arial"/>
                        </a:rPr>
                        <a:t>unlimited number of containers</a:t>
                      </a:r>
                      <a:r>
                        <a:rPr lang="en-US" sz="1100" b="0" i="0" u="none" strike="noStrike" dirty="0">
                          <a:solidFill>
                            <a:srgbClr val="1F1F1F"/>
                          </a:solidFill>
                          <a:effectLst/>
                          <a:latin typeface="Arial"/>
                        </a:rPr>
                        <a:t> within a single Storage Account.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7392">
                <a:tc>
                  <a:txBody>
                    <a:bodyPr/>
                    <a:lstStyle/>
                    <a:p>
                      <a:pPr algn="l" rtl="0" fontAlgn="ctr"/>
                      <a:r>
                        <a:rPr lang="en-IN" sz="1100" b="1" i="0" u="none" strike="noStrike" dirty="0">
                          <a:solidFill>
                            <a:srgbClr val="1F1F1F"/>
                          </a:solidFill>
                          <a:effectLst/>
                          <a:latin typeface="Arial"/>
                        </a:rPr>
                        <a:t>Blob Service API</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The service for storing any type of data—from simple text files to massive unstructured videos—accessible via </a:t>
                      </a:r>
                      <a:r>
                        <a:rPr lang="en-US" sz="1100" b="1" i="0" u="none" strike="noStrike" dirty="0">
                          <a:solidFill>
                            <a:srgbClr val="1F1F1F"/>
                          </a:solidFill>
                          <a:effectLst/>
                          <a:latin typeface="Arial"/>
                        </a:rPr>
                        <a:t>REST API</a:t>
                      </a:r>
                      <a:r>
                        <a:rPr lang="en-US" sz="1100" b="0" i="0" u="none" strike="noStrike" dirty="0">
                          <a:solidFill>
                            <a:srgbClr val="1F1F1F"/>
                          </a:solidFill>
                          <a:effectLst/>
                          <a:latin typeface="Arial"/>
                        </a:rPr>
                        <a: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500">
                <a:tc>
                  <a:txBody>
                    <a:bodyPr/>
                    <a:lstStyle/>
                    <a:p>
                      <a:pPr algn="l" rtl="0" fontAlgn="ctr"/>
                      <a:r>
                        <a:rPr lang="en-IN" sz="1100" b="1" i="0" u="none" strike="noStrike" dirty="0">
                          <a:solidFill>
                            <a:srgbClr val="1F1F1F"/>
                          </a:solidFill>
                          <a:effectLst/>
                          <a:latin typeface="Arial"/>
                        </a:rPr>
                        <a:t>Immutability (WORM)</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IN" sz="1100" b="0" i="0" u="none" strike="noStrike" dirty="0">
                          <a:solidFill>
                            <a:srgbClr val="1F1F1F"/>
                          </a:solidFill>
                          <a:effectLst/>
                          <a:latin typeface="Arial"/>
                        </a:rPr>
                        <a:t>Supports </a:t>
                      </a:r>
                      <a:r>
                        <a:rPr lang="en-IN" sz="1100" b="1" i="0" u="none" strike="noStrike" dirty="0">
                          <a:solidFill>
                            <a:srgbClr val="1F1F1F"/>
                          </a:solidFill>
                          <a:effectLst/>
                          <a:latin typeface="Arial"/>
                        </a:rPr>
                        <a:t>Immutable </a:t>
                      </a:r>
                      <a:r>
                        <a:rPr lang="en-IN" sz="1100" b="1" i="0" u="none" strike="noStrike" dirty="0" smtClean="0">
                          <a:solidFill>
                            <a:srgbClr val="1F1F1F"/>
                          </a:solidFill>
                          <a:effectLst/>
                          <a:latin typeface="Arial"/>
                        </a:rPr>
                        <a:t>Storage (Write Once Read Many)</a:t>
                      </a:r>
                      <a:endParaRPr lang="en-IN" sz="1100" b="0" i="0" u="none" strike="noStrike" dirty="0">
                        <a:solidFill>
                          <a:srgbClr val="1F1F1F"/>
                        </a:solidFill>
                        <a:effectLst/>
                        <a:latin typeface="Arial"/>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rowSpan="2">
                  <a:txBody>
                    <a:bodyPr/>
                    <a:lstStyle/>
                    <a:p>
                      <a:pPr algn="l" rtl="0" fontAlgn="ctr"/>
                      <a:r>
                        <a:rPr lang="en-IN" sz="1100" b="1" i="0" u="none" strike="noStrike" dirty="0">
                          <a:solidFill>
                            <a:srgbClr val="1F1F1F"/>
                          </a:solidFill>
                          <a:effectLst/>
                          <a:latin typeface="Arial"/>
                        </a:rPr>
                        <a:t>Access Control</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dirty="0">
                          <a:solidFill>
                            <a:srgbClr val="1F1F1F"/>
                          </a:solidFill>
                          <a:effectLst/>
                          <a:latin typeface="Arial"/>
                        </a:rPr>
                        <a:t>Container level:</a:t>
                      </a:r>
                      <a:r>
                        <a:rPr lang="en-US" sz="1100" b="0" i="0" u="none" strike="noStrike" dirty="0">
                          <a:solidFill>
                            <a:srgbClr val="1F1F1F"/>
                          </a:solidFill>
                          <a:effectLst/>
                          <a:latin typeface="Arial"/>
                        </a:rPr>
                        <a:t> Managed via RBAC (Roles</a:t>
                      </a:r>
                      <a:r>
                        <a:rPr lang="en-US" sz="1100" b="0" i="0" u="none" strike="noStrike" dirty="0" smtClean="0">
                          <a:solidFill>
                            <a:srgbClr val="1F1F1F"/>
                          </a:solidFill>
                          <a:effectLst/>
                          <a:latin typeface="Arial"/>
                        </a:rPr>
                        <a:t>)</a:t>
                      </a:r>
                      <a:r>
                        <a:rPr lang="en-US" sz="1100" b="0" i="0" u="none" strike="noStrike" baseline="0" dirty="0" smtClean="0">
                          <a:solidFill>
                            <a:srgbClr val="1F1F1F"/>
                          </a:solidFill>
                          <a:effectLst/>
                          <a:latin typeface="Arial"/>
                        </a:rPr>
                        <a:t> (applicable for both BLOB &amp; ADLS)</a:t>
                      </a:r>
                      <a:endParaRPr lang="en-US" sz="1100" b="1" i="0" u="none" strike="noStrike" dirty="0">
                        <a:solidFill>
                          <a:srgbClr val="1F1F1F"/>
                        </a:solidFill>
                        <a:effectLst/>
                        <a:latin typeface="Arial"/>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358140">
                <a:tc vMerge="1">
                  <a:txBody>
                    <a:bodyPr/>
                    <a:lstStyle/>
                    <a:p>
                      <a:endParaRPr lang="en-IN"/>
                    </a:p>
                  </a:txBody>
                  <a:tcPr/>
                </a:tc>
                <a:tc>
                  <a:txBody>
                    <a:bodyPr/>
                    <a:lstStyle/>
                    <a:p>
                      <a:pPr algn="l" rtl="0" fontAlgn="ctr"/>
                      <a:r>
                        <a:rPr lang="en-US" sz="1100" b="1" i="0" u="none" strike="noStrike" dirty="0">
                          <a:solidFill>
                            <a:srgbClr val="1F1F1F"/>
                          </a:solidFill>
                          <a:effectLst/>
                          <a:latin typeface="Arial"/>
                        </a:rPr>
                        <a:t>Object level:</a:t>
                      </a:r>
                      <a:r>
                        <a:rPr lang="en-US" sz="1100" b="0" i="0" u="none" strike="noStrike" dirty="0">
                          <a:solidFill>
                            <a:srgbClr val="1F1F1F"/>
                          </a:solidFill>
                          <a:effectLst/>
                          <a:latin typeface="Arial"/>
                        </a:rPr>
                        <a:t> Managed via SAS tokens or </a:t>
                      </a:r>
                      <a:r>
                        <a:rPr lang="en-US" sz="1100" b="1" i="0" u="none" strike="noStrike" dirty="0">
                          <a:solidFill>
                            <a:srgbClr val="1F1F1F"/>
                          </a:solidFill>
                          <a:effectLst/>
                          <a:latin typeface="Arial"/>
                        </a:rPr>
                        <a:t>ACLs</a:t>
                      </a:r>
                      <a:r>
                        <a:rPr lang="en-US" sz="1100" b="0" i="0" u="none" strike="noStrike" dirty="0">
                          <a:solidFill>
                            <a:srgbClr val="1F1F1F"/>
                          </a:solidFill>
                          <a:effectLst/>
                          <a:latin typeface="Arial"/>
                        </a:rPr>
                        <a:t> (if ADLS Gen2 is enabled).</a:t>
                      </a:r>
                      <a:endParaRPr lang="en-US" sz="1100" b="1" i="0" u="none" strike="noStrike" dirty="0">
                        <a:solidFill>
                          <a:srgbClr val="1F1F1F"/>
                        </a:solidFill>
                        <a:effectLst/>
                        <a:latin typeface="Arial"/>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r h="358140">
                <a:tc>
                  <a:txBody>
                    <a:bodyPr/>
                    <a:lstStyle/>
                    <a:p>
                      <a:pPr algn="l" rtl="0" fontAlgn="ctr"/>
                      <a:r>
                        <a:rPr lang="en-IN" sz="1100" b="1" i="0" u="none" strike="noStrike" dirty="0">
                          <a:solidFill>
                            <a:srgbClr val="1F1F1F"/>
                          </a:solidFill>
                          <a:effectLst/>
                          <a:latin typeface="Arial"/>
                        </a:rPr>
                        <a:t>Max Object Size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A single Block </a:t>
                      </a:r>
                      <a:r>
                        <a:rPr lang="en-US" sz="1100" b="0" i="0" u="none" strike="noStrike" dirty="0" smtClean="0">
                          <a:solidFill>
                            <a:srgbClr val="1F1F1F"/>
                          </a:solidFill>
                          <a:effectLst/>
                          <a:latin typeface="Arial"/>
                        </a:rPr>
                        <a:t>Blob/object </a:t>
                      </a:r>
                      <a:r>
                        <a:rPr lang="en-US" sz="1100" b="0" i="0" u="none" strike="noStrike" dirty="0">
                          <a:solidFill>
                            <a:srgbClr val="1F1F1F"/>
                          </a:solidFill>
                          <a:effectLst/>
                          <a:latin typeface="Arial"/>
                        </a:rPr>
                        <a:t>can be up to </a:t>
                      </a:r>
                      <a:r>
                        <a:rPr lang="en-US" sz="1100" b="1" i="0" u="none" strike="noStrike" dirty="0">
                          <a:solidFill>
                            <a:srgbClr val="1F1F1F"/>
                          </a:solidFill>
                          <a:effectLst/>
                          <a:latin typeface="Arial"/>
                        </a:rPr>
                        <a:t>190.7 </a:t>
                      </a:r>
                      <a:r>
                        <a:rPr lang="en-US" sz="1100" b="1" i="0" u="none" strike="noStrike" dirty="0" smtClean="0">
                          <a:solidFill>
                            <a:srgbClr val="1F1F1F"/>
                          </a:solidFill>
                          <a:effectLst/>
                          <a:latin typeface="Arial"/>
                        </a:rPr>
                        <a:t>TB (from year 2023 onwards)</a:t>
                      </a:r>
                      <a:r>
                        <a:rPr lang="en-US" sz="1100" b="0" i="0" u="none" strike="noStrike" dirty="0" smtClean="0">
                          <a:solidFill>
                            <a:srgbClr val="1F1F1F"/>
                          </a:solidFill>
                          <a:effectLst/>
                          <a:latin typeface="Arial"/>
                        </a:rPr>
                        <a:t> </a:t>
                      </a:r>
                      <a:r>
                        <a:rPr lang="en-US" sz="1100" b="0" i="0" u="none" strike="noStrike" dirty="0">
                          <a:solidFill>
                            <a:srgbClr val="1F1F1F"/>
                          </a:solidFill>
                          <a:effectLst/>
                          <a:latin typeface="Arial"/>
                        </a:rPr>
                        <a:t>(significantly larger than the 5 TB limit in other clouds).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8140">
                <a:tc>
                  <a:txBody>
                    <a:bodyPr/>
                    <a:lstStyle/>
                    <a:p>
                      <a:pPr algn="l" rtl="0" fontAlgn="ctr"/>
                      <a:r>
                        <a:rPr lang="en-IN" sz="1100" b="1" i="0" u="sng" strike="noStrike" dirty="0" smtClean="0">
                          <a:solidFill>
                            <a:srgbClr val="1F1F1F"/>
                          </a:solidFill>
                          <a:effectLst/>
                          <a:latin typeface="Arial"/>
                        </a:rPr>
                        <a:t>Costing:</a:t>
                      </a:r>
                    </a:p>
                    <a:p>
                      <a:pPr algn="l" rtl="0" fontAlgn="ctr"/>
                      <a:r>
                        <a:rPr lang="en-IN" sz="1100" b="1" i="0" u="none" strike="noStrike" dirty="0" smtClean="0">
                          <a:solidFill>
                            <a:srgbClr val="1F1F1F"/>
                          </a:solidFill>
                          <a:effectLst/>
                          <a:latin typeface="Arial"/>
                        </a:rPr>
                        <a:t>Data </a:t>
                      </a:r>
                      <a:r>
                        <a:rPr lang="en-IN" sz="1100" b="1" i="0" u="none" strike="noStrike" dirty="0">
                          <a:solidFill>
                            <a:srgbClr val="1F1F1F"/>
                          </a:solidFill>
                          <a:effectLst/>
                          <a:latin typeface="Arial"/>
                        </a:rPr>
                        <a:t>Storage Cost</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Based on the </a:t>
                      </a:r>
                      <a:r>
                        <a:rPr lang="en-US" sz="1100" b="1" i="0" u="none" strike="noStrike" dirty="0">
                          <a:solidFill>
                            <a:srgbClr val="1F1F1F"/>
                          </a:solidFill>
                          <a:effectLst/>
                          <a:latin typeface="Arial"/>
                        </a:rPr>
                        <a:t>Access Tier</a:t>
                      </a:r>
                      <a:r>
                        <a:rPr lang="en-US" sz="1100" b="0" i="0" u="none" strike="noStrike" dirty="0">
                          <a:solidFill>
                            <a:srgbClr val="1F1F1F"/>
                          </a:solidFill>
                          <a:effectLst/>
                          <a:latin typeface="Arial"/>
                        </a:rPr>
                        <a:t> (Hot, </a:t>
                      </a:r>
                      <a:r>
                        <a:rPr lang="en-US" sz="1100" b="0" i="0" u="none" strike="noStrike" dirty="0" smtClean="0">
                          <a:solidFill>
                            <a:srgbClr val="1F1F1F"/>
                          </a:solidFill>
                          <a:effectLst/>
                          <a:latin typeface="Arial"/>
                        </a:rPr>
                        <a:t>Cool/Cold, </a:t>
                      </a:r>
                      <a:r>
                        <a:rPr lang="en-US" sz="1100" b="0" i="0" u="none" strike="noStrike" dirty="0">
                          <a:solidFill>
                            <a:srgbClr val="1F1F1F"/>
                          </a:solidFill>
                          <a:effectLst/>
                          <a:latin typeface="Arial"/>
                        </a:rPr>
                        <a:t>Archive) and how many GBs you store per month.</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8140">
                <a:tc>
                  <a:txBody>
                    <a:bodyPr/>
                    <a:lstStyle/>
                    <a:p>
                      <a:pPr algn="l" rtl="0" fontAlgn="ctr"/>
                      <a:r>
                        <a:rPr lang="en-IN" sz="1100" b="1" i="0" u="none" strike="noStrike" dirty="0">
                          <a:solidFill>
                            <a:srgbClr val="1F1F1F"/>
                          </a:solidFill>
                          <a:effectLst/>
                          <a:latin typeface="Arial"/>
                        </a:rPr>
                        <a:t>Data </a:t>
                      </a:r>
                      <a:r>
                        <a:rPr lang="en-IN" sz="1100" b="1" i="0" u="none" strike="noStrike" dirty="0" smtClean="0">
                          <a:solidFill>
                            <a:srgbClr val="1F1F1F"/>
                          </a:solidFill>
                          <a:effectLst/>
                          <a:latin typeface="Arial"/>
                        </a:rPr>
                        <a:t>Processing(Read/Write) </a:t>
                      </a:r>
                      <a:r>
                        <a:rPr lang="en-IN" sz="1100" b="1" i="0" u="none" strike="noStrike" dirty="0">
                          <a:solidFill>
                            <a:srgbClr val="1F1F1F"/>
                          </a:solidFill>
                          <a:effectLst/>
                          <a:latin typeface="Arial"/>
                        </a:rPr>
                        <a:t>Cost</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Includes </a:t>
                      </a:r>
                      <a:r>
                        <a:rPr lang="en-US" sz="1100" b="1" i="0" u="none" strike="noStrike" dirty="0">
                          <a:solidFill>
                            <a:srgbClr val="1F1F1F"/>
                          </a:solidFill>
                          <a:effectLst/>
                          <a:latin typeface="Arial"/>
                        </a:rPr>
                        <a:t>Transaction fees</a:t>
                      </a:r>
                      <a:r>
                        <a:rPr lang="en-US" sz="1100" b="0" i="0" u="none" strike="noStrike" dirty="0">
                          <a:solidFill>
                            <a:srgbClr val="1F1F1F"/>
                          </a:solidFill>
                          <a:effectLst/>
                          <a:latin typeface="Arial"/>
                        </a:rPr>
                        <a:t> (Read/Write operations) and </a:t>
                      </a:r>
                      <a:r>
                        <a:rPr lang="en-US" sz="1100" b="1" i="0" u="none" strike="noStrike" dirty="0">
                          <a:solidFill>
                            <a:srgbClr val="1F1F1F"/>
                          </a:solidFill>
                          <a:effectLst/>
                          <a:latin typeface="Arial"/>
                        </a:rPr>
                        <a:t>Geo-Replication</a:t>
                      </a:r>
                      <a:r>
                        <a:rPr lang="en-US" sz="1100" b="0" i="0" u="none" strike="noStrike" dirty="0">
                          <a:solidFill>
                            <a:srgbClr val="1F1F1F"/>
                          </a:solidFill>
                          <a:effectLst/>
                          <a:latin typeface="Arial"/>
                        </a:rPr>
                        <a:t> (LRS, ZRS, GRS, GZRS).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8140">
                <a:tc>
                  <a:txBody>
                    <a:bodyPr/>
                    <a:lstStyle/>
                    <a:p>
                      <a:pPr algn="l" rtl="0" fontAlgn="ctr"/>
                      <a:r>
                        <a:rPr lang="en-IN" sz="1100" b="1" i="0" u="none" strike="noStrike" dirty="0">
                          <a:solidFill>
                            <a:srgbClr val="1F1F1F"/>
                          </a:solidFill>
                          <a:effectLst/>
                          <a:latin typeface="Arial"/>
                        </a:rPr>
                        <a:t>Network Usage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dirty="0">
                          <a:solidFill>
                            <a:srgbClr val="1F1F1F"/>
                          </a:solidFill>
                          <a:effectLst/>
                          <a:latin typeface="Arial"/>
                        </a:rPr>
                        <a:t>Charges apply for </a:t>
                      </a:r>
                      <a:r>
                        <a:rPr lang="en-US" sz="1100" b="1" i="0" u="none" strike="noStrike" dirty="0">
                          <a:solidFill>
                            <a:srgbClr val="1F1F1F"/>
                          </a:solidFill>
                          <a:effectLst/>
                          <a:latin typeface="Arial"/>
                        </a:rPr>
                        <a:t>Egress</a:t>
                      </a:r>
                      <a:r>
                        <a:rPr lang="en-US" sz="1100" b="0" i="0" u="none" strike="noStrike" dirty="0">
                          <a:solidFill>
                            <a:srgbClr val="1F1F1F"/>
                          </a:solidFill>
                          <a:effectLst/>
                          <a:latin typeface="Arial"/>
                        </a:rPr>
                        <a:t> (data leaving the Azure region). Data coming in (Ingress) is free.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7418414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36</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0" y="0"/>
            <a:ext cx="10972800" cy="1143000"/>
          </a:xfrm>
        </p:spPr>
        <p:txBody>
          <a:bodyPr vert="horz" lIns="91440" tIns="45720" rIns="91440" bIns="45720" rtlCol="0" anchor="ctr">
            <a:normAutofit/>
          </a:bodyPr>
          <a:lstStyle/>
          <a:p>
            <a:r>
              <a:rPr lang="en-US" sz="2800" b="1" dirty="0">
                <a:solidFill>
                  <a:srgbClr val="FF0000"/>
                </a:solidFill>
              </a:rPr>
              <a:t>Storage Tiers </a:t>
            </a:r>
            <a:r>
              <a:rPr lang="en-US" sz="1600" b="1" dirty="0"/>
              <a:t>(Storage Classes in GCP Standard/Nearline(30d)/</a:t>
            </a:r>
            <a:r>
              <a:rPr lang="en-US" sz="1600" b="1" dirty="0" err="1"/>
              <a:t>Coldline</a:t>
            </a:r>
            <a:r>
              <a:rPr lang="en-US" sz="1600" b="1" dirty="0"/>
              <a:t>(90d)/Archival(365d))</a:t>
            </a:r>
            <a:endParaRPr lang="en-US" sz="2800" b="1" dirty="0"/>
          </a:p>
        </p:txBody>
      </p:sp>
      <p:pic>
        <p:nvPicPr>
          <p:cNvPr id="5122" name="Picture 2" descr="4 different access ti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9775" y="1093230"/>
            <a:ext cx="3400425" cy="29337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4" name="Picture 4" descr="https://miro.medium.com/v2/resize:fit:919/1*gaoRDGWC8QmexZaFVeVzw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859" y="943414"/>
            <a:ext cx="5978741" cy="32333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5216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37</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38912" y="-38912"/>
            <a:ext cx="10972800" cy="484094"/>
          </a:xfrm>
        </p:spPr>
        <p:txBody>
          <a:bodyPr vert="horz" lIns="91440" tIns="45720" rIns="91440" bIns="45720" rtlCol="0" anchor="ctr">
            <a:normAutofit/>
          </a:bodyPr>
          <a:lstStyle/>
          <a:p>
            <a:r>
              <a:rPr lang="en-US" sz="2800" b="1" dirty="0">
                <a:solidFill>
                  <a:srgbClr val="FF0000"/>
                </a:solidFill>
                <a:latin typeface="+mn-lt"/>
              </a:rPr>
              <a:t>Redundancy (Location) Types</a:t>
            </a:r>
          </a:p>
        </p:txBody>
      </p:sp>
      <p:sp>
        <p:nvSpPr>
          <p:cNvPr id="4" name="AutoShape 5" descr="Google Cloud Storage (GCS) - Tutorials Doj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628560" y="743040"/>
              <a:ext cx="4572360" cy="2375280"/>
            </p14:xfrm>
          </p:contentPart>
        </mc:Choice>
        <mc:Fallback xmlns="">
          <p:pic>
            <p:nvPicPr>
              <p:cNvPr id="2" name="Ink 1"/>
              <p:cNvPicPr/>
              <p:nvPr/>
            </p:nvPicPr>
            <p:blipFill>
              <a:blip r:embed="rId6"/>
              <a:stretch>
                <a:fillRect/>
              </a:stretch>
            </p:blipFill>
            <p:spPr>
              <a:xfrm>
                <a:off x="619200" y="733680"/>
                <a:ext cx="4591080" cy="2394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p14:cNvContentPartPr/>
              <p14:nvPr/>
            </p14:nvContentPartPr>
            <p14:xfrm>
              <a:off x="5632560" y="1378080"/>
              <a:ext cx="360" cy="360"/>
            </p14:xfrm>
          </p:contentPart>
        </mc:Choice>
        <mc:Fallback xmlns="">
          <p:pic>
            <p:nvPicPr>
              <p:cNvPr id="5" name="Ink 4"/>
              <p:cNvPicPr/>
              <p:nvPr/>
            </p:nvPicPr>
            <p:blipFill>
              <a:blip r:embed="rId8"/>
              <a:stretch>
                <a:fillRect/>
              </a:stretch>
            </p:blipFill>
            <p:spPr>
              <a:xfrm>
                <a:off x="5623200" y="1368720"/>
                <a:ext cx="19080" cy="19080"/>
              </a:xfrm>
              <a:prstGeom prst="rect">
                <a:avLst/>
              </a:prstGeom>
            </p:spPr>
          </p:pic>
        </mc:Fallback>
      </mc:AlternateContent>
      <p:pic>
        <p:nvPicPr>
          <p:cNvPr id="3074" name="Picture 2" descr="https://miro.medium.com/v2/resize:fit:919/1*bENl9JnN8h9c-JD1ANB2OQ.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09965" y="401616"/>
            <a:ext cx="8753475" cy="24669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079"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550" y="635283"/>
            <a:ext cx="1973217" cy="20431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80"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391" y="2961890"/>
            <a:ext cx="3434313" cy="18527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81"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319" y="5063003"/>
            <a:ext cx="3976917" cy="1670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83" name="Picture 11"/>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689603" y="2919921"/>
            <a:ext cx="3615379" cy="20238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6" name="Picture 4" descr="C:\Users\moham\Downloads\network1.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422589" y="3482724"/>
            <a:ext cx="4740835" cy="316055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8653722" y="4476512"/>
            <a:ext cx="1483098" cy="369332"/>
          </a:xfrm>
          <a:prstGeom prst="rect">
            <a:avLst/>
          </a:prstGeom>
          <a:noFill/>
        </p:spPr>
        <p:txBody>
          <a:bodyPr wrap="none" rtlCol="0">
            <a:spAutoFit/>
          </a:bodyPr>
          <a:lstStyle/>
          <a:p>
            <a:r>
              <a:rPr lang="en-IN" dirty="0" smtClean="0">
                <a:solidFill>
                  <a:prstClr val="black"/>
                </a:solidFill>
              </a:rPr>
              <a:t>Geo (US/Asia)</a:t>
            </a:r>
            <a:endParaRPr lang="en-IN" dirty="0">
              <a:solidFill>
                <a:prstClr val="black"/>
              </a:solidFill>
            </a:endParaRPr>
          </a:p>
        </p:txBody>
      </p:sp>
      <p:sp>
        <p:nvSpPr>
          <p:cNvPr id="18" name="TextBox 17"/>
          <p:cNvSpPr txBox="1"/>
          <p:nvPr/>
        </p:nvSpPr>
        <p:spPr>
          <a:xfrm>
            <a:off x="7599285" y="4075368"/>
            <a:ext cx="1787605" cy="369332"/>
          </a:xfrm>
          <a:prstGeom prst="rect">
            <a:avLst/>
          </a:prstGeom>
          <a:noFill/>
        </p:spPr>
        <p:txBody>
          <a:bodyPr wrap="none" rtlCol="0">
            <a:spAutoFit/>
          </a:bodyPr>
          <a:lstStyle/>
          <a:p>
            <a:r>
              <a:rPr lang="en-IN" dirty="0" smtClean="0">
                <a:solidFill>
                  <a:prstClr val="black"/>
                </a:solidFill>
              </a:rPr>
              <a:t>Zone </a:t>
            </a:r>
            <a:r>
              <a:rPr lang="en-IN" sz="900" dirty="0" smtClean="0">
                <a:solidFill>
                  <a:prstClr val="black"/>
                </a:solidFill>
              </a:rPr>
              <a:t>(Velachery/</a:t>
            </a:r>
            <a:r>
              <a:rPr lang="en-IN" sz="900" dirty="0" err="1" smtClean="0">
                <a:solidFill>
                  <a:prstClr val="black"/>
                </a:solidFill>
              </a:rPr>
              <a:t>Tambaram</a:t>
            </a:r>
            <a:r>
              <a:rPr lang="en-IN" sz="900" dirty="0" smtClean="0">
                <a:solidFill>
                  <a:prstClr val="black"/>
                </a:solidFill>
              </a:rPr>
              <a:t>)</a:t>
            </a:r>
            <a:endParaRPr lang="en-IN" sz="900" dirty="0">
              <a:solidFill>
                <a:prstClr val="black"/>
              </a:solidFill>
            </a:endParaRPr>
          </a:p>
        </p:txBody>
      </p:sp>
      <p:cxnSp>
        <p:nvCxnSpPr>
          <p:cNvPr id="13" name="Straight Arrow Connector 12"/>
          <p:cNvCxnSpPr/>
          <p:nvPr/>
        </p:nvCxnSpPr>
        <p:spPr>
          <a:xfrm>
            <a:off x="7716387" y="4424677"/>
            <a:ext cx="741549" cy="18466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rot="645656">
            <a:off x="7614390" y="4518102"/>
            <a:ext cx="896399" cy="246221"/>
          </a:xfrm>
          <a:prstGeom prst="rect">
            <a:avLst/>
          </a:prstGeom>
          <a:noFill/>
        </p:spPr>
        <p:txBody>
          <a:bodyPr wrap="none" rtlCol="0">
            <a:spAutoFit/>
          </a:bodyPr>
          <a:lstStyle/>
          <a:p>
            <a:r>
              <a:rPr lang="en-IN" sz="1000" dirty="0" err="1" smtClean="0">
                <a:solidFill>
                  <a:prstClr val="black"/>
                </a:solidFill>
              </a:rPr>
              <a:t>Upto</a:t>
            </a:r>
            <a:r>
              <a:rPr lang="en-IN" sz="1000" dirty="0" smtClean="0">
                <a:solidFill>
                  <a:prstClr val="black"/>
                </a:solidFill>
              </a:rPr>
              <a:t> 100KMs</a:t>
            </a:r>
            <a:endParaRPr lang="en-IN" sz="1000" dirty="0">
              <a:solidFill>
                <a:prstClr val="black"/>
              </a:solidFill>
            </a:endParaRPr>
          </a:p>
        </p:txBody>
      </p:sp>
      <p:sp>
        <p:nvSpPr>
          <p:cNvPr id="22" name="TextBox 21"/>
          <p:cNvSpPr txBox="1"/>
          <p:nvPr/>
        </p:nvSpPr>
        <p:spPr>
          <a:xfrm>
            <a:off x="6852525" y="5390547"/>
            <a:ext cx="1362168" cy="507831"/>
          </a:xfrm>
          <a:prstGeom prst="rect">
            <a:avLst/>
          </a:prstGeom>
          <a:noFill/>
        </p:spPr>
        <p:txBody>
          <a:bodyPr wrap="none" rtlCol="0">
            <a:spAutoFit/>
          </a:bodyPr>
          <a:lstStyle/>
          <a:p>
            <a:r>
              <a:rPr lang="en-IN" dirty="0" err="1" smtClean="0">
                <a:solidFill>
                  <a:prstClr val="black"/>
                </a:solidFill>
              </a:rPr>
              <a:t>Datacenters</a:t>
            </a:r>
            <a:r>
              <a:rPr lang="en-IN" dirty="0" smtClean="0">
                <a:solidFill>
                  <a:prstClr val="black"/>
                </a:solidFill>
              </a:rPr>
              <a:t> </a:t>
            </a:r>
          </a:p>
          <a:p>
            <a:r>
              <a:rPr lang="en-IN" sz="900" dirty="0" smtClean="0">
                <a:solidFill>
                  <a:prstClr val="black"/>
                </a:solidFill>
              </a:rPr>
              <a:t>(Rack1/Rack2)</a:t>
            </a:r>
            <a:endParaRPr lang="en-IN" sz="900" dirty="0">
              <a:solidFill>
                <a:prstClr val="black"/>
              </a:solidFill>
            </a:endParaRPr>
          </a:p>
        </p:txBody>
      </p:sp>
    </p:spTree>
    <p:extLst>
      <p:ext uri="{BB962C8B-B14F-4D97-AF65-F5344CB8AC3E}">
        <p14:creationId xmlns:p14="http://schemas.microsoft.com/office/powerpoint/2010/main" val="42883723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38</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0" y="0"/>
            <a:ext cx="10972800" cy="1143000"/>
          </a:xfrm>
        </p:spPr>
        <p:txBody>
          <a:bodyPr vert="horz" lIns="91440" tIns="45720" rIns="91440" bIns="45720" rtlCol="0" anchor="ctr">
            <a:normAutofit/>
          </a:bodyPr>
          <a:lstStyle/>
          <a:p>
            <a:r>
              <a:rPr lang="en-US" sz="2800" b="1" dirty="0">
                <a:solidFill>
                  <a:srgbClr val="FF0000"/>
                </a:solidFill>
              </a:rPr>
              <a:t>Storage </a:t>
            </a:r>
            <a:r>
              <a:rPr lang="en-US" sz="2800" b="1" dirty="0" smtClean="0">
                <a:solidFill>
                  <a:srgbClr val="FF0000"/>
                </a:solidFill>
              </a:rPr>
              <a:t>Security</a:t>
            </a:r>
            <a:endParaRPr lang="en-US" sz="2800" b="1" dirty="0"/>
          </a:p>
        </p:txBody>
      </p:sp>
      <p:sp>
        <p:nvSpPr>
          <p:cNvPr id="8" name="Rectangle 7"/>
          <p:cNvSpPr/>
          <p:nvPr/>
        </p:nvSpPr>
        <p:spPr>
          <a:xfrm>
            <a:off x="408346" y="1321605"/>
            <a:ext cx="5060962" cy="224257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u="sng" dirty="0" smtClean="0"/>
              <a:t>Overall Security Concepts in Azure</a:t>
            </a:r>
            <a:endParaRPr lang="en-IN" sz="1400" b="1" u="sng" dirty="0" smtClean="0"/>
          </a:p>
          <a:p>
            <a:pPr marL="342900" indent="-342900">
              <a:buAutoNum type="arabicPeriod"/>
            </a:pPr>
            <a:r>
              <a:rPr lang="en-IN" sz="1400" b="1" dirty="0" smtClean="0"/>
              <a:t>IAM – RBAC (</a:t>
            </a:r>
            <a:r>
              <a:rPr lang="en-IN" sz="1400" b="1" dirty="0" err="1" smtClean="0"/>
              <a:t>Usr</a:t>
            </a:r>
            <a:r>
              <a:rPr lang="en-IN" sz="1400" b="1" dirty="0" smtClean="0"/>
              <a:t>/Grp/SP/Managed Identity)</a:t>
            </a:r>
          </a:p>
          <a:p>
            <a:endParaRPr lang="en-IN" sz="1400" b="1" u="sng" dirty="0" smtClean="0"/>
          </a:p>
          <a:p>
            <a:r>
              <a:rPr lang="en-IN" sz="1400" b="1" u="sng" dirty="0" smtClean="0"/>
              <a:t>Specific to Storage resource:</a:t>
            </a:r>
          </a:p>
          <a:p>
            <a:pPr marL="228600" indent="-228600">
              <a:buAutoNum type="arabicPeriod"/>
            </a:pPr>
            <a:r>
              <a:rPr lang="en-IN" sz="1400" dirty="0" smtClean="0"/>
              <a:t>  Access Keys (Storage Resource level)</a:t>
            </a:r>
          </a:p>
          <a:p>
            <a:pPr marL="228600" indent="-228600">
              <a:buAutoNum type="arabicPeriod"/>
            </a:pPr>
            <a:r>
              <a:rPr lang="en-IN" sz="1400" dirty="0"/>
              <a:t> </a:t>
            </a:r>
            <a:r>
              <a:rPr lang="en-IN" sz="1400" dirty="0" smtClean="0"/>
              <a:t> SAS Tokens (Shared Access Signature)</a:t>
            </a:r>
          </a:p>
          <a:p>
            <a:pPr marL="228600" indent="-228600">
              <a:buAutoNum type="arabicPeriod"/>
            </a:pPr>
            <a:r>
              <a:rPr lang="en-IN" sz="1400" dirty="0" smtClean="0"/>
              <a:t>  IAM-RBAC (Different Container level access for SP)</a:t>
            </a:r>
          </a:p>
          <a:p>
            <a:pPr marL="228600" indent="-228600">
              <a:buAutoNum type="arabicPeriod"/>
            </a:pPr>
            <a:r>
              <a:rPr lang="en-IN" sz="1400" dirty="0" smtClean="0"/>
              <a:t>  ACLs (Access Control List)</a:t>
            </a:r>
          </a:p>
          <a:p>
            <a:pPr marL="228600" indent="-228600">
              <a:buAutoNum type="arabicPeriod"/>
            </a:pPr>
            <a:r>
              <a:rPr lang="en-IN" sz="1400" dirty="0" smtClean="0"/>
              <a:t>  Public Access</a:t>
            </a:r>
            <a:endParaRPr lang="en-IN" sz="1400" dirty="0"/>
          </a:p>
        </p:txBody>
      </p:sp>
      <p:sp>
        <p:nvSpPr>
          <p:cNvPr id="9" name="Rectangle 8"/>
          <p:cNvSpPr/>
          <p:nvPr/>
        </p:nvSpPr>
        <p:spPr>
          <a:xfrm>
            <a:off x="8072499" y="295941"/>
            <a:ext cx="1857714" cy="128642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u="sng" dirty="0" err="1" smtClean="0"/>
              <a:t>Inceptez</a:t>
            </a:r>
            <a:r>
              <a:rPr lang="en-IN" sz="1400" b="1" u="sng" dirty="0" smtClean="0"/>
              <a:t> Organization</a:t>
            </a:r>
          </a:p>
          <a:p>
            <a:r>
              <a:rPr lang="en-IN" sz="1400" dirty="0" smtClean="0"/>
              <a:t>Storage Acct</a:t>
            </a:r>
          </a:p>
          <a:p>
            <a:r>
              <a:rPr lang="en-IN" sz="1400" dirty="0"/>
              <a:t> </a:t>
            </a:r>
            <a:r>
              <a:rPr lang="en-IN" sz="1400" dirty="0" smtClean="0"/>
              <a:t>       Containers</a:t>
            </a:r>
          </a:p>
          <a:p>
            <a:r>
              <a:rPr lang="en-IN" sz="1400" dirty="0"/>
              <a:t> </a:t>
            </a:r>
            <a:r>
              <a:rPr lang="en-IN" sz="1400" dirty="0" smtClean="0"/>
              <a:t>            Folders/files</a:t>
            </a:r>
            <a:endParaRPr lang="en-IN" sz="1400" dirty="0"/>
          </a:p>
        </p:txBody>
      </p:sp>
      <p:sp>
        <p:nvSpPr>
          <p:cNvPr id="2" name="Smiley Face 1"/>
          <p:cNvSpPr/>
          <p:nvPr/>
        </p:nvSpPr>
        <p:spPr>
          <a:xfrm>
            <a:off x="6039926" y="2701270"/>
            <a:ext cx="914400" cy="91440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p:cNvSpPr/>
          <p:nvPr/>
        </p:nvSpPr>
        <p:spPr>
          <a:xfrm>
            <a:off x="5894000" y="3546373"/>
            <a:ext cx="1377172" cy="923330"/>
          </a:xfrm>
          <a:prstGeom prst="rect">
            <a:avLst/>
          </a:prstGeom>
        </p:spPr>
        <p:txBody>
          <a:bodyPr wrap="none">
            <a:spAutoFit/>
          </a:bodyPr>
          <a:lstStyle/>
          <a:p>
            <a:r>
              <a:rPr lang="en-IN" b="1" dirty="0"/>
              <a:t>IAM – RBAC </a:t>
            </a:r>
            <a:endParaRPr lang="en-IN" b="1" dirty="0" smtClean="0"/>
          </a:p>
          <a:p>
            <a:pPr algn="ctr"/>
            <a:r>
              <a:rPr lang="en-IN" b="1" dirty="0" smtClean="0">
                <a:solidFill>
                  <a:srgbClr val="C00000"/>
                </a:solidFill>
              </a:rPr>
              <a:t>SP</a:t>
            </a:r>
          </a:p>
          <a:p>
            <a:pPr algn="ctr"/>
            <a:r>
              <a:rPr lang="en-IN" b="1" dirty="0" smtClean="0">
                <a:solidFill>
                  <a:srgbClr val="C00000"/>
                </a:solidFill>
              </a:rPr>
              <a:t>Grp/</a:t>
            </a:r>
            <a:r>
              <a:rPr lang="en-IN" b="1" dirty="0" err="1" smtClean="0">
                <a:solidFill>
                  <a:srgbClr val="C00000"/>
                </a:solidFill>
              </a:rPr>
              <a:t>Usr</a:t>
            </a:r>
            <a:endParaRPr lang="en-IN" dirty="0">
              <a:solidFill>
                <a:srgbClr val="C00000"/>
              </a:solidFill>
            </a:endParaRPr>
          </a:p>
        </p:txBody>
      </p:sp>
      <p:sp>
        <p:nvSpPr>
          <p:cNvPr id="13" name="Smiley Face 12"/>
          <p:cNvSpPr/>
          <p:nvPr/>
        </p:nvSpPr>
        <p:spPr>
          <a:xfrm>
            <a:off x="8596415" y="2687739"/>
            <a:ext cx="914400" cy="91440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8497042" y="3532842"/>
            <a:ext cx="1284069" cy="923330"/>
          </a:xfrm>
          <a:prstGeom prst="rect">
            <a:avLst/>
          </a:prstGeom>
        </p:spPr>
        <p:txBody>
          <a:bodyPr wrap="none">
            <a:spAutoFit/>
          </a:bodyPr>
          <a:lstStyle/>
          <a:p>
            <a:pPr algn="ctr"/>
            <a:r>
              <a:rPr lang="en-IN" b="1" dirty="0" smtClean="0">
                <a:solidFill>
                  <a:srgbClr val="C00000"/>
                </a:solidFill>
              </a:rPr>
              <a:t>Access keys</a:t>
            </a:r>
          </a:p>
          <a:p>
            <a:pPr algn="ctr"/>
            <a:r>
              <a:rPr lang="en-IN" b="1" dirty="0" smtClean="0">
                <a:solidFill>
                  <a:srgbClr val="C00000"/>
                </a:solidFill>
              </a:rPr>
              <a:t>SAS</a:t>
            </a:r>
          </a:p>
          <a:p>
            <a:pPr algn="ctr"/>
            <a:r>
              <a:rPr lang="en-IN" b="1" dirty="0" smtClean="0">
                <a:solidFill>
                  <a:srgbClr val="C00000"/>
                </a:solidFill>
              </a:rPr>
              <a:t>ACLs</a:t>
            </a:r>
            <a:endParaRPr lang="en-IN" dirty="0">
              <a:solidFill>
                <a:srgbClr val="C00000"/>
              </a:solidFill>
            </a:endParaRPr>
          </a:p>
        </p:txBody>
      </p:sp>
      <p:sp>
        <p:nvSpPr>
          <p:cNvPr id="15" name="Smiley Face 14"/>
          <p:cNvSpPr/>
          <p:nvPr/>
        </p:nvSpPr>
        <p:spPr>
          <a:xfrm>
            <a:off x="10329787" y="2667000"/>
            <a:ext cx="914400" cy="91440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0455198" y="3522379"/>
            <a:ext cx="763351" cy="369332"/>
          </a:xfrm>
          <a:prstGeom prst="rect">
            <a:avLst/>
          </a:prstGeom>
        </p:spPr>
        <p:txBody>
          <a:bodyPr wrap="none">
            <a:spAutoFit/>
          </a:bodyPr>
          <a:lstStyle/>
          <a:p>
            <a:r>
              <a:rPr lang="en-IN" b="1" dirty="0" smtClean="0"/>
              <a:t>Public</a:t>
            </a:r>
            <a:endParaRPr lang="en-IN" dirty="0">
              <a:solidFill>
                <a:srgbClr val="C00000"/>
              </a:solidFill>
            </a:endParaRPr>
          </a:p>
        </p:txBody>
      </p:sp>
      <p:cxnSp>
        <p:nvCxnSpPr>
          <p:cNvPr id="5" name="Straight Arrow Connector 4"/>
          <p:cNvCxnSpPr>
            <a:stCxn id="9" idx="1"/>
            <a:endCxn id="2" idx="0"/>
          </p:cNvCxnSpPr>
          <p:nvPr/>
        </p:nvCxnSpPr>
        <p:spPr>
          <a:xfrm flipH="1">
            <a:off x="6497126" y="939156"/>
            <a:ext cx="1575373" cy="176211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9" idx="2"/>
            <a:endCxn id="13" idx="0"/>
          </p:cNvCxnSpPr>
          <p:nvPr/>
        </p:nvCxnSpPr>
        <p:spPr>
          <a:xfrm>
            <a:off x="9001356" y="1582370"/>
            <a:ext cx="52259" cy="110536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9" idx="3"/>
            <a:endCxn id="15" idx="0"/>
          </p:cNvCxnSpPr>
          <p:nvPr/>
        </p:nvCxnSpPr>
        <p:spPr>
          <a:xfrm>
            <a:off x="9930213" y="939156"/>
            <a:ext cx="856774" cy="172784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959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84601" y="34431"/>
            <a:ext cx="10868870" cy="421962"/>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t>AZ Storage Account &amp; Containers</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7505640" y="882720"/>
              <a:ext cx="1118160" cy="1943280"/>
            </p14:xfrm>
          </p:contentPart>
        </mc:Choice>
        <mc:Fallback xmlns="">
          <p:pic>
            <p:nvPicPr>
              <p:cNvPr id="6" name="Ink 5"/>
              <p:cNvPicPr/>
              <p:nvPr/>
            </p:nvPicPr>
            <p:blipFill>
              <a:blip r:embed="rId9"/>
              <a:stretch>
                <a:fillRect/>
              </a:stretch>
            </p:blipFill>
            <p:spPr>
              <a:xfrm>
                <a:off x="7496280" y="873360"/>
                <a:ext cx="1136880" cy="1962000"/>
              </a:xfrm>
              <a:prstGeom prst="rect">
                <a:avLst/>
              </a:prstGeom>
            </p:spPr>
          </p:pic>
        </mc:Fallback>
      </mc:AlternateContent>
      <p:sp>
        <p:nvSpPr>
          <p:cNvPr id="10" name="Rectangle 9"/>
          <p:cNvSpPr/>
          <p:nvPr/>
        </p:nvSpPr>
        <p:spPr>
          <a:xfrm>
            <a:off x="83340" y="2595564"/>
            <a:ext cx="8202161" cy="4401205"/>
          </a:xfrm>
          <a:prstGeom prst="rect">
            <a:avLst/>
          </a:prstGeom>
          <a:noFill/>
        </p:spPr>
        <p:txBody>
          <a:bodyPr wrap="square" lIns="91440" tIns="45720" rIns="91440" bIns="45720">
            <a:spAutoFit/>
          </a:bodyPr>
          <a:lstStyle/>
          <a:p>
            <a:r>
              <a:rPr lang="en-US" b="1" u="sng" dirty="0">
                <a:ln w="10541" cmpd="sng">
                  <a:solidFill>
                    <a:srgbClr val="7D7D7D">
                      <a:tint val="100000"/>
                      <a:shade val="100000"/>
                      <a:satMod val="110000"/>
                    </a:srgbClr>
                  </a:solidFill>
                  <a:prstDash val="solid"/>
                </a:ln>
                <a:solidFill>
                  <a:prstClr val="black"/>
                </a:solidFill>
              </a:rPr>
              <a:t>ADLS/Blob Account creation/management Commands</a:t>
            </a:r>
          </a:p>
          <a:p>
            <a:r>
              <a:rPr lang="en-US" sz="1400" dirty="0">
                <a:solidFill>
                  <a:prstClr val="black"/>
                </a:solidFill>
              </a:rPr>
              <a:t>In Azure is to create a storage account, which is a higher-level resource that can contain multiple storage containers (buckets)</a:t>
            </a:r>
          </a:p>
          <a:p>
            <a:r>
              <a:rPr lang="en-IN" b="1" dirty="0">
                <a:solidFill>
                  <a:prstClr val="black"/>
                </a:solidFill>
              </a:rPr>
              <a:t>1. First list available resource groups</a:t>
            </a:r>
            <a:endParaRPr lang="en-IN" dirty="0">
              <a:solidFill>
                <a:srgbClr val="5B9BD5">
                  <a:lumMod val="75000"/>
                </a:srgbClr>
              </a:solidFill>
            </a:endParaRPr>
          </a:p>
          <a:p>
            <a:r>
              <a:rPr lang="en-IN" sz="1400" dirty="0" err="1">
                <a:solidFill>
                  <a:srgbClr val="5B9BD5">
                    <a:lumMod val="75000"/>
                  </a:srgbClr>
                </a:solidFill>
              </a:rPr>
              <a:t>az</a:t>
            </a:r>
            <a:r>
              <a:rPr lang="en-IN" sz="1400" dirty="0">
                <a:solidFill>
                  <a:srgbClr val="5B9BD5">
                    <a:lumMod val="75000"/>
                  </a:srgbClr>
                </a:solidFill>
              </a:rPr>
              <a:t> group list --output table</a:t>
            </a:r>
          </a:p>
          <a:p>
            <a:endParaRPr lang="en-IN" sz="1400" b="1" u="sng" dirty="0">
              <a:solidFill>
                <a:prstClr val="black"/>
              </a:solidFill>
            </a:endParaRPr>
          </a:p>
          <a:p>
            <a:r>
              <a:rPr lang="en-IN" sz="1400" b="1" u="sng" dirty="0">
                <a:solidFill>
                  <a:prstClr val="black"/>
                </a:solidFill>
              </a:rPr>
              <a:t>2. Setting Environment - Subscription Specific Container /Bucket creation (Project Specific in azure):</a:t>
            </a:r>
          </a:p>
          <a:p>
            <a:r>
              <a:rPr lang="en-US" sz="1400" dirty="0" err="1">
                <a:solidFill>
                  <a:srgbClr val="0070C0"/>
                </a:solidFill>
              </a:rPr>
              <a:t>az</a:t>
            </a:r>
            <a:r>
              <a:rPr lang="en-US" sz="1400" dirty="0">
                <a:solidFill>
                  <a:srgbClr val="0070C0"/>
                </a:solidFill>
              </a:rPr>
              <a:t> account list --output table</a:t>
            </a:r>
          </a:p>
          <a:p>
            <a:r>
              <a:rPr lang="en-US" sz="1400" dirty="0" err="1">
                <a:solidFill>
                  <a:srgbClr val="0070C0"/>
                </a:solidFill>
              </a:rPr>
              <a:t>az</a:t>
            </a:r>
            <a:r>
              <a:rPr lang="en-US" sz="1400" dirty="0">
                <a:solidFill>
                  <a:srgbClr val="0070C0"/>
                </a:solidFill>
              </a:rPr>
              <a:t> account set --subscription "</a:t>
            </a:r>
            <a:r>
              <a:rPr lang="en-IN" sz="1400" b="1" dirty="0">
                <a:solidFill>
                  <a:srgbClr val="0070C0"/>
                </a:solidFill>
              </a:rPr>
              <a:t>445b9ed0-3121-4340-bd7f-8935df4be9f0</a:t>
            </a:r>
            <a:r>
              <a:rPr lang="en-US" sz="1400" dirty="0">
                <a:solidFill>
                  <a:srgbClr val="0070C0"/>
                </a:solidFill>
              </a:rPr>
              <a:t>"</a:t>
            </a:r>
            <a:endParaRPr lang="en-IN" sz="1400" b="1" u="sng" dirty="0">
              <a:solidFill>
                <a:srgbClr val="0070C0"/>
              </a:solidFill>
            </a:endParaRPr>
          </a:p>
          <a:p>
            <a:endParaRPr lang="en-US" sz="1400" b="1" u="sng" dirty="0">
              <a:solidFill>
                <a:prstClr val="black"/>
              </a:solidFill>
            </a:endParaRPr>
          </a:p>
          <a:p>
            <a:r>
              <a:rPr lang="en-US" sz="1600" b="1" u="sng" dirty="0">
                <a:solidFill>
                  <a:prstClr val="black"/>
                </a:solidFill>
              </a:rPr>
              <a:t>2. Create a Storage Account (One level higher than the container/bucket)</a:t>
            </a:r>
          </a:p>
          <a:p>
            <a:r>
              <a:rPr lang="en-US" sz="1400" b="1" u="sng" dirty="0">
                <a:solidFill>
                  <a:prstClr val="black"/>
                </a:solidFill>
              </a:rPr>
              <a:t>BLOB Storage Account Creation: (Check the account kind and hierarchical namespace)</a:t>
            </a:r>
          </a:p>
          <a:p>
            <a:r>
              <a:rPr lang="en-US" sz="1400" dirty="0" err="1">
                <a:solidFill>
                  <a:srgbClr val="5B9BD5">
                    <a:lumMod val="75000"/>
                  </a:srgbClr>
                </a:solidFill>
              </a:rPr>
              <a:t>az</a:t>
            </a:r>
            <a:r>
              <a:rPr lang="en-US" sz="1400" dirty="0">
                <a:solidFill>
                  <a:srgbClr val="5B9BD5">
                    <a:lumMod val="75000"/>
                  </a:srgbClr>
                </a:solidFill>
              </a:rPr>
              <a:t> storage account create \</a:t>
            </a:r>
          </a:p>
          <a:p>
            <a:r>
              <a:rPr lang="en-US" sz="1400" dirty="0">
                <a:solidFill>
                  <a:srgbClr val="5B9BD5">
                    <a:lumMod val="75000"/>
                  </a:srgbClr>
                </a:solidFill>
              </a:rPr>
              <a:t>    --name </a:t>
            </a:r>
            <a:r>
              <a:rPr lang="en-US" sz="1400" b="1" dirty="0" err="1">
                <a:solidFill>
                  <a:srgbClr val="5B9BD5">
                    <a:lumMod val="75000"/>
                  </a:srgbClr>
                </a:solidFill>
              </a:rPr>
              <a:t>izblobwe</a:t>
            </a:r>
            <a:r>
              <a:rPr lang="en-US" sz="1400" b="1" dirty="0">
                <a:solidFill>
                  <a:srgbClr val="5B9BD5">
                    <a:lumMod val="75000"/>
                  </a:srgbClr>
                </a:solidFill>
              </a:rPr>
              <a:t> </a:t>
            </a:r>
            <a:r>
              <a:rPr lang="en-US" sz="1400" dirty="0">
                <a:solidFill>
                  <a:srgbClr val="5B9BD5">
                    <a:lumMod val="75000"/>
                  </a:srgbClr>
                </a:solidFill>
              </a:rPr>
              <a:t>\</a:t>
            </a:r>
          </a:p>
          <a:p>
            <a:r>
              <a:rPr lang="en-US" sz="1400" dirty="0">
                <a:solidFill>
                  <a:srgbClr val="5B9BD5">
                    <a:lumMod val="75000"/>
                  </a:srgbClr>
                </a:solidFill>
              </a:rPr>
              <a:t>    --resource-group </a:t>
            </a:r>
            <a:r>
              <a:rPr lang="en-US" sz="1400" b="1" dirty="0">
                <a:solidFill>
                  <a:srgbClr val="5B9BD5">
                    <a:lumMod val="75000"/>
                  </a:srgbClr>
                </a:solidFill>
              </a:rPr>
              <a:t>we45-resourcegroup</a:t>
            </a:r>
            <a:r>
              <a:rPr lang="en-US" sz="1400" dirty="0">
                <a:solidFill>
                  <a:srgbClr val="5B9BD5">
                    <a:lumMod val="75000"/>
                  </a:srgbClr>
                </a:solidFill>
              </a:rPr>
              <a:t> \</a:t>
            </a:r>
          </a:p>
          <a:p>
            <a:r>
              <a:rPr lang="en-US" sz="1400" dirty="0">
                <a:solidFill>
                  <a:srgbClr val="5B9BD5">
                    <a:lumMod val="75000"/>
                  </a:srgbClr>
                </a:solidFill>
              </a:rPr>
              <a:t>    --location </a:t>
            </a:r>
            <a:r>
              <a:rPr lang="en-US" sz="1400" dirty="0" err="1">
                <a:solidFill>
                  <a:srgbClr val="5B9BD5">
                    <a:lumMod val="75000"/>
                  </a:srgbClr>
                </a:solidFill>
              </a:rPr>
              <a:t>eastus</a:t>
            </a:r>
            <a:r>
              <a:rPr lang="en-US" sz="1400" dirty="0">
                <a:solidFill>
                  <a:srgbClr val="5B9BD5">
                    <a:lumMod val="75000"/>
                  </a:srgbClr>
                </a:solidFill>
              </a:rPr>
              <a:t> \</a:t>
            </a:r>
          </a:p>
          <a:p>
            <a:r>
              <a:rPr lang="en-US" sz="1400" b="1" dirty="0">
                <a:solidFill>
                  <a:srgbClr val="5B9BD5">
                    <a:lumMod val="75000"/>
                  </a:srgbClr>
                </a:solidFill>
              </a:rPr>
              <a:t>    --</a:t>
            </a:r>
            <a:r>
              <a:rPr lang="en-US" sz="1400" b="1" dirty="0" err="1">
                <a:solidFill>
                  <a:srgbClr val="5B9BD5">
                    <a:lumMod val="75000"/>
                  </a:srgbClr>
                </a:solidFill>
              </a:rPr>
              <a:t>sku</a:t>
            </a:r>
            <a:r>
              <a:rPr lang="en-US" sz="1400" b="1" dirty="0">
                <a:solidFill>
                  <a:srgbClr val="5B9BD5">
                    <a:lumMod val="75000"/>
                  </a:srgbClr>
                </a:solidFill>
              </a:rPr>
              <a:t> </a:t>
            </a:r>
            <a:r>
              <a:rPr lang="en-US" sz="1400" b="1" dirty="0" err="1">
                <a:solidFill>
                  <a:srgbClr val="5B9BD5">
                    <a:lumMod val="75000"/>
                  </a:srgbClr>
                </a:solidFill>
              </a:rPr>
              <a:t>Standard_LRS</a:t>
            </a:r>
            <a:r>
              <a:rPr lang="en-US" sz="1400" b="1" dirty="0">
                <a:solidFill>
                  <a:srgbClr val="5B9BD5">
                    <a:lumMod val="75000"/>
                  </a:srgbClr>
                </a:solidFill>
              </a:rPr>
              <a:t> \</a:t>
            </a:r>
          </a:p>
          <a:p>
            <a:r>
              <a:rPr lang="en-US" sz="1400" b="1" dirty="0">
                <a:solidFill>
                  <a:srgbClr val="5B9BD5">
                    <a:lumMod val="75000"/>
                  </a:srgbClr>
                </a:solidFill>
              </a:rPr>
              <a:t>    --kind </a:t>
            </a:r>
            <a:r>
              <a:rPr lang="en-US" sz="1400" b="1" dirty="0" err="1">
                <a:solidFill>
                  <a:srgbClr val="5B9BD5">
                    <a:lumMod val="75000"/>
                  </a:srgbClr>
                </a:solidFill>
              </a:rPr>
              <a:t>BlobStorage</a:t>
            </a:r>
            <a:r>
              <a:rPr lang="en-US" sz="1400" b="1" dirty="0">
                <a:solidFill>
                  <a:srgbClr val="5B9BD5">
                    <a:lumMod val="75000"/>
                  </a:srgbClr>
                </a:solidFill>
              </a:rPr>
              <a:t> \</a:t>
            </a:r>
          </a:p>
          <a:p>
            <a:r>
              <a:rPr lang="en-US" sz="1400" b="1" dirty="0">
                <a:solidFill>
                  <a:srgbClr val="5B9BD5">
                    <a:lumMod val="75000"/>
                  </a:srgbClr>
                </a:solidFill>
              </a:rPr>
              <a:t>    --access-tier Hot</a:t>
            </a:r>
          </a:p>
        </p:txBody>
      </p:sp>
      <p:sp>
        <p:nvSpPr>
          <p:cNvPr id="2" name="Rectangle 1"/>
          <p:cNvSpPr/>
          <p:nvPr/>
        </p:nvSpPr>
        <p:spPr>
          <a:xfrm>
            <a:off x="5895926" y="180929"/>
            <a:ext cx="2291012" cy="400110"/>
          </a:xfrm>
          <a:prstGeom prst="rect">
            <a:avLst/>
          </a:prstGeom>
        </p:spPr>
        <p:txBody>
          <a:bodyPr wrap="none">
            <a:spAutoFit/>
          </a:bodyPr>
          <a:lstStyle/>
          <a:p>
            <a:r>
              <a:rPr lang="en-US" sz="2000" i="1" u="sng" dirty="0">
                <a:solidFill>
                  <a:prstClr val="black"/>
                </a:solidFill>
                <a:effectLst>
                  <a:outerShdw blurRad="38100" dist="38100" dir="2700000" algn="tl">
                    <a:srgbClr val="000000">
                      <a:alpha val="43137"/>
                    </a:srgbClr>
                  </a:outerShdw>
                </a:effectLst>
              </a:rPr>
              <a:t>Classroom - Practice</a:t>
            </a:r>
            <a:endParaRPr lang="en-IN" sz="2000" dirty="0">
              <a:solidFill>
                <a:prstClr val="black"/>
              </a:solidFill>
            </a:endParaRPr>
          </a:p>
        </p:txBody>
      </p:sp>
      <p:pic>
        <p:nvPicPr>
          <p:cNvPr id="14"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656658" y="6464867"/>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8064720" y="1294374"/>
            <a:ext cx="4078361" cy="3139321"/>
          </a:xfrm>
          <a:prstGeom prst="rect">
            <a:avLst/>
          </a:prstGeom>
          <a:noFill/>
        </p:spPr>
        <p:txBody>
          <a:bodyPr wrap="none" rtlCol="0">
            <a:spAutoFit/>
          </a:bodyPr>
          <a:lstStyle/>
          <a:p>
            <a:r>
              <a:rPr lang="en-US" sz="600" b="1" u="sng" dirty="0">
                <a:solidFill>
                  <a:prstClr val="black"/>
                </a:solidFill>
              </a:rPr>
              <a:t>1. Create a Storage Account first</a:t>
            </a:r>
          </a:p>
          <a:p>
            <a:r>
              <a:rPr lang="en-US" sz="600" dirty="0" err="1">
                <a:solidFill>
                  <a:srgbClr val="5B9BD5">
                    <a:lumMod val="75000"/>
                  </a:srgbClr>
                </a:solidFill>
              </a:rPr>
              <a:t>az</a:t>
            </a:r>
            <a:r>
              <a:rPr lang="en-US" sz="600" dirty="0">
                <a:solidFill>
                  <a:srgbClr val="5B9BD5">
                    <a:lumMod val="75000"/>
                  </a:srgbClr>
                </a:solidFill>
              </a:rPr>
              <a:t> storage account create --name izdatalakegen2  --resource-group </a:t>
            </a:r>
            <a:r>
              <a:rPr lang="en-IN" sz="600" dirty="0">
                <a:solidFill>
                  <a:srgbClr val="5B9BD5">
                    <a:lumMod val="75000"/>
                  </a:srgbClr>
                </a:solidFill>
              </a:rPr>
              <a:t>we45-resourcegroup</a:t>
            </a:r>
            <a:r>
              <a:rPr lang="en-US" sz="600" dirty="0">
                <a:solidFill>
                  <a:srgbClr val="5B9BD5">
                    <a:lumMod val="75000"/>
                  </a:srgbClr>
                </a:solidFill>
              </a:rPr>
              <a:t>  --location </a:t>
            </a:r>
            <a:r>
              <a:rPr lang="en-US" sz="600" dirty="0" err="1">
                <a:solidFill>
                  <a:srgbClr val="5B9BD5">
                    <a:lumMod val="75000"/>
                  </a:srgbClr>
                </a:solidFill>
              </a:rPr>
              <a:t>eastus</a:t>
            </a:r>
            <a:r>
              <a:rPr lang="en-US" sz="600" dirty="0">
                <a:solidFill>
                  <a:srgbClr val="5B9BD5">
                    <a:lumMod val="75000"/>
                  </a:srgbClr>
                </a:solidFill>
              </a:rPr>
              <a:t>   --kind StorageV2</a:t>
            </a:r>
            <a:endParaRPr lang="en-IN" sz="600" dirty="0">
              <a:solidFill>
                <a:srgbClr val="5B9BD5">
                  <a:lumMod val="75000"/>
                </a:srgbClr>
              </a:solidFill>
            </a:endParaRPr>
          </a:p>
          <a:p>
            <a:endParaRPr lang="en-IN" sz="600" b="1" u="sng" dirty="0">
              <a:solidFill>
                <a:prstClr val="black"/>
              </a:solidFill>
            </a:endParaRPr>
          </a:p>
          <a:p>
            <a:r>
              <a:rPr lang="en-IN" sz="600" b="1" u="sng" dirty="0">
                <a:solidFill>
                  <a:prstClr val="black"/>
                </a:solidFill>
              </a:rPr>
              <a:t>Make Bucket Commands:</a:t>
            </a:r>
          </a:p>
          <a:p>
            <a:r>
              <a:rPr lang="en-IN" sz="600" b="1" strike="sngStrike" dirty="0" err="1">
                <a:solidFill>
                  <a:srgbClr val="0070C0"/>
                </a:solidFill>
              </a:rPr>
              <a:t>gsutil</a:t>
            </a:r>
            <a:r>
              <a:rPr lang="en-IN" sz="600" b="1" strike="sngStrike" dirty="0">
                <a:solidFill>
                  <a:srgbClr val="0070C0"/>
                </a:solidFill>
              </a:rPr>
              <a:t> </a:t>
            </a:r>
            <a:r>
              <a:rPr lang="en-IN" sz="600" b="1" strike="sngStrike" dirty="0" err="1">
                <a:solidFill>
                  <a:srgbClr val="0070C0"/>
                </a:solidFill>
              </a:rPr>
              <a:t>mb</a:t>
            </a:r>
            <a:r>
              <a:rPr lang="en-IN" sz="600" b="1" strike="sngStrike" dirty="0">
                <a:solidFill>
                  <a:srgbClr val="0070C0"/>
                </a:solidFill>
              </a:rPr>
              <a:t> gs://com-inceptez-data-learn1-we43</a:t>
            </a:r>
          </a:p>
          <a:p>
            <a:endParaRPr lang="en-IN" sz="600" b="1" u="sng" dirty="0">
              <a:solidFill>
                <a:prstClr val="black"/>
              </a:solidFill>
            </a:endParaRPr>
          </a:p>
          <a:p>
            <a:r>
              <a:rPr lang="en-IN" sz="600" b="1" u="sng" dirty="0">
                <a:solidFill>
                  <a:prstClr val="black"/>
                </a:solidFill>
              </a:rPr>
              <a:t>Project Specific:</a:t>
            </a:r>
          </a:p>
          <a:p>
            <a:r>
              <a:rPr lang="en-IN" sz="600" b="1" strike="sngStrike" dirty="0" err="1">
                <a:solidFill>
                  <a:srgbClr val="0070C0"/>
                </a:solidFill>
              </a:rPr>
              <a:t>gsutil</a:t>
            </a:r>
            <a:r>
              <a:rPr lang="en-IN" sz="600" b="1" strike="sngStrike" dirty="0">
                <a:solidFill>
                  <a:srgbClr val="0070C0"/>
                </a:solidFill>
              </a:rPr>
              <a:t> </a:t>
            </a:r>
            <a:r>
              <a:rPr lang="en-IN" sz="600" b="1" strike="sngStrike" dirty="0" err="1">
                <a:solidFill>
                  <a:srgbClr val="0070C0"/>
                </a:solidFill>
              </a:rPr>
              <a:t>mb</a:t>
            </a:r>
            <a:r>
              <a:rPr lang="en-IN" sz="600" b="1" strike="sngStrike" dirty="0">
                <a:solidFill>
                  <a:srgbClr val="0070C0"/>
                </a:solidFill>
              </a:rPr>
              <a:t> -p </a:t>
            </a:r>
            <a:r>
              <a:rPr lang="en-IN" sz="600" b="1" strike="sngStrike" dirty="0">
                <a:solidFill>
                  <a:srgbClr val="C00000"/>
                </a:solidFill>
              </a:rPr>
              <a:t>singular-elixir-425117-q0</a:t>
            </a:r>
            <a:r>
              <a:rPr lang="en-IN" sz="600" b="1" strike="sngStrike" dirty="0">
                <a:solidFill>
                  <a:srgbClr val="0070C0"/>
                </a:solidFill>
              </a:rPr>
              <a:t> gs://com-inceptez-data-learn1-we43_proj</a:t>
            </a:r>
          </a:p>
          <a:p>
            <a:endParaRPr lang="en-IN" sz="600" dirty="0">
              <a:solidFill>
                <a:prstClr val="black"/>
              </a:solidFill>
            </a:endParaRPr>
          </a:p>
          <a:p>
            <a:r>
              <a:rPr lang="en-IN" sz="600" b="1" u="sng" dirty="0">
                <a:solidFill>
                  <a:prstClr val="black"/>
                </a:solidFill>
              </a:rPr>
              <a:t>Location Types (regional, dual, multi) – costing, usability(availability), performance</a:t>
            </a:r>
          </a:p>
          <a:p>
            <a:r>
              <a:rPr lang="en-IN" sz="600" b="1" i="1" dirty="0">
                <a:solidFill>
                  <a:prstClr val="black"/>
                </a:solidFill>
              </a:rPr>
              <a:t>#regional (replicated across </a:t>
            </a:r>
            <a:r>
              <a:rPr lang="en-IN" sz="600" b="1" i="1" dirty="0" err="1">
                <a:solidFill>
                  <a:prstClr val="black"/>
                </a:solidFill>
              </a:rPr>
              <a:t>upto</a:t>
            </a:r>
            <a:r>
              <a:rPr lang="en-IN" sz="600" b="1" i="1" dirty="0">
                <a:solidFill>
                  <a:prstClr val="black"/>
                </a:solidFill>
              </a:rPr>
              <a:t> 3 zones-clusters) 99.999999999% availability</a:t>
            </a:r>
            <a:endParaRPr lang="en-IN" sz="600" b="1" i="1" u="sng" dirty="0">
              <a:solidFill>
                <a:prstClr val="black"/>
              </a:solidFill>
            </a:endParaRP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-l </a:t>
            </a:r>
            <a:r>
              <a:rPr lang="en-IN" sz="600" b="1" dirty="0">
                <a:solidFill>
                  <a:srgbClr val="C00000"/>
                </a:solidFill>
              </a:rPr>
              <a:t>us-east1</a:t>
            </a:r>
            <a:r>
              <a:rPr lang="en-IN" sz="600" b="1" dirty="0">
                <a:solidFill>
                  <a:srgbClr val="0070C0"/>
                </a:solidFill>
              </a:rPr>
              <a:t> gs://com-inceptez-data-learn1-we43_2</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-l </a:t>
            </a:r>
            <a:r>
              <a:rPr lang="en-IN" sz="600" b="1" dirty="0">
                <a:solidFill>
                  <a:srgbClr val="C00000"/>
                </a:solidFill>
              </a:rPr>
              <a:t>asia-south1</a:t>
            </a:r>
            <a:r>
              <a:rPr lang="en-IN" sz="600" b="1" dirty="0">
                <a:solidFill>
                  <a:srgbClr val="0070C0"/>
                </a:solidFill>
              </a:rPr>
              <a:t> gs://com-inceptez-data-learn1-we43_2</a:t>
            </a:r>
          </a:p>
          <a:p>
            <a:r>
              <a:rPr lang="en-IN" sz="600" b="1" i="1" dirty="0">
                <a:solidFill>
                  <a:prstClr val="black"/>
                </a:solidFill>
              </a:rPr>
              <a:t>#dual region(replicated across </a:t>
            </a:r>
            <a:r>
              <a:rPr lang="en-IN" sz="600" b="1" i="1" dirty="0" err="1">
                <a:solidFill>
                  <a:prstClr val="black"/>
                </a:solidFill>
              </a:rPr>
              <a:t>upto</a:t>
            </a:r>
            <a:r>
              <a:rPr lang="en-IN" sz="600" b="1" i="1" dirty="0">
                <a:solidFill>
                  <a:prstClr val="black"/>
                </a:solidFill>
              </a:rPr>
              <a:t> 3+3 zones-clusters) – better availability, reachability and fault tolerance</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-l us --placement us-west1,us-west2 gs://com-inceptez-data-learn1-we43_3</a:t>
            </a:r>
          </a:p>
          <a:p>
            <a:r>
              <a:rPr lang="en-IN" sz="600" b="1" i="1" dirty="0">
                <a:solidFill>
                  <a:prstClr val="black"/>
                </a:solidFill>
              </a:rPr>
              <a:t>#DEFAULT MULTI region - </a:t>
            </a:r>
            <a:r>
              <a:rPr lang="en-IN" sz="600" b="1" i="1" dirty="0" err="1">
                <a:solidFill>
                  <a:prstClr val="black"/>
                </a:solidFill>
              </a:rPr>
              <a:t>accross</a:t>
            </a:r>
            <a:r>
              <a:rPr lang="en-IN" sz="600" b="1" i="1" dirty="0">
                <a:solidFill>
                  <a:prstClr val="black"/>
                </a:solidFill>
              </a:rPr>
              <a:t> the country all/any regions</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-l </a:t>
            </a:r>
            <a:r>
              <a:rPr lang="en-IN" sz="600" b="1" dirty="0" err="1">
                <a:solidFill>
                  <a:srgbClr val="0070C0"/>
                </a:solidFill>
              </a:rPr>
              <a:t>asia</a:t>
            </a:r>
            <a:r>
              <a:rPr lang="en-IN" sz="600" b="1" dirty="0">
                <a:solidFill>
                  <a:srgbClr val="0070C0"/>
                </a:solidFill>
              </a:rPr>
              <a:t> gs://com-inceptez-data-learn1-we43_4</a:t>
            </a:r>
          </a:p>
          <a:p>
            <a:endParaRPr lang="en-IN" sz="600" dirty="0">
              <a:solidFill>
                <a:prstClr val="black"/>
              </a:solidFill>
            </a:endParaRPr>
          </a:p>
          <a:p>
            <a:r>
              <a:rPr lang="en-IN" sz="600" b="1" u="sng" dirty="0">
                <a:solidFill>
                  <a:prstClr val="black"/>
                </a:solidFill>
              </a:rPr>
              <a:t>Storage Classes – costing, usability(availability), performance</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a:t>
            </a:r>
            <a:r>
              <a:rPr lang="en-IN" sz="600" b="1" dirty="0">
                <a:solidFill>
                  <a:srgbClr val="C00000"/>
                </a:solidFill>
              </a:rPr>
              <a:t>-c </a:t>
            </a:r>
            <a:r>
              <a:rPr lang="en-IN" sz="600" b="1" dirty="0" err="1">
                <a:solidFill>
                  <a:srgbClr val="C00000"/>
                </a:solidFill>
              </a:rPr>
              <a:t>nearline</a:t>
            </a:r>
            <a:r>
              <a:rPr lang="en-IN" sz="600" b="1" dirty="0">
                <a:solidFill>
                  <a:srgbClr val="C00000"/>
                </a:solidFill>
              </a:rPr>
              <a:t> </a:t>
            </a:r>
            <a:r>
              <a:rPr lang="en-IN" sz="600" b="1" dirty="0">
                <a:solidFill>
                  <a:srgbClr val="0070C0"/>
                </a:solidFill>
              </a:rPr>
              <a:t>gs://com-inceptez-data-learn1-we43_5</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-c </a:t>
            </a:r>
            <a:r>
              <a:rPr lang="en-IN" sz="600" b="1" dirty="0" err="1">
                <a:solidFill>
                  <a:srgbClr val="0070C0"/>
                </a:solidFill>
              </a:rPr>
              <a:t>coldline</a:t>
            </a:r>
            <a:r>
              <a:rPr lang="en-IN" sz="600" b="1" dirty="0">
                <a:solidFill>
                  <a:srgbClr val="0070C0"/>
                </a:solidFill>
              </a:rPr>
              <a:t> -l us-east1 gs://com-inceptez-data-learn1-we43_6</a:t>
            </a:r>
          </a:p>
          <a:p>
            <a:r>
              <a:rPr lang="en-IN" sz="600" b="1" i="1" dirty="0">
                <a:solidFill>
                  <a:prstClr val="black"/>
                </a:solidFill>
              </a:rPr>
              <a:t>#depends upon the frequency of access and period of storage </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a:t>
            </a:r>
            <a:r>
              <a:rPr lang="en-IN" sz="600" b="1" dirty="0">
                <a:solidFill>
                  <a:srgbClr val="C00000"/>
                </a:solidFill>
              </a:rPr>
              <a:t>--</a:t>
            </a:r>
            <a:r>
              <a:rPr lang="en-IN" sz="600" b="1" dirty="0" err="1">
                <a:solidFill>
                  <a:srgbClr val="C00000"/>
                </a:solidFill>
              </a:rPr>
              <a:t>autoclass</a:t>
            </a:r>
            <a:r>
              <a:rPr lang="en-IN" sz="600" b="1" dirty="0">
                <a:solidFill>
                  <a:srgbClr val="C00000"/>
                </a:solidFill>
              </a:rPr>
              <a:t> </a:t>
            </a:r>
            <a:r>
              <a:rPr lang="en-IN" sz="600" b="1" dirty="0">
                <a:solidFill>
                  <a:srgbClr val="0070C0"/>
                </a:solidFill>
              </a:rPr>
              <a:t>gs://com-inceptez-data-learn1-we43_7</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autoclass</a:t>
            </a:r>
            <a:r>
              <a:rPr lang="en-IN" sz="600" b="1" dirty="0">
                <a:solidFill>
                  <a:srgbClr val="0070C0"/>
                </a:solidFill>
              </a:rPr>
              <a:t> set on gs://com-inceptez-data-learn1-we43_7</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autoclass</a:t>
            </a:r>
            <a:r>
              <a:rPr lang="en-IN" sz="600" b="1" dirty="0">
                <a:solidFill>
                  <a:srgbClr val="0070C0"/>
                </a:solidFill>
              </a:rPr>
              <a:t> get gs://com-inceptez-data-learn1-we43_7</a:t>
            </a:r>
          </a:p>
          <a:p>
            <a:r>
              <a:rPr lang="en-US" sz="600" b="1" dirty="0" err="1">
                <a:solidFill>
                  <a:srgbClr val="0070C0"/>
                </a:solidFill>
              </a:rPr>
              <a:t>gsutil</a:t>
            </a:r>
            <a:r>
              <a:rPr lang="en-US" sz="600" b="1" dirty="0">
                <a:solidFill>
                  <a:srgbClr val="0070C0"/>
                </a:solidFill>
              </a:rPr>
              <a:t> </a:t>
            </a:r>
            <a:r>
              <a:rPr lang="en-US" sz="600" b="1" dirty="0" err="1">
                <a:solidFill>
                  <a:srgbClr val="C00000"/>
                </a:solidFill>
              </a:rPr>
              <a:t>defstorageclass</a:t>
            </a:r>
            <a:r>
              <a:rPr lang="en-US" sz="600" b="1" dirty="0">
                <a:solidFill>
                  <a:srgbClr val="C00000"/>
                </a:solidFill>
              </a:rPr>
              <a:t> </a:t>
            </a:r>
            <a:r>
              <a:rPr lang="en-US" sz="600" b="1" dirty="0">
                <a:solidFill>
                  <a:srgbClr val="0070C0"/>
                </a:solidFill>
              </a:rPr>
              <a:t>get gs://com-inceptez-data-learn1-we43_7</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defstorageclass</a:t>
            </a:r>
            <a:r>
              <a:rPr lang="en-IN" sz="600" b="1" dirty="0">
                <a:solidFill>
                  <a:srgbClr val="0070C0"/>
                </a:solidFill>
              </a:rPr>
              <a:t> get gs://com-inceptez-data-learn1-we43_5</a:t>
            </a:r>
            <a:r>
              <a:rPr lang="en-IN" sz="600" b="1" dirty="0">
                <a:solidFill>
                  <a:prstClr val="black"/>
                </a:solidFill>
              </a:rPr>
              <a:t>#Getting the type of class used</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defstorageclass</a:t>
            </a:r>
            <a:r>
              <a:rPr lang="en-IN" sz="600" b="1" dirty="0">
                <a:solidFill>
                  <a:srgbClr val="0070C0"/>
                </a:solidFill>
              </a:rPr>
              <a:t> set archive gs://com-inceptez-data-learn1-we43_5</a:t>
            </a:r>
            <a:r>
              <a:rPr lang="en-IN" sz="600" b="1" dirty="0">
                <a:solidFill>
                  <a:prstClr val="black"/>
                </a:solidFill>
              </a:rPr>
              <a:t>#Move from </a:t>
            </a:r>
            <a:r>
              <a:rPr lang="en-IN" sz="600" b="1" dirty="0" err="1">
                <a:solidFill>
                  <a:prstClr val="black"/>
                </a:solidFill>
              </a:rPr>
              <a:t>nearline</a:t>
            </a:r>
            <a:r>
              <a:rPr lang="en-IN" sz="600" b="1" dirty="0">
                <a:solidFill>
                  <a:prstClr val="black"/>
                </a:solidFill>
              </a:rPr>
              <a:t> class to archive manually</a:t>
            </a:r>
          </a:p>
          <a:p>
            <a:endParaRPr lang="en-IN" sz="600" b="1" dirty="0">
              <a:solidFill>
                <a:prstClr val="black"/>
              </a:solidFill>
            </a:endParaRPr>
          </a:p>
          <a:p>
            <a:r>
              <a:rPr lang="en-IN" sz="600" b="1" i="1" dirty="0">
                <a:solidFill>
                  <a:prstClr val="black"/>
                </a:solidFill>
              </a:rPr>
              <a:t>Retention Period (How long we are going to protect the data from deletion/overwriting)</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mb</a:t>
            </a:r>
            <a:r>
              <a:rPr lang="en-IN" sz="600" b="1" dirty="0">
                <a:solidFill>
                  <a:srgbClr val="0070C0"/>
                </a:solidFill>
              </a:rPr>
              <a:t> </a:t>
            </a:r>
            <a:r>
              <a:rPr lang="en-IN" sz="600" b="1" dirty="0">
                <a:solidFill>
                  <a:srgbClr val="C00000"/>
                </a:solidFill>
              </a:rPr>
              <a:t>--retention 60s</a:t>
            </a:r>
            <a:r>
              <a:rPr lang="en-IN" sz="600" b="1" dirty="0">
                <a:solidFill>
                  <a:srgbClr val="0070C0"/>
                </a:solidFill>
              </a:rPr>
              <a:t> gs://com-inceptez-data-learn1-we43_8</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cp</a:t>
            </a:r>
            <a:r>
              <a:rPr lang="en-IN" sz="600" b="1" dirty="0">
                <a:solidFill>
                  <a:srgbClr val="0070C0"/>
                </a:solidFill>
              </a:rPr>
              <a:t> samplefile.txt gs://com-inceptez-data-learn1-we43_8</a:t>
            </a:r>
          </a:p>
          <a:p>
            <a:r>
              <a:rPr lang="en-IN" sz="600" b="1" dirty="0" err="1">
                <a:solidFill>
                  <a:srgbClr val="0070C0"/>
                </a:solidFill>
              </a:rPr>
              <a:t>gsutil</a:t>
            </a:r>
            <a:r>
              <a:rPr lang="en-IN" sz="600" b="1" dirty="0">
                <a:solidFill>
                  <a:srgbClr val="0070C0"/>
                </a:solidFill>
              </a:rPr>
              <a:t> </a:t>
            </a:r>
            <a:r>
              <a:rPr lang="en-IN" sz="600" b="1" dirty="0" err="1">
                <a:solidFill>
                  <a:srgbClr val="0070C0"/>
                </a:solidFill>
              </a:rPr>
              <a:t>cp</a:t>
            </a:r>
            <a:r>
              <a:rPr lang="en-IN" sz="600" b="1" dirty="0">
                <a:solidFill>
                  <a:srgbClr val="0070C0"/>
                </a:solidFill>
              </a:rPr>
              <a:t> samplefile.txt gs://com-inceptez-data-learn1-we43_8</a:t>
            </a:r>
          </a:p>
        </p:txBody>
      </p:sp>
      <mc:AlternateContent xmlns:mc="http://schemas.openxmlformats.org/markup-compatibility/2006" xmlns:p14="http://schemas.microsoft.com/office/powerpoint/2010/main">
        <mc:Choice Requires="p14">
          <p:contentPart p14:bwMode="auto" r:id="rId11">
            <p14:nvContentPartPr>
              <p14:cNvPr id="4" name="Ink 3"/>
              <p14:cNvContentPartPr/>
              <p14:nvPr/>
            </p14:nvContentPartPr>
            <p14:xfrm>
              <a:off x="260280" y="2400120"/>
              <a:ext cx="25920" cy="1835640"/>
            </p14:xfrm>
          </p:contentPart>
        </mc:Choice>
        <mc:Fallback xmlns="">
          <p:pic>
            <p:nvPicPr>
              <p:cNvPr id="4" name="Ink 3"/>
              <p:cNvPicPr/>
              <p:nvPr/>
            </p:nvPicPr>
            <p:blipFill>
              <a:blip r:embed="rId15"/>
              <a:stretch>
                <a:fillRect/>
              </a:stretch>
            </p:blipFill>
            <p:spPr>
              <a:xfrm>
                <a:off x="250920" y="2390760"/>
                <a:ext cx="44640" cy="1854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p14:cNvContentPartPr/>
              <p14:nvPr/>
            </p14:nvContentPartPr>
            <p14:xfrm>
              <a:off x="7759800" y="4838760"/>
              <a:ext cx="360" cy="360"/>
            </p14:xfrm>
          </p:contentPart>
        </mc:Choice>
        <mc:Fallback xmlns="">
          <p:pic>
            <p:nvPicPr>
              <p:cNvPr id="7" name="Ink 6"/>
              <p:cNvPicPr/>
              <p:nvPr/>
            </p:nvPicPr>
            <p:blipFill>
              <a:blip r:embed="rId17"/>
              <a:stretch>
                <a:fillRect/>
              </a:stretch>
            </p:blipFill>
            <p:spPr>
              <a:xfrm>
                <a:off x="7750440" y="4829400"/>
                <a:ext cx="19080" cy="19080"/>
              </a:xfrm>
              <a:prstGeom prst="rect">
                <a:avLst/>
              </a:prstGeom>
            </p:spPr>
          </p:pic>
        </mc:Fallback>
      </mc:AlternateContent>
      <p:pic>
        <p:nvPicPr>
          <p:cNvPr id="2050" name="Picture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5987" y="937841"/>
            <a:ext cx="5275533" cy="17151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p:cNvSpPr/>
          <p:nvPr/>
        </p:nvSpPr>
        <p:spPr>
          <a:xfrm>
            <a:off x="59192" y="592894"/>
            <a:ext cx="5199308" cy="369332"/>
          </a:xfrm>
          <a:prstGeom prst="rect">
            <a:avLst/>
          </a:prstGeom>
        </p:spPr>
        <p:txBody>
          <a:bodyPr wrap="none">
            <a:spAutoFit/>
          </a:bodyPr>
          <a:lstStyle/>
          <a:p>
            <a:r>
              <a:rPr lang="en-US" b="1" u="sng" dirty="0">
                <a:ln w="10541" cmpd="sng">
                  <a:solidFill>
                    <a:srgbClr val="7D7D7D">
                      <a:tint val="100000"/>
                      <a:shade val="100000"/>
                      <a:satMod val="110000"/>
                    </a:srgbClr>
                  </a:solidFill>
                  <a:prstDash val="solid"/>
                </a:ln>
                <a:solidFill>
                  <a:prstClr val="black"/>
                </a:solidFill>
              </a:rPr>
              <a:t>Open Cloud Shell to practice </a:t>
            </a:r>
            <a:r>
              <a:rPr lang="en-US" b="1" u="sng" dirty="0" err="1">
                <a:ln w="10541" cmpd="sng">
                  <a:solidFill>
                    <a:srgbClr val="7D7D7D">
                      <a:tint val="100000"/>
                      <a:shade val="100000"/>
                      <a:satMod val="110000"/>
                    </a:srgbClr>
                  </a:solidFill>
                  <a:prstDash val="solid"/>
                </a:ln>
                <a:solidFill>
                  <a:prstClr val="black"/>
                </a:solidFill>
              </a:rPr>
              <a:t>az</a:t>
            </a:r>
            <a:r>
              <a:rPr lang="en-US" b="1" u="sng" dirty="0">
                <a:ln w="10541" cmpd="sng">
                  <a:solidFill>
                    <a:srgbClr val="7D7D7D">
                      <a:tint val="100000"/>
                      <a:shade val="100000"/>
                      <a:satMod val="110000"/>
                    </a:srgbClr>
                  </a:solidFill>
                  <a:prstDash val="solid"/>
                </a:ln>
                <a:solidFill>
                  <a:prstClr val="black"/>
                </a:solidFill>
              </a:rPr>
              <a:t> container commands</a:t>
            </a:r>
          </a:p>
        </p:txBody>
      </p:sp>
      <mc:AlternateContent xmlns:mc="http://schemas.openxmlformats.org/markup-compatibility/2006" xmlns:p14="http://schemas.microsoft.com/office/powerpoint/2010/main">
        <mc:Choice Requires="p14">
          <p:contentPart p14:bwMode="auto" r:id="rId19">
            <p14:nvContentPartPr>
              <p14:cNvPr id="9" name="Ink 8"/>
              <p14:cNvContentPartPr/>
              <p14:nvPr/>
            </p14:nvContentPartPr>
            <p14:xfrm>
              <a:off x="4133880" y="3397320"/>
              <a:ext cx="1365480" cy="235080"/>
            </p14:xfrm>
          </p:contentPart>
        </mc:Choice>
        <mc:Fallback xmlns="">
          <p:pic>
            <p:nvPicPr>
              <p:cNvPr id="9" name="Ink 8"/>
              <p:cNvPicPr/>
              <p:nvPr/>
            </p:nvPicPr>
            <p:blipFill>
              <a:blip r:embed="rId20"/>
              <a:stretch>
                <a:fillRect/>
              </a:stretch>
            </p:blipFill>
            <p:spPr>
              <a:xfrm>
                <a:off x="4124520" y="3387960"/>
                <a:ext cx="138420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 name="Ink 7"/>
              <p14:cNvContentPartPr/>
              <p14:nvPr/>
            </p14:nvContentPartPr>
            <p14:xfrm>
              <a:off x="7397640" y="4971960"/>
              <a:ext cx="360" cy="360"/>
            </p14:xfrm>
          </p:contentPart>
        </mc:Choice>
        <mc:Fallback xmlns="">
          <p:pic>
            <p:nvPicPr>
              <p:cNvPr id="8" name="Ink 7"/>
              <p:cNvPicPr/>
              <p:nvPr/>
            </p:nvPicPr>
            <p:blipFill>
              <a:blip r:embed="rId22"/>
              <a:stretch>
                <a:fillRect/>
              </a:stretch>
            </p:blipFill>
            <p:spPr>
              <a:xfrm>
                <a:off x="7388280" y="4962600"/>
                <a:ext cx="19080" cy="19080"/>
              </a:xfrm>
              <a:prstGeom prst="rect">
                <a:avLst/>
              </a:prstGeom>
            </p:spPr>
          </p:pic>
        </mc:Fallback>
      </mc:AlternateContent>
    </p:spTree>
    <p:extLst>
      <p:ext uri="{BB962C8B-B14F-4D97-AF65-F5344CB8AC3E}">
        <p14:creationId xmlns:p14="http://schemas.microsoft.com/office/powerpoint/2010/main" val="360845091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367553" y="313765"/>
            <a:ext cx="10193816" cy="6401753"/>
          </a:xfrm>
          <a:prstGeom prst="rect">
            <a:avLst/>
          </a:prstGeom>
          <a:noFill/>
        </p:spPr>
        <p:txBody>
          <a:bodyPr wrap="none" rtlCol="0">
            <a:spAutoFit/>
          </a:bodyPr>
          <a:lstStyle/>
          <a:p>
            <a:r>
              <a:rPr lang="en-US" sz="1600" b="1" u="sng" dirty="0">
                <a:solidFill>
                  <a:prstClr val="black"/>
                </a:solidFill>
              </a:rPr>
              <a:t>ADLS Gen2 Storage Account Creation:</a:t>
            </a:r>
          </a:p>
          <a:p>
            <a:r>
              <a:rPr lang="en-US" sz="1600" dirty="0">
                <a:solidFill>
                  <a:prstClr val="black"/>
                </a:solidFill>
              </a:rPr>
              <a:t>Location Type (Regional/Dual/Multi) GCP = Location + SKU – Stock Keeping Unit (LRS/ZRS/GRS/GZRS)</a:t>
            </a:r>
          </a:p>
          <a:p>
            <a:r>
              <a:rPr lang="en-US" sz="1600" dirty="0" err="1">
                <a:solidFill>
                  <a:srgbClr val="5B9BD5">
                    <a:lumMod val="75000"/>
                  </a:srgbClr>
                </a:solidFill>
              </a:rPr>
              <a:t>az</a:t>
            </a:r>
            <a:r>
              <a:rPr lang="en-US" sz="1600" dirty="0">
                <a:solidFill>
                  <a:srgbClr val="5B9BD5">
                    <a:lumMod val="75000"/>
                  </a:srgbClr>
                </a:solidFill>
              </a:rPr>
              <a:t> storage account </a:t>
            </a:r>
            <a:r>
              <a:rPr lang="en-US" sz="1600" b="1" dirty="0">
                <a:solidFill>
                  <a:srgbClr val="5B9BD5">
                    <a:lumMod val="75000"/>
                  </a:srgbClr>
                </a:solidFill>
              </a:rPr>
              <a:t>create</a:t>
            </a:r>
            <a:r>
              <a:rPr lang="en-US" sz="1600" dirty="0">
                <a:solidFill>
                  <a:srgbClr val="5B9BD5">
                    <a:lumMod val="75000"/>
                  </a:srgbClr>
                </a:solidFill>
              </a:rPr>
              <a:t> --name </a:t>
            </a:r>
            <a:r>
              <a:rPr lang="en-US" sz="1600" b="1" dirty="0" err="1">
                <a:solidFill>
                  <a:srgbClr val="5B9BD5">
                    <a:lumMod val="75000"/>
                  </a:srgbClr>
                </a:solidFill>
              </a:rPr>
              <a:t>izadlswe</a:t>
            </a:r>
            <a:r>
              <a:rPr lang="en-US" sz="1600" dirty="0">
                <a:solidFill>
                  <a:srgbClr val="5B9BD5">
                    <a:lumMod val="75000"/>
                  </a:srgbClr>
                </a:solidFill>
              </a:rPr>
              <a:t> --resource-group </a:t>
            </a:r>
            <a:r>
              <a:rPr lang="en-US" sz="1600" b="1" dirty="0">
                <a:solidFill>
                  <a:srgbClr val="5B9BD5">
                    <a:lumMod val="75000"/>
                  </a:srgbClr>
                </a:solidFill>
              </a:rPr>
              <a:t>we45-resourcegroup</a:t>
            </a:r>
            <a:r>
              <a:rPr lang="en-US" sz="1600" dirty="0">
                <a:solidFill>
                  <a:srgbClr val="5B9BD5">
                    <a:lumMod val="75000"/>
                  </a:srgbClr>
                </a:solidFill>
              </a:rPr>
              <a:t> </a:t>
            </a:r>
            <a:r>
              <a:rPr lang="en-US" sz="1600" b="1" dirty="0">
                <a:solidFill>
                  <a:srgbClr val="5B9BD5">
                    <a:lumMod val="75000"/>
                  </a:srgbClr>
                </a:solidFill>
              </a:rPr>
              <a:t>--location </a:t>
            </a:r>
            <a:r>
              <a:rPr lang="en-US" sz="1600" b="1" dirty="0" err="1">
                <a:solidFill>
                  <a:srgbClr val="5B9BD5">
                    <a:lumMod val="75000"/>
                  </a:srgbClr>
                </a:solidFill>
              </a:rPr>
              <a:t>eastus</a:t>
            </a:r>
            <a:r>
              <a:rPr lang="en-US" sz="1600" dirty="0">
                <a:solidFill>
                  <a:srgbClr val="5B9BD5">
                    <a:lumMod val="75000"/>
                  </a:srgbClr>
                </a:solidFill>
              </a:rPr>
              <a:t> --</a:t>
            </a:r>
            <a:r>
              <a:rPr lang="en-US" sz="1600" dirty="0" err="1">
                <a:solidFill>
                  <a:srgbClr val="5B9BD5">
                    <a:lumMod val="75000"/>
                  </a:srgbClr>
                </a:solidFill>
              </a:rPr>
              <a:t>sku</a:t>
            </a:r>
            <a:r>
              <a:rPr lang="en-US" sz="1600" dirty="0">
                <a:solidFill>
                  <a:srgbClr val="5B9BD5">
                    <a:lumMod val="75000"/>
                  </a:srgbClr>
                </a:solidFill>
              </a:rPr>
              <a:t> </a:t>
            </a:r>
            <a:r>
              <a:rPr lang="en-US" sz="1600" dirty="0" err="1">
                <a:solidFill>
                  <a:srgbClr val="5B9BD5">
                    <a:lumMod val="75000"/>
                  </a:srgbClr>
                </a:solidFill>
              </a:rPr>
              <a:t>Standard_GRS</a:t>
            </a:r>
            <a:r>
              <a:rPr lang="en-US" sz="1600" dirty="0">
                <a:solidFill>
                  <a:srgbClr val="5B9BD5">
                    <a:lumMod val="75000"/>
                  </a:srgbClr>
                </a:solidFill>
              </a:rPr>
              <a:t> \</a:t>
            </a:r>
          </a:p>
          <a:p>
            <a:r>
              <a:rPr lang="en-US" sz="1600" dirty="0">
                <a:solidFill>
                  <a:srgbClr val="5B9BD5">
                    <a:lumMod val="75000"/>
                  </a:srgbClr>
                </a:solidFill>
              </a:rPr>
              <a:t>--access-tier Cool   </a:t>
            </a:r>
            <a:r>
              <a:rPr lang="en-US" sz="1600" b="1" dirty="0">
                <a:solidFill>
                  <a:srgbClr val="7030A0"/>
                </a:solidFill>
              </a:rPr>
              <a:t>--kind StorageV2 </a:t>
            </a:r>
            <a:r>
              <a:rPr lang="en-IN" sz="1600" b="1" dirty="0">
                <a:solidFill>
                  <a:srgbClr val="7030A0"/>
                </a:solidFill>
              </a:rPr>
              <a:t>--enable-hierarchical-namespace true</a:t>
            </a:r>
          </a:p>
          <a:p>
            <a:endParaRPr lang="en-US" sz="1600" b="1" u="sng" dirty="0">
              <a:solidFill>
                <a:prstClr val="black"/>
              </a:solidFill>
            </a:endParaRPr>
          </a:p>
          <a:p>
            <a:r>
              <a:rPr lang="en-US" sz="1600" b="1" u="sng" dirty="0">
                <a:solidFill>
                  <a:prstClr val="black"/>
                </a:solidFill>
              </a:rPr>
              <a:t>3. Check for the kind and hierarchical namespace enablement</a:t>
            </a:r>
          </a:p>
          <a:p>
            <a:r>
              <a:rPr lang="en-US" sz="1600" dirty="0" err="1">
                <a:solidFill>
                  <a:srgbClr val="5B9BD5">
                    <a:lumMod val="75000"/>
                  </a:srgbClr>
                </a:solidFill>
              </a:rPr>
              <a:t>az</a:t>
            </a:r>
            <a:r>
              <a:rPr lang="en-US" sz="1600" dirty="0">
                <a:solidFill>
                  <a:srgbClr val="5B9BD5">
                    <a:lumMod val="75000"/>
                  </a:srgbClr>
                </a:solidFill>
              </a:rPr>
              <a:t> storage account </a:t>
            </a:r>
            <a:r>
              <a:rPr lang="en-US" sz="1600" b="1" dirty="0">
                <a:solidFill>
                  <a:srgbClr val="5B9BD5">
                    <a:lumMod val="75000"/>
                  </a:srgbClr>
                </a:solidFill>
              </a:rPr>
              <a:t>show</a:t>
            </a:r>
            <a:r>
              <a:rPr lang="en-US" sz="1600" dirty="0">
                <a:solidFill>
                  <a:srgbClr val="5B9BD5">
                    <a:lumMod val="75000"/>
                  </a:srgbClr>
                </a:solidFill>
              </a:rPr>
              <a:t> --name </a:t>
            </a:r>
            <a:r>
              <a:rPr lang="en-US" sz="1600" b="1" dirty="0" err="1">
                <a:solidFill>
                  <a:srgbClr val="5B9BD5">
                    <a:lumMod val="75000"/>
                  </a:srgbClr>
                </a:solidFill>
              </a:rPr>
              <a:t>izblobwe</a:t>
            </a:r>
            <a:r>
              <a:rPr lang="en-US" sz="1600" dirty="0">
                <a:solidFill>
                  <a:srgbClr val="5B9BD5">
                    <a:lumMod val="75000"/>
                  </a:srgbClr>
                </a:solidFill>
              </a:rPr>
              <a:t> --resource-group </a:t>
            </a:r>
            <a:r>
              <a:rPr lang="en-US" sz="1600" b="1" dirty="0">
                <a:solidFill>
                  <a:srgbClr val="5B9BD5">
                    <a:lumMod val="75000"/>
                  </a:srgbClr>
                </a:solidFill>
              </a:rPr>
              <a:t>we45-resourcegroup</a:t>
            </a:r>
            <a:r>
              <a:rPr lang="en-US" sz="1600" dirty="0">
                <a:solidFill>
                  <a:srgbClr val="5B9BD5">
                    <a:lumMod val="75000"/>
                  </a:srgbClr>
                </a:solidFill>
              </a:rPr>
              <a:t> --output table</a:t>
            </a:r>
          </a:p>
          <a:p>
            <a:r>
              <a:rPr lang="en-US" sz="1600" dirty="0" err="1">
                <a:solidFill>
                  <a:srgbClr val="5B9BD5">
                    <a:lumMod val="75000"/>
                  </a:srgbClr>
                </a:solidFill>
              </a:rPr>
              <a:t>az</a:t>
            </a:r>
            <a:r>
              <a:rPr lang="en-US" sz="1600" dirty="0">
                <a:solidFill>
                  <a:srgbClr val="5B9BD5">
                    <a:lumMod val="75000"/>
                  </a:srgbClr>
                </a:solidFill>
              </a:rPr>
              <a:t> storage account show --name </a:t>
            </a:r>
            <a:r>
              <a:rPr lang="en-IN" sz="1600" dirty="0" err="1">
                <a:solidFill>
                  <a:srgbClr val="5B9BD5">
                    <a:lumMod val="75000"/>
                  </a:srgbClr>
                </a:solidFill>
              </a:rPr>
              <a:t>izadlswe</a:t>
            </a:r>
            <a:r>
              <a:rPr lang="en-IN" sz="1600" dirty="0">
                <a:solidFill>
                  <a:srgbClr val="5B9BD5">
                    <a:lumMod val="75000"/>
                  </a:srgbClr>
                </a:solidFill>
              </a:rPr>
              <a:t> </a:t>
            </a:r>
            <a:r>
              <a:rPr lang="en-US" sz="1600" dirty="0">
                <a:solidFill>
                  <a:srgbClr val="5B9BD5">
                    <a:lumMod val="75000"/>
                  </a:srgbClr>
                </a:solidFill>
              </a:rPr>
              <a:t>--resource-group </a:t>
            </a:r>
            <a:r>
              <a:rPr lang="en-US" sz="1600" b="1" dirty="0">
                <a:solidFill>
                  <a:srgbClr val="5B9BD5">
                    <a:lumMod val="75000"/>
                  </a:srgbClr>
                </a:solidFill>
              </a:rPr>
              <a:t>we45-resourcegroup</a:t>
            </a:r>
            <a:r>
              <a:rPr lang="en-US" sz="1600" dirty="0">
                <a:solidFill>
                  <a:srgbClr val="5B9BD5">
                    <a:lumMod val="75000"/>
                  </a:srgbClr>
                </a:solidFill>
              </a:rPr>
              <a:t> --query "kind" --output table</a:t>
            </a:r>
          </a:p>
          <a:p>
            <a:endParaRPr lang="en-US" sz="1600" dirty="0">
              <a:solidFill>
                <a:srgbClr val="5B9BD5">
                  <a:lumMod val="75000"/>
                </a:srgbClr>
              </a:solidFill>
            </a:endParaRPr>
          </a:p>
          <a:p>
            <a:r>
              <a:rPr lang="en-US" sz="1600" i="1" dirty="0">
                <a:solidFill>
                  <a:prstClr val="black"/>
                </a:solidFill>
              </a:rPr>
              <a:t>#Check whether it is an blob or </a:t>
            </a:r>
            <a:r>
              <a:rPr lang="en-US" sz="1600" i="1" dirty="0" err="1">
                <a:solidFill>
                  <a:prstClr val="black"/>
                </a:solidFill>
              </a:rPr>
              <a:t>adls</a:t>
            </a:r>
            <a:r>
              <a:rPr lang="en-US" sz="1600" i="1" dirty="0">
                <a:solidFill>
                  <a:prstClr val="black"/>
                </a:solidFill>
              </a:rPr>
              <a:t> with hierarchical namespace enabled? </a:t>
            </a:r>
          </a:p>
          <a:p>
            <a:r>
              <a:rPr lang="en-US" sz="1600" dirty="0" err="1">
                <a:solidFill>
                  <a:srgbClr val="5B9BD5">
                    <a:lumMod val="75000"/>
                  </a:srgbClr>
                </a:solidFill>
              </a:rPr>
              <a:t>az</a:t>
            </a:r>
            <a:r>
              <a:rPr lang="en-US" sz="1600" dirty="0">
                <a:solidFill>
                  <a:srgbClr val="5B9BD5">
                    <a:lumMod val="75000"/>
                  </a:srgbClr>
                </a:solidFill>
              </a:rPr>
              <a:t> storage account show --name </a:t>
            </a:r>
            <a:r>
              <a:rPr lang="en-US" sz="1600" b="1" dirty="0" err="1">
                <a:solidFill>
                  <a:srgbClr val="5B9BD5">
                    <a:lumMod val="75000"/>
                  </a:srgbClr>
                </a:solidFill>
              </a:rPr>
              <a:t>izblobwe</a:t>
            </a:r>
            <a:r>
              <a:rPr lang="en-US" sz="1600" dirty="0">
                <a:solidFill>
                  <a:srgbClr val="5B9BD5">
                    <a:lumMod val="75000"/>
                  </a:srgbClr>
                </a:solidFill>
              </a:rPr>
              <a:t> --resource-group </a:t>
            </a:r>
            <a:r>
              <a:rPr lang="en-US" sz="1600" b="1" dirty="0">
                <a:solidFill>
                  <a:srgbClr val="5B9BD5">
                    <a:lumMod val="75000"/>
                  </a:srgbClr>
                </a:solidFill>
              </a:rPr>
              <a:t>we45-resourcegroup</a:t>
            </a:r>
            <a:r>
              <a:rPr lang="en-US" sz="1600" dirty="0">
                <a:solidFill>
                  <a:srgbClr val="5B9BD5">
                    <a:lumMod val="75000"/>
                  </a:srgbClr>
                </a:solidFill>
              </a:rPr>
              <a:t> \</a:t>
            </a:r>
          </a:p>
          <a:p>
            <a:r>
              <a:rPr lang="en-US" sz="1600" dirty="0">
                <a:solidFill>
                  <a:srgbClr val="5B9BD5">
                    <a:lumMod val="75000"/>
                  </a:srgbClr>
                </a:solidFill>
              </a:rPr>
              <a:t>--query "</a:t>
            </a:r>
            <a:r>
              <a:rPr lang="en-IN" sz="1600" dirty="0">
                <a:solidFill>
                  <a:srgbClr val="5B9BD5">
                    <a:lumMod val="75000"/>
                  </a:srgbClr>
                </a:solidFill>
              </a:rPr>
              <a:t>{kind: kind, </a:t>
            </a:r>
            <a:r>
              <a:rPr lang="en-IN" sz="1600" dirty="0" err="1">
                <a:solidFill>
                  <a:srgbClr val="5B9BD5">
                    <a:lumMod val="75000"/>
                  </a:srgbClr>
                </a:solidFill>
              </a:rPr>
              <a:t>isHnsEnabled</a:t>
            </a:r>
            <a:r>
              <a:rPr lang="en-IN" sz="1600" dirty="0">
                <a:solidFill>
                  <a:srgbClr val="5B9BD5">
                    <a:lumMod val="75000"/>
                  </a:srgbClr>
                </a:solidFill>
              </a:rPr>
              <a:t>: </a:t>
            </a:r>
            <a:r>
              <a:rPr lang="en-IN" sz="1600" dirty="0" err="1">
                <a:solidFill>
                  <a:srgbClr val="5B9BD5">
                    <a:lumMod val="75000"/>
                  </a:srgbClr>
                </a:solidFill>
              </a:rPr>
              <a:t>isHnsEnabled</a:t>
            </a:r>
            <a:r>
              <a:rPr lang="en-IN" sz="1600" dirty="0">
                <a:solidFill>
                  <a:srgbClr val="5B9BD5">
                    <a:lumMod val="75000"/>
                  </a:srgbClr>
                </a:solidFill>
              </a:rPr>
              <a:t>}</a:t>
            </a:r>
            <a:r>
              <a:rPr lang="en-US" sz="1600" dirty="0">
                <a:solidFill>
                  <a:srgbClr val="5B9BD5">
                    <a:lumMod val="75000"/>
                  </a:srgbClr>
                </a:solidFill>
              </a:rPr>
              <a:t>" --output table</a:t>
            </a:r>
          </a:p>
          <a:p>
            <a:r>
              <a:rPr lang="en-US" sz="1600" dirty="0" err="1">
                <a:solidFill>
                  <a:srgbClr val="5B9BD5">
                    <a:lumMod val="75000"/>
                  </a:srgbClr>
                </a:solidFill>
              </a:rPr>
              <a:t>az</a:t>
            </a:r>
            <a:r>
              <a:rPr lang="en-US" sz="1600" dirty="0">
                <a:solidFill>
                  <a:srgbClr val="5B9BD5">
                    <a:lumMod val="75000"/>
                  </a:srgbClr>
                </a:solidFill>
              </a:rPr>
              <a:t> storage account show --name </a:t>
            </a:r>
            <a:r>
              <a:rPr lang="en-IN" sz="1600" dirty="0" err="1">
                <a:solidFill>
                  <a:srgbClr val="5B9BD5">
                    <a:lumMod val="75000"/>
                  </a:srgbClr>
                </a:solidFill>
              </a:rPr>
              <a:t>izadlswe</a:t>
            </a:r>
            <a:r>
              <a:rPr lang="en-IN" sz="1600" dirty="0">
                <a:solidFill>
                  <a:srgbClr val="5B9BD5">
                    <a:lumMod val="75000"/>
                  </a:srgbClr>
                </a:solidFill>
              </a:rPr>
              <a:t> </a:t>
            </a:r>
            <a:r>
              <a:rPr lang="en-US" sz="1600" dirty="0">
                <a:solidFill>
                  <a:srgbClr val="5B9BD5">
                    <a:lumMod val="75000"/>
                  </a:srgbClr>
                </a:solidFill>
              </a:rPr>
              <a:t>--resource-group </a:t>
            </a:r>
            <a:r>
              <a:rPr lang="en-US" sz="1600" b="1" dirty="0">
                <a:solidFill>
                  <a:srgbClr val="5B9BD5">
                    <a:lumMod val="75000"/>
                  </a:srgbClr>
                </a:solidFill>
              </a:rPr>
              <a:t>we45-resourcegroup</a:t>
            </a:r>
            <a:r>
              <a:rPr lang="en-US" sz="1600" dirty="0">
                <a:solidFill>
                  <a:srgbClr val="5B9BD5">
                    <a:lumMod val="75000"/>
                  </a:srgbClr>
                </a:solidFill>
              </a:rPr>
              <a:t> \</a:t>
            </a:r>
          </a:p>
          <a:p>
            <a:r>
              <a:rPr lang="en-US" sz="1600" dirty="0">
                <a:solidFill>
                  <a:srgbClr val="5B9BD5">
                    <a:lumMod val="75000"/>
                  </a:srgbClr>
                </a:solidFill>
              </a:rPr>
              <a:t>--query "</a:t>
            </a:r>
            <a:r>
              <a:rPr lang="en-IN" sz="1600" dirty="0">
                <a:solidFill>
                  <a:srgbClr val="5B9BD5">
                    <a:lumMod val="75000"/>
                  </a:srgbClr>
                </a:solidFill>
              </a:rPr>
              <a:t>{kind: kind, </a:t>
            </a:r>
            <a:r>
              <a:rPr lang="en-IN" sz="1600" dirty="0" err="1">
                <a:solidFill>
                  <a:srgbClr val="5B9BD5">
                    <a:lumMod val="75000"/>
                  </a:srgbClr>
                </a:solidFill>
              </a:rPr>
              <a:t>isHnsEnabled</a:t>
            </a:r>
            <a:r>
              <a:rPr lang="en-IN" sz="1600" dirty="0">
                <a:solidFill>
                  <a:srgbClr val="5B9BD5">
                    <a:lumMod val="75000"/>
                  </a:srgbClr>
                </a:solidFill>
              </a:rPr>
              <a:t>: </a:t>
            </a:r>
            <a:r>
              <a:rPr lang="en-IN" sz="1600" dirty="0" err="1">
                <a:solidFill>
                  <a:srgbClr val="5B9BD5">
                    <a:lumMod val="75000"/>
                  </a:srgbClr>
                </a:solidFill>
              </a:rPr>
              <a:t>isHnsEnabled</a:t>
            </a:r>
            <a:r>
              <a:rPr lang="en-IN" sz="1600" dirty="0">
                <a:solidFill>
                  <a:srgbClr val="5B9BD5">
                    <a:lumMod val="75000"/>
                  </a:srgbClr>
                </a:solidFill>
              </a:rPr>
              <a:t>}</a:t>
            </a:r>
            <a:r>
              <a:rPr lang="en-US" sz="1600" dirty="0">
                <a:solidFill>
                  <a:srgbClr val="5B9BD5">
                    <a:lumMod val="75000"/>
                  </a:srgbClr>
                </a:solidFill>
              </a:rPr>
              <a:t>" --output table</a:t>
            </a:r>
          </a:p>
          <a:p>
            <a:endParaRPr lang="en-US" sz="1600" b="1" u="sng" dirty="0">
              <a:solidFill>
                <a:prstClr val="black"/>
              </a:solidFill>
            </a:endParaRPr>
          </a:p>
          <a:p>
            <a:r>
              <a:rPr lang="en-US" sz="1600" b="1" u="sng" dirty="0">
                <a:solidFill>
                  <a:prstClr val="black"/>
                </a:solidFill>
              </a:rPr>
              <a:t>4. Delete the Storage Account</a:t>
            </a:r>
          </a:p>
          <a:p>
            <a:r>
              <a:rPr lang="en-US" sz="1600" strike="sngStrike" dirty="0" err="1">
                <a:solidFill>
                  <a:srgbClr val="5B9BD5">
                    <a:lumMod val="75000"/>
                  </a:srgbClr>
                </a:solidFill>
              </a:rPr>
              <a:t>az</a:t>
            </a:r>
            <a:r>
              <a:rPr lang="en-US" sz="1600" strike="sngStrike" dirty="0">
                <a:solidFill>
                  <a:srgbClr val="5B9BD5">
                    <a:lumMod val="75000"/>
                  </a:srgbClr>
                </a:solidFill>
              </a:rPr>
              <a:t> storage account </a:t>
            </a:r>
            <a:r>
              <a:rPr lang="en-US" sz="1600" b="1" strike="sngStrike" dirty="0">
                <a:solidFill>
                  <a:srgbClr val="5B9BD5">
                    <a:lumMod val="75000"/>
                  </a:srgbClr>
                </a:solidFill>
              </a:rPr>
              <a:t>delete</a:t>
            </a:r>
            <a:r>
              <a:rPr lang="en-US" sz="1600" strike="sngStrike" dirty="0">
                <a:solidFill>
                  <a:srgbClr val="5B9BD5">
                    <a:lumMod val="75000"/>
                  </a:srgbClr>
                </a:solidFill>
              </a:rPr>
              <a:t> --name izdatalakegen2 --resource-group </a:t>
            </a:r>
            <a:r>
              <a:rPr lang="en-IN" sz="1600" strike="sngStrike" dirty="0">
                <a:solidFill>
                  <a:srgbClr val="5B9BD5">
                    <a:lumMod val="75000"/>
                  </a:srgbClr>
                </a:solidFill>
              </a:rPr>
              <a:t>we45-resourcegroup</a:t>
            </a:r>
            <a:r>
              <a:rPr lang="en-US" sz="1600" strike="sngStrike" dirty="0">
                <a:solidFill>
                  <a:srgbClr val="5B9BD5">
                    <a:lumMod val="75000"/>
                  </a:srgbClr>
                </a:solidFill>
              </a:rPr>
              <a:t> --yes</a:t>
            </a:r>
          </a:p>
          <a:p>
            <a:endParaRPr lang="en-US" sz="1600" b="1" u="sng" dirty="0">
              <a:ln w="10541" cmpd="sng">
                <a:solidFill>
                  <a:srgbClr val="7D7D7D">
                    <a:tint val="100000"/>
                    <a:shade val="100000"/>
                    <a:satMod val="110000"/>
                  </a:srgbClr>
                </a:solidFill>
                <a:prstDash val="solid"/>
              </a:ln>
              <a:solidFill>
                <a:prstClr val="black"/>
              </a:solidFill>
            </a:endParaRPr>
          </a:p>
          <a:p>
            <a:r>
              <a:rPr lang="en-US" sz="1600" b="1" u="sng" dirty="0">
                <a:solidFill>
                  <a:prstClr val="black"/>
                </a:solidFill>
              </a:rPr>
              <a:t>Container creation/management Commands</a:t>
            </a:r>
          </a:p>
          <a:p>
            <a:endParaRPr lang="en-US" sz="1600" b="1" u="sng" dirty="0">
              <a:ln w="10541" cmpd="sng">
                <a:solidFill>
                  <a:srgbClr val="7D7D7D">
                    <a:tint val="100000"/>
                    <a:shade val="100000"/>
                    <a:satMod val="110000"/>
                  </a:srgbClr>
                </a:solidFill>
                <a:prstDash val="solid"/>
              </a:ln>
              <a:solidFill>
                <a:prstClr val="black"/>
              </a:solidFill>
            </a:endParaRPr>
          </a:p>
          <a:p>
            <a:r>
              <a:rPr lang="en-IN" sz="1600" b="1" u="sng" dirty="0">
                <a:solidFill>
                  <a:prstClr val="black"/>
                </a:solidFill>
              </a:rPr>
              <a:t>5. Create containers = Make Bucket Commands:</a:t>
            </a:r>
          </a:p>
          <a:p>
            <a:r>
              <a:rPr lang="en-US" sz="1600" dirty="0" err="1">
                <a:solidFill>
                  <a:srgbClr val="5B9BD5">
                    <a:lumMod val="75000"/>
                  </a:srgbClr>
                </a:solidFill>
              </a:rPr>
              <a:t>az</a:t>
            </a:r>
            <a:r>
              <a:rPr lang="en-US" sz="1600" dirty="0">
                <a:solidFill>
                  <a:srgbClr val="5B9BD5">
                    <a:lumMod val="75000"/>
                  </a:srgbClr>
                </a:solidFill>
              </a:rPr>
              <a:t> storage fs </a:t>
            </a:r>
            <a:r>
              <a:rPr lang="en-US" sz="1600" b="1" dirty="0">
                <a:solidFill>
                  <a:srgbClr val="5B9BD5">
                    <a:lumMod val="75000"/>
                  </a:srgbClr>
                </a:solidFill>
              </a:rPr>
              <a:t>create --name container1 </a:t>
            </a:r>
            <a:r>
              <a:rPr lang="en-US" sz="1600" dirty="0">
                <a:solidFill>
                  <a:srgbClr val="5B9BD5">
                    <a:lumMod val="75000"/>
                  </a:srgbClr>
                </a:solidFill>
              </a:rPr>
              <a:t>--account-name </a:t>
            </a:r>
            <a:r>
              <a:rPr lang="en-US" sz="1600" b="1" dirty="0" err="1">
                <a:solidFill>
                  <a:srgbClr val="5B9BD5">
                    <a:lumMod val="75000"/>
                  </a:srgbClr>
                </a:solidFill>
              </a:rPr>
              <a:t>izblobwe</a:t>
            </a:r>
            <a:r>
              <a:rPr lang="en-US" sz="1600" dirty="0">
                <a:solidFill>
                  <a:srgbClr val="5B9BD5">
                    <a:lumMod val="75000"/>
                  </a:srgbClr>
                </a:solidFill>
              </a:rPr>
              <a:t> </a:t>
            </a:r>
          </a:p>
          <a:p>
            <a:r>
              <a:rPr lang="en-US" sz="1600" dirty="0" err="1">
                <a:solidFill>
                  <a:srgbClr val="5B9BD5">
                    <a:lumMod val="75000"/>
                  </a:srgbClr>
                </a:solidFill>
              </a:rPr>
              <a:t>az</a:t>
            </a:r>
            <a:r>
              <a:rPr lang="en-US" sz="1600" dirty="0">
                <a:solidFill>
                  <a:srgbClr val="5B9BD5">
                    <a:lumMod val="75000"/>
                  </a:srgbClr>
                </a:solidFill>
              </a:rPr>
              <a:t> storage fs </a:t>
            </a:r>
            <a:r>
              <a:rPr lang="en-US" sz="1600" b="1" dirty="0">
                <a:solidFill>
                  <a:srgbClr val="5B9BD5">
                    <a:lumMod val="75000"/>
                  </a:srgbClr>
                </a:solidFill>
              </a:rPr>
              <a:t>create --name container2 </a:t>
            </a:r>
            <a:r>
              <a:rPr lang="en-US" sz="1600" dirty="0">
                <a:solidFill>
                  <a:srgbClr val="5B9BD5">
                    <a:lumMod val="75000"/>
                  </a:srgbClr>
                </a:solidFill>
              </a:rPr>
              <a:t>--account-name </a:t>
            </a:r>
            <a:r>
              <a:rPr lang="en-IN" sz="1600" b="1" dirty="0" err="1">
                <a:solidFill>
                  <a:srgbClr val="5B9BD5">
                    <a:lumMod val="75000"/>
                  </a:srgbClr>
                </a:solidFill>
              </a:rPr>
              <a:t>izadlswe</a:t>
            </a:r>
            <a:endParaRPr lang="en-IN" sz="1600" b="1" dirty="0">
              <a:solidFill>
                <a:srgbClr val="5B9BD5">
                  <a:lumMod val="75000"/>
                </a:srgbClr>
              </a:solidFill>
            </a:endParaRPr>
          </a:p>
          <a:p>
            <a:endParaRPr lang="en-US" sz="1400" dirty="0">
              <a:solidFill>
                <a:srgbClr val="0070C0"/>
              </a:solidFill>
            </a:endParaRPr>
          </a:p>
          <a:p>
            <a:r>
              <a:rPr lang="en-US" sz="1400" dirty="0" err="1">
                <a:solidFill>
                  <a:srgbClr val="0070C0"/>
                </a:solidFill>
              </a:rPr>
              <a:t>az</a:t>
            </a:r>
            <a:r>
              <a:rPr lang="en-US" sz="1400" dirty="0">
                <a:solidFill>
                  <a:srgbClr val="0070C0"/>
                </a:solidFill>
              </a:rPr>
              <a:t> storage account show --name </a:t>
            </a:r>
            <a:r>
              <a:rPr lang="en-US" sz="1400" b="1" dirty="0" err="1">
                <a:solidFill>
                  <a:srgbClr val="5B9BD5">
                    <a:lumMod val="75000"/>
                  </a:srgbClr>
                </a:solidFill>
              </a:rPr>
              <a:t>izblobwe</a:t>
            </a:r>
            <a:r>
              <a:rPr lang="en-US" sz="1400" dirty="0">
                <a:solidFill>
                  <a:srgbClr val="5B9BD5">
                    <a:lumMod val="75000"/>
                  </a:srgbClr>
                </a:solidFill>
              </a:rPr>
              <a:t> </a:t>
            </a:r>
            <a:r>
              <a:rPr lang="en-US" sz="1400" dirty="0">
                <a:solidFill>
                  <a:srgbClr val="0070C0"/>
                </a:solidFill>
              </a:rPr>
              <a:t>--resource-group we45-resourcegroup --output table</a:t>
            </a:r>
          </a:p>
          <a:p>
            <a:r>
              <a:rPr lang="en-US" sz="1400" dirty="0" err="1">
                <a:solidFill>
                  <a:srgbClr val="0070C0"/>
                </a:solidFill>
              </a:rPr>
              <a:t>az</a:t>
            </a:r>
            <a:r>
              <a:rPr lang="en-US" sz="1400" dirty="0">
                <a:solidFill>
                  <a:srgbClr val="0070C0"/>
                </a:solidFill>
              </a:rPr>
              <a:t> storage fs </a:t>
            </a:r>
            <a:r>
              <a:rPr lang="en-US" sz="1400" b="1" dirty="0">
                <a:solidFill>
                  <a:srgbClr val="0070C0"/>
                </a:solidFill>
              </a:rPr>
              <a:t>list</a:t>
            </a:r>
            <a:r>
              <a:rPr lang="en-US" sz="1400" dirty="0">
                <a:solidFill>
                  <a:srgbClr val="0070C0"/>
                </a:solidFill>
              </a:rPr>
              <a:t> --account-name </a:t>
            </a:r>
            <a:r>
              <a:rPr lang="en-IN" sz="1400" dirty="0" err="1">
                <a:solidFill>
                  <a:prstClr val="black"/>
                </a:solidFill>
                <a:hlinkClick r:id="rId3"/>
              </a:rPr>
              <a:t>izadlswe</a:t>
            </a:r>
            <a:r>
              <a:rPr lang="en-US" sz="1400" dirty="0">
                <a:solidFill>
                  <a:srgbClr val="0070C0"/>
                </a:solidFill>
              </a:rPr>
              <a:t> --output table</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3168720" y="1816200"/>
              <a:ext cx="831960" cy="12960"/>
            </p14:xfrm>
          </p:contentPart>
        </mc:Choice>
        <mc:Fallback xmlns="">
          <p:pic>
            <p:nvPicPr>
              <p:cNvPr id="2" name="Ink 1"/>
              <p:cNvPicPr/>
              <p:nvPr/>
            </p:nvPicPr>
            <p:blipFill>
              <a:blip r:embed="rId5"/>
              <a:stretch>
                <a:fillRect/>
              </a:stretch>
            </p:blipFill>
            <p:spPr>
              <a:xfrm>
                <a:off x="3159360" y="1806840"/>
                <a:ext cx="850680" cy="31680"/>
              </a:xfrm>
              <a:prstGeom prst="rect">
                <a:avLst/>
              </a:prstGeom>
            </p:spPr>
          </p:pic>
        </mc:Fallback>
      </mc:AlternateContent>
    </p:spTree>
    <p:extLst>
      <p:ext uri="{BB962C8B-B14F-4D97-AF65-F5344CB8AC3E}">
        <p14:creationId xmlns:p14="http://schemas.microsoft.com/office/powerpoint/2010/main" val="48019434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t>AZ Storage Account &amp; Containers</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7505640" y="882720"/>
              <a:ext cx="1118160" cy="1943280"/>
            </p14:xfrm>
          </p:contentPart>
        </mc:Choice>
        <mc:Fallback xmlns="">
          <p:pic>
            <p:nvPicPr>
              <p:cNvPr id="6" name="Ink 5"/>
              <p:cNvPicPr/>
              <p:nvPr/>
            </p:nvPicPr>
            <p:blipFill>
              <a:blip r:embed="rId9"/>
              <a:stretch>
                <a:fillRect/>
              </a:stretch>
            </p:blipFill>
            <p:spPr>
              <a:xfrm>
                <a:off x="7496280" y="873360"/>
                <a:ext cx="1136880" cy="1962000"/>
              </a:xfrm>
              <a:prstGeom prst="rect">
                <a:avLst/>
              </a:prstGeom>
            </p:spPr>
          </p:pic>
        </mc:Fallback>
      </mc:AlternateContent>
      <p:sp>
        <p:nvSpPr>
          <p:cNvPr id="10" name="Rectangle 9"/>
          <p:cNvSpPr/>
          <p:nvPr/>
        </p:nvSpPr>
        <p:spPr>
          <a:xfrm>
            <a:off x="0" y="551846"/>
            <a:ext cx="12066278" cy="6124754"/>
          </a:xfrm>
          <a:prstGeom prst="rect">
            <a:avLst/>
          </a:prstGeom>
          <a:noFill/>
        </p:spPr>
        <p:txBody>
          <a:bodyPr wrap="square" lIns="91440" tIns="45720" rIns="91440" bIns="45720">
            <a:spAutoFit/>
          </a:bodyPr>
          <a:lstStyle/>
          <a:p>
            <a:r>
              <a:rPr lang="en-IN" sz="1200" b="1" u="sng" dirty="0">
                <a:solidFill>
                  <a:prstClr val="black"/>
                </a:solidFill>
              </a:rPr>
              <a:t># Create a Directory in Data Lake Storage Gen2</a:t>
            </a:r>
          </a:p>
          <a:p>
            <a:r>
              <a:rPr lang="en-US" sz="1200" b="1" i="1" u="sng" dirty="0" err="1">
                <a:solidFill>
                  <a:prstClr val="black"/>
                </a:solidFill>
              </a:rPr>
              <a:t>Note:</a:t>
            </a:r>
            <a:r>
              <a:rPr lang="en-US" sz="1200" i="1" dirty="0" err="1">
                <a:solidFill>
                  <a:prstClr val="black"/>
                </a:solidFill>
              </a:rPr>
              <a:t>In</a:t>
            </a:r>
            <a:r>
              <a:rPr lang="en-US" sz="1200" i="1" dirty="0">
                <a:solidFill>
                  <a:prstClr val="black"/>
                </a:solidFill>
              </a:rPr>
              <a:t> the blob container the below directory will be created as an object of </a:t>
            </a:r>
            <a:r>
              <a:rPr lang="en-US" sz="1200" i="1" dirty="0" err="1">
                <a:solidFill>
                  <a:prstClr val="black"/>
                </a:solidFill>
              </a:rPr>
              <a:t>zerobyte</a:t>
            </a:r>
            <a:r>
              <a:rPr lang="en-US" sz="1200" i="1" dirty="0">
                <a:solidFill>
                  <a:prstClr val="black"/>
                </a:solidFill>
              </a:rPr>
              <a:t>, whereas in the </a:t>
            </a:r>
            <a:r>
              <a:rPr lang="en-US" sz="1200" i="1" dirty="0" err="1">
                <a:solidFill>
                  <a:prstClr val="black"/>
                </a:solidFill>
              </a:rPr>
              <a:t>adls</a:t>
            </a:r>
            <a:r>
              <a:rPr lang="en-US" sz="1200" i="1" dirty="0">
                <a:solidFill>
                  <a:prstClr val="black"/>
                </a:solidFill>
              </a:rPr>
              <a:t> it is literally created as directory since it is </a:t>
            </a:r>
            <a:r>
              <a:rPr lang="en-US" sz="1200" i="1" dirty="0" err="1">
                <a:solidFill>
                  <a:prstClr val="black"/>
                </a:solidFill>
              </a:rPr>
              <a:t>adls</a:t>
            </a:r>
            <a:r>
              <a:rPr lang="en-US" sz="1200" i="1" dirty="0">
                <a:solidFill>
                  <a:prstClr val="black"/>
                </a:solidFill>
              </a:rPr>
              <a:t> with hierarchical namespace enabled.</a:t>
            </a:r>
            <a:endParaRPr lang="en-IN" sz="1200" i="1" dirty="0">
              <a:solidFill>
                <a:prstClr val="black"/>
              </a:solidFill>
            </a:endParaRPr>
          </a:p>
          <a:p>
            <a:r>
              <a:rPr lang="en-IN" sz="1200" dirty="0" err="1">
                <a:solidFill>
                  <a:srgbClr val="0070C0"/>
                </a:solidFill>
              </a:rPr>
              <a:t>az</a:t>
            </a:r>
            <a:r>
              <a:rPr lang="en-IN" sz="1200" dirty="0">
                <a:solidFill>
                  <a:srgbClr val="0070C0"/>
                </a:solidFill>
              </a:rPr>
              <a:t> storage fs </a:t>
            </a:r>
            <a:r>
              <a:rPr lang="en-IN" sz="1200" b="1" dirty="0">
                <a:solidFill>
                  <a:srgbClr val="0070C0"/>
                </a:solidFill>
              </a:rPr>
              <a:t>directory create </a:t>
            </a:r>
            <a:r>
              <a:rPr lang="en-IN" sz="1200" dirty="0">
                <a:solidFill>
                  <a:srgbClr val="0070C0"/>
                </a:solidFill>
              </a:rPr>
              <a:t>-n </a:t>
            </a:r>
            <a:r>
              <a:rPr lang="en-IN" sz="1200" dirty="0" err="1">
                <a:solidFill>
                  <a:srgbClr val="0070C0"/>
                </a:solidFill>
              </a:rPr>
              <a:t>sampledir</a:t>
            </a:r>
            <a:r>
              <a:rPr lang="en-IN" sz="1200" dirty="0">
                <a:solidFill>
                  <a:srgbClr val="0070C0"/>
                </a:solidFill>
              </a:rPr>
              <a:t> --file-system container1 --account-name </a:t>
            </a:r>
            <a:r>
              <a:rPr lang="en-US" sz="1200" b="1" dirty="0" err="1">
                <a:solidFill>
                  <a:srgbClr val="5B9BD5">
                    <a:lumMod val="75000"/>
                  </a:srgbClr>
                </a:solidFill>
              </a:rPr>
              <a:t>izblobwe</a:t>
            </a:r>
            <a:endParaRPr lang="en-IN" sz="1200" dirty="0">
              <a:solidFill>
                <a:srgbClr val="0070C0"/>
              </a:solidFill>
            </a:endParaRPr>
          </a:p>
          <a:p>
            <a:r>
              <a:rPr lang="en-IN" sz="1200" dirty="0" err="1">
                <a:solidFill>
                  <a:srgbClr val="0070C0"/>
                </a:solidFill>
              </a:rPr>
              <a:t>az</a:t>
            </a:r>
            <a:r>
              <a:rPr lang="en-IN" sz="1200" dirty="0">
                <a:solidFill>
                  <a:srgbClr val="0070C0"/>
                </a:solidFill>
              </a:rPr>
              <a:t> storage fs </a:t>
            </a:r>
            <a:r>
              <a:rPr lang="en-IN" sz="1200" b="1" dirty="0">
                <a:solidFill>
                  <a:srgbClr val="0070C0"/>
                </a:solidFill>
              </a:rPr>
              <a:t>directory create </a:t>
            </a:r>
            <a:r>
              <a:rPr lang="en-IN" sz="1200" dirty="0">
                <a:solidFill>
                  <a:srgbClr val="0070C0"/>
                </a:solidFill>
              </a:rPr>
              <a:t>-n </a:t>
            </a:r>
            <a:r>
              <a:rPr lang="en-IN" sz="1200" dirty="0" err="1">
                <a:solidFill>
                  <a:srgbClr val="0070C0"/>
                </a:solidFill>
              </a:rPr>
              <a:t>sampledir</a:t>
            </a:r>
            <a:r>
              <a:rPr lang="en-IN" sz="1200" dirty="0">
                <a:solidFill>
                  <a:srgbClr val="0070C0"/>
                </a:solidFill>
              </a:rPr>
              <a:t> --file-system container2 --account-name </a:t>
            </a:r>
            <a:r>
              <a:rPr lang="en-IN" sz="1200" dirty="0" err="1">
                <a:solidFill>
                  <a:srgbClr val="5B9BD5">
                    <a:lumMod val="75000"/>
                  </a:srgbClr>
                </a:solidFill>
              </a:rPr>
              <a:t>izadlswe</a:t>
            </a:r>
            <a:r>
              <a:rPr lang="en-IN" sz="1200" dirty="0">
                <a:solidFill>
                  <a:srgbClr val="5B9BD5">
                    <a:lumMod val="75000"/>
                  </a:srgbClr>
                </a:solidFill>
              </a:rPr>
              <a:t> </a:t>
            </a:r>
            <a:endParaRPr lang="en-IN" sz="1200" dirty="0">
              <a:solidFill>
                <a:srgbClr val="0070C0"/>
              </a:solidFill>
            </a:endParaRPr>
          </a:p>
          <a:p>
            <a:endParaRPr lang="en-US" sz="1200" b="1" u="sng" dirty="0">
              <a:ln w="10541" cmpd="sng">
                <a:solidFill>
                  <a:srgbClr val="7D7D7D">
                    <a:tint val="100000"/>
                    <a:shade val="100000"/>
                    <a:satMod val="110000"/>
                  </a:srgbClr>
                </a:solidFill>
                <a:prstDash val="solid"/>
              </a:ln>
              <a:solidFill>
                <a:prstClr val="black"/>
              </a:solidFill>
            </a:endParaRPr>
          </a:p>
          <a:p>
            <a:r>
              <a:rPr lang="en-US" sz="1200" dirty="0" err="1">
                <a:solidFill>
                  <a:srgbClr val="0070C0"/>
                </a:solidFill>
              </a:rPr>
              <a:t>az</a:t>
            </a:r>
            <a:r>
              <a:rPr lang="en-US" sz="1200" dirty="0">
                <a:solidFill>
                  <a:srgbClr val="0070C0"/>
                </a:solidFill>
              </a:rPr>
              <a:t> storage fs list --account-name </a:t>
            </a:r>
            <a:r>
              <a:rPr lang="en-IN" sz="1200" dirty="0" err="1">
                <a:solidFill>
                  <a:srgbClr val="0070C0"/>
                </a:solidFill>
              </a:rPr>
              <a:t>izblobwe</a:t>
            </a:r>
            <a:r>
              <a:rPr lang="en-US" sz="1200" dirty="0">
                <a:solidFill>
                  <a:srgbClr val="0070C0"/>
                </a:solidFill>
              </a:rPr>
              <a:t> --output table</a:t>
            </a:r>
          </a:p>
          <a:p>
            <a:r>
              <a:rPr lang="en-US" sz="1200" dirty="0" err="1">
                <a:solidFill>
                  <a:srgbClr val="0070C0"/>
                </a:solidFill>
              </a:rPr>
              <a:t>az</a:t>
            </a:r>
            <a:r>
              <a:rPr lang="en-US" sz="1200" dirty="0">
                <a:solidFill>
                  <a:srgbClr val="0070C0"/>
                </a:solidFill>
              </a:rPr>
              <a:t> storage fs </a:t>
            </a:r>
            <a:r>
              <a:rPr lang="en-US" sz="1200" b="1" dirty="0">
                <a:solidFill>
                  <a:srgbClr val="0070C0"/>
                </a:solidFill>
              </a:rPr>
              <a:t>list</a:t>
            </a:r>
            <a:r>
              <a:rPr lang="en-US" sz="1200" dirty="0">
                <a:solidFill>
                  <a:srgbClr val="0070C0"/>
                </a:solidFill>
              </a:rPr>
              <a:t> --account-name </a:t>
            </a:r>
            <a:r>
              <a:rPr lang="en-IN" sz="1200" dirty="0" err="1">
                <a:solidFill>
                  <a:prstClr val="black"/>
                </a:solidFill>
                <a:hlinkClick r:id="rId10"/>
              </a:rPr>
              <a:t>izadlswe</a:t>
            </a:r>
            <a:r>
              <a:rPr lang="en-US" sz="1200" dirty="0">
                <a:solidFill>
                  <a:srgbClr val="0070C0"/>
                </a:solidFill>
              </a:rPr>
              <a:t> --output table</a:t>
            </a:r>
          </a:p>
          <a:p>
            <a:endParaRPr lang="en-IN" sz="1200" b="1" u="sng" dirty="0">
              <a:solidFill>
                <a:prstClr val="black"/>
              </a:solidFill>
            </a:endParaRPr>
          </a:p>
          <a:p>
            <a:r>
              <a:rPr lang="en-IN" sz="1200" b="1" u="sng" dirty="0">
                <a:solidFill>
                  <a:prstClr val="black"/>
                </a:solidFill>
              </a:rPr>
              <a:t># Copy a Directory into Data Lake Storage Gen2 container</a:t>
            </a:r>
            <a:endParaRPr lang="en-US" sz="1200" b="1" u="sng" dirty="0">
              <a:ln w="10541" cmpd="sng">
                <a:solidFill>
                  <a:srgbClr val="7D7D7D">
                    <a:tint val="100000"/>
                    <a:shade val="100000"/>
                    <a:satMod val="110000"/>
                  </a:srgbClr>
                </a:solidFill>
                <a:prstDash val="solid"/>
              </a:ln>
              <a:solidFill>
                <a:prstClr val="black"/>
              </a:solidFill>
            </a:endParaRPr>
          </a:p>
          <a:p>
            <a:r>
              <a:rPr lang="en-US" sz="1200" dirty="0" err="1">
                <a:solidFill>
                  <a:srgbClr val="0070C0"/>
                </a:solidFill>
              </a:rPr>
              <a:t>mkdir</a:t>
            </a:r>
            <a:r>
              <a:rPr lang="en-US" sz="1200" dirty="0">
                <a:solidFill>
                  <a:srgbClr val="0070C0"/>
                </a:solidFill>
              </a:rPr>
              <a:t> </a:t>
            </a:r>
            <a:r>
              <a:rPr lang="en-US" sz="1200" dirty="0" err="1">
                <a:solidFill>
                  <a:srgbClr val="0070C0"/>
                </a:solidFill>
              </a:rPr>
              <a:t>localdir</a:t>
            </a:r>
            <a:endParaRPr lang="en-US" sz="1200" dirty="0">
              <a:solidFill>
                <a:srgbClr val="0070C0"/>
              </a:solidFill>
            </a:endParaRPr>
          </a:p>
          <a:p>
            <a:r>
              <a:rPr lang="en-US" sz="1200" dirty="0">
                <a:solidFill>
                  <a:srgbClr val="0070C0"/>
                </a:solidFill>
              </a:rPr>
              <a:t>echo </a:t>
            </a:r>
            <a:r>
              <a:rPr lang="en-US" sz="1200" dirty="0" err="1">
                <a:solidFill>
                  <a:srgbClr val="0070C0"/>
                </a:solidFill>
              </a:rPr>
              <a:t>sampledata</a:t>
            </a:r>
            <a:r>
              <a:rPr lang="en-US" sz="1200" dirty="0">
                <a:solidFill>
                  <a:srgbClr val="0070C0"/>
                </a:solidFill>
              </a:rPr>
              <a:t>&gt;</a:t>
            </a:r>
            <a:r>
              <a:rPr lang="en-US" sz="1200" dirty="0" err="1">
                <a:solidFill>
                  <a:srgbClr val="0070C0"/>
                </a:solidFill>
              </a:rPr>
              <a:t>localdir</a:t>
            </a:r>
            <a:r>
              <a:rPr lang="en-US" sz="1200" dirty="0">
                <a:solidFill>
                  <a:srgbClr val="0070C0"/>
                </a:solidFill>
              </a:rPr>
              <a:t>/</a:t>
            </a:r>
            <a:r>
              <a:rPr lang="en-US" sz="1200" dirty="0" err="1">
                <a:solidFill>
                  <a:srgbClr val="0070C0"/>
                </a:solidFill>
              </a:rPr>
              <a:t>samplefile</a:t>
            </a:r>
            <a:endParaRPr lang="en-US" sz="1200" dirty="0">
              <a:solidFill>
                <a:srgbClr val="0070C0"/>
              </a:solidFill>
            </a:endParaRPr>
          </a:p>
          <a:p>
            <a:r>
              <a:rPr lang="en-US" sz="1200" b="1" dirty="0">
                <a:solidFill>
                  <a:prstClr val="black"/>
                </a:solidFill>
              </a:rPr>
              <a:t>#copy file</a:t>
            </a:r>
            <a:endParaRPr lang="en-IN" sz="1200" b="1" dirty="0">
              <a:solidFill>
                <a:prstClr val="black"/>
              </a:solidFill>
            </a:endParaRPr>
          </a:p>
          <a:p>
            <a:r>
              <a:rPr lang="en-IN" sz="1100" strike="sngStrike" dirty="0" err="1">
                <a:solidFill>
                  <a:srgbClr val="0070C0"/>
                </a:solidFill>
              </a:rPr>
              <a:t>az</a:t>
            </a:r>
            <a:r>
              <a:rPr lang="en-IN" sz="1100" strike="sngStrike" dirty="0">
                <a:solidFill>
                  <a:srgbClr val="0070C0"/>
                </a:solidFill>
              </a:rPr>
              <a:t> </a:t>
            </a:r>
            <a:r>
              <a:rPr lang="en-IN" sz="1100" b="1" strike="sngStrike" dirty="0">
                <a:solidFill>
                  <a:srgbClr val="0070C0"/>
                </a:solidFill>
              </a:rPr>
              <a:t>storage copy </a:t>
            </a:r>
            <a:r>
              <a:rPr lang="en-IN" sz="1100" strike="sngStrike" dirty="0">
                <a:solidFill>
                  <a:srgbClr val="0070C0"/>
                </a:solidFill>
              </a:rPr>
              <a:t>-s </a:t>
            </a:r>
            <a:r>
              <a:rPr lang="en-IN" sz="1100" strike="sngStrike" dirty="0" err="1">
                <a:solidFill>
                  <a:srgbClr val="0070C0"/>
                </a:solidFill>
              </a:rPr>
              <a:t>localdir</a:t>
            </a:r>
            <a:r>
              <a:rPr lang="en-IN" sz="1100" strike="sngStrike" dirty="0">
                <a:solidFill>
                  <a:srgbClr val="0070C0"/>
                </a:solidFill>
              </a:rPr>
              <a:t>/</a:t>
            </a:r>
            <a:r>
              <a:rPr lang="en-IN" sz="1100" strike="sngStrike" dirty="0" err="1">
                <a:solidFill>
                  <a:srgbClr val="0070C0"/>
                </a:solidFill>
              </a:rPr>
              <a:t>samplefile</a:t>
            </a:r>
            <a:r>
              <a:rPr lang="en-IN" sz="1100" strike="sngStrike" dirty="0">
                <a:solidFill>
                  <a:srgbClr val="0070C0"/>
                </a:solidFill>
              </a:rPr>
              <a:t> --account-name </a:t>
            </a:r>
            <a:r>
              <a:rPr lang="en-IN" sz="1100" strike="sngStrike" dirty="0" err="1">
                <a:solidFill>
                  <a:srgbClr val="0070C0"/>
                </a:solidFill>
              </a:rPr>
              <a:t>izblobwe</a:t>
            </a:r>
            <a:r>
              <a:rPr lang="en-US" sz="1100" strike="sngStrike" dirty="0">
                <a:solidFill>
                  <a:srgbClr val="5B9BD5">
                    <a:lumMod val="75000"/>
                  </a:srgbClr>
                </a:solidFill>
              </a:rPr>
              <a:t> </a:t>
            </a:r>
            <a:r>
              <a:rPr lang="en-IN" sz="1100" strike="sngStrike" dirty="0">
                <a:solidFill>
                  <a:srgbClr val="0070C0"/>
                </a:solidFill>
              </a:rPr>
              <a:t>--destination-container container1/</a:t>
            </a:r>
            <a:r>
              <a:rPr lang="en-IN" sz="1100" strike="sngStrike" dirty="0" err="1">
                <a:solidFill>
                  <a:srgbClr val="0070C0"/>
                </a:solidFill>
              </a:rPr>
              <a:t>sampledir</a:t>
            </a:r>
            <a:r>
              <a:rPr lang="en-IN" sz="1100" strike="sngStrike" dirty="0">
                <a:solidFill>
                  <a:srgbClr val="0070C0"/>
                </a:solidFill>
              </a:rPr>
              <a:t>/</a:t>
            </a:r>
          </a:p>
          <a:p>
            <a:r>
              <a:rPr lang="en-IN" sz="1100" dirty="0" err="1">
                <a:solidFill>
                  <a:srgbClr val="0070C0"/>
                </a:solidFill>
              </a:rPr>
              <a:t>az</a:t>
            </a:r>
            <a:r>
              <a:rPr lang="en-IN" sz="1100" dirty="0">
                <a:solidFill>
                  <a:srgbClr val="0070C0"/>
                </a:solidFill>
              </a:rPr>
              <a:t> storage copy -s </a:t>
            </a:r>
            <a:r>
              <a:rPr lang="en-IN" sz="1100" dirty="0" err="1">
                <a:solidFill>
                  <a:srgbClr val="0070C0"/>
                </a:solidFill>
              </a:rPr>
              <a:t>localdir</a:t>
            </a:r>
            <a:r>
              <a:rPr lang="en-IN" sz="1100" dirty="0">
                <a:solidFill>
                  <a:srgbClr val="0070C0"/>
                </a:solidFill>
              </a:rPr>
              <a:t>/</a:t>
            </a:r>
            <a:r>
              <a:rPr lang="en-IN" sz="1100" dirty="0" err="1">
                <a:solidFill>
                  <a:srgbClr val="0070C0"/>
                </a:solidFill>
              </a:rPr>
              <a:t>samplefile</a:t>
            </a:r>
            <a:r>
              <a:rPr lang="en-IN" sz="1100" dirty="0">
                <a:solidFill>
                  <a:srgbClr val="0070C0"/>
                </a:solidFill>
              </a:rPr>
              <a:t> --account-name </a:t>
            </a:r>
            <a:r>
              <a:rPr lang="en-IN" sz="1100" dirty="0" err="1">
                <a:solidFill>
                  <a:srgbClr val="0070C0"/>
                </a:solidFill>
              </a:rPr>
              <a:t>izblobwe</a:t>
            </a:r>
            <a:r>
              <a:rPr lang="en-IN" sz="1100" dirty="0">
                <a:solidFill>
                  <a:srgbClr val="0070C0"/>
                </a:solidFill>
              </a:rPr>
              <a:t> --destination-container container1/dir1</a:t>
            </a:r>
          </a:p>
          <a:p>
            <a:r>
              <a:rPr lang="en-IN" sz="1100" dirty="0" err="1">
                <a:solidFill>
                  <a:srgbClr val="0070C0"/>
                </a:solidFill>
              </a:rPr>
              <a:t>az</a:t>
            </a:r>
            <a:r>
              <a:rPr lang="en-IN" sz="1100" dirty="0">
                <a:solidFill>
                  <a:srgbClr val="0070C0"/>
                </a:solidFill>
              </a:rPr>
              <a:t> </a:t>
            </a:r>
            <a:r>
              <a:rPr lang="en-IN" sz="1100" b="1" dirty="0">
                <a:solidFill>
                  <a:srgbClr val="0070C0"/>
                </a:solidFill>
              </a:rPr>
              <a:t>storage copy</a:t>
            </a:r>
            <a:r>
              <a:rPr lang="en-IN" sz="1100" dirty="0">
                <a:solidFill>
                  <a:srgbClr val="0070C0"/>
                </a:solidFill>
              </a:rPr>
              <a:t> -s </a:t>
            </a:r>
            <a:r>
              <a:rPr lang="en-IN" sz="1100" b="1" dirty="0" err="1">
                <a:solidFill>
                  <a:srgbClr val="0070C0"/>
                </a:solidFill>
              </a:rPr>
              <a:t>localdir</a:t>
            </a:r>
            <a:r>
              <a:rPr lang="en-IN" sz="1100" b="1" dirty="0">
                <a:solidFill>
                  <a:srgbClr val="0070C0"/>
                </a:solidFill>
              </a:rPr>
              <a:t>/</a:t>
            </a:r>
            <a:r>
              <a:rPr lang="en-IN" sz="1100" b="1" dirty="0" err="1">
                <a:solidFill>
                  <a:srgbClr val="0070C0"/>
                </a:solidFill>
              </a:rPr>
              <a:t>samplefile</a:t>
            </a:r>
            <a:r>
              <a:rPr lang="en-IN" sz="1100" dirty="0">
                <a:solidFill>
                  <a:srgbClr val="0070C0"/>
                </a:solidFill>
              </a:rPr>
              <a:t> --account-name </a:t>
            </a:r>
            <a:r>
              <a:rPr lang="en-IN" sz="1100" dirty="0" err="1">
                <a:solidFill>
                  <a:prstClr val="black"/>
                </a:solidFill>
                <a:hlinkClick r:id="rId10"/>
              </a:rPr>
              <a:t>izadlswe</a:t>
            </a:r>
            <a:r>
              <a:rPr lang="en-US" sz="1100" dirty="0">
                <a:solidFill>
                  <a:srgbClr val="5B9BD5">
                    <a:lumMod val="75000"/>
                  </a:srgbClr>
                </a:solidFill>
              </a:rPr>
              <a:t> </a:t>
            </a:r>
            <a:r>
              <a:rPr lang="en-IN" sz="1100" dirty="0">
                <a:solidFill>
                  <a:srgbClr val="0070C0"/>
                </a:solidFill>
              </a:rPr>
              <a:t>--destination-container container2/</a:t>
            </a:r>
            <a:r>
              <a:rPr lang="en-IN" sz="1100" dirty="0" err="1">
                <a:solidFill>
                  <a:srgbClr val="0070C0"/>
                </a:solidFill>
              </a:rPr>
              <a:t>sampledir</a:t>
            </a:r>
            <a:r>
              <a:rPr lang="en-IN" sz="1100" dirty="0">
                <a:solidFill>
                  <a:srgbClr val="0070C0"/>
                </a:solidFill>
              </a:rPr>
              <a:t>/</a:t>
            </a:r>
          </a:p>
          <a:p>
            <a:endParaRPr lang="en-US" sz="1100" dirty="0">
              <a:solidFill>
                <a:srgbClr val="0070C0"/>
              </a:solidFill>
            </a:endParaRPr>
          </a:p>
          <a:p>
            <a:r>
              <a:rPr lang="en-US" sz="1200" b="1" dirty="0">
                <a:solidFill>
                  <a:prstClr val="black"/>
                </a:solidFill>
              </a:rPr>
              <a:t>#Copy directory recursively</a:t>
            </a:r>
            <a:endParaRPr lang="en-IN" sz="1200" b="1" dirty="0">
              <a:solidFill>
                <a:prstClr val="black"/>
              </a:solidFill>
            </a:endParaRPr>
          </a:p>
          <a:p>
            <a:r>
              <a:rPr lang="en-US" sz="1200" dirty="0">
                <a:solidFill>
                  <a:srgbClr val="0070C0"/>
                </a:solidFill>
              </a:rPr>
              <a:t>echo </a:t>
            </a:r>
            <a:r>
              <a:rPr lang="en-US" sz="1200" dirty="0" err="1">
                <a:solidFill>
                  <a:srgbClr val="0070C0"/>
                </a:solidFill>
              </a:rPr>
              <a:t>sampledata</a:t>
            </a:r>
            <a:r>
              <a:rPr lang="en-US" sz="1200" dirty="0">
                <a:solidFill>
                  <a:srgbClr val="0070C0"/>
                </a:solidFill>
              </a:rPr>
              <a:t>&gt;</a:t>
            </a:r>
            <a:r>
              <a:rPr lang="en-US" sz="1200" dirty="0" err="1">
                <a:solidFill>
                  <a:srgbClr val="0070C0"/>
                </a:solidFill>
              </a:rPr>
              <a:t>localdir</a:t>
            </a:r>
            <a:r>
              <a:rPr lang="en-US" sz="1200" dirty="0">
                <a:solidFill>
                  <a:srgbClr val="0070C0"/>
                </a:solidFill>
              </a:rPr>
              <a:t>/samplefile1</a:t>
            </a:r>
          </a:p>
          <a:p>
            <a:r>
              <a:rPr lang="en-IN" sz="1200" dirty="0" err="1">
                <a:solidFill>
                  <a:srgbClr val="0070C0"/>
                </a:solidFill>
              </a:rPr>
              <a:t>az</a:t>
            </a:r>
            <a:r>
              <a:rPr lang="en-IN" sz="1200" dirty="0">
                <a:solidFill>
                  <a:srgbClr val="0070C0"/>
                </a:solidFill>
              </a:rPr>
              <a:t> storage copy -s </a:t>
            </a:r>
            <a:r>
              <a:rPr lang="en-IN" sz="1200" dirty="0" err="1">
                <a:solidFill>
                  <a:srgbClr val="0070C0"/>
                </a:solidFill>
              </a:rPr>
              <a:t>localdir</a:t>
            </a:r>
            <a:r>
              <a:rPr lang="en-IN" sz="1200" dirty="0">
                <a:solidFill>
                  <a:srgbClr val="0070C0"/>
                </a:solidFill>
              </a:rPr>
              <a:t> -</a:t>
            </a:r>
            <a:r>
              <a:rPr lang="en-IN" sz="1100" dirty="0">
                <a:solidFill>
                  <a:srgbClr val="0070C0"/>
                </a:solidFill>
              </a:rPr>
              <a:t>-account-name </a:t>
            </a:r>
            <a:r>
              <a:rPr lang="en-IN" sz="1100" dirty="0" err="1">
                <a:solidFill>
                  <a:srgbClr val="0070C0"/>
                </a:solidFill>
              </a:rPr>
              <a:t>izblobwe</a:t>
            </a:r>
            <a:r>
              <a:rPr lang="en-US" sz="1100" dirty="0">
                <a:solidFill>
                  <a:srgbClr val="0070C0"/>
                </a:solidFill>
              </a:rPr>
              <a:t> </a:t>
            </a:r>
            <a:r>
              <a:rPr lang="en-IN" sz="1200" dirty="0">
                <a:solidFill>
                  <a:srgbClr val="0070C0"/>
                </a:solidFill>
              </a:rPr>
              <a:t>--destination-container container1/</a:t>
            </a:r>
            <a:r>
              <a:rPr lang="en-IN" sz="1200" dirty="0" err="1">
                <a:solidFill>
                  <a:srgbClr val="0070C0"/>
                </a:solidFill>
              </a:rPr>
              <a:t>sampledir</a:t>
            </a:r>
            <a:r>
              <a:rPr lang="en-IN" sz="1200" dirty="0">
                <a:solidFill>
                  <a:srgbClr val="0070C0"/>
                </a:solidFill>
              </a:rPr>
              <a:t>/ </a:t>
            </a:r>
            <a:r>
              <a:rPr lang="en-IN" sz="1200" b="1" dirty="0">
                <a:solidFill>
                  <a:srgbClr val="0070C0"/>
                </a:solidFill>
              </a:rPr>
              <a:t>--recursive</a:t>
            </a:r>
          </a:p>
          <a:p>
            <a:r>
              <a:rPr lang="en-IN" sz="1200" dirty="0" err="1">
                <a:solidFill>
                  <a:srgbClr val="0070C0"/>
                </a:solidFill>
              </a:rPr>
              <a:t>az</a:t>
            </a:r>
            <a:r>
              <a:rPr lang="en-IN" sz="1200" dirty="0">
                <a:solidFill>
                  <a:srgbClr val="0070C0"/>
                </a:solidFill>
              </a:rPr>
              <a:t> storage copy -s </a:t>
            </a:r>
            <a:r>
              <a:rPr lang="en-IN" sz="1200" b="1" dirty="0" err="1">
                <a:solidFill>
                  <a:srgbClr val="0070C0"/>
                </a:solidFill>
              </a:rPr>
              <a:t>localdir</a:t>
            </a:r>
            <a:r>
              <a:rPr lang="en-IN" sz="1200" dirty="0">
                <a:solidFill>
                  <a:srgbClr val="0070C0"/>
                </a:solidFill>
              </a:rPr>
              <a:t> --account-name </a:t>
            </a:r>
            <a:r>
              <a:rPr lang="en-IN" sz="1200" dirty="0" err="1">
                <a:solidFill>
                  <a:prstClr val="black"/>
                </a:solidFill>
                <a:hlinkClick r:id="rId10"/>
              </a:rPr>
              <a:t>izadlswe</a:t>
            </a:r>
            <a:r>
              <a:rPr lang="en-US" sz="1200" dirty="0">
                <a:solidFill>
                  <a:srgbClr val="5B9BD5">
                    <a:lumMod val="75000"/>
                  </a:srgbClr>
                </a:solidFill>
              </a:rPr>
              <a:t> </a:t>
            </a:r>
            <a:r>
              <a:rPr lang="en-IN" sz="1200" dirty="0">
                <a:solidFill>
                  <a:srgbClr val="0070C0"/>
                </a:solidFill>
              </a:rPr>
              <a:t>--destination-container container2/</a:t>
            </a:r>
            <a:r>
              <a:rPr lang="en-IN" sz="1200" dirty="0" err="1">
                <a:solidFill>
                  <a:srgbClr val="0070C0"/>
                </a:solidFill>
              </a:rPr>
              <a:t>sampledir</a:t>
            </a:r>
            <a:r>
              <a:rPr lang="en-IN" sz="1200" dirty="0">
                <a:solidFill>
                  <a:srgbClr val="0070C0"/>
                </a:solidFill>
              </a:rPr>
              <a:t> </a:t>
            </a:r>
            <a:r>
              <a:rPr lang="en-IN" sz="1200" b="1" dirty="0">
                <a:solidFill>
                  <a:srgbClr val="0070C0"/>
                </a:solidFill>
              </a:rPr>
              <a:t>--recursive</a:t>
            </a:r>
          </a:p>
          <a:p>
            <a:endParaRPr lang="en-US" sz="1200" b="1" u="sng" dirty="0">
              <a:ln w="10541" cmpd="sng">
                <a:solidFill>
                  <a:srgbClr val="7D7D7D">
                    <a:tint val="100000"/>
                    <a:shade val="100000"/>
                    <a:satMod val="110000"/>
                  </a:srgbClr>
                </a:solidFill>
                <a:prstDash val="solid"/>
              </a:ln>
              <a:solidFill>
                <a:prstClr val="black"/>
              </a:solidFill>
            </a:endParaRPr>
          </a:p>
          <a:p>
            <a:r>
              <a:rPr lang="en-IN" sz="1200" b="1" u="sng" dirty="0">
                <a:solidFill>
                  <a:prstClr val="black"/>
                </a:solidFill>
              </a:rPr>
              <a:t># List the files and folders</a:t>
            </a:r>
            <a:endParaRPr lang="en-US" sz="1200" b="1" u="sng" dirty="0">
              <a:ln w="10541" cmpd="sng">
                <a:solidFill>
                  <a:srgbClr val="7D7D7D">
                    <a:tint val="100000"/>
                    <a:shade val="100000"/>
                    <a:satMod val="110000"/>
                  </a:srgbClr>
                </a:solidFill>
                <a:prstDash val="solid"/>
              </a:ln>
              <a:solidFill>
                <a:prstClr val="black"/>
              </a:solidFill>
            </a:endParaRPr>
          </a:p>
          <a:p>
            <a:r>
              <a:rPr lang="en-US" sz="1200" dirty="0" err="1">
                <a:solidFill>
                  <a:srgbClr val="0070C0"/>
                </a:solidFill>
              </a:rPr>
              <a:t>az</a:t>
            </a:r>
            <a:r>
              <a:rPr lang="en-US" sz="1200" dirty="0">
                <a:solidFill>
                  <a:srgbClr val="0070C0"/>
                </a:solidFill>
              </a:rPr>
              <a:t> storage blob list --account-name </a:t>
            </a:r>
            <a:r>
              <a:rPr lang="en-IN" sz="1200" dirty="0" err="1">
                <a:solidFill>
                  <a:prstClr val="black"/>
                </a:solidFill>
                <a:hlinkClick r:id="rId10"/>
              </a:rPr>
              <a:t>izadlswe</a:t>
            </a:r>
            <a:r>
              <a:rPr lang="en-US" sz="1200" dirty="0">
                <a:solidFill>
                  <a:srgbClr val="0070C0"/>
                </a:solidFill>
              </a:rPr>
              <a:t> --container-name </a:t>
            </a:r>
            <a:r>
              <a:rPr lang="en-IN" sz="1200" dirty="0">
                <a:solidFill>
                  <a:srgbClr val="0070C0"/>
                </a:solidFill>
              </a:rPr>
              <a:t>container2 </a:t>
            </a:r>
            <a:r>
              <a:rPr lang="en-US" sz="1200" dirty="0">
                <a:solidFill>
                  <a:srgbClr val="0070C0"/>
                </a:solidFill>
              </a:rPr>
              <a:t>--prefix "</a:t>
            </a:r>
            <a:r>
              <a:rPr lang="en-US" sz="1200" dirty="0" err="1">
                <a:solidFill>
                  <a:srgbClr val="0070C0"/>
                </a:solidFill>
              </a:rPr>
              <a:t>sampledir</a:t>
            </a:r>
            <a:r>
              <a:rPr lang="en-US" sz="1200" dirty="0">
                <a:solidFill>
                  <a:srgbClr val="0070C0"/>
                </a:solidFill>
              </a:rPr>
              <a:t>/" --output table</a:t>
            </a:r>
          </a:p>
          <a:p>
            <a:r>
              <a:rPr lang="en-US" sz="1200" dirty="0" err="1">
                <a:solidFill>
                  <a:srgbClr val="0070C0"/>
                </a:solidFill>
              </a:rPr>
              <a:t>az</a:t>
            </a:r>
            <a:r>
              <a:rPr lang="en-US" sz="1200" dirty="0">
                <a:solidFill>
                  <a:srgbClr val="0070C0"/>
                </a:solidFill>
              </a:rPr>
              <a:t> storage blob list --account-name </a:t>
            </a:r>
            <a:r>
              <a:rPr lang="en-US" sz="1200" dirty="0" err="1">
                <a:solidFill>
                  <a:srgbClr val="5B9BD5">
                    <a:lumMod val="75000"/>
                  </a:srgbClr>
                </a:solidFill>
              </a:rPr>
              <a:t>izblobwe</a:t>
            </a:r>
            <a:r>
              <a:rPr lang="en-US" sz="1200" dirty="0">
                <a:solidFill>
                  <a:srgbClr val="0070C0"/>
                </a:solidFill>
              </a:rPr>
              <a:t> --container-name </a:t>
            </a:r>
            <a:r>
              <a:rPr lang="en-IN" sz="1200" dirty="0">
                <a:solidFill>
                  <a:srgbClr val="0070C0"/>
                </a:solidFill>
              </a:rPr>
              <a:t>container1</a:t>
            </a:r>
            <a:r>
              <a:rPr lang="en-US" sz="1200" dirty="0">
                <a:solidFill>
                  <a:srgbClr val="0070C0"/>
                </a:solidFill>
              </a:rPr>
              <a:t> --prefix "</a:t>
            </a:r>
            <a:r>
              <a:rPr lang="en-US" sz="1200" dirty="0" err="1">
                <a:solidFill>
                  <a:srgbClr val="0070C0"/>
                </a:solidFill>
              </a:rPr>
              <a:t>sampledir</a:t>
            </a:r>
            <a:r>
              <a:rPr lang="en-US" sz="1200" dirty="0">
                <a:solidFill>
                  <a:srgbClr val="0070C0"/>
                </a:solidFill>
              </a:rPr>
              <a:t>/"  --output table</a:t>
            </a:r>
          </a:p>
          <a:p>
            <a:endParaRPr lang="en-US" sz="1200" b="1" u="sng" dirty="0">
              <a:ln w="10541" cmpd="sng">
                <a:solidFill>
                  <a:srgbClr val="7D7D7D">
                    <a:tint val="100000"/>
                    <a:shade val="100000"/>
                    <a:satMod val="110000"/>
                  </a:srgbClr>
                </a:solidFill>
                <a:prstDash val="solid"/>
              </a:ln>
              <a:solidFill>
                <a:prstClr val="black"/>
              </a:solidFill>
            </a:endParaRPr>
          </a:p>
          <a:p>
            <a:r>
              <a:rPr lang="en-IN" sz="1200" b="1" u="sng" dirty="0">
                <a:solidFill>
                  <a:prstClr val="black"/>
                </a:solidFill>
              </a:rPr>
              <a:t>Storage Tiers </a:t>
            </a:r>
            <a:r>
              <a:rPr lang="en-IN" sz="1200" b="1" u="sng" strike="sngStrike" dirty="0">
                <a:solidFill>
                  <a:prstClr val="black"/>
                </a:solidFill>
              </a:rPr>
              <a:t>Classes</a:t>
            </a:r>
            <a:r>
              <a:rPr lang="en-IN" sz="1200" b="1" u="sng" dirty="0">
                <a:solidFill>
                  <a:prstClr val="black"/>
                </a:solidFill>
              </a:rPr>
              <a:t> – costing, usability(availability), performance</a:t>
            </a:r>
            <a:endParaRPr lang="en-IN" sz="1200" b="1" u="sng" strike="sngStrike" dirty="0">
              <a:solidFill>
                <a:srgbClr val="0070C0"/>
              </a:solidFill>
            </a:endParaRPr>
          </a:p>
          <a:p>
            <a:endParaRPr lang="en-IN" sz="1200" b="1" dirty="0">
              <a:solidFill>
                <a:prstClr val="black"/>
              </a:solidFill>
            </a:endParaRPr>
          </a:p>
          <a:p>
            <a:r>
              <a:rPr lang="en-IN" sz="1200" b="1" dirty="0">
                <a:solidFill>
                  <a:prstClr val="black"/>
                </a:solidFill>
              </a:rPr>
              <a:t># Upload the blob/file with access tier to Hot (where as the storage account is in Cold tier)</a:t>
            </a:r>
          </a:p>
          <a:p>
            <a:r>
              <a:rPr lang="en-US" sz="1200" dirty="0" err="1">
                <a:solidFill>
                  <a:srgbClr val="0070C0"/>
                </a:solidFill>
              </a:rPr>
              <a:t>az</a:t>
            </a:r>
            <a:r>
              <a:rPr lang="en-US" sz="1200" dirty="0">
                <a:solidFill>
                  <a:srgbClr val="0070C0"/>
                </a:solidFill>
              </a:rPr>
              <a:t> storage </a:t>
            </a:r>
            <a:r>
              <a:rPr lang="en-US" sz="1200" b="1" dirty="0">
                <a:solidFill>
                  <a:srgbClr val="0070C0"/>
                </a:solidFill>
              </a:rPr>
              <a:t>blob upload</a:t>
            </a:r>
            <a:r>
              <a:rPr lang="en-US" sz="1200" dirty="0">
                <a:solidFill>
                  <a:srgbClr val="0070C0"/>
                </a:solidFill>
              </a:rPr>
              <a:t> --container-name container2 --file </a:t>
            </a:r>
            <a:r>
              <a:rPr lang="en-US" sz="1200" dirty="0" err="1">
                <a:solidFill>
                  <a:srgbClr val="0070C0"/>
                </a:solidFill>
              </a:rPr>
              <a:t>localdir</a:t>
            </a:r>
            <a:r>
              <a:rPr lang="en-US" sz="1200" dirty="0">
                <a:solidFill>
                  <a:srgbClr val="0070C0"/>
                </a:solidFill>
              </a:rPr>
              <a:t>/</a:t>
            </a:r>
            <a:r>
              <a:rPr lang="en-US" sz="1200" dirty="0" err="1">
                <a:solidFill>
                  <a:srgbClr val="0070C0"/>
                </a:solidFill>
              </a:rPr>
              <a:t>samplefile</a:t>
            </a:r>
            <a:r>
              <a:rPr lang="en-US" sz="1200" dirty="0">
                <a:solidFill>
                  <a:srgbClr val="0070C0"/>
                </a:solidFill>
              </a:rPr>
              <a:t> --name </a:t>
            </a:r>
            <a:r>
              <a:rPr lang="en-US" sz="1200" dirty="0" err="1">
                <a:solidFill>
                  <a:srgbClr val="0070C0"/>
                </a:solidFill>
              </a:rPr>
              <a:t>sampledir</a:t>
            </a:r>
            <a:r>
              <a:rPr lang="en-US" sz="1200" dirty="0">
                <a:solidFill>
                  <a:srgbClr val="0070C0"/>
                </a:solidFill>
              </a:rPr>
              <a:t>/</a:t>
            </a:r>
            <a:r>
              <a:rPr lang="en-US" sz="1200" dirty="0" err="1">
                <a:solidFill>
                  <a:srgbClr val="0070C0"/>
                </a:solidFill>
              </a:rPr>
              <a:t>localdir</a:t>
            </a:r>
            <a:r>
              <a:rPr lang="en-US" sz="1200" dirty="0">
                <a:solidFill>
                  <a:srgbClr val="0070C0"/>
                </a:solidFill>
              </a:rPr>
              <a:t>/</a:t>
            </a:r>
            <a:r>
              <a:rPr lang="en-US" sz="1200" b="1" dirty="0" err="1">
                <a:solidFill>
                  <a:srgbClr val="0070C0"/>
                </a:solidFill>
              </a:rPr>
              <a:t>samplefilehot</a:t>
            </a:r>
            <a:r>
              <a:rPr lang="en-US" sz="1200" dirty="0">
                <a:solidFill>
                  <a:srgbClr val="0070C0"/>
                </a:solidFill>
              </a:rPr>
              <a:t> --account-name </a:t>
            </a:r>
            <a:r>
              <a:rPr lang="en-US" sz="1200" dirty="0" err="1">
                <a:solidFill>
                  <a:srgbClr val="0070C0"/>
                </a:solidFill>
              </a:rPr>
              <a:t>izadlswe</a:t>
            </a:r>
            <a:r>
              <a:rPr lang="en-US" sz="1200" dirty="0">
                <a:solidFill>
                  <a:srgbClr val="0070C0"/>
                </a:solidFill>
              </a:rPr>
              <a:t>  </a:t>
            </a:r>
            <a:r>
              <a:rPr lang="en-US" sz="1200" b="1" dirty="0">
                <a:solidFill>
                  <a:srgbClr val="0070C0"/>
                </a:solidFill>
              </a:rPr>
              <a:t>--tier Hot</a:t>
            </a:r>
          </a:p>
          <a:p>
            <a:endParaRPr lang="en-IN" sz="1200" b="1" dirty="0">
              <a:solidFill>
                <a:prstClr val="black"/>
              </a:solidFill>
            </a:endParaRPr>
          </a:p>
          <a:p>
            <a:r>
              <a:rPr lang="en-IN" sz="1200" b="1" dirty="0">
                <a:solidFill>
                  <a:prstClr val="black"/>
                </a:solidFill>
              </a:rPr>
              <a:t># Change a blob access tier to Hot</a:t>
            </a:r>
            <a:endParaRPr lang="en-US" sz="1200" b="1" dirty="0">
              <a:solidFill>
                <a:prstClr val="black"/>
              </a:solidFill>
            </a:endParaRPr>
          </a:p>
          <a:p>
            <a:r>
              <a:rPr lang="en-US" sz="1200" dirty="0" err="1">
                <a:solidFill>
                  <a:srgbClr val="0070C0"/>
                </a:solidFill>
              </a:rPr>
              <a:t>az</a:t>
            </a:r>
            <a:r>
              <a:rPr lang="en-US" sz="1200" dirty="0">
                <a:solidFill>
                  <a:srgbClr val="0070C0"/>
                </a:solidFill>
              </a:rPr>
              <a:t> storage </a:t>
            </a:r>
            <a:r>
              <a:rPr lang="en-US" sz="1200" b="1" dirty="0">
                <a:solidFill>
                  <a:srgbClr val="0070C0"/>
                </a:solidFill>
              </a:rPr>
              <a:t>blob set-tier </a:t>
            </a:r>
            <a:r>
              <a:rPr lang="en-US" sz="1200" dirty="0">
                <a:solidFill>
                  <a:srgbClr val="0070C0"/>
                </a:solidFill>
              </a:rPr>
              <a:t>--account-name </a:t>
            </a:r>
            <a:r>
              <a:rPr lang="en-US" sz="1200" dirty="0" err="1">
                <a:solidFill>
                  <a:srgbClr val="0070C0"/>
                </a:solidFill>
              </a:rPr>
              <a:t>izadlswe</a:t>
            </a:r>
            <a:r>
              <a:rPr lang="en-US" sz="1200" dirty="0">
                <a:solidFill>
                  <a:srgbClr val="0070C0"/>
                </a:solidFill>
              </a:rPr>
              <a:t> --container-name </a:t>
            </a:r>
            <a:r>
              <a:rPr lang="en-IN" sz="1200" dirty="0">
                <a:solidFill>
                  <a:srgbClr val="0070C0"/>
                </a:solidFill>
              </a:rPr>
              <a:t>container2</a:t>
            </a:r>
            <a:r>
              <a:rPr lang="en-US" sz="1200" dirty="0">
                <a:solidFill>
                  <a:srgbClr val="0070C0"/>
                </a:solidFill>
              </a:rPr>
              <a:t> --name </a:t>
            </a:r>
            <a:r>
              <a:rPr lang="en-US" sz="1200" dirty="0" err="1">
                <a:solidFill>
                  <a:srgbClr val="0070C0"/>
                </a:solidFill>
              </a:rPr>
              <a:t>sampledir</a:t>
            </a:r>
            <a:r>
              <a:rPr lang="en-US" sz="1200" dirty="0">
                <a:solidFill>
                  <a:srgbClr val="0070C0"/>
                </a:solidFill>
              </a:rPr>
              <a:t>/</a:t>
            </a:r>
            <a:r>
              <a:rPr lang="en-US" sz="1200" dirty="0" err="1">
                <a:solidFill>
                  <a:srgbClr val="0070C0"/>
                </a:solidFill>
              </a:rPr>
              <a:t>localdir</a:t>
            </a:r>
            <a:r>
              <a:rPr lang="en-US" sz="1200" dirty="0">
                <a:solidFill>
                  <a:srgbClr val="0070C0"/>
                </a:solidFill>
              </a:rPr>
              <a:t>/</a:t>
            </a:r>
            <a:r>
              <a:rPr lang="en-US" sz="1200" dirty="0" err="1">
                <a:solidFill>
                  <a:srgbClr val="0070C0"/>
                </a:solidFill>
              </a:rPr>
              <a:t>samplefile</a:t>
            </a:r>
            <a:r>
              <a:rPr lang="en-US" sz="1200" dirty="0">
                <a:solidFill>
                  <a:srgbClr val="0070C0"/>
                </a:solidFill>
              </a:rPr>
              <a:t> </a:t>
            </a:r>
            <a:r>
              <a:rPr lang="en-US" sz="1200" b="1" dirty="0">
                <a:solidFill>
                  <a:srgbClr val="0070C0"/>
                </a:solidFill>
              </a:rPr>
              <a:t>--tier Hot</a:t>
            </a:r>
          </a:p>
        </p:txBody>
      </p:sp>
      <p:sp>
        <p:nvSpPr>
          <p:cNvPr id="2" name="Rectangle 1"/>
          <p:cNvSpPr/>
          <p:nvPr/>
        </p:nvSpPr>
        <p:spPr>
          <a:xfrm>
            <a:off x="5895926" y="180929"/>
            <a:ext cx="2291012" cy="400110"/>
          </a:xfrm>
          <a:prstGeom prst="rect">
            <a:avLst/>
          </a:prstGeom>
        </p:spPr>
        <p:txBody>
          <a:bodyPr wrap="none">
            <a:spAutoFit/>
          </a:bodyPr>
          <a:lstStyle/>
          <a:p>
            <a:r>
              <a:rPr lang="en-US" sz="2000" i="1" u="sng" dirty="0">
                <a:solidFill>
                  <a:prstClr val="black"/>
                </a:solidFill>
                <a:effectLst>
                  <a:outerShdw blurRad="38100" dist="38100" dir="2700000" algn="tl">
                    <a:srgbClr val="000000">
                      <a:alpha val="43137"/>
                    </a:srgbClr>
                  </a:outerShdw>
                </a:effectLst>
              </a:rPr>
              <a:t>Classroom - Practice</a:t>
            </a:r>
            <a:endParaRPr lang="en-IN" sz="2000" dirty="0">
              <a:solidFill>
                <a:prstClr val="black"/>
              </a:solidFill>
            </a:endParaRPr>
          </a:p>
        </p:txBody>
      </p:sp>
      <p:pic>
        <p:nvPicPr>
          <p:cNvPr id="14" name="Picture 2"/>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837050" y="5479723"/>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12">
            <p14:nvContentPartPr>
              <p14:cNvPr id="4" name="Ink 3"/>
              <p14:cNvContentPartPr/>
              <p14:nvPr/>
            </p14:nvContentPartPr>
            <p14:xfrm>
              <a:off x="260280" y="2400120"/>
              <a:ext cx="25920" cy="1835640"/>
            </p14:xfrm>
          </p:contentPart>
        </mc:Choice>
        <mc:Fallback xmlns="">
          <p:pic>
            <p:nvPicPr>
              <p:cNvPr id="4" name="Ink 3"/>
              <p:cNvPicPr/>
              <p:nvPr/>
            </p:nvPicPr>
            <p:blipFill>
              <a:blip r:embed="rId15"/>
              <a:stretch>
                <a:fillRect/>
              </a:stretch>
            </p:blipFill>
            <p:spPr>
              <a:xfrm>
                <a:off x="250920" y="2390760"/>
                <a:ext cx="44640" cy="1854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p14:cNvContentPartPr/>
              <p14:nvPr/>
            </p14:nvContentPartPr>
            <p14:xfrm>
              <a:off x="7759800" y="4838760"/>
              <a:ext cx="360" cy="360"/>
            </p14:xfrm>
          </p:contentPart>
        </mc:Choice>
        <mc:Fallback xmlns="">
          <p:pic>
            <p:nvPicPr>
              <p:cNvPr id="7" name="Ink 6"/>
              <p:cNvPicPr/>
              <p:nvPr/>
            </p:nvPicPr>
            <p:blipFill>
              <a:blip r:embed="rId17"/>
              <a:stretch>
                <a:fillRect/>
              </a:stretch>
            </p:blipFill>
            <p:spPr>
              <a:xfrm>
                <a:off x="7750440" y="4829400"/>
                <a:ext cx="19080" cy="19080"/>
              </a:xfrm>
              <a:prstGeom prst="rect">
                <a:avLst/>
              </a:prstGeom>
            </p:spPr>
          </p:pic>
        </mc:Fallback>
      </mc:AlternateContent>
    </p:spTree>
    <p:extLst>
      <p:ext uri="{BB962C8B-B14F-4D97-AF65-F5344CB8AC3E}">
        <p14:creationId xmlns:p14="http://schemas.microsoft.com/office/powerpoint/2010/main" val="270145059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t>AZ Storage Account &amp; Containers</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7505640" y="882720"/>
              <a:ext cx="1118160" cy="1943280"/>
            </p14:xfrm>
          </p:contentPart>
        </mc:Choice>
        <mc:Fallback xmlns="">
          <p:pic>
            <p:nvPicPr>
              <p:cNvPr id="6" name="Ink 5"/>
              <p:cNvPicPr/>
              <p:nvPr/>
            </p:nvPicPr>
            <p:blipFill>
              <a:blip r:embed="rId9"/>
              <a:stretch>
                <a:fillRect/>
              </a:stretch>
            </p:blipFill>
            <p:spPr>
              <a:xfrm>
                <a:off x="7496280" y="873360"/>
                <a:ext cx="1136880" cy="1962000"/>
              </a:xfrm>
              <a:prstGeom prst="rect">
                <a:avLst/>
              </a:prstGeom>
            </p:spPr>
          </p:pic>
        </mc:Fallback>
      </mc:AlternateContent>
      <p:sp>
        <p:nvSpPr>
          <p:cNvPr id="10" name="Rectangle 9"/>
          <p:cNvSpPr/>
          <p:nvPr/>
        </p:nvSpPr>
        <p:spPr>
          <a:xfrm>
            <a:off x="8965" y="578741"/>
            <a:ext cx="12066278" cy="2492990"/>
          </a:xfrm>
          <a:prstGeom prst="rect">
            <a:avLst/>
          </a:prstGeom>
          <a:noFill/>
        </p:spPr>
        <p:txBody>
          <a:bodyPr wrap="square" lIns="91440" tIns="45720" rIns="91440" bIns="45720">
            <a:spAutoFit/>
          </a:bodyPr>
          <a:lstStyle/>
          <a:p>
            <a:r>
              <a:rPr lang="en-US" sz="1200" b="1" i="1" u="sng" dirty="0">
                <a:solidFill>
                  <a:prstClr val="black"/>
                </a:solidFill>
              </a:rPr>
              <a:t>#How to use access/account key to access the storage account/container/</a:t>
            </a:r>
            <a:r>
              <a:rPr lang="en-US" sz="1200" b="1" i="1" u="sng" dirty="0" err="1">
                <a:solidFill>
                  <a:prstClr val="black"/>
                </a:solidFill>
              </a:rPr>
              <a:t>dirs</a:t>
            </a:r>
            <a:r>
              <a:rPr lang="en-US" sz="1200" b="1" i="1" u="sng" dirty="0">
                <a:solidFill>
                  <a:prstClr val="black"/>
                </a:solidFill>
              </a:rPr>
              <a:t>/files</a:t>
            </a:r>
            <a:endParaRPr lang="en-IN" sz="1200" b="1" i="1" u="sng" dirty="0">
              <a:solidFill>
                <a:prstClr val="black"/>
              </a:solidFill>
            </a:endParaRPr>
          </a:p>
          <a:p>
            <a:r>
              <a:rPr lang="en-IN" sz="1200" b="1" i="1" dirty="0">
                <a:solidFill>
                  <a:prstClr val="black"/>
                </a:solidFill>
              </a:rPr>
              <a:t>#To collect the account key list for future need to access the given container</a:t>
            </a:r>
          </a:p>
          <a:p>
            <a:r>
              <a:rPr lang="en-IN" sz="1200" dirty="0" err="1">
                <a:solidFill>
                  <a:srgbClr val="0070C0"/>
                </a:solidFill>
              </a:rPr>
              <a:t>az</a:t>
            </a:r>
            <a:r>
              <a:rPr lang="en-IN" sz="1200" dirty="0">
                <a:solidFill>
                  <a:srgbClr val="0070C0"/>
                </a:solidFill>
              </a:rPr>
              <a:t> group list --output table</a:t>
            </a:r>
          </a:p>
          <a:p>
            <a:r>
              <a:rPr lang="en-US" sz="1200" dirty="0" err="1">
                <a:solidFill>
                  <a:srgbClr val="0070C0"/>
                </a:solidFill>
              </a:rPr>
              <a:t>az</a:t>
            </a:r>
            <a:r>
              <a:rPr lang="en-US" sz="1200" dirty="0">
                <a:solidFill>
                  <a:srgbClr val="0070C0"/>
                </a:solidFill>
              </a:rPr>
              <a:t> storage </a:t>
            </a:r>
            <a:r>
              <a:rPr lang="en-US" sz="1200" b="1" dirty="0">
                <a:solidFill>
                  <a:srgbClr val="0070C0"/>
                </a:solidFill>
              </a:rPr>
              <a:t>account keys list </a:t>
            </a:r>
            <a:r>
              <a:rPr lang="en-US" sz="1200" dirty="0">
                <a:solidFill>
                  <a:srgbClr val="0070C0"/>
                </a:solidFill>
              </a:rPr>
              <a:t>--resource-group we45-resourcegroup --account-name </a:t>
            </a:r>
            <a:r>
              <a:rPr lang="en-US" sz="1200" b="1" dirty="0" err="1">
                <a:solidFill>
                  <a:srgbClr val="0070C0"/>
                </a:solidFill>
              </a:rPr>
              <a:t>izadlswe</a:t>
            </a:r>
            <a:r>
              <a:rPr lang="en-US" sz="1200" dirty="0">
                <a:solidFill>
                  <a:srgbClr val="0070C0"/>
                </a:solidFill>
              </a:rPr>
              <a:t> --output table</a:t>
            </a:r>
          </a:p>
          <a:p>
            <a:endParaRPr lang="en-US" sz="1200" b="1" i="1" dirty="0">
              <a:solidFill>
                <a:prstClr val="black"/>
              </a:solidFill>
            </a:endParaRPr>
          </a:p>
          <a:p>
            <a:r>
              <a:rPr lang="en-US" sz="1200" b="1" i="1" dirty="0">
                <a:solidFill>
                  <a:prstClr val="black"/>
                </a:solidFill>
              </a:rPr>
              <a:t>#To use the account key to perform container operations</a:t>
            </a:r>
            <a:endParaRPr lang="en-IN" sz="1200" b="1" i="1" dirty="0">
              <a:solidFill>
                <a:prstClr val="black"/>
              </a:solidFill>
            </a:endParaRPr>
          </a:p>
          <a:p>
            <a:r>
              <a:rPr lang="en-US" sz="1200" b="1" i="1" dirty="0">
                <a:solidFill>
                  <a:prstClr val="black"/>
                </a:solidFill>
              </a:rPr>
              <a:t>#Upload files</a:t>
            </a:r>
          </a:p>
          <a:p>
            <a:r>
              <a:rPr lang="en-US" sz="1200" dirty="0" err="1">
                <a:solidFill>
                  <a:srgbClr val="0070C0"/>
                </a:solidFill>
              </a:rPr>
              <a:t>az</a:t>
            </a:r>
            <a:r>
              <a:rPr lang="en-US" sz="1200" dirty="0">
                <a:solidFill>
                  <a:srgbClr val="0070C0"/>
                </a:solidFill>
              </a:rPr>
              <a:t> storage blob upload --container-name container2 --file mobile_trans.csv </a:t>
            </a:r>
            <a:r>
              <a:rPr lang="en-US" sz="1200" b="1" dirty="0">
                <a:solidFill>
                  <a:srgbClr val="0070C0"/>
                </a:solidFill>
              </a:rPr>
              <a:t>--name </a:t>
            </a:r>
            <a:r>
              <a:rPr lang="en-US" sz="1200" b="1" dirty="0" err="1">
                <a:solidFill>
                  <a:srgbClr val="0070C0"/>
                </a:solidFill>
              </a:rPr>
              <a:t>sampledir</a:t>
            </a:r>
            <a:r>
              <a:rPr lang="en-US" sz="1200" b="1" dirty="0">
                <a:solidFill>
                  <a:srgbClr val="0070C0"/>
                </a:solidFill>
              </a:rPr>
              <a:t>/</a:t>
            </a:r>
            <a:r>
              <a:rPr lang="en-US" sz="1200" b="1" dirty="0" err="1">
                <a:solidFill>
                  <a:srgbClr val="0070C0"/>
                </a:solidFill>
              </a:rPr>
              <a:t>localdir</a:t>
            </a:r>
            <a:r>
              <a:rPr lang="en-US" sz="1200" b="1" dirty="0">
                <a:solidFill>
                  <a:srgbClr val="0070C0"/>
                </a:solidFill>
              </a:rPr>
              <a:t>/gcpfile.csv </a:t>
            </a:r>
            <a:r>
              <a:rPr lang="en-US" sz="1200" dirty="0">
                <a:solidFill>
                  <a:srgbClr val="0070C0"/>
                </a:solidFill>
              </a:rPr>
              <a:t>--account-name </a:t>
            </a:r>
            <a:r>
              <a:rPr lang="en-US" sz="1200" dirty="0" err="1">
                <a:solidFill>
                  <a:srgbClr val="0070C0"/>
                </a:solidFill>
              </a:rPr>
              <a:t>izadlswe</a:t>
            </a:r>
            <a:r>
              <a:rPr lang="en-US" sz="1200" dirty="0">
                <a:solidFill>
                  <a:srgbClr val="0070C0"/>
                </a:solidFill>
              </a:rPr>
              <a:t>  </a:t>
            </a:r>
            <a:r>
              <a:rPr lang="en-US" sz="1200" b="1" dirty="0">
                <a:solidFill>
                  <a:srgbClr val="0070C0"/>
                </a:solidFill>
              </a:rPr>
              <a:t>--tier Hot</a:t>
            </a:r>
            <a:r>
              <a:rPr lang="en-IN" sz="1200" dirty="0">
                <a:solidFill>
                  <a:srgbClr val="0070C0"/>
                </a:solidFill>
              </a:rPr>
              <a:t> --</a:t>
            </a:r>
            <a:r>
              <a:rPr lang="en-IN" sz="1200" b="1" dirty="0">
                <a:solidFill>
                  <a:srgbClr val="0070C0"/>
                </a:solidFill>
              </a:rPr>
              <a:t>overwrite</a:t>
            </a:r>
            <a:r>
              <a:rPr lang="en-IN" sz="1200" dirty="0">
                <a:solidFill>
                  <a:srgbClr val="0070C0"/>
                </a:solidFill>
              </a:rPr>
              <a:t> --</a:t>
            </a:r>
            <a:r>
              <a:rPr lang="en-IN" sz="1200" b="1" dirty="0">
                <a:solidFill>
                  <a:srgbClr val="0070C0"/>
                </a:solidFill>
              </a:rPr>
              <a:t>account-key</a:t>
            </a:r>
            <a:r>
              <a:rPr lang="en-IN" sz="1200" dirty="0">
                <a:solidFill>
                  <a:srgbClr val="0070C0"/>
                </a:solidFill>
              </a:rPr>
              <a:t> "2WRJhCS5de3FQkBuKYJFPufmwtH5aZBJ2DHgKLC9BAYwPm40WyOge4wq12Zyxneb9zBbs2ld47HF+ASteHVZDg=="</a:t>
            </a:r>
          </a:p>
          <a:p>
            <a:endParaRPr lang="en-US" sz="1200" dirty="0">
              <a:solidFill>
                <a:srgbClr val="0070C0"/>
              </a:solidFill>
            </a:endParaRPr>
          </a:p>
          <a:p>
            <a:r>
              <a:rPr lang="en-US" sz="1200" b="1" i="1" dirty="0">
                <a:solidFill>
                  <a:prstClr val="black"/>
                </a:solidFill>
              </a:rPr>
              <a:t>#Download files</a:t>
            </a:r>
          </a:p>
          <a:p>
            <a:r>
              <a:rPr lang="en-US" sz="1200" dirty="0" err="1">
                <a:solidFill>
                  <a:srgbClr val="0070C0"/>
                </a:solidFill>
              </a:rPr>
              <a:t>az</a:t>
            </a:r>
            <a:r>
              <a:rPr lang="en-US" sz="1200" dirty="0">
                <a:solidFill>
                  <a:srgbClr val="0070C0"/>
                </a:solidFill>
              </a:rPr>
              <a:t> storage blob download --container-name container2 --name </a:t>
            </a:r>
            <a:r>
              <a:rPr lang="en-US" sz="1200" dirty="0" err="1">
                <a:solidFill>
                  <a:srgbClr val="0070C0"/>
                </a:solidFill>
              </a:rPr>
              <a:t>sampledir</a:t>
            </a:r>
            <a:r>
              <a:rPr lang="en-US" sz="1200" dirty="0">
                <a:solidFill>
                  <a:srgbClr val="0070C0"/>
                </a:solidFill>
              </a:rPr>
              <a:t>/</a:t>
            </a:r>
            <a:r>
              <a:rPr lang="en-US" sz="1200" dirty="0" err="1">
                <a:solidFill>
                  <a:srgbClr val="0070C0"/>
                </a:solidFill>
              </a:rPr>
              <a:t>localdir</a:t>
            </a:r>
            <a:r>
              <a:rPr lang="en-US" sz="1200" dirty="0">
                <a:solidFill>
                  <a:srgbClr val="0070C0"/>
                </a:solidFill>
              </a:rPr>
              <a:t>/samplefile1 --file </a:t>
            </a:r>
            <a:r>
              <a:rPr lang="en-IN" sz="1200" dirty="0">
                <a:solidFill>
                  <a:srgbClr val="0070C0"/>
                </a:solidFill>
              </a:rPr>
              <a:t>samplefile3</a:t>
            </a:r>
            <a:r>
              <a:rPr lang="en-US" sz="1200" dirty="0">
                <a:solidFill>
                  <a:srgbClr val="0070C0"/>
                </a:solidFill>
              </a:rPr>
              <a:t> --account-name </a:t>
            </a:r>
            <a:r>
              <a:rPr lang="en-US" sz="1200" dirty="0" err="1">
                <a:solidFill>
                  <a:srgbClr val="0070C0"/>
                </a:solidFill>
              </a:rPr>
              <a:t>izadlswe</a:t>
            </a:r>
            <a:r>
              <a:rPr lang="en-US" sz="1200" dirty="0">
                <a:solidFill>
                  <a:srgbClr val="0070C0"/>
                </a:solidFill>
              </a:rPr>
              <a:t> --account-key </a:t>
            </a:r>
            <a:r>
              <a:rPr lang="en-IN" sz="1200" dirty="0">
                <a:solidFill>
                  <a:srgbClr val="0070C0"/>
                </a:solidFill>
              </a:rPr>
              <a:t>"2WRJhCS5de3FQkBuKYJFPufmwtH5aZBJ2DHgKLC9BAYwPm40WyOge4wq12Zyxneb9zBbs2ld47HF+ASteHVZDg=="</a:t>
            </a:r>
            <a:endParaRPr lang="en-US" sz="1200" u="sng" dirty="0">
              <a:ln w="10541" cmpd="sng">
                <a:solidFill>
                  <a:srgbClr val="7D7D7D">
                    <a:tint val="100000"/>
                    <a:shade val="100000"/>
                    <a:satMod val="110000"/>
                  </a:srgbClr>
                </a:solidFill>
                <a:prstDash val="solid"/>
              </a:ln>
              <a:solidFill>
                <a:srgbClr val="0070C0"/>
              </a:solidFill>
            </a:endParaRPr>
          </a:p>
        </p:txBody>
      </p:sp>
      <p:sp>
        <p:nvSpPr>
          <p:cNvPr id="2" name="Rectangle 1"/>
          <p:cNvSpPr/>
          <p:nvPr/>
        </p:nvSpPr>
        <p:spPr>
          <a:xfrm>
            <a:off x="5895926" y="180929"/>
            <a:ext cx="2291012" cy="400110"/>
          </a:xfrm>
          <a:prstGeom prst="rect">
            <a:avLst/>
          </a:prstGeom>
        </p:spPr>
        <p:txBody>
          <a:bodyPr wrap="none">
            <a:spAutoFit/>
          </a:bodyPr>
          <a:lstStyle/>
          <a:p>
            <a:r>
              <a:rPr lang="en-US" sz="2000" i="1" u="sng" dirty="0">
                <a:solidFill>
                  <a:prstClr val="black"/>
                </a:solidFill>
                <a:effectLst>
                  <a:outerShdw blurRad="38100" dist="38100" dir="2700000" algn="tl">
                    <a:srgbClr val="000000">
                      <a:alpha val="43137"/>
                    </a:srgbClr>
                  </a:outerShdw>
                </a:effectLst>
              </a:rPr>
              <a:t>Classroom - Practice</a:t>
            </a:r>
            <a:endParaRPr lang="en-IN" sz="2000" dirty="0">
              <a:solidFill>
                <a:prstClr val="black"/>
              </a:solidFill>
            </a:endParaRPr>
          </a:p>
        </p:txBody>
      </p:sp>
      <p:pic>
        <p:nvPicPr>
          <p:cNvPr id="14"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837050" y="6428554"/>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11">
            <p14:nvContentPartPr>
              <p14:cNvPr id="4" name="Ink 3"/>
              <p14:cNvContentPartPr/>
              <p14:nvPr/>
            </p14:nvContentPartPr>
            <p14:xfrm>
              <a:off x="260280" y="2400120"/>
              <a:ext cx="25920" cy="1835640"/>
            </p14:xfrm>
          </p:contentPart>
        </mc:Choice>
        <mc:Fallback xmlns="">
          <p:pic>
            <p:nvPicPr>
              <p:cNvPr id="4" name="Ink 3"/>
              <p:cNvPicPr/>
              <p:nvPr/>
            </p:nvPicPr>
            <p:blipFill>
              <a:blip r:embed="rId15"/>
              <a:stretch>
                <a:fillRect/>
              </a:stretch>
            </p:blipFill>
            <p:spPr>
              <a:xfrm>
                <a:off x="250920" y="2390760"/>
                <a:ext cx="44640" cy="1854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p14:cNvContentPartPr/>
              <p14:nvPr/>
            </p14:nvContentPartPr>
            <p14:xfrm>
              <a:off x="7759800" y="4838760"/>
              <a:ext cx="360" cy="360"/>
            </p14:xfrm>
          </p:contentPart>
        </mc:Choice>
        <mc:Fallback xmlns="">
          <p:pic>
            <p:nvPicPr>
              <p:cNvPr id="7" name="Ink 6"/>
              <p:cNvPicPr/>
              <p:nvPr/>
            </p:nvPicPr>
            <p:blipFill>
              <a:blip r:embed="rId17"/>
              <a:stretch>
                <a:fillRect/>
              </a:stretch>
            </p:blipFill>
            <p:spPr>
              <a:xfrm>
                <a:off x="7750440" y="4829400"/>
                <a:ext cx="19080" cy="19080"/>
              </a:xfrm>
              <a:prstGeom prst="rect">
                <a:avLst/>
              </a:prstGeom>
            </p:spPr>
          </p:pic>
        </mc:Fallback>
      </mc:AlternateContent>
      <p:sp>
        <p:nvSpPr>
          <p:cNvPr id="3" name="Rectangle 2"/>
          <p:cNvSpPr/>
          <p:nvPr/>
        </p:nvSpPr>
        <p:spPr>
          <a:xfrm>
            <a:off x="-2567" y="3184961"/>
            <a:ext cx="4559197" cy="369332"/>
          </a:xfrm>
          <a:prstGeom prst="rect">
            <a:avLst/>
          </a:prstGeom>
        </p:spPr>
        <p:txBody>
          <a:bodyPr wrap="none">
            <a:spAutoFit/>
          </a:bodyPr>
          <a:lstStyle/>
          <a:p>
            <a:r>
              <a:rPr lang="en-US" b="1" u="sng" dirty="0">
                <a:ln w="10541" cmpd="sng">
                  <a:solidFill>
                    <a:srgbClr val="7D7D7D">
                      <a:tint val="100000"/>
                      <a:shade val="100000"/>
                      <a:satMod val="110000"/>
                    </a:srgbClr>
                  </a:solidFill>
                  <a:prstDash val="solid"/>
                </a:ln>
                <a:solidFill>
                  <a:prstClr val="black"/>
                </a:solidFill>
              </a:rPr>
              <a:t>Performance improvement &amp; </a:t>
            </a:r>
            <a:r>
              <a:rPr lang="en-US" b="1" u="sng" dirty="0" err="1">
                <a:ln w="10541" cmpd="sng">
                  <a:solidFill>
                    <a:srgbClr val="7D7D7D">
                      <a:tint val="100000"/>
                      <a:shade val="100000"/>
                      <a:satMod val="110000"/>
                    </a:srgbClr>
                  </a:solidFill>
                  <a:prstDash val="solid"/>
                </a:ln>
                <a:solidFill>
                  <a:prstClr val="black"/>
                </a:solidFill>
              </a:rPr>
              <a:t>misc</a:t>
            </a:r>
            <a:r>
              <a:rPr lang="en-US" b="1" u="sng" dirty="0">
                <a:ln w="10541" cmpd="sng">
                  <a:solidFill>
                    <a:srgbClr val="7D7D7D">
                      <a:tint val="100000"/>
                      <a:shade val="100000"/>
                      <a:satMod val="110000"/>
                    </a:srgbClr>
                  </a:solidFill>
                  <a:prstDash val="solid"/>
                </a:ln>
                <a:solidFill>
                  <a:prstClr val="black"/>
                </a:solidFill>
              </a:rPr>
              <a:t> commands</a:t>
            </a:r>
          </a:p>
        </p:txBody>
      </p:sp>
      <p:sp>
        <p:nvSpPr>
          <p:cNvPr id="8" name="Rectangle 7"/>
          <p:cNvSpPr/>
          <p:nvPr/>
        </p:nvSpPr>
        <p:spPr>
          <a:xfrm>
            <a:off x="15363" y="3464080"/>
            <a:ext cx="12176637" cy="3216265"/>
          </a:xfrm>
          <a:prstGeom prst="rect">
            <a:avLst/>
          </a:prstGeom>
        </p:spPr>
        <p:txBody>
          <a:bodyPr wrap="square">
            <a:spAutoFit/>
          </a:bodyPr>
          <a:lstStyle/>
          <a:p>
            <a:r>
              <a:rPr lang="en-IN" sz="1400" b="1" i="1" dirty="0">
                <a:solidFill>
                  <a:prstClr val="black"/>
                </a:solidFill>
              </a:rPr>
              <a:t>Multi threaded &amp; recursive copy: </a:t>
            </a:r>
            <a:r>
              <a:rPr lang="en-IN" sz="1400" b="1" i="1" dirty="0">
                <a:solidFill>
                  <a:srgbClr val="C00000"/>
                </a:solidFill>
              </a:rPr>
              <a:t>– Performance factor</a:t>
            </a:r>
            <a:r>
              <a:rPr lang="en-IN" sz="1050" b="1" i="1" dirty="0">
                <a:solidFill>
                  <a:srgbClr val="C00000"/>
                </a:solidFill>
              </a:rPr>
              <a:t> </a:t>
            </a:r>
            <a:r>
              <a:rPr lang="en-IN" sz="1100" b="1" i="1" dirty="0">
                <a:solidFill>
                  <a:srgbClr val="C00000"/>
                </a:solidFill>
              </a:rPr>
              <a:t>  </a:t>
            </a:r>
            <a:r>
              <a:rPr lang="en-IN" sz="1200" b="1" strike="sngStrike" dirty="0" err="1">
                <a:solidFill>
                  <a:srgbClr val="0070C0"/>
                </a:solidFill>
              </a:rPr>
              <a:t>gsutil</a:t>
            </a:r>
            <a:r>
              <a:rPr lang="en-IN" sz="1200" b="1" strike="sngStrike" dirty="0">
                <a:solidFill>
                  <a:srgbClr val="0070C0"/>
                </a:solidFill>
              </a:rPr>
              <a:t> -m </a:t>
            </a:r>
            <a:r>
              <a:rPr lang="en-IN" sz="1200" b="1" strike="sngStrike" dirty="0" err="1">
                <a:solidFill>
                  <a:srgbClr val="0070C0"/>
                </a:solidFill>
              </a:rPr>
              <a:t>cp</a:t>
            </a:r>
            <a:r>
              <a:rPr lang="en-IN" sz="1200" b="1" strike="sngStrike" dirty="0">
                <a:solidFill>
                  <a:srgbClr val="0070C0"/>
                </a:solidFill>
              </a:rPr>
              <a:t> -r /home/</a:t>
            </a:r>
            <a:r>
              <a:rPr lang="en-IN" sz="1200" b="1" strike="sngStrike" dirty="0" err="1">
                <a:solidFill>
                  <a:srgbClr val="0070C0"/>
                </a:solidFill>
              </a:rPr>
              <a:t>hduser</a:t>
            </a:r>
            <a:r>
              <a:rPr lang="en-IN" sz="1200" b="1" strike="sngStrike" dirty="0">
                <a:solidFill>
                  <a:srgbClr val="0070C0"/>
                </a:solidFill>
              </a:rPr>
              <a:t>/hive/data/</a:t>
            </a:r>
            <a:r>
              <a:rPr lang="en-IN" sz="1200" b="1" strike="sngStrike" dirty="0" err="1">
                <a:solidFill>
                  <a:srgbClr val="0070C0"/>
                </a:solidFill>
              </a:rPr>
              <a:t>custs</a:t>
            </a:r>
            <a:r>
              <a:rPr lang="en-IN" sz="1200" b="1" strike="sngStrike" dirty="0">
                <a:solidFill>
                  <a:srgbClr val="0070C0"/>
                </a:solidFill>
              </a:rPr>
              <a:t> gs://source1-weblog-bucket-we43/datadir</a:t>
            </a:r>
          </a:p>
          <a:p>
            <a:r>
              <a:rPr lang="en-IN" sz="1200" dirty="0" err="1">
                <a:solidFill>
                  <a:srgbClr val="0070C0"/>
                </a:solidFill>
              </a:rPr>
              <a:t>az</a:t>
            </a:r>
            <a:r>
              <a:rPr lang="en-IN" sz="1200" dirty="0">
                <a:solidFill>
                  <a:srgbClr val="0070C0"/>
                </a:solidFill>
              </a:rPr>
              <a:t> storage blob </a:t>
            </a:r>
            <a:r>
              <a:rPr lang="en-IN" sz="1200" b="1" dirty="0">
                <a:solidFill>
                  <a:srgbClr val="0070C0"/>
                </a:solidFill>
              </a:rPr>
              <a:t>upload-batch</a:t>
            </a:r>
            <a:r>
              <a:rPr lang="en-IN" sz="1200" dirty="0">
                <a:solidFill>
                  <a:srgbClr val="0070C0"/>
                </a:solidFill>
              </a:rPr>
              <a:t> --source </a:t>
            </a:r>
            <a:r>
              <a:rPr lang="en-IN" sz="1200" dirty="0" err="1">
                <a:solidFill>
                  <a:srgbClr val="0070C0"/>
                </a:solidFill>
              </a:rPr>
              <a:t>localdir</a:t>
            </a:r>
            <a:r>
              <a:rPr lang="en-IN" sz="1200" dirty="0">
                <a:solidFill>
                  <a:srgbClr val="0070C0"/>
                </a:solidFill>
              </a:rPr>
              <a:t> --destination container2/</a:t>
            </a:r>
            <a:r>
              <a:rPr lang="en-IN" sz="1200" dirty="0" err="1">
                <a:solidFill>
                  <a:srgbClr val="0070C0"/>
                </a:solidFill>
              </a:rPr>
              <a:t>sampledir</a:t>
            </a:r>
            <a:r>
              <a:rPr lang="en-IN" sz="1200" dirty="0">
                <a:solidFill>
                  <a:srgbClr val="0070C0"/>
                </a:solidFill>
              </a:rPr>
              <a:t>/</a:t>
            </a:r>
            <a:r>
              <a:rPr lang="en-IN" sz="1200" dirty="0" err="1">
                <a:solidFill>
                  <a:srgbClr val="0070C0"/>
                </a:solidFill>
              </a:rPr>
              <a:t>localdir</a:t>
            </a:r>
            <a:r>
              <a:rPr lang="en-IN" sz="1200" dirty="0">
                <a:solidFill>
                  <a:srgbClr val="0070C0"/>
                </a:solidFill>
              </a:rPr>
              <a:t>/</a:t>
            </a:r>
            <a:r>
              <a:rPr lang="en-IN" sz="1200" dirty="0" err="1">
                <a:solidFill>
                  <a:srgbClr val="0070C0"/>
                </a:solidFill>
              </a:rPr>
              <a:t>targetdir</a:t>
            </a:r>
            <a:r>
              <a:rPr lang="en-IN" sz="1200" dirty="0">
                <a:solidFill>
                  <a:srgbClr val="0070C0"/>
                </a:solidFill>
              </a:rPr>
              <a:t> --account-name </a:t>
            </a:r>
            <a:r>
              <a:rPr lang="en-US" sz="1200" dirty="0" err="1">
                <a:solidFill>
                  <a:srgbClr val="0070C0"/>
                </a:solidFill>
              </a:rPr>
              <a:t>izadlswe</a:t>
            </a:r>
            <a:r>
              <a:rPr lang="en-IN" sz="1200" dirty="0">
                <a:solidFill>
                  <a:srgbClr val="0070C0"/>
                </a:solidFill>
              </a:rPr>
              <a:t>  --account-key "2WRJhCS5de3FQkBuKYJFPufmwtH5aZBJ2DHgKLC9BAYwPm40WyOge4wq12Zyxneb9zBbs2ld47HF+ASteHVZDg=="</a:t>
            </a:r>
            <a:endParaRPr lang="en-IN" sz="1100" dirty="0">
              <a:solidFill>
                <a:srgbClr val="0070C0"/>
              </a:solidFill>
            </a:endParaRPr>
          </a:p>
          <a:p>
            <a:endParaRPr lang="en-US" sz="1100" b="1" dirty="0">
              <a:solidFill>
                <a:prstClr val="black"/>
              </a:solidFill>
            </a:endParaRPr>
          </a:p>
          <a:p>
            <a:r>
              <a:rPr lang="en-IN" sz="1100" b="1" i="1" dirty="0">
                <a:solidFill>
                  <a:prstClr val="black"/>
                </a:solidFill>
              </a:rPr>
              <a:t>Remove Command</a:t>
            </a:r>
          </a:p>
          <a:p>
            <a:r>
              <a:rPr lang="en-US" sz="1200" b="1" i="1" dirty="0">
                <a:solidFill>
                  <a:prstClr val="black"/>
                </a:solidFill>
              </a:rPr>
              <a:t>#Remove an object/file</a:t>
            </a:r>
          </a:p>
          <a:p>
            <a:r>
              <a:rPr lang="en-US" sz="1200" dirty="0" err="1">
                <a:solidFill>
                  <a:srgbClr val="0070C0"/>
                </a:solidFill>
              </a:rPr>
              <a:t>az</a:t>
            </a:r>
            <a:r>
              <a:rPr lang="en-US" sz="1200" dirty="0">
                <a:solidFill>
                  <a:srgbClr val="0070C0"/>
                </a:solidFill>
              </a:rPr>
              <a:t> storage blob delete --container-name container2 --name </a:t>
            </a:r>
            <a:r>
              <a:rPr lang="en-US" sz="1200" dirty="0" err="1">
                <a:solidFill>
                  <a:srgbClr val="0070C0"/>
                </a:solidFill>
              </a:rPr>
              <a:t>sampledir</a:t>
            </a:r>
            <a:r>
              <a:rPr lang="en-US" sz="1200" dirty="0">
                <a:solidFill>
                  <a:srgbClr val="0070C0"/>
                </a:solidFill>
              </a:rPr>
              <a:t>/</a:t>
            </a:r>
            <a:r>
              <a:rPr lang="en-US" sz="1200" dirty="0" err="1">
                <a:solidFill>
                  <a:srgbClr val="0070C0"/>
                </a:solidFill>
              </a:rPr>
              <a:t>localdir</a:t>
            </a:r>
            <a:r>
              <a:rPr lang="en-US" sz="1200" dirty="0">
                <a:solidFill>
                  <a:srgbClr val="0070C0"/>
                </a:solidFill>
              </a:rPr>
              <a:t>/samplefile1 --account-name </a:t>
            </a:r>
            <a:r>
              <a:rPr lang="en-US" sz="1200" dirty="0" err="1">
                <a:solidFill>
                  <a:srgbClr val="0070C0"/>
                </a:solidFill>
              </a:rPr>
              <a:t>izadlswe</a:t>
            </a:r>
            <a:r>
              <a:rPr lang="en-US" sz="1200" dirty="0">
                <a:solidFill>
                  <a:srgbClr val="0070C0"/>
                </a:solidFill>
              </a:rPr>
              <a:t> --account-key </a:t>
            </a:r>
            <a:r>
              <a:rPr lang="en-IN" sz="1200" dirty="0">
                <a:solidFill>
                  <a:srgbClr val="0070C0"/>
                </a:solidFill>
              </a:rPr>
              <a:t>"2WRJhCS5de3FQkBuKYJFPufmwtH5aZBJ2DHgKLC9BAYwPm40WyOge4wq12Zyxneb9zBbs2ld47HF+ASteHVZDg=="</a:t>
            </a:r>
            <a:endParaRPr lang="en-US" sz="1200" dirty="0">
              <a:solidFill>
                <a:srgbClr val="0070C0"/>
              </a:solidFill>
            </a:endParaRPr>
          </a:p>
          <a:p>
            <a:endParaRPr lang="en-US" sz="1200" b="1" dirty="0">
              <a:solidFill>
                <a:srgbClr val="0070C0"/>
              </a:solidFill>
            </a:endParaRPr>
          </a:p>
          <a:p>
            <a:r>
              <a:rPr lang="en-US" sz="1200" b="1" i="1" dirty="0">
                <a:solidFill>
                  <a:prstClr val="black"/>
                </a:solidFill>
              </a:rPr>
              <a:t># List and delete all blobs in the container</a:t>
            </a:r>
            <a:r>
              <a:rPr lang="en-US" sz="1200" i="1" dirty="0">
                <a:solidFill>
                  <a:prstClr val="black"/>
                </a:solidFill>
              </a:rPr>
              <a:t> </a:t>
            </a:r>
          </a:p>
          <a:p>
            <a:r>
              <a:rPr lang="en-US" sz="1200" dirty="0" err="1">
                <a:solidFill>
                  <a:srgbClr val="0070C0"/>
                </a:solidFill>
              </a:rPr>
              <a:t>az</a:t>
            </a:r>
            <a:r>
              <a:rPr lang="en-US" sz="1200" dirty="0">
                <a:solidFill>
                  <a:srgbClr val="0070C0"/>
                </a:solidFill>
              </a:rPr>
              <a:t> storage blob list --account-name </a:t>
            </a:r>
            <a:r>
              <a:rPr lang="en-US" sz="1200" dirty="0" err="1">
                <a:solidFill>
                  <a:srgbClr val="0070C0"/>
                </a:solidFill>
              </a:rPr>
              <a:t>izadlswe</a:t>
            </a:r>
            <a:r>
              <a:rPr lang="en-US" sz="1200" dirty="0">
                <a:solidFill>
                  <a:srgbClr val="0070C0"/>
                </a:solidFill>
              </a:rPr>
              <a:t> --container-name container2 --output table</a:t>
            </a:r>
            <a:endParaRPr lang="en-US" sz="1200" i="1" dirty="0">
              <a:solidFill>
                <a:prstClr val="black"/>
              </a:solidFill>
            </a:endParaRPr>
          </a:p>
          <a:p>
            <a:r>
              <a:rPr lang="en-US" sz="1200" dirty="0" err="1">
                <a:solidFill>
                  <a:srgbClr val="0070C0"/>
                </a:solidFill>
              </a:rPr>
              <a:t>az</a:t>
            </a:r>
            <a:r>
              <a:rPr lang="en-US" sz="1200" dirty="0">
                <a:solidFill>
                  <a:srgbClr val="0070C0"/>
                </a:solidFill>
              </a:rPr>
              <a:t> storage blob </a:t>
            </a:r>
            <a:r>
              <a:rPr lang="en-US" sz="1200" b="1" dirty="0">
                <a:solidFill>
                  <a:srgbClr val="0070C0"/>
                </a:solidFill>
              </a:rPr>
              <a:t>delete-batch</a:t>
            </a:r>
            <a:r>
              <a:rPr lang="en-US" sz="1200" dirty="0">
                <a:solidFill>
                  <a:srgbClr val="0070C0"/>
                </a:solidFill>
              </a:rPr>
              <a:t> --source </a:t>
            </a:r>
            <a:r>
              <a:rPr lang="en-IN" sz="1200" dirty="0">
                <a:solidFill>
                  <a:srgbClr val="0070C0"/>
                </a:solidFill>
              </a:rPr>
              <a:t>container2 </a:t>
            </a:r>
            <a:r>
              <a:rPr lang="en-US" sz="1200" dirty="0">
                <a:solidFill>
                  <a:srgbClr val="0070C0"/>
                </a:solidFill>
              </a:rPr>
              <a:t>--account-name </a:t>
            </a:r>
            <a:r>
              <a:rPr lang="en-IN" sz="1200" dirty="0" err="1">
                <a:solidFill>
                  <a:srgbClr val="0070C0"/>
                </a:solidFill>
              </a:rPr>
              <a:t>izadlswe</a:t>
            </a:r>
            <a:r>
              <a:rPr lang="en-US" sz="1200" dirty="0">
                <a:solidFill>
                  <a:srgbClr val="0070C0"/>
                </a:solidFill>
              </a:rPr>
              <a:t>  --account-key </a:t>
            </a:r>
            <a:r>
              <a:rPr lang="en-IN" sz="1200" dirty="0">
                <a:solidFill>
                  <a:srgbClr val="0070C0"/>
                </a:solidFill>
              </a:rPr>
              <a:t>"2WRJhCS5de3FQkBuKYJFPufmwtH5aZBJ2DHgKLC9BAYwPm40WyOge4wq12Zyxneb9zBbs2ld47HF+ASteHVZDg=="</a:t>
            </a:r>
            <a:endParaRPr lang="en-US" sz="1100" dirty="0">
              <a:solidFill>
                <a:srgbClr val="0070C0"/>
              </a:solidFill>
            </a:endParaRPr>
          </a:p>
          <a:p>
            <a:endParaRPr lang="en-US" sz="1100" b="1" i="1" dirty="0">
              <a:solidFill>
                <a:prstClr val="black"/>
              </a:solidFill>
            </a:endParaRPr>
          </a:p>
          <a:p>
            <a:r>
              <a:rPr lang="en-US" sz="1200" b="1" i="1" dirty="0">
                <a:solidFill>
                  <a:prstClr val="black"/>
                </a:solidFill>
              </a:rPr>
              <a:t># Delete the container itself </a:t>
            </a:r>
          </a:p>
          <a:p>
            <a:r>
              <a:rPr lang="en-US" sz="1200" strike="sngStrike" dirty="0" err="1">
                <a:solidFill>
                  <a:srgbClr val="0070C0"/>
                </a:solidFill>
              </a:rPr>
              <a:t>az</a:t>
            </a:r>
            <a:r>
              <a:rPr lang="en-US" sz="1200" strike="sngStrike" dirty="0">
                <a:solidFill>
                  <a:srgbClr val="0070C0"/>
                </a:solidFill>
              </a:rPr>
              <a:t> storage container delete --name </a:t>
            </a:r>
            <a:r>
              <a:rPr lang="en-IN" sz="1200" strike="sngStrike" dirty="0">
                <a:solidFill>
                  <a:srgbClr val="0070C0"/>
                </a:solidFill>
              </a:rPr>
              <a:t>container1</a:t>
            </a:r>
            <a:r>
              <a:rPr lang="en-US" sz="1200" strike="sngStrike" dirty="0">
                <a:solidFill>
                  <a:srgbClr val="0070C0"/>
                </a:solidFill>
              </a:rPr>
              <a:t> --account-name </a:t>
            </a:r>
            <a:r>
              <a:rPr lang="en-IN" sz="1200" strike="sngStrike" dirty="0" err="1">
                <a:solidFill>
                  <a:srgbClr val="0070C0"/>
                </a:solidFill>
              </a:rPr>
              <a:t>izadlswe</a:t>
            </a:r>
            <a:r>
              <a:rPr lang="en-US" sz="1200" strike="sngStrike" dirty="0">
                <a:solidFill>
                  <a:srgbClr val="0070C0"/>
                </a:solidFill>
              </a:rPr>
              <a:t>  --account-key </a:t>
            </a:r>
            <a:r>
              <a:rPr lang="en-IN" sz="1200" strike="sngStrike" dirty="0">
                <a:solidFill>
                  <a:srgbClr val="0070C0"/>
                </a:solidFill>
              </a:rPr>
              <a:t>"9uKGi3d0CcRMw5WdHHUmoBGot2+VUICJBZFp4BqRwx/q8wUK38YyRru892602EUG7d2d9i+G7MEE+AStp4MmXA=="</a:t>
            </a:r>
            <a:endParaRPr lang="en-US" sz="1200" strike="sngStrike" dirty="0">
              <a:solidFill>
                <a:srgbClr val="0070C0"/>
              </a:solidFill>
            </a:endParaRPr>
          </a:p>
        </p:txBody>
      </p:sp>
    </p:spTree>
    <p:extLst>
      <p:ext uri="{BB962C8B-B14F-4D97-AF65-F5344CB8AC3E}">
        <p14:creationId xmlns:p14="http://schemas.microsoft.com/office/powerpoint/2010/main" val="270779889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200644" y="523156"/>
            <a:ext cx="11618462" cy="369332"/>
          </a:xfrm>
          <a:prstGeom prst="rect">
            <a:avLst/>
          </a:prstGeom>
          <a:noFill/>
        </p:spPr>
        <p:txBody>
          <a:bodyPr wrap="square" lIns="91440" tIns="45720" rIns="91440" bIns="45720">
            <a:spAutoFit/>
          </a:bodyPr>
          <a:lstStyle/>
          <a:p>
            <a:r>
              <a:rPr lang="en-US" b="1" u="sng" dirty="0">
                <a:ln w="10541" cmpd="sng">
                  <a:solidFill>
                    <a:srgbClr val="7D7D7D">
                      <a:tint val="100000"/>
                      <a:shade val="100000"/>
                      <a:satMod val="110000"/>
                    </a:srgbClr>
                  </a:solidFill>
                  <a:prstDash val="solid"/>
                </a:ln>
                <a:solidFill>
                  <a:prstClr val="black"/>
                </a:solidFill>
              </a:rPr>
              <a:t>Security Commands (Access Controls) – </a:t>
            </a:r>
            <a:r>
              <a:rPr lang="en-US" sz="1200" dirty="0">
                <a:ln w="10541" cmpd="sng">
                  <a:solidFill>
                    <a:srgbClr val="7D7D7D">
                      <a:tint val="100000"/>
                      <a:shade val="100000"/>
                      <a:satMod val="110000"/>
                    </a:srgbClr>
                  </a:solidFill>
                  <a:prstDash val="solid"/>
                </a:ln>
                <a:solidFill>
                  <a:prstClr val="black"/>
                </a:solidFill>
              </a:rPr>
              <a:t>Group</a:t>
            </a:r>
            <a:r>
              <a:rPr lang="en-US" sz="1200" b="1" dirty="0">
                <a:ln w="10541" cmpd="sng">
                  <a:solidFill>
                    <a:srgbClr val="7D7D7D">
                      <a:tint val="100000"/>
                      <a:shade val="100000"/>
                      <a:satMod val="110000"/>
                    </a:srgbClr>
                  </a:solidFill>
                  <a:prstDash val="solid"/>
                </a:ln>
                <a:solidFill>
                  <a:prstClr val="black"/>
                </a:solidFill>
              </a:rPr>
              <a:t> </a:t>
            </a:r>
            <a:r>
              <a:rPr lang="en-US" sz="1200" dirty="0">
                <a:ln w="10541" cmpd="sng">
                  <a:solidFill>
                    <a:srgbClr val="7D7D7D">
                      <a:tint val="100000"/>
                      <a:shade val="100000"/>
                      <a:satMod val="110000"/>
                    </a:srgbClr>
                  </a:solidFill>
                  <a:prstDash val="solid"/>
                </a:ln>
                <a:solidFill>
                  <a:prstClr val="black"/>
                </a:solidFill>
              </a:rPr>
              <a:t>-&gt; Users -&gt; Service Principals -&gt; RBAC (IAM) -&gt; Open to internal resource Acct key/ Open to outside SAS(ACLs)</a:t>
            </a:r>
          </a:p>
        </p:txBody>
      </p:sp>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92940" y="6482640"/>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92235" y="864200"/>
            <a:ext cx="10544659" cy="4616648"/>
          </a:xfrm>
          <a:prstGeom prst="rect">
            <a:avLst/>
          </a:prstGeom>
          <a:noFill/>
        </p:spPr>
        <p:txBody>
          <a:bodyPr wrap="square" rtlCol="0">
            <a:spAutoFit/>
          </a:bodyPr>
          <a:lstStyle/>
          <a:p>
            <a:r>
              <a:rPr lang="en-IN" sz="1200" b="1" u="sng" dirty="0">
                <a:solidFill>
                  <a:prstClr val="black"/>
                </a:solidFill>
              </a:rPr>
              <a:t>Access Controls:</a:t>
            </a:r>
          </a:p>
          <a:p>
            <a:r>
              <a:rPr lang="en-US" sz="1200" b="1" u="sng" dirty="0">
                <a:solidFill>
                  <a:prstClr val="black"/>
                </a:solidFill>
              </a:rPr>
              <a:t>Create Shared Access Signature (</a:t>
            </a:r>
            <a:r>
              <a:rPr lang="en-US" sz="1200" b="1" dirty="0">
                <a:solidFill>
                  <a:prstClr val="black"/>
                </a:solidFill>
              </a:rPr>
              <a:t>SAS) Tokens</a:t>
            </a:r>
            <a:r>
              <a:rPr lang="en-US" sz="1200" dirty="0">
                <a:solidFill>
                  <a:prstClr val="black"/>
                </a:solidFill>
              </a:rPr>
              <a:t> (For granting temporary access directly on the directories/files for a time being for external users) </a:t>
            </a:r>
            <a:r>
              <a:rPr lang="en-US" sz="1200" b="1" i="1" dirty="0">
                <a:solidFill>
                  <a:prstClr val="black"/>
                </a:solidFill>
              </a:rPr>
              <a:t>- ACLs</a:t>
            </a:r>
          </a:p>
          <a:p>
            <a:r>
              <a:rPr lang="en-IN" sz="1200" dirty="0" err="1">
                <a:solidFill>
                  <a:srgbClr val="0070C0"/>
                </a:solidFill>
              </a:rPr>
              <a:t>az</a:t>
            </a:r>
            <a:r>
              <a:rPr lang="en-IN" sz="1200" dirty="0">
                <a:solidFill>
                  <a:srgbClr val="0070C0"/>
                </a:solidFill>
              </a:rPr>
              <a:t> storage blob </a:t>
            </a:r>
            <a:r>
              <a:rPr lang="en-IN" sz="1200" b="1" dirty="0">
                <a:solidFill>
                  <a:srgbClr val="0070C0"/>
                </a:solidFill>
              </a:rPr>
              <a:t>generate-</a:t>
            </a:r>
            <a:r>
              <a:rPr lang="en-IN" sz="1200" b="1" dirty="0" err="1">
                <a:solidFill>
                  <a:srgbClr val="0070C0"/>
                </a:solidFill>
              </a:rPr>
              <a:t>sas</a:t>
            </a:r>
            <a:r>
              <a:rPr lang="en-IN" sz="1200" dirty="0">
                <a:solidFill>
                  <a:srgbClr val="0070C0"/>
                </a:solidFill>
              </a:rPr>
              <a:t>   --account-name </a:t>
            </a:r>
            <a:r>
              <a:rPr lang="en-IN" sz="1200" dirty="0" err="1">
                <a:solidFill>
                  <a:srgbClr val="0070C0"/>
                </a:solidFill>
              </a:rPr>
              <a:t>izadlswe</a:t>
            </a:r>
            <a:r>
              <a:rPr lang="en-IN" sz="1200" dirty="0">
                <a:solidFill>
                  <a:srgbClr val="0070C0"/>
                </a:solidFill>
              </a:rPr>
              <a:t>   --container-name container2   --name </a:t>
            </a:r>
            <a:r>
              <a:rPr lang="en-IN" sz="1200" dirty="0" err="1">
                <a:solidFill>
                  <a:srgbClr val="0070C0"/>
                </a:solidFill>
              </a:rPr>
              <a:t>sampledir</a:t>
            </a:r>
            <a:r>
              <a:rPr lang="en-IN" sz="1200" dirty="0">
                <a:solidFill>
                  <a:srgbClr val="0070C0"/>
                </a:solidFill>
              </a:rPr>
              <a:t>/samplefile1   --permissions r   --expiry 2025-08-31T23:59:59Z   --output table</a:t>
            </a:r>
          </a:p>
          <a:p>
            <a:r>
              <a:rPr lang="en-US" sz="1200" dirty="0">
                <a:solidFill>
                  <a:srgbClr val="0070C0"/>
                </a:solidFill>
              </a:rPr>
              <a:t>#se=2024-08-31T23%3A59%3A59Z&amp;sp=</a:t>
            </a:r>
            <a:r>
              <a:rPr lang="en-US" sz="1200" dirty="0" err="1">
                <a:solidFill>
                  <a:srgbClr val="0070C0"/>
                </a:solidFill>
              </a:rPr>
              <a:t>r&amp;sv</a:t>
            </a:r>
            <a:r>
              <a:rPr lang="en-US" sz="1200" dirty="0">
                <a:solidFill>
                  <a:srgbClr val="0070C0"/>
                </a:solidFill>
              </a:rPr>
              <a:t>=2022-11-02&amp;sr=</a:t>
            </a:r>
            <a:r>
              <a:rPr lang="en-US" sz="1200" dirty="0" err="1">
                <a:solidFill>
                  <a:srgbClr val="0070C0"/>
                </a:solidFill>
              </a:rPr>
              <a:t>b&amp;sig</a:t>
            </a:r>
            <a:r>
              <a:rPr lang="en-US" sz="1200" dirty="0">
                <a:solidFill>
                  <a:srgbClr val="0070C0"/>
                </a:solidFill>
              </a:rPr>
              <a:t>=cf6xI1y4pwBsnwt2ogwT7dQ%2FKB8SGk8wdAlHnTgTCug%3D</a:t>
            </a:r>
            <a:endParaRPr lang="en-IN" sz="1200" dirty="0">
              <a:solidFill>
                <a:srgbClr val="0070C0"/>
              </a:solidFill>
            </a:endParaRPr>
          </a:p>
          <a:p>
            <a:endParaRPr lang="en-US" sz="1200" b="1" i="1" dirty="0">
              <a:solidFill>
                <a:prstClr val="black"/>
              </a:solidFill>
            </a:endParaRPr>
          </a:p>
          <a:p>
            <a:r>
              <a:rPr lang="en-US" sz="1200" b="1" u="sng" dirty="0">
                <a:solidFill>
                  <a:prstClr val="black"/>
                </a:solidFill>
              </a:rPr>
              <a:t>Usage of </a:t>
            </a:r>
            <a:r>
              <a:rPr lang="en-US" sz="1200" b="1" dirty="0">
                <a:solidFill>
                  <a:prstClr val="black"/>
                </a:solidFill>
              </a:rPr>
              <a:t>Access/Account keys </a:t>
            </a:r>
            <a:r>
              <a:rPr lang="en-US" sz="1200" dirty="0">
                <a:solidFill>
                  <a:prstClr val="black"/>
                </a:solidFill>
              </a:rPr>
              <a:t>(For using </a:t>
            </a:r>
            <a:r>
              <a:rPr lang="en-US" sz="1200" b="1" i="1" dirty="0">
                <a:solidFill>
                  <a:prstClr val="black"/>
                </a:solidFill>
              </a:rPr>
              <a:t>internally </a:t>
            </a:r>
            <a:r>
              <a:rPr lang="en-US" sz="1200" dirty="0">
                <a:solidFill>
                  <a:prstClr val="black"/>
                </a:solidFill>
              </a:rPr>
              <a:t>in a closed project environment for nearly a month across the resources like </a:t>
            </a:r>
            <a:r>
              <a:rPr lang="en-US" sz="1200" dirty="0" err="1">
                <a:solidFill>
                  <a:prstClr val="black"/>
                </a:solidFill>
              </a:rPr>
              <a:t>datafactory</a:t>
            </a:r>
            <a:r>
              <a:rPr lang="en-US" sz="1200" dirty="0">
                <a:solidFill>
                  <a:prstClr val="black"/>
                </a:solidFill>
              </a:rPr>
              <a:t> -&gt; </a:t>
            </a:r>
            <a:r>
              <a:rPr lang="en-US" sz="1200" dirty="0" err="1">
                <a:solidFill>
                  <a:prstClr val="black"/>
                </a:solidFill>
              </a:rPr>
              <a:t>adls</a:t>
            </a:r>
            <a:r>
              <a:rPr lang="en-US" sz="1200" dirty="0">
                <a:solidFill>
                  <a:prstClr val="black"/>
                </a:solidFill>
              </a:rPr>
              <a:t> -&gt; Databricks) </a:t>
            </a:r>
          </a:p>
          <a:p>
            <a:r>
              <a:rPr lang="en-US" sz="1200" dirty="0" err="1">
                <a:solidFill>
                  <a:srgbClr val="0070C0"/>
                </a:solidFill>
              </a:rPr>
              <a:t>az</a:t>
            </a:r>
            <a:r>
              <a:rPr lang="en-US" sz="1200" dirty="0">
                <a:solidFill>
                  <a:srgbClr val="0070C0"/>
                </a:solidFill>
              </a:rPr>
              <a:t> storage </a:t>
            </a:r>
            <a:r>
              <a:rPr lang="en-US" sz="1200" b="1" dirty="0">
                <a:solidFill>
                  <a:srgbClr val="0070C0"/>
                </a:solidFill>
              </a:rPr>
              <a:t>account keys list </a:t>
            </a:r>
            <a:r>
              <a:rPr lang="en-US" sz="1200" dirty="0">
                <a:solidFill>
                  <a:srgbClr val="0070C0"/>
                </a:solidFill>
              </a:rPr>
              <a:t>--resource-group we45-resourcegroup --account-name </a:t>
            </a:r>
            <a:r>
              <a:rPr lang="en-US" sz="1200" dirty="0" err="1">
                <a:solidFill>
                  <a:srgbClr val="0070C0"/>
                </a:solidFill>
              </a:rPr>
              <a:t>izadlswe</a:t>
            </a:r>
            <a:r>
              <a:rPr lang="en-US" sz="1200" dirty="0">
                <a:solidFill>
                  <a:srgbClr val="0070C0"/>
                </a:solidFill>
              </a:rPr>
              <a:t> --output table</a:t>
            </a:r>
          </a:p>
          <a:p>
            <a:endParaRPr lang="en-IN" sz="1200" b="1" i="1" dirty="0">
              <a:solidFill>
                <a:prstClr val="black"/>
              </a:solidFill>
            </a:endParaRPr>
          </a:p>
          <a:p>
            <a:r>
              <a:rPr lang="en-US" sz="1200" b="1" u="sng" dirty="0">
                <a:solidFill>
                  <a:prstClr val="black"/>
                </a:solidFill>
                <a:highlight>
                  <a:srgbClr val="FFFF00"/>
                </a:highlight>
              </a:rPr>
              <a:t>Preferred - </a:t>
            </a:r>
            <a:r>
              <a:rPr lang="en-US" sz="1200" b="1" dirty="0">
                <a:solidFill>
                  <a:prstClr val="black"/>
                </a:solidFill>
              </a:rPr>
              <a:t>Create Azure AD and RBAC (IAM)</a:t>
            </a:r>
            <a:r>
              <a:rPr lang="en-US" sz="1200" dirty="0">
                <a:solidFill>
                  <a:prstClr val="black"/>
                </a:solidFill>
              </a:rPr>
              <a:t> - </a:t>
            </a:r>
            <a:r>
              <a:rPr lang="en-US" sz="1200" b="1" i="1" dirty="0">
                <a:solidFill>
                  <a:prstClr val="black"/>
                </a:solidFill>
              </a:rPr>
              <a:t>For more permanent and managed access control </a:t>
            </a:r>
            <a:r>
              <a:rPr lang="en-US" sz="1200" dirty="0">
                <a:solidFill>
                  <a:prstClr val="black"/>
                </a:solidFill>
              </a:rPr>
              <a:t>at the </a:t>
            </a:r>
            <a:r>
              <a:rPr lang="en-US" sz="1200" b="1" i="1" dirty="0">
                <a:solidFill>
                  <a:prstClr val="black"/>
                </a:solidFill>
              </a:rPr>
              <a:t>storage container level </a:t>
            </a:r>
            <a:r>
              <a:rPr lang="en-US" sz="1200" dirty="0">
                <a:solidFill>
                  <a:prstClr val="black"/>
                </a:solidFill>
              </a:rPr>
              <a:t>(not at the </a:t>
            </a:r>
            <a:r>
              <a:rPr lang="en-US" sz="1200" dirty="0" err="1">
                <a:solidFill>
                  <a:prstClr val="black"/>
                </a:solidFill>
              </a:rPr>
              <a:t>dir</a:t>
            </a:r>
            <a:r>
              <a:rPr lang="en-US" sz="1200" dirty="0">
                <a:solidFill>
                  <a:prstClr val="black"/>
                </a:solidFill>
              </a:rPr>
              <a:t>/file level)</a:t>
            </a:r>
            <a:endParaRPr lang="en-IN" sz="1200" b="1" i="1" dirty="0">
              <a:solidFill>
                <a:prstClr val="black"/>
              </a:solidFill>
            </a:endParaRPr>
          </a:p>
          <a:p>
            <a:r>
              <a:rPr lang="en-US" sz="1200" i="1" dirty="0" err="1">
                <a:solidFill>
                  <a:srgbClr val="0070C0"/>
                </a:solidFill>
              </a:rPr>
              <a:t>az</a:t>
            </a:r>
            <a:r>
              <a:rPr lang="en-US" sz="1200" i="1" dirty="0">
                <a:solidFill>
                  <a:srgbClr val="0070C0"/>
                </a:solidFill>
              </a:rPr>
              <a:t> role assignment create --assignee principal_</a:t>
            </a:r>
            <a:r>
              <a:rPr lang="en-US" sz="1200" i="1" dirty="0">
                <a:solidFill>
                  <a:srgbClr val="0070C0"/>
                </a:solidFill>
                <a:hlinkClick r:id="rId4"/>
              </a:rPr>
              <a:t>mailid@gmail.com</a:t>
            </a:r>
            <a:r>
              <a:rPr lang="en-US" sz="1200" i="1" dirty="0">
                <a:solidFill>
                  <a:srgbClr val="0070C0"/>
                </a:solidFill>
              </a:rPr>
              <a:t>/</a:t>
            </a:r>
            <a:r>
              <a:rPr lang="en-US" sz="1200" i="1" dirty="0" err="1">
                <a:solidFill>
                  <a:srgbClr val="0070C0"/>
                </a:solidFill>
              </a:rPr>
              <a:t>principalid</a:t>
            </a:r>
            <a:r>
              <a:rPr lang="en-US" sz="1200" i="1" dirty="0">
                <a:solidFill>
                  <a:srgbClr val="0070C0"/>
                </a:solidFill>
              </a:rPr>
              <a:t>  --role "Storage Blob Data Reader"  --scope /subscriptions/&lt;subscription-id&gt;/</a:t>
            </a:r>
            <a:r>
              <a:rPr lang="en-US" sz="1200" i="1" dirty="0" err="1">
                <a:solidFill>
                  <a:srgbClr val="0070C0"/>
                </a:solidFill>
              </a:rPr>
              <a:t>resourceGroups</a:t>
            </a:r>
            <a:r>
              <a:rPr lang="en-US" sz="1200" i="1" dirty="0">
                <a:solidFill>
                  <a:srgbClr val="0070C0"/>
                </a:solidFill>
              </a:rPr>
              <a:t>/&lt;resource-group&gt;/providers/</a:t>
            </a:r>
            <a:r>
              <a:rPr lang="en-US" sz="1200" i="1" dirty="0" err="1">
                <a:solidFill>
                  <a:srgbClr val="0070C0"/>
                </a:solidFill>
              </a:rPr>
              <a:t>Microsoft.Storage</a:t>
            </a:r>
            <a:r>
              <a:rPr lang="en-US" sz="1200" i="1" dirty="0">
                <a:solidFill>
                  <a:srgbClr val="0070C0"/>
                </a:solidFill>
              </a:rPr>
              <a:t>/</a:t>
            </a:r>
            <a:r>
              <a:rPr lang="en-US" sz="1200" i="1" dirty="0" err="1">
                <a:solidFill>
                  <a:srgbClr val="0070C0"/>
                </a:solidFill>
              </a:rPr>
              <a:t>storageAccounts</a:t>
            </a:r>
            <a:r>
              <a:rPr lang="en-US" sz="1200" i="1" dirty="0">
                <a:solidFill>
                  <a:srgbClr val="0070C0"/>
                </a:solidFill>
              </a:rPr>
              <a:t>/&lt;storage-account-name&gt;/</a:t>
            </a:r>
            <a:r>
              <a:rPr lang="en-US" sz="1200" i="1" dirty="0" err="1">
                <a:solidFill>
                  <a:srgbClr val="0070C0"/>
                </a:solidFill>
              </a:rPr>
              <a:t>blobServices</a:t>
            </a:r>
            <a:r>
              <a:rPr lang="en-US" sz="1200" i="1" dirty="0">
                <a:solidFill>
                  <a:srgbClr val="0070C0"/>
                </a:solidFill>
              </a:rPr>
              <a:t>/default/containers/&lt;container-name&gt;</a:t>
            </a:r>
          </a:p>
          <a:p>
            <a:endParaRPr lang="en-US" sz="1200" b="1" i="1" dirty="0">
              <a:solidFill>
                <a:prstClr val="black"/>
              </a:solidFill>
            </a:endParaRPr>
          </a:p>
          <a:p>
            <a:r>
              <a:rPr lang="en-US" sz="1200" dirty="0" err="1">
                <a:solidFill>
                  <a:srgbClr val="0070C0"/>
                </a:solidFill>
              </a:rPr>
              <a:t>az</a:t>
            </a:r>
            <a:r>
              <a:rPr lang="en-US" sz="1200" dirty="0">
                <a:solidFill>
                  <a:srgbClr val="0070C0"/>
                </a:solidFill>
              </a:rPr>
              <a:t> account list --output table</a:t>
            </a:r>
          </a:p>
          <a:p>
            <a:endParaRPr lang="en-US" sz="1200" b="1" i="1" dirty="0">
              <a:solidFill>
                <a:srgbClr val="0070C0"/>
              </a:solidFill>
            </a:endParaRPr>
          </a:p>
          <a:p>
            <a:r>
              <a:rPr lang="en-US" sz="1200" b="1" i="1" dirty="0">
                <a:solidFill>
                  <a:prstClr val="black"/>
                </a:solidFill>
              </a:rPr>
              <a:t>#Change the container IAM (RBAC) access (copy the </a:t>
            </a:r>
            <a:r>
              <a:rPr lang="en-US" sz="1200" b="1" i="1" dirty="0" err="1">
                <a:solidFill>
                  <a:prstClr val="black"/>
                </a:solidFill>
              </a:rPr>
              <a:t>assigne</a:t>
            </a:r>
            <a:r>
              <a:rPr lang="en-US" sz="1200" b="1" i="1" dirty="0">
                <a:solidFill>
                  <a:prstClr val="black"/>
                </a:solidFill>
              </a:rPr>
              <a:t> principal from the active </a:t>
            </a:r>
            <a:r>
              <a:rPr lang="en-US" sz="1200" b="1" i="1" dirty="0" err="1">
                <a:solidFill>
                  <a:prstClr val="black"/>
                </a:solidFill>
              </a:rPr>
              <a:t>dir</a:t>
            </a:r>
            <a:r>
              <a:rPr lang="en-US" sz="1200" b="1" i="1" dirty="0">
                <a:solidFill>
                  <a:prstClr val="black"/>
                </a:solidFill>
              </a:rPr>
              <a:t>) – SPECIFIC TO THE USER</a:t>
            </a:r>
          </a:p>
          <a:p>
            <a:r>
              <a:rPr lang="en-US" sz="1200" i="1" dirty="0" err="1">
                <a:solidFill>
                  <a:srgbClr val="0070C0"/>
                </a:solidFill>
              </a:rPr>
              <a:t>az</a:t>
            </a:r>
            <a:r>
              <a:rPr lang="en-US" sz="1200" i="1" dirty="0">
                <a:solidFill>
                  <a:srgbClr val="0070C0"/>
                </a:solidFill>
              </a:rPr>
              <a:t> role assignment create  --assignee </a:t>
            </a:r>
            <a:r>
              <a:rPr lang="en-US" dirty="0">
                <a:solidFill>
                  <a:prstClr val="black"/>
                </a:solidFill>
              </a:rPr>
              <a:t>vjbalaece11_gmail.com#EXT#@inctech2015gmail.onmicrosoft.com</a:t>
            </a:r>
            <a:r>
              <a:rPr lang="en-IN" sz="1200" dirty="0">
                <a:solidFill>
                  <a:prstClr val="black"/>
                </a:solidFill>
              </a:rPr>
              <a:t> </a:t>
            </a:r>
            <a:r>
              <a:rPr lang="en-US" sz="1200" i="1" dirty="0">
                <a:solidFill>
                  <a:srgbClr val="0070C0"/>
                </a:solidFill>
              </a:rPr>
              <a:t>--role "Storage Blob Data Contributor"   --scope /subscriptions/</a:t>
            </a:r>
            <a:r>
              <a:rPr lang="en-IN" sz="1200" b="1" dirty="0">
                <a:solidFill>
                  <a:srgbClr val="0070C0"/>
                </a:solidFill>
              </a:rPr>
              <a:t>445b9ed0-3121-4340-bd7f-8935df4be9f0</a:t>
            </a:r>
            <a:r>
              <a:rPr lang="en-US" sz="1200" i="1" dirty="0">
                <a:solidFill>
                  <a:srgbClr val="0070C0"/>
                </a:solidFill>
              </a:rPr>
              <a:t>/</a:t>
            </a:r>
            <a:r>
              <a:rPr lang="en-US" sz="1200" i="1" dirty="0" err="1">
                <a:solidFill>
                  <a:srgbClr val="0070C0"/>
                </a:solidFill>
              </a:rPr>
              <a:t>resourceGroups</a:t>
            </a:r>
            <a:r>
              <a:rPr lang="en-US" sz="1200" i="1" dirty="0">
                <a:solidFill>
                  <a:srgbClr val="0070C0"/>
                </a:solidFill>
              </a:rPr>
              <a:t>/we45-resourcegroup/providers/</a:t>
            </a:r>
            <a:r>
              <a:rPr lang="en-US" sz="1200" i="1" dirty="0" err="1">
                <a:solidFill>
                  <a:srgbClr val="0070C0"/>
                </a:solidFill>
              </a:rPr>
              <a:t>Microsoft.Storage</a:t>
            </a:r>
            <a:r>
              <a:rPr lang="en-US" sz="1200" i="1" dirty="0">
                <a:solidFill>
                  <a:srgbClr val="0070C0"/>
                </a:solidFill>
              </a:rPr>
              <a:t>/</a:t>
            </a:r>
            <a:r>
              <a:rPr lang="en-US" sz="1200" i="1" dirty="0" err="1">
                <a:solidFill>
                  <a:srgbClr val="0070C0"/>
                </a:solidFill>
              </a:rPr>
              <a:t>storageAccounts</a:t>
            </a:r>
            <a:r>
              <a:rPr lang="en-US" sz="1200" i="1" dirty="0">
                <a:solidFill>
                  <a:srgbClr val="0070C0"/>
                </a:solidFill>
              </a:rPr>
              <a:t>/</a:t>
            </a:r>
            <a:r>
              <a:rPr lang="en-IN" sz="1200" dirty="0" err="1">
                <a:solidFill>
                  <a:srgbClr val="0070C0"/>
                </a:solidFill>
              </a:rPr>
              <a:t>izadlswe</a:t>
            </a:r>
            <a:r>
              <a:rPr lang="en-US" sz="1200" i="1" dirty="0">
                <a:solidFill>
                  <a:srgbClr val="0070C0"/>
                </a:solidFill>
              </a:rPr>
              <a:t>/</a:t>
            </a:r>
            <a:r>
              <a:rPr lang="en-US" sz="1200" i="1" dirty="0" err="1">
                <a:solidFill>
                  <a:srgbClr val="0070C0"/>
                </a:solidFill>
              </a:rPr>
              <a:t>blobServices</a:t>
            </a:r>
            <a:r>
              <a:rPr lang="en-US" sz="1200" i="1" dirty="0">
                <a:solidFill>
                  <a:srgbClr val="0070C0"/>
                </a:solidFill>
              </a:rPr>
              <a:t>/default/containers/container2</a:t>
            </a:r>
          </a:p>
          <a:p>
            <a:endParaRPr lang="en-US" sz="1200" b="1" i="1" dirty="0">
              <a:solidFill>
                <a:prstClr val="black"/>
              </a:solidFill>
            </a:endParaRPr>
          </a:p>
          <a:p>
            <a:r>
              <a:rPr lang="en-IN" sz="1200" b="1" i="1" dirty="0">
                <a:solidFill>
                  <a:prstClr val="black"/>
                </a:solidFill>
              </a:rPr>
              <a:t>Public Access: </a:t>
            </a:r>
            <a:r>
              <a:rPr lang="en-US" sz="1200" b="1" i="1" dirty="0">
                <a:solidFill>
                  <a:prstClr val="black"/>
                </a:solidFill>
              </a:rPr>
              <a:t>Check for PAP is on/off: </a:t>
            </a:r>
          </a:p>
          <a:p>
            <a:r>
              <a:rPr lang="en-US" sz="1200" dirty="0" err="1">
                <a:solidFill>
                  <a:srgbClr val="0070C0"/>
                </a:solidFill>
              </a:rPr>
              <a:t>az</a:t>
            </a:r>
            <a:r>
              <a:rPr lang="en-US" sz="1200" dirty="0">
                <a:solidFill>
                  <a:srgbClr val="0070C0"/>
                </a:solidFill>
              </a:rPr>
              <a:t> storage account show   --name </a:t>
            </a:r>
            <a:r>
              <a:rPr lang="en-US" sz="1200" dirty="0" err="1">
                <a:solidFill>
                  <a:srgbClr val="0070C0"/>
                </a:solidFill>
              </a:rPr>
              <a:t>izadlswe</a:t>
            </a:r>
            <a:r>
              <a:rPr lang="en-US" sz="1200" dirty="0">
                <a:solidFill>
                  <a:srgbClr val="0070C0"/>
                </a:solidFill>
              </a:rPr>
              <a:t>   --resource-group  we45-resourcegroup  --query "</a:t>
            </a:r>
            <a:r>
              <a:rPr lang="en-US" sz="1200" dirty="0" err="1">
                <a:solidFill>
                  <a:srgbClr val="0070C0"/>
                </a:solidFill>
              </a:rPr>
              <a:t>allowBlobPublicAccess</a:t>
            </a:r>
            <a:r>
              <a:rPr lang="en-US" sz="1200" dirty="0">
                <a:solidFill>
                  <a:srgbClr val="0070C0"/>
                </a:solidFill>
              </a:rPr>
              <a:t>"</a:t>
            </a:r>
          </a:p>
          <a:p>
            <a:r>
              <a:rPr lang="en-US" sz="1200" dirty="0" err="1">
                <a:solidFill>
                  <a:srgbClr val="0070C0"/>
                </a:solidFill>
              </a:rPr>
              <a:t>az</a:t>
            </a:r>
            <a:r>
              <a:rPr lang="en-US" sz="1200" dirty="0">
                <a:solidFill>
                  <a:srgbClr val="0070C0"/>
                </a:solidFill>
              </a:rPr>
              <a:t> storage account update  </a:t>
            </a:r>
            <a:r>
              <a:rPr lang="en-US" sz="1200" b="1" dirty="0">
                <a:solidFill>
                  <a:srgbClr val="0070C0"/>
                </a:solidFill>
              </a:rPr>
              <a:t>--name </a:t>
            </a:r>
            <a:r>
              <a:rPr lang="en-US" sz="1200" b="1" dirty="0" err="1">
                <a:solidFill>
                  <a:srgbClr val="0070C0"/>
                </a:solidFill>
              </a:rPr>
              <a:t>izadlswe</a:t>
            </a:r>
            <a:r>
              <a:rPr lang="en-US" sz="1200" b="1" dirty="0">
                <a:solidFill>
                  <a:srgbClr val="0070C0"/>
                </a:solidFill>
              </a:rPr>
              <a:t> </a:t>
            </a:r>
            <a:r>
              <a:rPr lang="en-US" sz="1200" dirty="0">
                <a:solidFill>
                  <a:srgbClr val="0070C0"/>
                </a:solidFill>
              </a:rPr>
              <a:t>--resource-group we45-resourcegroup </a:t>
            </a:r>
            <a:r>
              <a:rPr lang="en-US" sz="1200" b="1" dirty="0">
                <a:solidFill>
                  <a:srgbClr val="0070C0"/>
                </a:solidFill>
              </a:rPr>
              <a:t>--allow-blob-public-access true</a:t>
            </a:r>
          </a:p>
          <a:p>
            <a:r>
              <a:rPr lang="en-US" sz="1200" dirty="0" err="1">
                <a:solidFill>
                  <a:srgbClr val="0070C0"/>
                </a:solidFill>
              </a:rPr>
              <a:t>az</a:t>
            </a:r>
            <a:r>
              <a:rPr lang="en-US" sz="1200" dirty="0">
                <a:solidFill>
                  <a:srgbClr val="0070C0"/>
                </a:solidFill>
              </a:rPr>
              <a:t> storage </a:t>
            </a:r>
            <a:r>
              <a:rPr lang="en-US" sz="1200" b="1" dirty="0">
                <a:solidFill>
                  <a:srgbClr val="0070C0"/>
                </a:solidFill>
              </a:rPr>
              <a:t>container set-permission --name container2</a:t>
            </a:r>
            <a:r>
              <a:rPr lang="en-US" sz="1200" dirty="0">
                <a:solidFill>
                  <a:srgbClr val="0070C0"/>
                </a:solidFill>
              </a:rPr>
              <a:t> --account-name </a:t>
            </a:r>
            <a:r>
              <a:rPr lang="en-US" sz="1200" dirty="0" err="1">
                <a:solidFill>
                  <a:srgbClr val="0070C0"/>
                </a:solidFill>
              </a:rPr>
              <a:t>izadlswe</a:t>
            </a:r>
            <a:r>
              <a:rPr lang="en-US" sz="1200" dirty="0">
                <a:solidFill>
                  <a:srgbClr val="0070C0"/>
                </a:solidFill>
              </a:rPr>
              <a:t> </a:t>
            </a:r>
            <a:r>
              <a:rPr lang="en-US" sz="1200" b="1" dirty="0">
                <a:solidFill>
                  <a:srgbClr val="0070C0"/>
                </a:solidFill>
              </a:rPr>
              <a:t>--public-access blob</a:t>
            </a:r>
            <a:endParaRPr lang="en-IN" sz="1200" b="1" dirty="0">
              <a:solidFill>
                <a:srgbClr val="0070C0"/>
              </a:solidFill>
            </a:endParaRPr>
          </a:p>
        </p:txBody>
      </p:sp>
      <p:sp>
        <p:nvSpPr>
          <p:cNvPr id="9"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t>Azure Cloud Storage (Security)</a:t>
            </a:r>
            <a:r>
              <a:rPr lang="en-US" sz="2000" dirty="0"/>
              <a:t>  (</a:t>
            </a:r>
            <a:r>
              <a:rPr lang="en-US" sz="2000" dirty="0" err="1"/>
              <a:t>gsutil</a:t>
            </a:r>
            <a:r>
              <a:rPr lang="en-US" sz="2000" dirty="0"/>
              <a:t> commands)</a:t>
            </a:r>
            <a:endParaRPr lang="en-US" sz="3200" dirty="0"/>
          </a:p>
        </p:txBody>
      </p:sp>
      <p:sp>
        <p:nvSpPr>
          <p:cNvPr id="11" name="Rectangle 10"/>
          <p:cNvSpPr/>
          <p:nvPr/>
        </p:nvSpPr>
        <p:spPr>
          <a:xfrm>
            <a:off x="9242241" y="173245"/>
            <a:ext cx="2291012" cy="400110"/>
          </a:xfrm>
          <a:prstGeom prst="rect">
            <a:avLst/>
          </a:prstGeom>
        </p:spPr>
        <p:txBody>
          <a:bodyPr wrap="none">
            <a:spAutoFit/>
          </a:bodyPr>
          <a:lstStyle/>
          <a:p>
            <a:r>
              <a:rPr lang="en-US" sz="2000" i="1" u="sng" dirty="0">
                <a:solidFill>
                  <a:prstClr val="black"/>
                </a:solidFill>
                <a:effectLst>
                  <a:outerShdw blurRad="38100" dist="38100" dir="2700000" algn="tl">
                    <a:srgbClr val="000000">
                      <a:alpha val="43137"/>
                    </a:srgbClr>
                  </a:outerShdw>
                </a:effectLst>
              </a:rPr>
              <a:t>Classroom - Practice</a:t>
            </a:r>
            <a:endParaRPr lang="en-IN" sz="2000" dirty="0">
              <a:solidFill>
                <a:prstClr val="black"/>
              </a:solidFill>
            </a:endParaRPr>
          </a:p>
        </p:txBody>
      </p:sp>
      <p:grpSp>
        <p:nvGrpSpPr>
          <p:cNvPr id="13" name="Group 12"/>
          <p:cNvGrpSpPr/>
          <p:nvPr/>
        </p:nvGrpSpPr>
        <p:grpSpPr>
          <a:xfrm>
            <a:off x="10674337" y="1195399"/>
            <a:ext cx="1392157" cy="1474784"/>
            <a:chOff x="8622919" y="-50014"/>
            <a:chExt cx="1457840" cy="1544366"/>
          </a:xfrm>
        </p:grpSpPr>
        <p:pic>
          <p:nvPicPr>
            <p:cNvPr id="15" name="Picture 14"/>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60000" contrast="80000"/>
                      </a14:imgEffect>
                    </a14:imgLayer>
                  </a14:imgProps>
                </a:ext>
                <a:ext uri="{28A0092B-C50C-407E-A947-70E740481C1C}">
                  <a14:useLocalDpi xmlns:a14="http://schemas.microsoft.com/office/drawing/2010/main" val="0"/>
                </a:ext>
              </a:extLst>
            </a:blip>
            <a:srcRect/>
            <a:stretch>
              <a:fillRect/>
            </a:stretch>
          </p:blipFill>
          <p:spPr bwMode="auto">
            <a:xfrm>
              <a:off x="8688429" y="-50014"/>
              <a:ext cx="1251285" cy="1251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6" name="TextBox 15"/>
            <p:cNvSpPr txBox="1"/>
            <p:nvPr/>
          </p:nvSpPr>
          <p:spPr>
            <a:xfrm>
              <a:off x="8622919" y="1204284"/>
              <a:ext cx="1457840" cy="290068"/>
            </a:xfrm>
            <a:prstGeom prst="rect">
              <a:avLst/>
            </a:prstGeom>
            <a:noFill/>
          </p:spPr>
          <p:txBody>
            <a:bodyPr wrap="square" rtlCol="0">
              <a:spAutoFit/>
            </a:bodyPr>
            <a:lstStyle/>
            <a:p>
              <a:r>
                <a:rPr lang="en-US" sz="1200" b="1" dirty="0">
                  <a:solidFill>
                    <a:prstClr val="black"/>
                  </a:solidFill>
                  <a:effectLst>
                    <a:outerShdw blurRad="38100" dist="38100" dir="2700000" algn="tl">
                      <a:srgbClr val="000000">
                        <a:alpha val="43137"/>
                      </a:srgbClr>
                    </a:outerShdw>
                  </a:effectLst>
                </a:rPr>
                <a:t>Cloud Admin Role</a:t>
              </a:r>
              <a:endParaRPr lang="en-IN" sz="1200" b="1" dirty="0">
                <a:solidFill>
                  <a:prstClr val="black"/>
                </a:solidFill>
                <a:effectLst>
                  <a:outerShdw blurRad="38100" dist="38100" dir="2700000" algn="tl">
                    <a:srgbClr val="000000">
                      <a:alpha val="43137"/>
                    </a:srgbClr>
                  </a:outerShdw>
                </a:effectLst>
              </a:endParaRPr>
            </a:p>
          </p:txBody>
        </p:sp>
      </p:grpSp>
      <p:graphicFrame>
        <p:nvGraphicFramePr>
          <p:cNvPr id="4" name="Table 3">
            <a:extLst>
              <a:ext uri="{FF2B5EF4-FFF2-40B4-BE49-F238E27FC236}">
                <a16:creationId xmlns:a16="http://schemas.microsoft.com/office/drawing/2014/main" xmlns="" id="{F4FE0DDB-7305-34BA-07FA-890381EB3660}"/>
              </a:ext>
            </a:extLst>
          </p:cNvPr>
          <p:cNvGraphicFramePr>
            <a:graphicFrameLocks noGrp="1"/>
          </p:cNvGraphicFramePr>
          <p:nvPr>
            <p:extLst>
              <p:ext uri="{D42A27DB-BD31-4B8C-83A1-F6EECF244321}">
                <p14:modId xmlns:p14="http://schemas.microsoft.com/office/powerpoint/2010/main" val="4266763357"/>
              </p:ext>
            </p:extLst>
          </p:nvPr>
        </p:nvGraphicFramePr>
        <p:xfrm>
          <a:off x="1102586" y="5404595"/>
          <a:ext cx="9504455" cy="1440180"/>
        </p:xfrm>
        <a:graphic>
          <a:graphicData uri="http://schemas.openxmlformats.org/drawingml/2006/table">
            <a:tbl>
              <a:tblPr>
                <a:tableStyleId>{5C22544A-7EE6-4342-B048-85BDC9FD1C3A}</a:tableStyleId>
              </a:tblPr>
              <a:tblGrid>
                <a:gridCol w="2379382">
                  <a:extLst>
                    <a:ext uri="{9D8B030D-6E8A-4147-A177-3AD203B41FA5}">
                      <a16:colId xmlns:a16="http://schemas.microsoft.com/office/drawing/2014/main" xmlns="" val="4108656277"/>
                    </a:ext>
                  </a:extLst>
                </a:gridCol>
                <a:gridCol w="2000250">
                  <a:extLst>
                    <a:ext uri="{9D8B030D-6E8A-4147-A177-3AD203B41FA5}">
                      <a16:colId xmlns:a16="http://schemas.microsoft.com/office/drawing/2014/main" xmlns="" val="1965770568"/>
                    </a:ext>
                  </a:extLst>
                </a:gridCol>
                <a:gridCol w="1281206">
                  <a:extLst>
                    <a:ext uri="{9D8B030D-6E8A-4147-A177-3AD203B41FA5}">
                      <a16:colId xmlns:a16="http://schemas.microsoft.com/office/drawing/2014/main" xmlns="" val="3051764061"/>
                    </a:ext>
                  </a:extLst>
                </a:gridCol>
                <a:gridCol w="3843617">
                  <a:extLst>
                    <a:ext uri="{9D8B030D-6E8A-4147-A177-3AD203B41FA5}">
                      <a16:colId xmlns:a16="http://schemas.microsoft.com/office/drawing/2014/main" xmlns="" val="2342782371"/>
                    </a:ext>
                  </a:extLst>
                </a:gridCol>
              </a:tblGrid>
              <a:tr h="182880">
                <a:tc>
                  <a:txBody>
                    <a:bodyPr/>
                    <a:lstStyle/>
                    <a:p>
                      <a:pPr algn="ctr" fontAlgn="ctr">
                        <a:buNone/>
                      </a:pPr>
                      <a:r>
                        <a:rPr lang="en-US" sz="1100" b="1" u="none" strike="noStrike" dirty="0">
                          <a:effectLst/>
                        </a:rPr>
                        <a:t>Security Model</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100" b="1" u="none" strike="noStrike">
                          <a:effectLst/>
                        </a:rPr>
                        <a:t>Azure Blob Storage</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100" b="1" u="none" strike="noStrike">
                          <a:effectLst/>
                        </a:rPr>
                        <a:t>ADLS Gen2</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100" b="1" u="none" strike="noStrike" dirty="0">
                          <a:effectLst/>
                        </a:rPr>
                        <a:t>When to Use</a:t>
                      </a:r>
                      <a:endParaRPr lang="en-US" sz="11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971743348"/>
                  </a:ext>
                </a:extLst>
              </a:tr>
              <a:tr h="182880">
                <a:tc>
                  <a:txBody>
                    <a:bodyPr/>
                    <a:lstStyle/>
                    <a:p>
                      <a:pPr algn="l" fontAlgn="ctr">
                        <a:buNone/>
                      </a:pPr>
                      <a:r>
                        <a:rPr lang="en-US" sz="1100" b="1" u="none" strike="noStrike" dirty="0">
                          <a:effectLst/>
                        </a:rPr>
                        <a:t>Account Keys (Shared Key)</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Supported</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Supported</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Legacy/testing, internal connection between other resources (</a:t>
                      </a:r>
                      <a:r>
                        <a:rPr lang="en-US" sz="1100" u="none" strike="noStrike" dirty="0" err="1">
                          <a:effectLst/>
                        </a:rPr>
                        <a:t>datafactory</a:t>
                      </a:r>
                      <a:r>
                        <a:rPr lang="en-US" sz="1100" u="none" strike="noStrike" dirty="0">
                          <a:effectLst/>
                        </a:rPr>
                        <a:t>/</a:t>
                      </a:r>
                      <a:r>
                        <a:rPr lang="en-US" sz="1100" u="none" strike="noStrike" dirty="0" err="1">
                          <a:effectLst/>
                        </a:rPr>
                        <a:t>databricks</a:t>
                      </a:r>
                      <a:r>
                        <a:rPr lang="en-US" sz="1100" u="none" strike="noStrike" dirty="0">
                          <a:effectLst/>
                        </a:rPr>
                        <a:t>), avoid in production (too much privilege).</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3671382034"/>
                  </a:ext>
                </a:extLst>
              </a:tr>
              <a:tr h="365760">
                <a:tc>
                  <a:txBody>
                    <a:bodyPr/>
                    <a:lstStyle/>
                    <a:p>
                      <a:pPr algn="l" fontAlgn="ctr">
                        <a:buNone/>
                      </a:pPr>
                      <a:r>
                        <a:rPr lang="en-US" sz="1100" u="none" strike="noStrike" dirty="0">
                          <a:effectLst/>
                        </a:rPr>
                        <a:t>SAS Tokens (Shared Access Signature)</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Supported (Service SAS, Account SAS, User Delegation SAS)</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Supported</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Fine grained access for Temporary, limited access (read/list/delete) for apps/users; external sharing.</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2638810857"/>
                  </a:ext>
                </a:extLst>
              </a:tr>
              <a:tr h="365760">
                <a:tc>
                  <a:txBody>
                    <a:bodyPr/>
                    <a:lstStyle/>
                    <a:p>
                      <a:pPr algn="l" fontAlgn="ctr">
                        <a:buNone/>
                      </a:pPr>
                      <a:r>
                        <a:rPr lang="en-US" sz="1100" b="1" u="none" strike="noStrike" dirty="0">
                          <a:effectLst/>
                        </a:rPr>
                        <a:t>RBAC (Role-Based Access Control)</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Supported (at storage account/container level)</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Supported</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Important access control used widely - High-level access control (e.g., Blob Data Reader).</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591696785"/>
                  </a:ext>
                </a:extLst>
              </a:tr>
              <a:tr h="182880">
                <a:tc>
                  <a:txBody>
                    <a:bodyPr/>
                    <a:lstStyle/>
                    <a:p>
                      <a:pPr algn="l" fontAlgn="ctr">
                        <a:buNone/>
                      </a:pPr>
                      <a:r>
                        <a:rPr lang="en-US" sz="1100" u="none" strike="noStrike" dirty="0">
                          <a:effectLst/>
                        </a:rPr>
                        <a:t>ACLs (SAS)</a:t>
                      </a:r>
                      <a:endParaRPr lang="en-US" sz="11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Not supported</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 Supported</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Fine-grained, folder/file-level control in data lake scenarios.</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1692349964"/>
                  </a:ext>
                </a:extLst>
              </a:tr>
            </a:tbl>
          </a:graphicData>
        </a:graphic>
      </p:graphicFrame>
    </p:spTree>
    <p:extLst>
      <p:ext uri="{BB962C8B-B14F-4D97-AF65-F5344CB8AC3E}">
        <p14:creationId xmlns:p14="http://schemas.microsoft.com/office/powerpoint/2010/main" val="118530891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52518" y="82458"/>
            <a:ext cx="5577450" cy="40334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latin typeface="Calibri"/>
              </a:rPr>
              <a:t>Azure Cloud Storage - </a:t>
            </a:r>
            <a:r>
              <a:rPr lang="en-US" sz="3200" dirty="0" err="1">
                <a:latin typeface="Calibri"/>
              </a:rPr>
              <a:t>Handson</a:t>
            </a:r>
            <a:endParaRPr lang="en-US" sz="3200" dirty="0">
              <a:latin typeface="Calibri"/>
            </a:endParaRPr>
          </a:p>
        </p:txBody>
      </p:sp>
      <p:graphicFrame>
        <p:nvGraphicFramePr>
          <p:cNvPr id="4" name="Diagram 3"/>
          <p:cNvGraphicFramePr/>
          <p:nvPr>
            <p:extLst>
              <p:ext uri="{D42A27DB-BD31-4B8C-83A1-F6EECF244321}">
                <p14:modId xmlns:p14="http://schemas.microsoft.com/office/powerpoint/2010/main" val="484274784"/>
              </p:ext>
            </p:extLst>
          </p:nvPr>
        </p:nvGraphicFramePr>
        <p:xfrm>
          <a:off x="592667" y="882720"/>
          <a:ext cx="10845799"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p14="http://schemas.microsoft.com/office/powerpoint/2010/main">
        <mc:Choice Requires="p14">
          <p:contentPart p14:bwMode="auto" r:id="rId8">
            <p14:nvContentPartPr>
              <p14:cNvPr id="6" name="Ink 5"/>
              <p14:cNvContentPartPr/>
              <p14:nvPr/>
            </p14:nvContentPartPr>
            <p14:xfrm>
              <a:off x="7505640" y="882720"/>
              <a:ext cx="1118160" cy="1943280"/>
            </p14:xfrm>
          </p:contentPart>
        </mc:Choice>
        <mc:Fallback xmlns="">
          <p:pic>
            <p:nvPicPr>
              <p:cNvPr id="6" name="Ink 5"/>
              <p:cNvPicPr/>
              <p:nvPr/>
            </p:nvPicPr>
            <p:blipFill>
              <a:blip r:embed="rId9"/>
              <a:stretch>
                <a:fillRect/>
              </a:stretch>
            </p:blipFill>
            <p:spPr>
              <a:xfrm>
                <a:off x="7496280" y="873360"/>
                <a:ext cx="1136880" cy="196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 name="Ink 1"/>
              <p14:cNvContentPartPr/>
              <p14:nvPr/>
            </p14:nvContentPartPr>
            <p14:xfrm>
              <a:off x="3333600" y="1581120"/>
              <a:ext cx="648360" cy="4089960"/>
            </p14:xfrm>
          </p:contentPart>
        </mc:Choice>
        <mc:Fallback xmlns="">
          <p:pic>
            <p:nvPicPr>
              <p:cNvPr id="2" name="Ink 1"/>
              <p:cNvPicPr/>
              <p:nvPr/>
            </p:nvPicPr>
            <p:blipFill>
              <a:blip r:embed="rId11"/>
              <a:stretch>
                <a:fillRect/>
              </a:stretch>
            </p:blipFill>
            <p:spPr>
              <a:xfrm>
                <a:off x="3324240" y="1571760"/>
                <a:ext cx="667080" cy="4108680"/>
              </a:xfrm>
              <a:prstGeom prst="rect">
                <a:avLst/>
              </a:prstGeom>
            </p:spPr>
          </p:pic>
        </mc:Fallback>
      </mc:AlternateContent>
      <p:pic>
        <p:nvPicPr>
          <p:cNvPr id="7" name="Picture 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9192" y="6482641"/>
            <a:ext cx="1354950" cy="33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4764551"/>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8423" y="1272510"/>
            <a:ext cx="5845324" cy="1796071"/>
          </a:xfrm>
        </p:spPr>
        <p:txBody>
          <a:bodyPr>
            <a:normAutofit fontScale="90000"/>
          </a:bodyPr>
          <a:lstStyle/>
          <a:p>
            <a:pPr algn="ctr"/>
            <a:r>
              <a:rPr lang="en-US" b="1" dirty="0">
                <a:solidFill>
                  <a:srgbClr val="C00000"/>
                </a:solidFill>
              </a:rPr>
              <a:t>Azure </a:t>
            </a:r>
            <a:r>
              <a:rPr lang="en-US" b="1" dirty="0" smtClean="0">
                <a:solidFill>
                  <a:srgbClr val="C00000"/>
                </a:solidFill>
              </a:rPr>
              <a:t/>
            </a:r>
            <a:br>
              <a:rPr lang="en-US" b="1" dirty="0" smtClean="0">
                <a:solidFill>
                  <a:srgbClr val="C00000"/>
                </a:solidFill>
              </a:rPr>
            </a:br>
            <a:r>
              <a:rPr lang="en-US" b="1" dirty="0" smtClean="0">
                <a:solidFill>
                  <a:srgbClr val="C00000"/>
                </a:solidFill>
              </a:rPr>
              <a:t>Virtual </a:t>
            </a:r>
            <a:r>
              <a:rPr lang="en-US" b="1" dirty="0" smtClean="0">
                <a:solidFill>
                  <a:srgbClr val="C00000"/>
                </a:solidFill>
              </a:rPr>
              <a:t>(</a:t>
            </a:r>
            <a:r>
              <a:rPr lang="en-US" b="1" dirty="0" err="1" smtClean="0">
                <a:solidFill>
                  <a:srgbClr val="C00000"/>
                </a:solidFill>
              </a:rPr>
              <a:t>Pvt</a:t>
            </a:r>
            <a:r>
              <a:rPr lang="en-US" b="1" dirty="0" smtClean="0">
                <a:solidFill>
                  <a:srgbClr val="C00000"/>
                </a:solidFill>
              </a:rPr>
              <a:t>) </a:t>
            </a:r>
            <a:r>
              <a:rPr lang="en-US" b="1" dirty="0" smtClean="0">
                <a:solidFill>
                  <a:srgbClr val="C00000"/>
                </a:solidFill>
              </a:rPr>
              <a:t>Network </a:t>
            </a:r>
            <a:br>
              <a:rPr lang="en-US" b="1" dirty="0" smtClean="0">
                <a:solidFill>
                  <a:srgbClr val="C00000"/>
                </a:solidFill>
              </a:rPr>
            </a:br>
            <a:r>
              <a:rPr lang="en-US" b="1" dirty="0" smtClean="0">
                <a:solidFill>
                  <a:srgbClr val="C00000"/>
                </a:solidFill>
              </a:rPr>
              <a:t>(</a:t>
            </a:r>
            <a:r>
              <a:rPr lang="en-US" b="1" dirty="0">
                <a:solidFill>
                  <a:srgbClr val="C00000"/>
                </a:solidFill>
              </a:rPr>
              <a:t>GCP - VPC)</a:t>
            </a:r>
            <a:endParaRPr lang="en-IN" b="1" dirty="0">
              <a:solidFill>
                <a:srgbClr val="C00000"/>
              </a:solidFill>
            </a:endParaRPr>
          </a:p>
        </p:txBody>
      </p:sp>
      <p:pic>
        <p:nvPicPr>
          <p:cNvPr id="3" name="Picture 4" descr="C:\Users\moham\Downloads\datacenter11.jpe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712623" y="1438710"/>
            <a:ext cx="2935819" cy="464190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494378" y="393107"/>
            <a:ext cx="2281727" cy="923330"/>
          </a:xfrm>
          <a:prstGeom prst="rect">
            <a:avLst/>
          </a:prstGeom>
          <a:noFill/>
        </p:spPr>
        <p:txBody>
          <a:bodyPr wrap="square" rtlCol="0">
            <a:spAutoFit/>
          </a:bodyPr>
          <a:lstStyle/>
          <a:p>
            <a:r>
              <a:rPr lang="en-IN" dirty="0" smtClean="0"/>
              <a:t>Virtual Network (</a:t>
            </a:r>
            <a:r>
              <a:rPr lang="en-IN" dirty="0" err="1" smtClean="0"/>
              <a:t>Ips</a:t>
            </a:r>
            <a:r>
              <a:rPr lang="en-IN" dirty="0" smtClean="0"/>
              <a:t>)</a:t>
            </a:r>
          </a:p>
          <a:p>
            <a:pPr marL="342900" indent="-342900">
              <a:buAutoNum type="arabicPeriod"/>
            </a:pPr>
            <a:r>
              <a:rPr lang="en-IN" dirty="0" smtClean="0"/>
              <a:t>Subnetwork (</a:t>
            </a:r>
            <a:r>
              <a:rPr lang="en-IN" dirty="0" err="1" smtClean="0"/>
              <a:t>Ips</a:t>
            </a:r>
            <a:r>
              <a:rPr lang="en-IN" dirty="0" smtClean="0"/>
              <a:t>)</a:t>
            </a:r>
          </a:p>
          <a:p>
            <a:pPr marL="342900" indent="-342900">
              <a:buAutoNum type="arabicPeriod"/>
            </a:pPr>
            <a:r>
              <a:rPr lang="en-IN" dirty="0" smtClean="0"/>
              <a:t>NSG</a:t>
            </a:r>
          </a:p>
        </p:txBody>
      </p:sp>
      <p:sp>
        <p:nvSpPr>
          <p:cNvPr id="5" name="TextBox 4"/>
          <p:cNvSpPr txBox="1"/>
          <p:nvPr/>
        </p:nvSpPr>
        <p:spPr>
          <a:xfrm>
            <a:off x="4356931" y="3084352"/>
            <a:ext cx="4769977" cy="2585323"/>
          </a:xfrm>
          <a:prstGeom prst="rect">
            <a:avLst/>
          </a:prstGeom>
          <a:noFill/>
        </p:spPr>
        <p:txBody>
          <a:bodyPr wrap="square" rtlCol="0">
            <a:spAutoFit/>
          </a:bodyPr>
          <a:lstStyle/>
          <a:p>
            <a:r>
              <a:rPr lang="en-IN" dirty="0" smtClean="0"/>
              <a:t>Infra &amp; Platform (Net &amp; Compute)</a:t>
            </a:r>
          </a:p>
          <a:p>
            <a:pPr marL="342900" indent="-342900">
              <a:buAutoNum type="arabicPeriod"/>
            </a:pPr>
            <a:r>
              <a:rPr lang="en-IN" b="1" dirty="0" smtClean="0"/>
              <a:t>Subscription - RG</a:t>
            </a:r>
          </a:p>
          <a:p>
            <a:pPr marL="800100" lvl="1" indent="-342900">
              <a:buAutoNum type="arabicPeriod"/>
            </a:pPr>
            <a:r>
              <a:rPr lang="en-IN" b="1" dirty="0" smtClean="0"/>
              <a:t>VN(</a:t>
            </a:r>
            <a:r>
              <a:rPr lang="en-IN" b="1" dirty="0" err="1" smtClean="0"/>
              <a:t>Nw</a:t>
            </a:r>
            <a:r>
              <a:rPr lang="en-IN" b="1" dirty="0" smtClean="0"/>
              <a:t>) – Region (I)</a:t>
            </a:r>
          </a:p>
          <a:p>
            <a:pPr marL="1257300" lvl="2" indent="-342900">
              <a:buAutoNum type="arabicPeriod"/>
            </a:pPr>
            <a:r>
              <a:rPr lang="en-IN" b="1" dirty="0" smtClean="0"/>
              <a:t>SN(</a:t>
            </a:r>
            <a:r>
              <a:rPr lang="en-IN" b="1" dirty="0" err="1" smtClean="0"/>
              <a:t>Nw</a:t>
            </a:r>
            <a:r>
              <a:rPr lang="en-IN" b="1" dirty="0" smtClean="0"/>
              <a:t>)</a:t>
            </a:r>
            <a:r>
              <a:rPr lang="en-IN" dirty="0" smtClean="0"/>
              <a:t> – </a:t>
            </a:r>
            <a:r>
              <a:rPr lang="en-IN" dirty="0" err="1" smtClean="0"/>
              <a:t>Azs</a:t>
            </a:r>
            <a:r>
              <a:rPr lang="en-IN" dirty="0" smtClean="0"/>
              <a:t> (I)</a:t>
            </a:r>
          </a:p>
          <a:p>
            <a:pPr marL="1714500" lvl="3" indent="-342900">
              <a:buAutoNum type="arabicPeriod"/>
            </a:pPr>
            <a:r>
              <a:rPr lang="en-IN" dirty="0" smtClean="0"/>
              <a:t>Clusters/Scaled Units (DC)</a:t>
            </a:r>
          </a:p>
          <a:p>
            <a:pPr marL="2171700" lvl="4" indent="-342900">
              <a:buAutoNum type="arabicPeriod"/>
            </a:pPr>
            <a:r>
              <a:rPr lang="en-IN" dirty="0" smtClean="0"/>
              <a:t>Racks</a:t>
            </a:r>
          </a:p>
          <a:p>
            <a:pPr marL="2628900" lvl="5" indent="-342900">
              <a:buAutoNum type="arabicPeriod"/>
            </a:pPr>
            <a:r>
              <a:rPr lang="en-IN" dirty="0" smtClean="0"/>
              <a:t>Nodes</a:t>
            </a:r>
          </a:p>
          <a:p>
            <a:pPr marL="3086100" lvl="6" indent="-342900">
              <a:buAutoNum type="arabicPeriod"/>
            </a:pPr>
            <a:r>
              <a:rPr lang="en-IN" dirty="0" smtClean="0"/>
              <a:t>VMs/Resources</a:t>
            </a:r>
          </a:p>
          <a:p>
            <a:pPr marL="1714500" lvl="3" indent="-342900">
              <a:buAutoNum type="arabicPeriod"/>
            </a:pPr>
            <a:endParaRPr lang="en-IN" dirty="0" smtClean="0"/>
          </a:p>
        </p:txBody>
      </p:sp>
    </p:spTree>
    <p:extLst>
      <p:ext uri="{BB962C8B-B14F-4D97-AF65-F5344CB8AC3E}">
        <p14:creationId xmlns:p14="http://schemas.microsoft.com/office/powerpoint/2010/main" val="322611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46</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2" name="AutoShape 4" descr="Google Cloud Regions &amp; Zones - Beginner's Guid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3" name="AutoShape 2" descr="VPC network example (click to enlar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4" name="AutoShape 4" descr="VPC network example (click to enlarg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12" name="Title 1"/>
          <p:cNvSpPr>
            <a:spLocks noGrp="1"/>
          </p:cNvSpPr>
          <p:nvPr>
            <p:ph type="title"/>
          </p:nvPr>
        </p:nvSpPr>
        <p:spPr>
          <a:xfrm>
            <a:off x="-59269" y="-398230"/>
            <a:ext cx="10972800" cy="1143000"/>
          </a:xfrm>
        </p:spPr>
        <p:txBody>
          <a:bodyPr vert="horz" lIns="91440" tIns="45720" rIns="91440" bIns="45720" rtlCol="0" anchor="ctr">
            <a:normAutofit fontScale="90000"/>
          </a:bodyPr>
          <a:lstStyle/>
          <a:p>
            <a:r>
              <a:rPr lang="en-US" sz="2800" b="1" dirty="0">
                <a:solidFill>
                  <a:srgbClr val="FF0000"/>
                </a:solidFill>
              </a:rPr>
              <a:t/>
            </a:r>
            <a:br>
              <a:rPr lang="en-US" sz="2800" b="1" dirty="0">
                <a:solidFill>
                  <a:srgbClr val="FF0000"/>
                </a:solidFill>
              </a:rPr>
            </a:br>
            <a:r>
              <a:rPr lang="en-US" sz="2800" b="1" dirty="0" smtClean="0">
                <a:solidFill>
                  <a:srgbClr val="FF0000"/>
                </a:solidFill>
              </a:rPr>
              <a:t>Azure </a:t>
            </a:r>
            <a:r>
              <a:rPr lang="en-US" sz="2800" b="1" dirty="0">
                <a:solidFill>
                  <a:srgbClr val="FF0000"/>
                </a:solidFill>
              </a:rPr>
              <a:t>– Infra &amp; Network</a:t>
            </a:r>
            <a:br>
              <a:rPr lang="en-US" sz="2800" b="1" dirty="0">
                <a:solidFill>
                  <a:srgbClr val="FF0000"/>
                </a:solidFill>
              </a:rPr>
            </a:br>
            <a:r>
              <a:rPr lang="en-US" sz="2800" b="1" dirty="0">
                <a:solidFill>
                  <a:srgbClr val="FF0000"/>
                </a:solidFill>
              </a:rPr>
              <a:t>Hierarchy</a:t>
            </a:r>
          </a:p>
        </p:txBody>
      </p:sp>
      <p:grpSp>
        <p:nvGrpSpPr>
          <p:cNvPr id="7" name="Group 6"/>
          <p:cNvGrpSpPr/>
          <p:nvPr/>
        </p:nvGrpSpPr>
        <p:grpSpPr>
          <a:xfrm>
            <a:off x="1126803" y="1424054"/>
            <a:ext cx="7568623" cy="5279542"/>
            <a:chOff x="-49441" y="750331"/>
            <a:chExt cx="8134395" cy="6209005"/>
          </a:xfrm>
        </p:grpSpPr>
        <p:sp>
          <p:nvSpPr>
            <p:cNvPr id="5" name="Rectangle 4"/>
            <p:cNvSpPr/>
            <p:nvPr/>
          </p:nvSpPr>
          <p:spPr>
            <a:xfrm>
              <a:off x="-49441" y="750331"/>
              <a:ext cx="8134395" cy="6209005"/>
            </a:xfrm>
            <a:prstGeom prst="rect">
              <a:avLst/>
            </a:prstGeom>
            <a:solidFill>
              <a:schemeClr val="accent1">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7" name="Rectangle 16"/>
            <p:cNvSpPr/>
            <p:nvPr/>
          </p:nvSpPr>
          <p:spPr>
            <a:xfrm>
              <a:off x="560329" y="1159558"/>
              <a:ext cx="7394904" cy="5644550"/>
            </a:xfrm>
            <a:prstGeom prst="rect">
              <a:avLst/>
            </a:prstGeom>
            <a:solidFill>
              <a:schemeClr val="accent3">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18" name="Rectangle 17"/>
            <p:cNvSpPr/>
            <p:nvPr/>
          </p:nvSpPr>
          <p:spPr>
            <a:xfrm>
              <a:off x="995109" y="1576995"/>
              <a:ext cx="6722641" cy="5131409"/>
            </a:xfrm>
            <a:prstGeom prst="rect">
              <a:avLst/>
            </a:prstGeom>
            <a:solidFill>
              <a:schemeClr val="accent2">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19" name="Rectangle 18"/>
            <p:cNvSpPr/>
            <p:nvPr/>
          </p:nvSpPr>
          <p:spPr>
            <a:xfrm>
              <a:off x="1481089" y="2034740"/>
              <a:ext cx="6111492" cy="3855303"/>
            </a:xfrm>
            <a:prstGeom prst="rect">
              <a:avLst/>
            </a:prstGeom>
            <a:solidFill>
              <a:schemeClr val="accent4">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1" name="Rectangle 20"/>
            <p:cNvSpPr/>
            <p:nvPr/>
          </p:nvSpPr>
          <p:spPr>
            <a:xfrm>
              <a:off x="2337322" y="2625608"/>
              <a:ext cx="2232336" cy="3115774"/>
            </a:xfrm>
            <a:prstGeom prst="rect">
              <a:avLst/>
            </a:prstGeom>
            <a:solidFill>
              <a:srgbClr val="FFFFF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
        <p:nvSpPr>
          <p:cNvPr id="9" name="TextBox 8"/>
          <p:cNvSpPr txBox="1"/>
          <p:nvPr/>
        </p:nvSpPr>
        <p:spPr>
          <a:xfrm>
            <a:off x="3073512" y="2126969"/>
            <a:ext cx="1715341" cy="369332"/>
          </a:xfrm>
          <a:prstGeom prst="rect">
            <a:avLst/>
          </a:prstGeom>
          <a:noFill/>
        </p:spPr>
        <p:txBody>
          <a:bodyPr wrap="none" rtlCol="0">
            <a:spAutoFit/>
          </a:bodyPr>
          <a:lstStyle/>
          <a:p>
            <a:r>
              <a:rPr lang="en-IN" b="1" dirty="0">
                <a:solidFill>
                  <a:srgbClr val="7030A0"/>
                </a:solidFill>
              </a:rPr>
              <a:t>Region</a:t>
            </a:r>
            <a:r>
              <a:rPr lang="en-IN" dirty="0">
                <a:solidFill>
                  <a:srgbClr val="7030A0"/>
                </a:solidFill>
              </a:rPr>
              <a:t> </a:t>
            </a:r>
            <a:r>
              <a:rPr lang="en-IN" dirty="0" smtClean="0">
                <a:solidFill>
                  <a:srgbClr val="7030A0"/>
                </a:solidFill>
              </a:rPr>
              <a:t>US-East1</a:t>
            </a:r>
            <a:endParaRPr lang="en-IN" dirty="0">
              <a:solidFill>
                <a:srgbClr val="7030A0"/>
              </a:solidFill>
            </a:endParaRPr>
          </a:p>
        </p:txBody>
      </p:sp>
      <p:sp>
        <p:nvSpPr>
          <p:cNvPr id="28" name="TextBox 27"/>
          <p:cNvSpPr txBox="1"/>
          <p:nvPr/>
        </p:nvSpPr>
        <p:spPr>
          <a:xfrm>
            <a:off x="1905091" y="1424571"/>
            <a:ext cx="2538324" cy="369332"/>
          </a:xfrm>
          <a:prstGeom prst="rect">
            <a:avLst/>
          </a:prstGeom>
          <a:noFill/>
        </p:spPr>
        <p:txBody>
          <a:bodyPr wrap="none" rtlCol="0">
            <a:spAutoFit/>
          </a:bodyPr>
          <a:lstStyle/>
          <a:p>
            <a:r>
              <a:rPr lang="en-IN" b="1" dirty="0" smtClean="0">
                <a:solidFill>
                  <a:srgbClr val="C00000"/>
                </a:solidFill>
              </a:rPr>
              <a:t>Azure Subscription -&gt; RG</a:t>
            </a:r>
            <a:endParaRPr lang="en-IN" dirty="0">
              <a:solidFill>
                <a:srgbClr val="C00000"/>
              </a:solidFill>
            </a:endParaRPr>
          </a:p>
        </p:txBody>
      </p:sp>
      <p:sp>
        <p:nvSpPr>
          <p:cNvPr id="29" name="TextBox 28"/>
          <p:cNvSpPr txBox="1"/>
          <p:nvPr/>
        </p:nvSpPr>
        <p:spPr>
          <a:xfrm>
            <a:off x="2483518" y="1793903"/>
            <a:ext cx="3514360" cy="369332"/>
          </a:xfrm>
          <a:prstGeom prst="rect">
            <a:avLst/>
          </a:prstGeom>
          <a:noFill/>
        </p:spPr>
        <p:txBody>
          <a:bodyPr wrap="none" rtlCol="0">
            <a:spAutoFit/>
          </a:bodyPr>
          <a:lstStyle/>
          <a:p>
            <a:r>
              <a:rPr lang="en-IN" b="1" dirty="0" smtClean="0">
                <a:solidFill>
                  <a:srgbClr val="C00000"/>
                </a:solidFill>
              </a:rPr>
              <a:t>Virtual Network </a:t>
            </a:r>
            <a:r>
              <a:rPr lang="en-IN" sz="1200" b="1" dirty="0" smtClean="0">
                <a:solidFill>
                  <a:srgbClr val="C00000"/>
                </a:solidFill>
              </a:rPr>
              <a:t>(Isolated Broader </a:t>
            </a:r>
            <a:r>
              <a:rPr lang="en-IN" sz="1200" b="1" dirty="0" smtClean="0">
                <a:solidFill>
                  <a:srgbClr val="C00000"/>
                </a:solidFill>
              </a:rPr>
              <a:t>Network)</a:t>
            </a:r>
            <a:endParaRPr lang="en-IN" dirty="0">
              <a:solidFill>
                <a:srgbClr val="C00000"/>
              </a:solidFill>
            </a:endParaRPr>
          </a:p>
        </p:txBody>
      </p:sp>
      <p:sp>
        <p:nvSpPr>
          <p:cNvPr id="30" name="TextBox 29"/>
          <p:cNvSpPr txBox="1"/>
          <p:nvPr/>
        </p:nvSpPr>
        <p:spPr>
          <a:xfrm>
            <a:off x="3240502" y="2491943"/>
            <a:ext cx="1888659" cy="584775"/>
          </a:xfrm>
          <a:prstGeom prst="rect">
            <a:avLst/>
          </a:prstGeom>
          <a:noFill/>
        </p:spPr>
        <p:txBody>
          <a:bodyPr wrap="none" rtlCol="0">
            <a:spAutoFit/>
          </a:bodyPr>
          <a:lstStyle/>
          <a:p>
            <a:r>
              <a:rPr lang="en-IN" b="1" dirty="0">
                <a:solidFill>
                  <a:srgbClr val="C00000"/>
                </a:solidFill>
              </a:rPr>
              <a:t>Subnet1 </a:t>
            </a:r>
            <a:r>
              <a:rPr lang="en-IN" sz="1400" b="1" dirty="0">
                <a:solidFill>
                  <a:srgbClr val="C00000"/>
                </a:solidFill>
              </a:rPr>
              <a:t>10.0.0.0/28</a:t>
            </a:r>
          </a:p>
          <a:p>
            <a:r>
              <a:rPr lang="en-IN" sz="1400" b="1" dirty="0">
                <a:solidFill>
                  <a:srgbClr val="C00000"/>
                </a:solidFill>
              </a:rPr>
              <a:t>10.0.0.0 -&gt; 10.0.0.16</a:t>
            </a:r>
            <a:endParaRPr lang="en-IN" dirty="0">
              <a:solidFill>
                <a:srgbClr val="C00000"/>
              </a:solidFill>
            </a:endParaRPr>
          </a:p>
        </p:txBody>
      </p:sp>
      <p:sp>
        <p:nvSpPr>
          <p:cNvPr id="49" name="TextBox 48"/>
          <p:cNvSpPr txBox="1"/>
          <p:nvPr/>
        </p:nvSpPr>
        <p:spPr>
          <a:xfrm>
            <a:off x="3286599" y="94543"/>
            <a:ext cx="8617951" cy="1277273"/>
          </a:xfrm>
          <a:prstGeom prst="rect">
            <a:avLst/>
          </a:prstGeom>
          <a:solidFill>
            <a:schemeClr val="bg1">
              <a:lumMod val="95000"/>
            </a:schemeClr>
          </a:solidFill>
          <a:ln w="3175">
            <a:solidFill>
              <a:schemeClr val="tx1"/>
            </a:solidFill>
          </a:ln>
        </p:spPr>
        <p:txBody>
          <a:bodyPr wrap="square" rtlCol="0">
            <a:spAutoFit/>
          </a:bodyPr>
          <a:lstStyle/>
          <a:p>
            <a:r>
              <a:rPr lang="en-IN" sz="1100" b="1" dirty="0" smtClean="0">
                <a:solidFill>
                  <a:prstClr val="black"/>
                </a:solidFill>
              </a:rPr>
              <a:t>Subscription</a:t>
            </a:r>
            <a:r>
              <a:rPr lang="en-IN" sz="1100" dirty="0" smtClean="0">
                <a:solidFill>
                  <a:prstClr val="black"/>
                </a:solidFill>
              </a:rPr>
              <a:t>– </a:t>
            </a:r>
            <a:r>
              <a:rPr lang="en-US" sz="1100" dirty="0" smtClean="0">
                <a:solidFill>
                  <a:srgbClr val="44546A"/>
                </a:solidFill>
              </a:rPr>
              <a:t>Billing Management for </a:t>
            </a:r>
            <a:r>
              <a:rPr lang="en-US" sz="1100" dirty="0">
                <a:solidFill>
                  <a:srgbClr val="44546A"/>
                </a:solidFill>
              </a:rPr>
              <a:t>Resources</a:t>
            </a:r>
          </a:p>
          <a:p>
            <a:r>
              <a:rPr lang="en-IN" sz="1100" b="1" dirty="0" err="1" smtClean="0">
                <a:solidFill>
                  <a:prstClr val="black"/>
                </a:solidFill>
              </a:rPr>
              <a:t>VNet</a:t>
            </a:r>
            <a:r>
              <a:rPr lang="en-IN" sz="1100" dirty="0" smtClean="0">
                <a:solidFill>
                  <a:prstClr val="black"/>
                </a:solidFill>
              </a:rPr>
              <a:t> </a:t>
            </a:r>
            <a:r>
              <a:rPr lang="en-IN" sz="1100" b="1" dirty="0">
                <a:solidFill>
                  <a:prstClr val="black"/>
                </a:solidFill>
              </a:rPr>
              <a:t>(Log)</a:t>
            </a:r>
            <a:r>
              <a:rPr lang="en-IN" sz="1100" dirty="0">
                <a:solidFill>
                  <a:prstClr val="black"/>
                </a:solidFill>
              </a:rPr>
              <a:t>– </a:t>
            </a:r>
            <a:r>
              <a:rPr lang="en-IN" sz="1100" dirty="0">
                <a:solidFill>
                  <a:srgbClr val="44546A"/>
                </a:solidFill>
              </a:rPr>
              <a:t>Virtual </a:t>
            </a:r>
            <a:r>
              <a:rPr lang="en-IN" sz="1100" dirty="0" smtClean="0">
                <a:solidFill>
                  <a:srgbClr val="44546A"/>
                </a:solidFill>
              </a:rPr>
              <a:t>Network is </a:t>
            </a:r>
            <a:r>
              <a:rPr lang="en-IN" sz="1100" dirty="0">
                <a:solidFill>
                  <a:srgbClr val="44546A"/>
                </a:solidFill>
              </a:rPr>
              <a:t>the </a:t>
            </a:r>
            <a:r>
              <a:rPr lang="en-IN" sz="1100" b="1" i="1" dirty="0">
                <a:solidFill>
                  <a:srgbClr val="44546A"/>
                </a:solidFill>
              </a:rPr>
              <a:t>private isolated networking partition </a:t>
            </a:r>
            <a:r>
              <a:rPr lang="en-IN" sz="1100" dirty="0">
                <a:solidFill>
                  <a:srgbClr val="44546A"/>
                </a:solidFill>
              </a:rPr>
              <a:t>(Global)</a:t>
            </a:r>
            <a:r>
              <a:rPr lang="en-IN" sz="1100" b="1" dirty="0">
                <a:solidFill>
                  <a:srgbClr val="44546A"/>
                </a:solidFill>
              </a:rPr>
              <a:t> - NW</a:t>
            </a:r>
          </a:p>
          <a:p>
            <a:r>
              <a:rPr lang="en-IN" sz="1100" b="1" dirty="0">
                <a:solidFill>
                  <a:prstClr val="black"/>
                </a:solidFill>
              </a:rPr>
              <a:t>Region(</a:t>
            </a:r>
            <a:r>
              <a:rPr lang="en-IN" sz="1100" b="1" dirty="0" err="1">
                <a:solidFill>
                  <a:prstClr val="black"/>
                </a:solidFill>
              </a:rPr>
              <a:t>Phy</a:t>
            </a:r>
            <a:r>
              <a:rPr lang="en-IN" sz="1100" b="1" dirty="0">
                <a:solidFill>
                  <a:prstClr val="black"/>
                </a:solidFill>
              </a:rPr>
              <a:t>)</a:t>
            </a:r>
            <a:r>
              <a:rPr lang="en-IN" sz="1100" dirty="0">
                <a:solidFill>
                  <a:prstClr val="black"/>
                </a:solidFill>
              </a:rPr>
              <a:t> – </a:t>
            </a:r>
            <a:r>
              <a:rPr lang="en-IN" sz="1100" dirty="0">
                <a:solidFill>
                  <a:srgbClr val="44546A"/>
                </a:solidFill>
              </a:rPr>
              <a:t>Geo location identifier that comprised of zones - </a:t>
            </a:r>
            <a:r>
              <a:rPr lang="en-IN" sz="1100" b="1" dirty="0">
                <a:solidFill>
                  <a:srgbClr val="44546A"/>
                </a:solidFill>
              </a:rPr>
              <a:t>Infra</a:t>
            </a:r>
          </a:p>
          <a:p>
            <a:r>
              <a:rPr lang="en-IN" sz="1100" b="1" dirty="0">
                <a:solidFill>
                  <a:prstClr val="black"/>
                </a:solidFill>
              </a:rPr>
              <a:t>Subnet(Log)</a:t>
            </a:r>
            <a:r>
              <a:rPr lang="en-IN" sz="1100" dirty="0">
                <a:solidFill>
                  <a:prstClr val="black"/>
                </a:solidFill>
              </a:rPr>
              <a:t> –  </a:t>
            </a:r>
            <a:r>
              <a:rPr lang="en-IN" sz="1100" dirty="0">
                <a:solidFill>
                  <a:srgbClr val="44546A"/>
                </a:solidFill>
              </a:rPr>
              <a:t>Subnetwork with the range of IP addresses to isolate the cloud resources GCEs (Regional) inside </a:t>
            </a:r>
            <a:r>
              <a:rPr lang="en-IN" sz="1100" dirty="0" smtClean="0">
                <a:solidFill>
                  <a:srgbClr val="44546A"/>
                </a:solidFill>
              </a:rPr>
              <a:t>VN- </a:t>
            </a:r>
            <a:r>
              <a:rPr lang="en-IN" sz="1100" dirty="0">
                <a:solidFill>
                  <a:srgbClr val="44546A"/>
                </a:solidFill>
              </a:rPr>
              <a:t>NW</a:t>
            </a:r>
          </a:p>
          <a:p>
            <a:r>
              <a:rPr lang="en-IN" sz="1100" b="1" dirty="0" smtClean="0">
                <a:solidFill>
                  <a:prstClr val="black"/>
                </a:solidFill>
              </a:rPr>
              <a:t>Availability Zone(</a:t>
            </a:r>
            <a:r>
              <a:rPr lang="en-IN" sz="1100" b="1" dirty="0" err="1" smtClean="0">
                <a:solidFill>
                  <a:prstClr val="black"/>
                </a:solidFill>
              </a:rPr>
              <a:t>Phy</a:t>
            </a:r>
            <a:r>
              <a:rPr lang="en-IN" sz="1100" b="1" dirty="0">
                <a:solidFill>
                  <a:prstClr val="black"/>
                </a:solidFill>
              </a:rPr>
              <a:t>)</a:t>
            </a:r>
            <a:r>
              <a:rPr lang="en-IN" sz="1100" dirty="0">
                <a:solidFill>
                  <a:prstClr val="black"/>
                </a:solidFill>
              </a:rPr>
              <a:t>–  </a:t>
            </a:r>
            <a:r>
              <a:rPr lang="en-IN" sz="1100" dirty="0">
                <a:solidFill>
                  <a:srgbClr val="44546A"/>
                </a:solidFill>
              </a:rPr>
              <a:t>Deployment area of </a:t>
            </a:r>
            <a:r>
              <a:rPr lang="en-IN" sz="1100" dirty="0" err="1" smtClean="0">
                <a:solidFill>
                  <a:srgbClr val="44546A"/>
                </a:solidFill>
              </a:rPr>
              <a:t>Az</a:t>
            </a:r>
            <a:r>
              <a:rPr lang="en-IN" sz="1100" dirty="0" smtClean="0">
                <a:solidFill>
                  <a:srgbClr val="44546A"/>
                </a:solidFill>
              </a:rPr>
              <a:t> </a:t>
            </a:r>
            <a:r>
              <a:rPr lang="en-IN" sz="1100" dirty="0">
                <a:solidFill>
                  <a:srgbClr val="44546A"/>
                </a:solidFill>
              </a:rPr>
              <a:t>resources that provides high availability (spread across </a:t>
            </a:r>
            <a:r>
              <a:rPr lang="en-IN" sz="1100" dirty="0" smtClean="0">
                <a:solidFill>
                  <a:srgbClr val="44546A"/>
                </a:solidFill>
              </a:rPr>
              <a:t>100 </a:t>
            </a:r>
            <a:r>
              <a:rPr lang="en-IN" sz="1100" dirty="0" smtClean="0">
                <a:solidFill>
                  <a:srgbClr val="44546A"/>
                </a:solidFill>
              </a:rPr>
              <a:t>KMs </a:t>
            </a:r>
            <a:r>
              <a:rPr lang="en-IN" sz="1100" dirty="0">
                <a:solidFill>
                  <a:srgbClr val="44546A"/>
                </a:solidFill>
              </a:rPr>
              <a:t>radius) - </a:t>
            </a:r>
            <a:r>
              <a:rPr lang="en-IN" sz="1100" b="1" dirty="0">
                <a:solidFill>
                  <a:srgbClr val="44546A"/>
                </a:solidFill>
              </a:rPr>
              <a:t>Infra</a:t>
            </a:r>
          </a:p>
          <a:p>
            <a:r>
              <a:rPr lang="en-IN" sz="1100" b="1" dirty="0" smtClean="0">
                <a:solidFill>
                  <a:prstClr val="black"/>
                </a:solidFill>
              </a:rPr>
              <a:t>Scaled Units(</a:t>
            </a:r>
            <a:r>
              <a:rPr lang="en-IN" sz="1100" b="1" dirty="0" err="1" smtClean="0">
                <a:solidFill>
                  <a:prstClr val="black"/>
                </a:solidFill>
              </a:rPr>
              <a:t>Phy</a:t>
            </a:r>
            <a:r>
              <a:rPr lang="en-IN" sz="1100" b="1" dirty="0">
                <a:solidFill>
                  <a:prstClr val="black"/>
                </a:solidFill>
              </a:rPr>
              <a:t>)</a:t>
            </a:r>
            <a:r>
              <a:rPr lang="en-IN" sz="1100" dirty="0">
                <a:solidFill>
                  <a:prstClr val="black"/>
                </a:solidFill>
              </a:rPr>
              <a:t>–  </a:t>
            </a:r>
            <a:r>
              <a:rPr lang="en-US" sz="1100" dirty="0">
                <a:solidFill>
                  <a:srgbClr val="44546A"/>
                </a:solidFill>
              </a:rPr>
              <a:t>A </a:t>
            </a:r>
            <a:r>
              <a:rPr lang="en-US" sz="1100" dirty="0" smtClean="0">
                <a:solidFill>
                  <a:srgbClr val="44546A"/>
                </a:solidFill>
              </a:rPr>
              <a:t>Scaled units </a:t>
            </a:r>
            <a:r>
              <a:rPr lang="en-US" sz="1100" dirty="0">
                <a:solidFill>
                  <a:srgbClr val="44546A"/>
                </a:solidFill>
              </a:rPr>
              <a:t>represents a distinct physical infrastructure </a:t>
            </a:r>
            <a:r>
              <a:rPr lang="en-US" sz="1100" dirty="0" err="1">
                <a:solidFill>
                  <a:srgbClr val="44546A"/>
                </a:solidFill>
              </a:rPr>
              <a:t>ie</a:t>
            </a:r>
            <a:r>
              <a:rPr lang="en-US" sz="1100" dirty="0">
                <a:solidFill>
                  <a:srgbClr val="44546A"/>
                </a:solidFill>
              </a:rPr>
              <a:t> data center.  Each zone is hosted in one or more </a:t>
            </a:r>
            <a:r>
              <a:rPr lang="en-US" sz="1100" dirty="0" smtClean="0">
                <a:solidFill>
                  <a:srgbClr val="44546A"/>
                </a:solidFill>
              </a:rPr>
              <a:t>DCs </a:t>
            </a:r>
            <a:r>
              <a:rPr lang="en-US" sz="1100" dirty="0">
                <a:solidFill>
                  <a:srgbClr val="44546A"/>
                </a:solidFill>
              </a:rPr>
              <a:t>- </a:t>
            </a:r>
            <a:r>
              <a:rPr lang="en-US" sz="1100" b="1" dirty="0">
                <a:solidFill>
                  <a:srgbClr val="44546A"/>
                </a:solidFill>
              </a:rPr>
              <a:t>Infra</a:t>
            </a:r>
          </a:p>
          <a:p>
            <a:r>
              <a:rPr lang="en-US" sz="1100" b="1" dirty="0" smtClean="0">
                <a:solidFill>
                  <a:srgbClr val="44546A"/>
                </a:solidFill>
              </a:rPr>
              <a:t>Resources </a:t>
            </a:r>
            <a:r>
              <a:rPr lang="en-US" sz="1100" dirty="0" smtClean="0">
                <a:solidFill>
                  <a:srgbClr val="44546A"/>
                </a:solidFill>
              </a:rPr>
              <a:t>(</a:t>
            </a:r>
            <a:r>
              <a:rPr lang="en-US" sz="1100" dirty="0" err="1">
                <a:solidFill>
                  <a:srgbClr val="44546A"/>
                </a:solidFill>
              </a:rPr>
              <a:t>Phy</a:t>
            </a:r>
            <a:r>
              <a:rPr lang="en-US" sz="1100" dirty="0">
                <a:solidFill>
                  <a:srgbClr val="44546A"/>
                </a:solidFill>
              </a:rPr>
              <a:t>/Log) – Any cloud resources like </a:t>
            </a:r>
            <a:r>
              <a:rPr lang="en-US" sz="1100" b="1" dirty="0" smtClean="0">
                <a:solidFill>
                  <a:srgbClr val="44546A"/>
                </a:solidFill>
              </a:rPr>
              <a:t>VM</a:t>
            </a:r>
            <a:r>
              <a:rPr lang="en-US" sz="1100" dirty="0" smtClean="0">
                <a:solidFill>
                  <a:srgbClr val="44546A"/>
                </a:solidFill>
              </a:rPr>
              <a:t>, Storage, VPN…</a:t>
            </a:r>
            <a:endParaRPr lang="en-US" sz="1100" dirty="0">
              <a:solidFill>
                <a:srgbClr val="44546A"/>
              </a:solidFill>
            </a:endParaRPr>
          </a:p>
        </p:txBody>
      </p:sp>
      <p:pic>
        <p:nvPicPr>
          <p:cNvPr id="3087"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26" y="3556867"/>
            <a:ext cx="757028" cy="816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8"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65" y="2574724"/>
            <a:ext cx="622595" cy="6225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AutoShape 18" descr="Increase adoption and consumption of your API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pic>
        <p:nvPicPr>
          <p:cNvPr id="3091" name="Picture 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4622" y="3745827"/>
            <a:ext cx="638981" cy="4259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92" name="Picture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796" y="1655306"/>
            <a:ext cx="910798" cy="943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93"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3881" y="4776962"/>
            <a:ext cx="676594" cy="832731"/>
          </a:xfrm>
          <a:prstGeom prst="rect">
            <a:avLst/>
          </a:prstGeom>
          <a:ln w="38100">
            <a:solidFill>
              <a:srgbClr val="0070C0"/>
            </a:solidFill>
            <a:miter lim="800000"/>
            <a:headEnd/>
            <a:tailEnd/>
          </a:ln>
          <a:effectLst>
            <a:outerShdw blurRad="57150" dist="50800" dir="27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sp>
        <p:nvSpPr>
          <p:cNvPr id="22" name="TextBox 21"/>
          <p:cNvSpPr txBox="1"/>
          <p:nvPr/>
        </p:nvSpPr>
        <p:spPr>
          <a:xfrm>
            <a:off x="1057321" y="4120305"/>
            <a:ext cx="1446230" cy="261610"/>
          </a:xfrm>
          <a:prstGeom prst="rect">
            <a:avLst/>
          </a:prstGeom>
          <a:noFill/>
        </p:spPr>
        <p:txBody>
          <a:bodyPr wrap="none" rtlCol="0">
            <a:spAutoFit/>
          </a:bodyPr>
          <a:lstStyle/>
          <a:p>
            <a:r>
              <a:rPr lang="en-IN" sz="1100" dirty="0" err="1" smtClean="0">
                <a:solidFill>
                  <a:prstClr val="black"/>
                </a:solidFill>
              </a:rPr>
              <a:t>Az</a:t>
            </a:r>
            <a:r>
              <a:rPr lang="en-IN" sz="1100" dirty="0" smtClean="0">
                <a:solidFill>
                  <a:prstClr val="black"/>
                </a:solidFill>
              </a:rPr>
              <a:t> (Internet) </a:t>
            </a:r>
            <a:r>
              <a:rPr lang="en-IN" sz="1100" dirty="0">
                <a:solidFill>
                  <a:prstClr val="black"/>
                </a:solidFill>
              </a:rPr>
              <a:t>Gateway</a:t>
            </a:r>
          </a:p>
        </p:txBody>
      </p:sp>
      <p:cxnSp>
        <p:nvCxnSpPr>
          <p:cNvPr id="64" name="Straight Arrow Connector 63"/>
          <p:cNvCxnSpPr>
            <a:stCxn id="1026" idx="0"/>
          </p:cNvCxnSpPr>
          <p:nvPr/>
        </p:nvCxnSpPr>
        <p:spPr>
          <a:xfrm flipH="1" flipV="1">
            <a:off x="1543399" y="4284450"/>
            <a:ext cx="191285" cy="515807"/>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0" name="Straight Arrow Connector 69"/>
          <p:cNvCxnSpPr>
            <a:stCxn id="3091" idx="1"/>
            <a:endCxn id="3087" idx="3"/>
          </p:cNvCxnSpPr>
          <p:nvPr/>
        </p:nvCxnSpPr>
        <p:spPr>
          <a:xfrm flipH="1">
            <a:off x="896554" y="3958820"/>
            <a:ext cx="308068" cy="6132"/>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3" name="Straight Arrow Connector 72"/>
          <p:cNvCxnSpPr>
            <a:stCxn id="3087" idx="0"/>
            <a:endCxn id="3088" idx="2"/>
          </p:cNvCxnSpPr>
          <p:nvPr/>
        </p:nvCxnSpPr>
        <p:spPr>
          <a:xfrm flipH="1" flipV="1">
            <a:off x="509163" y="3197319"/>
            <a:ext cx="8877" cy="359548"/>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76" name="TextBox 75"/>
          <p:cNvSpPr txBox="1"/>
          <p:nvPr/>
        </p:nvSpPr>
        <p:spPr>
          <a:xfrm rot="20817543">
            <a:off x="1500635" y="5518548"/>
            <a:ext cx="726737" cy="646331"/>
          </a:xfrm>
          <a:prstGeom prst="rect">
            <a:avLst/>
          </a:prstGeom>
          <a:noFill/>
        </p:spPr>
        <p:txBody>
          <a:bodyPr wrap="none" rtlCol="0">
            <a:spAutoFit/>
          </a:bodyPr>
          <a:lstStyle/>
          <a:p>
            <a:r>
              <a:rPr lang="en-IN" sz="1200" dirty="0" smtClean="0">
                <a:solidFill>
                  <a:prstClr val="black"/>
                </a:solidFill>
              </a:rPr>
              <a:t>UDR</a:t>
            </a:r>
          </a:p>
          <a:p>
            <a:r>
              <a:rPr lang="en-IN" sz="1200" dirty="0" smtClean="0">
                <a:solidFill>
                  <a:prstClr val="black"/>
                </a:solidFill>
              </a:rPr>
              <a:t>User Def</a:t>
            </a:r>
          </a:p>
          <a:p>
            <a:r>
              <a:rPr lang="en-IN" sz="1200" dirty="0" smtClean="0">
                <a:solidFill>
                  <a:prstClr val="black"/>
                </a:solidFill>
              </a:rPr>
              <a:t>Routes</a:t>
            </a:r>
            <a:endParaRPr lang="en-IN" sz="1200" dirty="0">
              <a:solidFill>
                <a:prstClr val="black"/>
              </a:solidFill>
            </a:endParaRPr>
          </a:p>
        </p:txBody>
      </p:sp>
      <p:grpSp>
        <p:nvGrpSpPr>
          <p:cNvPr id="31" name="Group 30"/>
          <p:cNvGrpSpPr/>
          <p:nvPr/>
        </p:nvGrpSpPr>
        <p:grpSpPr>
          <a:xfrm>
            <a:off x="5633533" y="3014154"/>
            <a:ext cx="2296019" cy="2729088"/>
            <a:chOff x="8126447" y="2996902"/>
            <a:chExt cx="2296019" cy="2729088"/>
          </a:xfrm>
        </p:grpSpPr>
        <p:sp>
          <p:nvSpPr>
            <p:cNvPr id="34" name="Rectangle 33"/>
            <p:cNvSpPr/>
            <p:nvPr/>
          </p:nvSpPr>
          <p:spPr>
            <a:xfrm>
              <a:off x="8154575" y="2996902"/>
              <a:ext cx="2267891" cy="2649355"/>
            </a:xfrm>
            <a:prstGeom prst="rect">
              <a:avLst/>
            </a:prstGeom>
            <a:solidFill>
              <a:srgbClr val="FFFFF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52" name="TextBox 51"/>
            <p:cNvSpPr txBox="1"/>
            <p:nvPr/>
          </p:nvSpPr>
          <p:spPr>
            <a:xfrm>
              <a:off x="8126447" y="3031319"/>
              <a:ext cx="2294667" cy="369332"/>
            </a:xfrm>
            <a:prstGeom prst="rect">
              <a:avLst/>
            </a:prstGeom>
            <a:noFill/>
          </p:spPr>
          <p:txBody>
            <a:bodyPr wrap="none" rtlCol="0">
              <a:spAutoFit/>
            </a:bodyPr>
            <a:lstStyle/>
            <a:p>
              <a:r>
                <a:rPr lang="en-IN" b="1" dirty="0" err="1" smtClean="0">
                  <a:solidFill>
                    <a:srgbClr val="7030A0"/>
                  </a:solidFill>
                </a:rPr>
                <a:t>Avl</a:t>
              </a:r>
              <a:r>
                <a:rPr lang="en-IN" b="1" dirty="0" smtClean="0">
                  <a:solidFill>
                    <a:srgbClr val="7030A0"/>
                  </a:solidFill>
                </a:rPr>
                <a:t> Zone</a:t>
              </a:r>
              <a:r>
                <a:rPr lang="en-IN" dirty="0" smtClean="0">
                  <a:solidFill>
                    <a:srgbClr val="7030A0"/>
                  </a:solidFill>
                </a:rPr>
                <a:t> </a:t>
              </a:r>
              <a:r>
                <a:rPr lang="en-IN" dirty="0" smtClean="0">
                  <a:solidFill>
                    <a:srgbClr val="7030A0"/>
                  </a:solidFill>
                </a:rPr>
                <a:t>Kanchipuram</a:t>
              </a:r>
              <a:endParaRPr lang="en-IN" sz="1700" dirty="0">
                <a:solidFill>
                  <a:srgbClr val="7030A0"/>
                </a:solidFill>
              </a:endParaRPr>
            </a:p>
          </p:txBody>
        </p:sp>
        <p:sp>
          <p:nvSpPr>
            <p:cNvPr id="80" name="Rectangle 79"/>
            <p:cNvSpPr/>
            <p:nvPr/>
          </p:nvSpPr>
          <p:spPr>
            <a:xfrm>
              <a:off x="8362206" y="3407531"/>
              <a:ext cx="1874291" cy="112358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prstClr val="black"/>
                </a:solidFill>
              </a:endParaRPr>
            </a:p>
          </p:txBody>
        </p:sp>
        <p:sp>
          <p:nvSpPr>
            <p:cNvPr id="81" name="TextBox 80"/>
            <p:cNvSpPr txBox="1"/>
            <p:nvPr/>
          </p:nvSpPr>
          <p:spPr>
            <a:xfrm>
              <a:off x="8417071" y="3386327"/>
              <a:ext cx="1512209" cy="369332"/>
            </a:xfrm>
            <a:prstGeom prst="rect">
              <a:avLst/>
            </a:prstGeom>
            <a:noFill/>
          </p:spPr>
          <p:txBody>
            <a:bodyPr wrap="none" rtlCol="0">
              <a:spAutoFit/>
            </a:bodyPr>
            <a:lstStyle/>
            <a:p>
              <a:r>
                <a:rPr lang="en-IN" b="1" dirty="0" err="1">
                  <a:solidFill>
                    <a:srgbClr val="7030A0"/>
                  </a:solidFill>
                </a:rPr>
                <a:t>Az</a:t>
              </a:r>
              <a:r>
                <a:rPr lang="en-IN" b="1" dirty="0">
                  <a:solidFill>
                    <a:srgbClr val="7030A0"/>
                  </a:solidFill>
                </a:rPr>
                <a:t> Scale </a:t>
              </a:r>
              <a:r>
                <a:rPr lang="en-IN" b="1" dirty="0" smtClean="0">
                  <a:solidFill>
                    <a:srgbClr val="7030A0"/>
                  </a:solidFill>
                </a:rPr>
                <a:t>Units</a:t>
              </a:r>
              <a:endParaRPr lang="en-IN" sz="1700" dirty="0">
                <a:solidFill>
                  <a:srgbClr val="7030A0"/>
                </a:solidFill>
              </a:endParaRPr>
            </a:p>
          </p:txBody>
        </p:sp>
        <p:pic>
          <p:nvPicPr>
            <p:cNvPr id="3085"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72803" y="3768157"/>
              <a:ext cx="1653099" cy="6297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4" name="Rectangle 83"/>
            <p:cNvSpPr/>
            <p:nvPr/>
          </p:nvSpPr>
          <p:spPr>
            <a:xfrm>
              <a:off x="8378023" y="4602405"/>
              <a:ext cx="1874291" cy="112358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prstClr val="black"/>
                </a:solidFill>
              </a:endParaRPr>
            </a:p>
          </p:txBody>
        </p:sp>
        <p:sp>
          <p:nvSpPr>
            <p:cNvPr id="85" name="TextBox 84"/>
            <p:cNvSpPr txBox="1"/>
            <p:nvPr/>
          </p:nvSpPr>
          <p:spPr>
            <a:xfrm>
              <a:off x="8415396" y="4624331"/>
              <a:ext cx="849335" cy="369332"/>
            </a:xfrm>
            <a:prstGeom prst="rect">
              <a:avLst/>
            </a:prstGeom>
            <a:noFill/>
          </p:spPr>
          <p:txBody>
            <a:bodyPr wrap="none" rtlCol="0">
              <a:spAutoFit/>
            </a:bodyPr>
            <a:lstStyle/>
            <a:p>
              <a:r>
                <a:rPr lang="en-IN" b="1" dirty="0">
                  <a:solidFill>
                    <a:srgbClr val="7030A0"/>
                  </a:solidFill>
                </a:rPr>
                <a:t>Cluster</a:t>
              </a:r>
              <a:endParaRPr lang="en-IN" sz="1700" dirty="0">
                <a:solidFill>
                  <a:srgbClr val="7030A0"/>
                </a:solidFill>
              </a:endParaRPr>
            </a:p>
          </p:txBody>
        </p:sp>
        <p:pic>
          <p:nvPicPr>
            <p:cNvPr id="86"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95775" y="4993663"/>
              <a:ext cx="1638786" cy="6082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33" name="Group 32"/>
          <p:cNvGrpSpPr/>
          <p:nvPr/>
        </p:nvGrpSpPr>
        <p:grpSpPr>
          <a:xfrm>
            <a:off x="3308728" y="3026812"/>
            <a:ext cx="2230867" cy="2582203"/>
            <a:chOff x="4524630" y="3069695"/>
            <a:chExt cx="2230867" cy="2582203"/>
          </a:xfrm>
        </p:grpSpPr>
        <p:sp>
          <p:nvSpPr>
            <p:cNvPr id="27" name="TextBox 26"/>
            <p:cNvSpPr txBox="1"/>
            <p:nvPr/>
          </p:nvSpPr>
          <p:spPr>
            <a:xfrm>
              <a:off x="4524630" y="3069695"/>
              <a:ext cx="2230867" cy="369332"/>
            </a:xfrm>
            <a:prstGeom prst="rect">
              <a:avLst/>
            </a:prstGeom>
            <a:noFill/>
          </p:spPr>
          <p:txBody>
            <a:bodyPr wrap="none" rtlCol="0">
              <a:spAutoFit/>
            </a:bodyPr>
            <a:lstStyle/>
            <a:p>
              <a:r>
                <a:rPr lang="en-IN" b="1" dirty="0" err="1" smtClean="0">
                  <a:solidFill>
                    <a:srgbClr val="7030A0"/>
                  </a:solidFill>
                </a:rPr>
                <a:t>Avl</a:t>
              </a:r>
              <a:r>
                <a:rPr lang="en-IN" b="1" dirty="0" smtClean="0">
                  <a:solidFill>
                    <a:srgbClr val="7030A0"/>
                  </a:solidFill>
                </a:rPr>
                <a:t> Zone</a:t>
              </a:r>
              <a:r>
                <a:rPr lang="en-IN" dirty="0" smtClean="0">
                  <a:solidFill>
                    <a:srgbClr val="7030A0"/>
                  </a:solidFill>
                </a:rPr>
                <a:t> </a:t>
              </a:r>
              <a:r>
                <a:rPr lang="en-IN" dirty="0" smtClean="0">
                  <a:solidFill>
                    <a:srgbClr val="7030A0"/>
                  </a:solidFill>
                </a:rPr>
                <a:t>Chen-</a:t>
              </a:r>
              <a:r>
                <a:rPr lang="en-IN" dirty="0" err="1" smtClean="0">
                  <a:solidFill>
                    <a:srgbClr val="7030A0"/>
                  </a:solidFill>
                </a:rPr>
                <a:t>Velach</a:t>
              </a:r>
              <a:endParaRPr lang="en-IN" sz="1700" dirty="0">
                <a:solidFill>
                  <a:srgbClr val="7030A0"/>
                </a:solidFill>
              </a:endParaRPr>
            </a:p>
          </p:txBody>
        </p:sp>
        <p:sp>
          <p:nvSpPr>
            <p:cNvPr id="77" name="Rectangle 76"/>
            <p:cNvSpPr/>
            <p:nvPr/>
          </p:nvSpPr>
          <p:spPr>
            <a:xfrm>
              <a:off x="4640746" y="3403727"/>
              <a:ext cx="1874291" cy="2189550"/>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prstClr val="black"/>
                </a:solidFill>
              </a:endParaRPr>
            </a:p>
          </p:txBody>
        </p:sp>
        <p:pic>
          <p:nvPicPr>
            <p:cNvPr id="3083"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1248" y="3973889"/>
              <a:ext cx="1153285" cy="46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4"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2614" y="4524195"/>
              <a:ext cx="1147369" cy="46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9" name="TextBox 78"/>
            <p:cNvSpPr txBox="1"/>
            <p:nvPr/>
          </p:nvSpPr>
          <p:spPr>
            <a:xfrm>
              <a:off x="4678119" y="3420722"/>
              <a:ext cx="1977080" cy="369332"/>
            </a:xfrm>
            <a:prstGeom prst="rect">
              <a:avLst/>
            </a:prstGeom>
            <a:noFill/>
          </p:spPr>
          <p:txBody>
            <a:bodyPr wrap="none" rtlCol="0">
              <a:spAutoFit/>
            </a:bodyPr>
            <a:lstStyle/>
            <a:p>
              <a:r>
                <a:rPr lang="en-IN" b="1" dirty="0" err="1" smtClean="0">
                  <a:solidFill>
                    <a:srgbClr val="7030A0"/>
                  </a:solidFill>
                </a:rPr>
                <a:t>Az</a:t>
              </a:r>
              <a:r>
                <a:rPr lang="en-IN" b="1" dirty="0" smtClean="0">
                  <a:solidFill>
                    <a:srgbClr val="7030A0"/>
                  </a:solidFill>
                </a:rPr>
                <a:t> Scale Units (DC)</a:t>
              </a:r>
              <a:endParaRPr lang="en-IN" sz="1700" dirty="0">
                <a:solidFill>
                  <a:srgbClr val="7030A0"/>
                </a:solidFill>
              </a:endParaRPr>
            </a:p>
          </p:txBody>
        </p:sp>
        <p:sp>
          <p:nvSpPr>
            <p:cNvPr id="50" name="TextBox 49"/>
            <p:cNvSpPr txBox="1"/>
            <p:nvPr/>
          </p:nvSpPr>
          <p:spPr>
            <a:xfrm>
              <a:off x="4704734" y="5282566"/>
              <a:ext cx="1715534" cy="369332"/>
            </a:xfrm>
            <a:prstGeom prst="rect">
              <a:avLst/>
            </a:prstGeom>
            <a:noFill/>
          </p:spPr>
          <p:txBody>
            <a:bodyPr wrap="none" rtlCol="0">
              <a:spAutoFit/>
            </a:bodyPr>
            <a:lstStyle/>
            <a:p>
              <a:r>
                <a:rPr lang="en-IN" b="1" dirty="0" smtClean="0">
                  <a:solidFill>
                    <a:srgbClr val="7030A0"/>
                  </a:solidFill>
                </a:rPr>
                <a:t>Virtual Machine</a:t>
              </a:r>
              <a:endParaRPr lang="en-IN" sz="1700" dirty="0">
                <a:solidFill>
                  <a:srgbClr val="7030A0"/>
                </a:solidFill>
              </a:endParaRPr>
            </a:p>
          </p:txBody>
        </p:sp>
      </p:grpSp>
      <p:cxnSp>
        <p:nvCxnSpPr>
          <p:cNvPr id="24" name="Straight Arrow Connector 23"/>
          <p:cNvCxnSpPr>
            <a:stCxn id="3084" idx="1"/>
            <a:endCxn id="3093" idx="3"/>
          </p:cNvCxnSpPr>
          <p:nvPr/>
        </p:nvCxnSpPr>
        <p:spPr>
          <a:xfrm flipH="1">
            <a:off x="2910475" y="4714926"/>
            <a:ext cx="886237" cy="478402"/>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pic>
        <p:nvPicPr>
          <p:cNvPr id="1026"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61922" y="4800257"/>
            <a:ext cx="545523" cy="8052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3" name="Straight Arrow Connector 52"/>
          <p:cNvCxnSpPr>
            <a:endCxn id="3093" idx="1"/>
          </p:cNvCxnSpPr>
          <p:nvPr/>
        </p:nvCxnSpPr>
        <p:spPr>
          <a:xfrm>
            <a:off x="2007445" y="5065040"/>
            <a:ext cx="226436" cy="128288"/>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55" name="TextBox 54"/>
          <p:cNvSpPr txBox="1"/>
          <p:nvPr/>
        </p:nvSpPr>
        <p:spPr>
          <a:xfrm>
            <a:off x="6401372" y="1749508"/>
            <a:ext cx="1793889" cy="369332"/>
          </a:xfrm>
          <a:prstGeom prst="rect">
            <a:avLst/>
          </a:prstGeom>
          <a:noFill/>
        </p:spPr>
        <p:txBody>
          <a:bodyPr wrap="none" rtlCol="0">
            <a:spAutoFit/>
          </a:bodyPr>
          <a:lstStyle/>
          <a:p>
            <a:r>
              <a:rPr lang="en-IN" b="1" dirty="0">
                <a:solidFill>
                  <a:srgbClr val="7030A0"/>
                </a:solidFill>
              </a:rPr>
              <a:t>Region</a:t>
            </a:r>
            <a:r>
              <a:rPr lang="en-IN" dirty="0">
                <a:solidFill>
                  <a:srgbClr val="7030A0"/>
                </a:solidFill>
              </a:rPr>
              <a:t> </a:t>
            </a:r>
            <a:r>
              <a:rPr lang="en-IN" dirty="0" smtClean="0">
                <a:solidFill>
                  <a:srgbClr val="7030A0"/>
                </a:solidFill>
              </a:rPr>
              <a:t>South </a:t>
            </a:r>
            <a:r>
              <a:rPr lang="en-IN" dirty="0" err="1" smtClean="0">
                <a:solidFill>
                  <a:srgbClr val="7030A0"/>
                </a:solidFill>
              </a:rPr>
              <a:t>Ind</a:t>
            </a:r>
            <a:endParaRPr lang="en-IN" dirty="0">
              <a:solidFill>
                <a:srgbClr val="7030A0"/>
              </a:solidFill>
            </a:endParaRPr>
          </a:p>
        </p:txBody>
      </p:sp>
      <p:sp>
        <p:nvSpPr>
          <p:cNvPr id="14" name="AutoShape 2" descr="data:image/png;base64,iVBORw0KGgoAAAANSUhEUgAAAZQAAAGYCAYAAABlBxTbAAAAAXNSR0IArs4c6QAABIl0RVh0bXhmaWxlACUzQ214R3JhcGhNb2RlbCUzRSUzQ3Jvb3QlM0UlM0NteENlbGwlMjBpZCUzRCUyMjAlMjIlMkYlM0UlM0NteENlbGwlMjBpZCUzRCUyMjElMjIlMjBwYXJlbnQlM0QlMjIwJTIyJTJGJTNFJTNDbXhDZWxsJTIwaWQlM0QlMjIyJTIyJTIwdmFsdWUlM0QlMjIlMjIlMjBzdHlsZSUzRCUyMnN0cm9rZUNvbG9yJTNEJTIzZGRkZGRkJTNCZmlsbENvbG9yJTNEJTIzZmZmZmZmJTNCc2hhZG93JTNEMSUzQnN0cm9rZVdpZHRoJTNEMSUzQnJvdW5kZWQlM0QxJTNCYWJzb2x1dGVBcmNTaXplJTNEMSUzQmFyY1NpemUlM0QyJTNCbGFiZWxQb3NpdGlvbiUzRGNlbnRlciUzQnZlcnRpY2FsTGFiZWxQb3NpdGlvbiUzRG1pZGRsZSUzQmFsaWduJTNEY2VudGVyJTNCdmVydGljYWxBbGlnbiUzRGJvdHRvbSUzQnNwYWNpbmdMZWZ0JTNEMCUzQmZvbnRDb2xvciUzRCUyMzk5OTk5OSUzQmZvbnRTaXplJTNEMTIlM0J3aGl0ZVNwYWNlJTNEd3JhcCUzQnNwYWNpbmdCb3R0b20lM0QyJTNCaHRtbCUzRDElM0IlMjIlMjB2ZXJ0ZXglM0QlMjIxJTIyJTIwcGFyZW50JTNEJTIyMSUyMiUzRSUzQ214R2VvbWV0cnklMjB4JTNEJTIyMTMwJTIyJTIweSUzRCUyMjI2OCUyMiUyMHdpZHRoJTNEJTIyNzAlMjIlMjBoZWlnaHQlM0QlMjI3MCUyMiUyMGFzJTNEJTIyZ2VvbWV0cnklMjIlMkYlM0UlM0MlMkZteENlbGwlM0UlM0NteENlbGwlMjBpZCUzRCUyMjMlMjIlMjB2YWx1ZSUzRCUyMiUyMiUyMHN0eWxlJTNEJTIyZGFzaGVkJTNEMCUzQmNvbm5lY3RhYmxlJTNEMCUzQmh0bWwlM0QxJTNCZmlsbENvbG9yJTNEJTIzNzU3NTc1JTNCc3Ryb2tlQ29sb3IlM0Rub25lJTNCc2hhcGUlM0RteGdyYXBoLmdjcDIuYmVhY29uJTNCcGFydCUzRDElM0IlMjIlMjB2ZXJ0ZXglM0QlMjIxJTIyJTIwcGFyZW50JTNEJTIyMiUyMiUzRSUzQ214R2VvbWV0cnklMjB4JTNEJTIyMC41JTIyJTIwd2lkdGglM0QlMjIzNi41JTIyJTIwaGVpZ2h0JTNEJTIyNTAlMjIlMjByZWxhdGl2ZSUzRCUyMjElMjIlMjBhcyUzRCUyMmdlb21ldHJ5JTIyJTNFJTNDbXhQb2ludCUyMHglM0QlMjItMTguMjUlMjIlMjB5JTNEJTIyMTAlMjIlMjBhcyUzRCUyMm9mZnNldCUyMiUyRiUzRSUzQyUyRm14R2VvbWV0cnklM0UlM0MlMkZteENlbGwlM0UlM0MlMkZyb290JTNFJTNDJTJGbXhHcmFwaE1vZGVsJTNFYiqomwAAIABJREFUeF7tnXusFdXd9xccQRRQ5KJVERREURRRoQhasF5qvKCCqVHSB5NW/2n/aNKk/zxvmv7zpmnTPm/SvG3SNJhY2ypVY720CsRSqddaS6ViReRUwWpFEAQUFIHz5DsydBhm9p599pq91+Uzyc65zV6z1md+ez5n3QcYDghAAAIQgIAFAgMspEESEIAABCAAAYNQCAI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IAQhAAAIQsEIAoVjBSCIQgAAEIIBQiAEIQAACELBCAKFYwUgiEIAABCCAUIgBCEAAAhCwQgChWMFIIhCAAAQggFCaxwCMmjPiDAhA4DMCfTGD4GHZ+O7DJ+ZPB2WHQP8IRCsVHpjGwKB/HxreBQEItE4gaNnE/jCNvfytfxx4BwQg0C6BYKUS0wO13bK2+/52g5D3QwAC7hJoVxLtvt8JMjE9JKuWtep5TtxAMgEBCDhNoKooqp7ndGFjeHhWKWOjc6q83+mbTOYgAIGOEWgkhirSqHJOxwrT6oVieFi2KotmTJr9vdV7wPkQgIC/BJoJoOjv7UrHWVohPxwPK9u6deu+3dPTc7Mx5lxjzGBn7woZgwAEXCewp6+vb83evXvvmzx58v8UZDYvjSjEEoVQXnnllYlDhgxZYoy50PUoJX8QgIBfBPr6+la9++67Cy+55JJ/ZnKeFUgzubQqG2cBhSiUw8rU29v7F2TibAySMQh4T0BSOf3002dVEEqZaMqawZo1qTnFLnihHGjm+oFT1MkMBCAQHIGPP/74v6dMmfL/CqSSSqFIJo1qMkoKoXQpUgrlmK+dDB8+3IwcOdL09PR0KZtcFgIQ8J3Avn37zNatW83OnTsPFmX//v1/mzRp0sUZCeRF0uznRgLxQiwh1VCKyjKgt7d3d7YDfvz48cjE908z+YeAAwQklQ0bNmRzsmfixIkjDwilSB6NfpeVibd9KiELJSlbb2/vvuwdnzBhggOhSBYgAIEQCPzzn9l+eGMmTpw4/EC5JIWsQPLfl/0txdKsI99JfKEIJV+Ogz8jFCfjjkxBIAgCBUIZkamhFEkl/V0j4XgrlRCEUtjUdeCOqMlrLzWUID67FAICzhEoEEq2ySsvj7Kf0+ausj6WbLmd7ksJUShpmdImL4Ti3MeQDEEgDAIFQhldUEPJi2R/k1pMo/4UhFJT6JTJMCsU1VA+pYZS0x0gWQhETqBAKCdkZJEXR/bnIqk061dxvqbicw2lYVNXpskLoUT+oaf4EKiLQIFQTszVPlJx5L9KHmVS8bbpK2ShpE1eCKWuTxPpQiByAgVCGXtAKEUiqSqXsj4Vaig1xlvpyC7z2ba+yau3t3cPTV413gWShkDEBAqEMi7X5JWViL7P/1ylppLtU0lpO9mXElIN5ZDOeIQS8aecokOgQwQKhHJapoZSJJNUKnm5FInFu875UIWSraF8Qg2lQ58uLgOByAgUCGViiVA0wTovkyKpFA0tpobSgbjKyrCwdnKgyQuhdOBmcAkIxEigQChnZMQhORSJJP+7tHbSaDhxXio0eVkOuCpCGdjb2/sxNRTL5EkOAhBICBQIZXKDmkhWJGVSyTd9lTV7IRTLMVgmlIPNXQdqKAjFMniSgwAEPiNQIJSzS4SSCiT/tahPpUqzF0KxGIRlI7wOkQlCsUicpCAAgcMIFAjlnJxQykSSr600avbKz0tJ8+GcVHzslG82oTErFTV5afn6gwerDfNUgAAEbBEoEMrUA0Ipat7S75rVVMqGEWebvrLZd0oqIQnlkCVXDgwbRii2PjmkAwEIVKmhnJepoRTJo0gqavZKz200fLhIHgilzbgsq6HkhTLwQJMXNZQ2gfN2CECgmEBBDWVaQZNXViypUBr1pZR1zCOUGgKxilASmSCUGuiTJAQgcJBAgVDOLxFKvmZSVlMpWkAybe5CKDXEXiOhpH9LhaImr130odRwF0gSAhAoGuV1QUmTV7Zm0qgvJVs7kVyyMkEoNcRcsxFeuiRCqQE8SUIAAocSKKihXJgTSllzV77pq2xJlnztJC8V+lDaDMpmQsmP8qKG0iZw3g4BCFTuQ5meG+VVVDOp2o+Sn4+SyiWbGYTSZnAilDYB8nYIQMAOgYIaSiqUdORWtoai3WPzgsmO8MrWUqpMbiwSjJ2C9TOVEIYNFw0XTmsp9KH0MzB4GwQg0JxAgVBmlMw1yYokFUteOgilOXLrZ1BDsY6UBCEAgf4QKBFKttbRrMkr20GPUPpzE9p8T1WhpPNQ6ENpEzhvhwAEKvehqIbSqlDyzV6tzJanD6XN4EQobQLk7RCAgB0CDWoo2easZrUUhGLndvQrFYTSL2y8CQIQsE0AoRxKNOROeZq8bH96SA8CEDiEQIFQPl/SKV80wqtstjxNXh2MM2ooHYTNpSAAgXICJUIpGjIseZRJhSavLgYZQukifC4NAQj8h0CLQimTCkLpYlAhlC7C59IQgABCKYsB+lD4dEAAAhDoJwFqKHTK9zN0eBsEIACBQwkgFITCZwICEICAFQIIBaFYCSQSgQAEIIBQEAqfAggcJLB//36zb98+09d36AoWAwcONAMGDDDpV5BBoIgAQkEofDIiIfDpp5+azZs3m507d5rdu3ebHTt2HHzpd3v27DE6RzKRPLJH9mdJpaenxxxxxBFmyJAhyWvw4MHmyCOPTF7Dhg0zI0aMMGPGjDGjRo2KhC7FFAGEglD4JAREQDL48MMPE2mkwvj3v/+dfP/RRx8lIkn/Xmexjz32WDN06NDkNXz4cHPccceZY445JpGNftZL30tAHOEQQCgIJZxojrAkap5SzUKyePvtt82bb75pNm3aZP71r3+Zjz/+2Ekiqu2ceOKJ5oQTTjAnnXSSGTt2bPK9ajmDBg06rHbkZCHIVCEBhIJQ+Gh4SECyWLdunXnttdfM+vXrzbZt2zwsxX+yLJGceuqp5vTTTzcTJ05MBEPtxb9bilAQin9RG2mOt27dav7+97+bf/zjH2bDhg2HdZyHhEWC+dznPmcmTJhgpkyZksiGw30CCAWhuB+lEeewt7fX6LV27Vrz/vvvJ81Y+RFYoeORXNREdtZZZ5kzzjgjaSbToAAO9wggFITiXlRGnCP1iagT/dVXXzWvv/662bJlS9I/EptEykJAHfvHH3+8mTZtmjnttNOSkWQc7hBAKAjFnWiMOCcaeaUO9ZdeeikZeqmfORoTGD16dNLfopqLvtLn0v2IQSgIpftRGHEONLx31apV5tlnn/W+Y72bt1HNYLNmzTLnn39+MlqMozsEEApC6U7kRX5VdbCvWLHC/O1vf0smE3LYIaC5LZdccom5+OKLqbHYQdpSKggFobQUMJzcHoG33nrLPP3008loLfWXcNRDQGKZMWOGueCCC5IhyBydIYBQEEpnIi3yq2jJkz/96U/m5ZdfNrt27YqcRueKrxn5n//8583UqVOTkWIc9RJAKAil3giLPHV1rkskqpGomYujOwS0FIzE8oUvfCFZe4yjHgIIBaHUE1mRp7p3795kFvtjjz2WLMjI4QYBdd5fccUV5uyzz05WTuawSwChIBS7EUVqyTpav//975MJiRxuEtBQ4/nz5yerInPYI4BQEIq9aIo8Jc1kX7ZsWdJPQoe7+8GgjvvZs2ebuXPnJotScrRPAKEglPajKPIU1Lyl4b/Lly8327dvj5yGX8XXyscaBTZv3rxkYcr8PjB+lab7uUUoCKX7UehxDt577z2zcuVK85e//MXjUpB1ddRrmLE67WkG6388IBSE0v/oifydWiZFTVxq6vLtSHdc1KxyvfSzHqrahVHfp39Pv+r36d4rqpHpe730vSZmfvLJJ0bbB+ur9mfR3/Szb4f2Zrn++utZ3bifNw6hIJR+hk68b9NCjUuXLjV//OMfvYEgMWj3RK1/pSYePTjHjRtnRo4cabX/QHNstLilJnBqwy+NcJNwJRlfFrjU6K8bb7zRXHTRRd7cX1cyilAQiiux6EU+1MT129/+1vkRXFooUX0C2k/klFNOObgjovoI0lfdwCUQvVRT0Zpl7777bjICTg+djRs3Or3kjBhpXbDrrrsu2aqYoxoBhIJQqkUKZ5nVq1cnNRMXm7i0Z3u6na4koprHUUcd5dxCidlmMdVe3nnnnaRGk351Lcy0yZc67CdNmuRa1pzMD0JBKE4GpkuZUn/Ak08+mcx43717txNZU7OMpKENp7QviJqyUok4kcEWMqHmMK0o8MEHHyRDrjV/R7UZV46jjz7aXHbZZcmik0yGbHxXEApCceVz62Q+1MmsJi4NC3ahD0DzJVQbUfv+5MmTE5GEduzYscOsX7/erFmzJvmqXSpdOObMmWOuvfZahhY3uBkIBaG48Fl1Mg/aKfHnP/950iTT7UM7FZ5zzjmJSNQME8uxadOmZB205557zolNx84880yzaNEiqwMZQrqXCAWhhBTP1sqi9v3Fixd3fdMrPcC0t4eatmJubtHQZG2J/NRTT3V9QIQGOdx2221Gkuc4lABCQSh8JnIE1Mxy//33d00mEodqIzNnzky2to1ZJPngVH+WRoppIukrr7xiVIvsxqFh1zfddJM5+eSTu3F5Z6+JUBCKs8HZjYxpJNdDDz3UlQeVRmVpqK9qJPovmPWlGkeAhnCrb+uvf/1r0qHf6UOj6m644YZkUATHZwQQCkLhs3CAgEYY/eY3v0km4XXy0Cx0TTK88sorzfjx45PZ6hzVCaiPS/fumWee6fgovDFjxiSrFusfAQ6Eko+BAR4GRT7P6c/6mn1p84cBvb29h2wXqDkLHCZ5IC1ZsqTjk+1UE7nqqquSPhKO9gioxvK73/3OrFu3rqPLvmjzrq9+9avsCEkN5bAARijtfaa9fPef//xn8+ijj3a0ZqJlUDRhTnuec9gjoKHda9euTZott23bZi/hJilNnz496VPREjcxHzR50eQVc/wnZdfIIe2s2Ik9TNQvoq1oL7/8cpb0qDHyNAFVE1GfffbZ2pvBpkyZYr7yla9ELxPdToSCUGr8WPuRtEYKaUkV1VTqPLR8h5ZH14REjvoJqLaiWopqnxoRVseh0Xi33norAygOwEUoCKWOz5l3aWqV3EceecSsWrXKet61UOOXvvQlc+GFFxot48HRWQJaP0xS0T8MWm7f1qHRXQsXLjTqQ+H4jABCQSh8Fg4QUDPJr371q2QCna1DS6PcfPPN7K9hC2gb6aiW8vDDD1sZYqwhw5LJ8ccf30aOwnsrQkEo4UV1GyXSf7B33XVXMlKo3WPatGnJvhrUStolae/92qL53nvvPew/6VauoB0dv/GNb1AzKYCGUBBKK5+lKM5VTeWBBx5IhhL359AOiNr1T01cPo36kUzzuzFqYcb09yqLmu80T0Zf090cNdDAt73YtTna448/3vLt1cKct99+u9H8E47DCSAUhMLnooCAVrxV80irUlETiDppXV6SQ/+la2a59nXRa8uWLWbr1q0Ht/FVn0O6MZa+lyzSzbLSzbkkE32fbhes7YO1aOWoUaOSlx68Wk5f4nH1UH+ZpCIeVQ6VR/dWk085igkgFITCZ6OEgB66Wrr+1VdfrcRIEtGigWoSceVQbUuj2PTQ1CZWeqlc+lkiqePQ2mPaZliLJ+ohrM5rSUY/u9aB/eabbyb/OGi74kaH7qlmxJ911ll1IAsmTYSCUIIJ5joKogfvr3/9a6MHT9mh/9TVvKUHjgvrb0kiWo5EeU53QtTqyd081Ewm4eqlZWZOPfXURC4uNAlqhr36Vcqkoj4w9YWpT4yjMQGEglD4jDQhoCHF2hdFD+f8IZloJz9tvNTtVYFV43jxxRfNCy+84MTeIY2wipvWv5o1a5bREv3dFrHu8d13331YZ72Ed8stt5jzzjuPz0kFAggFoVQIE07ZuXNnMqT4jTfeOATGNddcY7STX7dkotqIVtyVSLSsu4/HsGHDkv/+tQyNloXv1qEBCNq2IO03k/TUZ0LNpPodQSgIpXq0RH6magAa/aUPjZpwrrvuumQHxW7IRHuuqyaiuRXqE3Fhe+J2w0O1FO3/MmPGjGQ/mG6MHJOg//CHP5jXXnstqT3Nnj273WJF9X6EglCiCvh2C6stafUg14RFyaTTDz31haRb4mokWoiHRoZpJJVqLFqmptPzeLR9gf550ORFjtYIIBSE0lrEcHZXCOghp2GuWvCwrtFZXSlYg4uq5qcOfIlbo6u0ARmH2wQQCkJxO0LJXbIG1cqVK6MRSdEtV21BI600OozDXQIIBaG4G52R52zDhg3JooYbN26MnMRnxVfzojrINaJOc1o43COAUBCKe1EZeY40a11Lg7z00kvJ7HWOQwmoT+WLX/xi0hTm8kz8GO8bQkEoMca9k2XWMifqcNcoI3X+czQmoH6VK664wmgbZQ43CCAUhOJGJEaeC9VEnnjiCfPMM89Y3bMjdKxa2uWqq64y559/fuhF9aJ8CAWheBGoIWdSa209+OCDLS9EGTKTVsqm2eyXXXZZUlvp9DDuVvIZw7kIBaHEEOfOllFb1N55551G60lxtEdAS7lob/dOz1tpL9dhvRuhIJSwItqj0ujDp4UntawLhx0CJ554ornpppuS+SscnSeAUBBK56OOKyZL4i9ZssRoqQ8OuwS0VL6WxZkyZYrdhEmtKQGEglCaBgkn2COwb9++ZOmWRx55xOh71w71QQwdOjRZ/TfdPEvrluml/GrGvr7qpZ0cP/zwQ9eKkORHC05KKlq+haNzBBAKQulctEV+JT2An3rqKbN06VInFnPU0iYShZY00Q6L2m0y3RhLP+slsegcnathzRKKRqSpz0e1KwlFi1PqpaY7/V6r9rogS23FfMMNNySLTXJ0hgBCQSidiTSuksx6f/rpp7sqE9VAJArtoqh9SLQIo3YjtDU6SiLRvjGaT6OVkLu97phEuHDhQjN16lQisAMEEApC6UCYcQn9B/+zn/0s2bu904dqGFq1Vw9VrYWlZUvSveHrzItqNBKK+ou0x0g3lpDRPJVvfetbRrUVjvoJIBSEUn+UcYWEgGon6jvp1KEFFTWbXOtf6cHazV0R1Tym2f9r164169evTzYDk3DqPNQXdNttt7GgZJ2Qc2kjFITSwXCL+1J6gC5btixZp6vOQ/0g6ozW7HE1Z7l2qK9FtRatoqzmsTr6W9Qpr+HDjPTq7N1HKAilsxEX+dUkFXXKP/nkk1ZJqAlLItH+9mraGjJkiNX060hMgxS0ffHzzz9v3nrrLWuX0MTG66+/nhFe1ohWTwihIJTq0cKZ1gjcd999yT7wNg6tuKsl3TWaSUN9fTy0jtny5cvbzrr6ShYsWIBM2ibZvwQQCkLpX+TwrrYJ3Hvvvcl/6O0catq6+uqrzbHHHttOMk68V/u/PPbYY+aNN97oV35US/vyl79spk+f3q/386b2CSAUhNJ+FJFCvwloUUg1+bR6qG/kmmuuMeecc04yTySUQ/0p6lt5+OGHWxpeLZnMmzfPXHzxxdaGQIfCtJPlQCgIpZPxxrVyBDQJ8P77729ppWHt/3Hrrbea0aNHB8tzzZo1ybwdLZ7Z7FAz36WXXmquvPLKZAImR/cIIBSE0r3o48oJgR07dhj1qaxbt64hEf0Xfu655ybNOjHsVLh58+akpvL666+X1lYkkNmzZye1E1uTMwnL/hNAKAil/9HDO60R0J4od911l1E/QtGhZi3t+XH55ZdH9eBUE9iKFSuSV9Hw4lmzZiXLq1AzsRaKbSWEUBBKWwHEm+0RkFQWL15s3n777UMSlUxuueWWqJcPUT+TaitZqcycOTORSUh9SPaiqTspIRSE0p3I46qFBN5//31zzz33HJyXoaYtNXGxFpUxq1atSqSiWfeSiZq5WFLFrQ8SQkEobkUkuUlmj2tGvTqk58yZwzDYTExoyRbN39EIN2Ti3ocFoSAU96KSHBl1SGtByUmTJkEDAt4QQCgIxZtgJaMQgIDbBBAKQnE7QskdBCDgDQGEglC8CVYyCgEIuE0AoSAUtyOU3EEAAt4QQCgIxZtgJaMQgIDbBBAKQnE7QskdBCDgDQGEglC8CVYyCgEIuE0AoSAUtyOU3EEAAt4QQCgIxZtgJaMQgIDbBBAKQnE7QskdBCDgDQGEglC8CVYyCgEIuE0AoSAUtyOU3EEAAt4QQCgIxZtgJaMQgIDbBBAKQnE7QskdBCDgDQGEglC8CVYyeiiBnTt3Gu3y2NfXFwyaQYMGmdGjRwdTntgKglAQSmwx72V59+/fbz788EPz7rvvmjfeeCPZfEsy0e937dplduzY4WW50kxrT/gxY8Yk2/keffTRZsSIEeaEE04wEyZMMMOHD2fPeE/uLkJBKJ6EarzZlERWrlxpVq9ebfbu3RsViCFDhpjJkyebuXPnmpNPPjmqsvtYWISCUHyM22jy/Pzzz5sHH3wwmvKWFVQ1l8suu8xcccUV0bNwGQBCQSgux2fUeXviiSfM8uXLo2aQLXxPT4+ZM2eOufrqq2HiKAGEglAcDc24s/Xcc8+Zhx56KKgOdxt3VDWVm2++2UybNs1GcqRhmQBCQSiWQ4rk2iWwadMms3jxYrN9+/Z2kwry/UcddZT59re/bYYNGxZk+XwuFEJBKD7Hb5B5f+CBB8wLL7wQZNlsFWrWrFnmhhtuYPSXLaCW0kEoCMVSKJGMDQIa0fWTn/zE7Nmzx0Zywaah0V/f/OY3zahRo4Ito48FQygIxce4DTbPK1asMMuWLaPvpMIdvummm8zMmTMrnMkpnSKAUBBKp2KN61QgoL6TdevWVTiTU2bPnm1uvPFGQDhEAKEgFIfCMe6saAmVH/3oR2bz5s1xg6hY+rPPPtssWrSIfpSKvDpxGkJBKJ2IM65RgYCWUfn+979vPvjggwpnc8ppp51mFixYkCzRwuEGAYSCUNyIRHJh9u3bZ773ve8ZLfrI0ZzA2LFjE6HoK4cbBBAKQnEjEskFQmkxBjTS6/bbbzfjxo1r8Z2cXhcBhIJQ6oot0m2RADWU1oANHjzY3HHHHWb8+PGtvZGzayOAUBBKbcFFwq0RQCit8UIorfHqxNkIBaF0Is64RgUCCKUCpMwpCKU1Xp04G6EglE7EGdeoQAChVICEUFqD1OGzEQpC6XDIcbkyAlWF8rWvfS0KiI8++qh57733SstKDcW9MEAoCMW9qIw0R1WF8t3vftcMHTo0eEqa5IlQ/LrNCAWh+BWxAecWoRx6cxGKf8GOUBCKf1EbaI4RCkLxPbQ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UcoCMX3YEYoCMXtLpejAAAOhUlEQVT3GA4m/wgFofgezAgFofgew8HkH6EgFN+DGaEgFN9jOJj8IxSE4nswIxSE4nsMB5N/hIJQfA9mhIJQfI/hYPKPUBCK78GMUBCK7zEcTP4RCkLxPZgRCkLxPYaDyT9CQSi+BzNCQSi+x3Aw+UcoCMX3YEYoCMX3GA4m/wgFofgezAgFofgew8HkH6EgFN+DGaEgFN9jOJj8IxSE4nswIxSE4nsMB5N/hIJQfA9mhIJQfI/hYPKPUBCK78GMUBCK7zEcTP4RCkLxPZgRCkLxPYaDyT9CQSi+BzNCQSi+x3Aw+a8qlEWLFgVT5kYFWbp0qXnvvfdKTxk8eLC54447zPjx46Pg4UMhEQpC8SFOo8hjVaFEAaNCIRFKBUgdPgWhIJQOhxyXKyOAUFqLDYTSGq9OnI1QEEon4oxrVCCAUCpAypyCUFrj1YmzEQpC6USccY0KBBBKBUgIpTVIHT4boSCUDoccl6PJy04MUEOxw9FmKggFodiMJ9JqgwA1lNbgDRkyxNx+++1m3Lhxrb2Rs2sjgFAQSm3BRcKtEdi/f7/5wQ9+YLZt29baGyM9W8OF58+fb0466aRICbhXbISCUNyLykhz1NfXZ3784x+bd955J1ICrRX7zDPPNAsWLDDHHXdca2/k7NoIIBSEUltwkXDrBO6++26zZs2a1t8Y4TsuuOACc8stt0RYcneLjFAQirvRGWHOVq5caR5//HGj5i+OxgSuvfZaM3fuXDA5RAChIBSHwpGsbNmyxfz0pz81H330ETAaEDjiiCPM17/+dTN27Fg4OUQAoSAUh8KRrIjAkiVLzKpVq4DRgMC5555rFi5caHp6euDkEAGEglAcCkeyIgLqlL/zzjvNzp07AVJAQPNPvvOd75gjjzwSPo4RQCgIxbGQJDsi8OKLL5r77rsPGDkCAwYMSIYKX3TRRbBxkABCQSgOhiVZUqf8k08+abSEO8dnBNRvMmPGjEQoHG4SQCgIxc3IJFdG81LUl/LII4+Y3bt3R01kxIgR5tJLLzWzZs0yqqVwuEkAoSAUNyOTXB0koJnzksqrr74a5XDi8847z8ybN88cc8wxRIXjBBAKQnE8RMleSmD79u1m7dq1ZuPGjUbDizdt2mT27t0bFKCBAwcmM981HPiUU04xZ5xxhhk5cmRQZQy5MAgFoYQc30GW7dNPPzWffPJJ8pJQ1DQWyqF+Eo3e0sKPgwYNCqVY0ZQDoSCUaIKdgkIAAvUSQCgIpd4II3UIQCAaAggFoUQT7BQUAhColwBCQSj1RhipQwAC0RBAKAglmmCnoBCAQL0EEApCqTfCSB0CEIiGAEJBKNEEOwWFAATqJYBQEEq9EUbqEIBANAQQCkKJJtgpKAQgUC8BhIJQ6o0wUocABKIhgFAQSjTBTkEhAIF6CSAUhFJvhJE6BCAQDQGEglCiCXYKCgEI1EsAoSCUeiOM1CEAgWgIIBSEEk2wU1AIQKBeAggFodQbYaQOAQhEQwChIJRogp2CQgAC9RJAKAil3ggjdQhAIBoCCAWhRBPsFBQCEKiXAEJBKPVGGKlDAALREEAoCCWaYKegEIBAvQQQCkKpN8JIHQIQiIYAQkEo0QQ7BYUABOolgFAQSr0RRuoQgEA0BBAKQokm2CkoBCBQLwGEglDqjTBShwAEoiGAUBBKNMFOQSEAgXoJIBSEUm+EkToEIBANAYSCUKIJdgoKAQjUSwChIJR6I4zUIQCBaAggFIQSTbBTUAhAoF4CLQplrzFmX8Fr/4Hf6atefZmv+j59qTD6Pnvkf663wE1SH9DVq/fv4vk8pz/ra/Y1UD/39vbuyl5mwoQJ/bsq74IABCCQI1AiFEkjKwn9XCaT/LkIpcNRhlA6DJzLQQACxQQKhDLjgExSoRTVSPK/o4bSxQBDKF2Ez6UhAIH/EEAoh0YDTV58OiAAAQj0k0ADoWSbsprVUqih9JO/jbdVraHovIG9vb0fGGMGpxceP3686enpsZEP0oAABCImsG/fPrNhw4aDBPr6+j49/fTTZxf0nzQTSiqftFM+7UfJdsinne90yluOuZaE8vrrrz8zcODA89M8DB8+3IwcORKpWL4pJAeBmAhIJlu3bjU7d+48WOyPPvpo7dSpU/8rM2KrrJaSdtBn+1myMkEoHQymloSyevXqbw0bNuz/djB/XAoCEIiQwMsvv/z/b7zxxl8UdMqn4iga6ZVv7soOHaaG0oE4akkoavZat27d0z09PdM6kDcuAQEIREjgQO1kUU4mVUZ6IZQux0szoSh7yRyUA18H3nPPPROnT5/+C6TS5TvH5SEQIAHJ5Ic//OH/+eUvf7kxI5R8c1ajfpR8c1d2LoqIMbGxxrgpGpmWndCYF0oqlp4XX3zxm8OHD1/Q09Nz9oABAwbVmEeShgAEAiagDvhdu3b19vb2PjF//vxfZma3Z+XQbKRXfvJjflKjfs4KpWhWPDPl24yzRkJR0qlAUsmotpK+NLxL3+tr+sr/nJ6TfV9a48nPxi+rLbVZRN4OAQg4RKBoZFW+fyNdLiVf2yibxJj+vqjJK007FUy+lpJFg1DaDJQqQslKJS+GIqnkf5d/T5lQUoFli+Tj3J42bwlvh0CwBMqG6bYqlKL+lEb9J9mRXgilxvCqKpS8VLI1j0Y1lbTGkpVKvtaTXT8sLSoiqfGmkzQEukwgK5bsnJB8baKsySsvlLxM0uaxooUhEUqNN79MKGlt4bAFIjNNXllZFNVKiqRTJJP0Go1kgmBqDAKShkDNBJr1V5TVUFIhZCcr5vtSivpOssOFi+ahpFLJF5smLwuB0GykV14qaZNVWS2lSDRpDaWZUBoJzkJRSQICEOgSgUZSaSaUVBBFKw8X1U6yfTBFaRcJxSmZFLX/d+m+9euy2Qd5tgmqqOO8qE8kW0MpaubKN3k16pBvVBuhptKv28ubINAVAo0e0vlmr6r9KEU1kqLlVspmyBctu+KcTEIVSrbpKzsf5eC8lMxIr/zor7LO+KJO+Tw/xNGVzz8XhUBHCDTrQ8n2fRTNKynrMylq6irqkM/XUBCK5dteVkMp60s5ZLJjgVSycsnKJzv8OF8T8l3Klm8JyUEgeAL5Dvn0QZ+VQFYSRTWR/O8aNXdlRVIkNaeA+/xfdSv9KI2GEedrKXmZNKud0IfiVEiTGQhYI9CsDyV92GebvrKTE7PflzVx5Sczett/4vt/142Ekq+lNGr6KprAmO2QL+o7KRo2nEaxz5K29kkkIQgEQqCZVIoEkK9xlDWBFc2Mz6ZXVjvJN385g9rnh1+ZUIqavPLNVvkRXEU/59/TanOXz2ydCVAyAoEuEajSOZ8+/LM1lbKmr6xUioRTJqa0+Pn80IdiOTAaNTWlMsjKJdt0VVZjyTeN5Wsn2fSq1EiQiuWbTnIQ6ACBKjLJSqRZ01eZQPLyKRJUWW0EoVgOhGZCqVJTKRJIo3W7ipq6kIblG0tyEHCYQJXRXmV9KtmRYPnv8zWURs1dNHnVECBlD/Kypql8baOoxlLUzFWlqQup1HCDSRICjhEoa3YqqlkUCaOsRlLUb5IdTVaEgRpKTcFRtXO+qMbSrDaSlVD6/uzXKs1eNRWbZCEAgQ4TaCSUomavRh32ZTWSvEi86DsJ6UHYStNXo2awstFc+WauRoMBOhzfXA4CEOgwAVtSqVIraTTCrMPFrna5UJpqmo34yoqkkVSK/lZWMwmFXbVI4SwIQCBLoKwvpaim0qj2kv1b+n16Ha9qJ0VNNz6HTDtSKRNOkUya9d34zJC8QwACxQTK+izKmqgajdiqMprLO5mELpRGNYuiZqxGv8uzonbCYwcCECiqpZTVOPISyZ+XrZ1419SVhkJID8YqNYey/pBmvy+Sb0jseDRAAAKtEWhUg2hUaykSR5mYyprYWstpB88O8aHYqJO+Ua2l2d+ytyVEbh0MOy4FgSAINKtJNBqxVTQsuFl6zkML8cHYSk2lUVNWf0dzhcjU+UAmgxCoiUDV+R5VaizZ2kmj772rmYTY5JWPp2Y1lWbNWFXeX1MMkywEIOARgWY1i2Yd7M3e7w2KkP+bblS2KrKoUtPx5kaTUQhAoBYCzUZ/pRdtVRpVa0a1FKq/iYYslCq1sCpiqVLz6S9/3gcBCPhNoNmDPwqRVHnY+n2b/5P7KtJstTYTChvKAQEI2CXQSDDN5KOcVDnHbo4tplblYWvxcl1NqmpZq57X1cJwcQhAwAsCVQVR9TynCx3Tw7Pdsrb7fqcDgcxBAAJtEWhXCO2+v63M23pz7A/J2MtvK45IBwIQqE4gCHkUFZcHqjEwqP5B4EwIQKA9AsHKRFh4mDYODvi09+Hh3RCIkUDQ0mh0Q3lgNg93GDVnxBkQgMBnBKKVCTUUPgIQgAAEIGCNAP99W0NJQhCAAATiJoBQ4r7/lB4CEICANQIIxRpKEoIABCAQNwGEEvf9p/QQgAAErBFAKNZQkhAEIACBuAkglLjvP6WHAAQgYI0AQrGGkoQgAAEIxE0AocR9/yk9BCAAAWsEEIo1lCQEAQhAIG4CCCXu+0/pIQABCFgjgFCsoSQhCEAAAnETQChx339KDwEIQMAaAYRiDSUJQQACEIibAEKJ+/5TeghAAALWCCAUayhJCAIQgEDcBBBK3Pef0kMAAhCwRgChWENJQhCAAATiJoBQ4r7/lB4CEICANQIIxRpKEoIABCAQNwGEEvf9p/QQgAAErBFAKNZQkhAEIACBuAkglLjvP6WHAAQgYI0AQrGGkoQgAAEIxE0AocR9/yk9BCAAAWsEEIo1lCQEAQhAIG4CCCXu+0/pIQABCFgjgFCsoSQhCEAAAnETQChx339KDwEIQMAaAYRiDSUJQQACEIibAEKJ+/5TeghAAALWCCAUayhJCAIQgEDcBBBK3Pef0kMAAhCwRgChWENJQhCAAATiJoBQ4r7/lB4CEICANQIIxRpKEoIABCAQN4H/BTIAG2nPd2DMAAAAAElFTkSuQmCC"/>
          <p:cNvSpPr>
            <a:spLocks noChangeAspect="1" noChangeArrowheads="1"/>
          </p:cNvSpPr>
          <p:nvPr/>
        </p:nvSpPr>
        <p:spPr bwMode="auto">
          <a:xfrm>
            <a:off x="63500" y="-136525"/>
            <a:ext cx="962025" cy="971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ndParaRPr>
          </a:p>
        </p:txBody>
      </p:sp>
      <mc:AlternateContent xmlns:mc="http://schemas.openxmlformats.org/markup-compatibility/2006" xmlns:p14="http://schemas.microsoft.com/office/powerpoint/2010/main">
        <mc:Choice Requires="p14">
          <p:contentPart p14:bwMode="auto" r:id="rId12">
            <p14:nvContentPartPr>
              <p14:cNvPr id="20" name="Ink 19"/>
              <p14:cNvContentPartPr/>
              <p14:nvPr/>
            </p14:nvContentPartPr>
            <p14:xfrm>
              <a:off x="8407440" y="3676680"/>
              <a:ext cx="360" cy="360"/>
            </p14:xfrm>
          </p:contentPart>
        </mc:Choice>
        <mc:Fallback xmlns="">
          <p:pic>
            <p:nvPicPr>
              <p:cNvPr id="20" name="Ink 19"/>
              <p:cNvPicPr/>
              <p:nvPr/>
            </p:nvPicPr>
            <p:blipFill>
              <a:blip r:embed="rId22"/>
              <a:stretch>
                <a:fillRect/>
              </a:stretch>
            </p:blipFill>
            <p:spPr>
              <a:xfrm>
                <a:off x="8398080" y="3667320"/>
                <a:ext cx="19080" cy="19080"/>
              </a:xfrm>
              <a:prstGeom prst="rect">
                <a:avLst/>
              </a:prstGeom>
            </p:spPr>
          </p:pic>
        </mc:Fallback>
      </mc:AlternateContent>
      <p:sp>
        <p:nvSpPr>
          <p:cNvPr id="13" name="TextBox 12">
            <a:extLst>
              <a:ext uri="{FF2B5EF4-FFF2-40B4-BE49-F238E27FC236}">
                <a16:creationId xmlns="" xmlns:a16="http://schemas.microsoft.com/office/drawing/2014/main" id="{916118F9-9480-1EC3-E467-EC7D70C950B2}"/>
              </a:ext>
            </a:extLst>
          </p:cNvPr>
          <p:cNvSpPr txBox="1"/>
          <p:nvPr/>
        </p:nvSpPr>
        <p:spPr>
          <a:xfrm>
            <a:off x="5635891" y="2488351"/>
            <a:ext cx="1888659" cy="553998"/>
          </a:xfrm>
          <a:prstGeom prst="rect">
            <a:avLst/>
          </a:prstGeom>
          <a:noFill/>
        </p:spPr>
        <p:txBody>
          <a:bodyPr wrap="none" rtlCol="0">
            <a:spAutoFit/>
          </a:bodyPr>
          <a:lstStyle/>
          <a:p>
            <a:r>
              <a:rPr lang="en-IN" b="1" dirty="0">
                <a:solidFill>
                  <a:srgbClr val="C00000"/>
                </a:solidFill>
              </a:rPr>
              <a:t>Subnet2 </a:t>
            </a:r>
            <a:r>
              <a:rPr lang="en-IN" sz="1400" b="1" dirty="0">
                <a:solidFill>
                  <a:srgbClr val="C00000"/>
                </a:solidFill>
              </a:rPr>
              <a:t>10.0.1.0/28</a:t>
            </a:r>
          </a:p>
          <a:p>
            <a:r>
              <a:rPr lang="en-IN" sz="1200" b="1" dirty="0">
                <a:solidFill>
                  <a:srgbClr val="C00000"/>
                </a:solidFill>
              </a:rPr>
              <a:t>10.0.1.0 -&gt; 10.0.1.16</a:t>
            </a:r>
            <a:endParaRPr lang="en-IN" sz="1200" dirty="0">
              <a:solidFill>
                <a:srgbClr val="C00000"/>
              </a:solidFill>
            </a:endParaRPr>
          </a:p>
        </p:txBody>
      </p:sp>
      <p:sp>
        <p:nvSpPr>
          <p:cNvPr id="15" name="TextBox 14">
            <a:extLst>
              <a:ext uri="{FF2B5EF4-FFF2-40B4-BE49-F238E27FC236}">
                <a16:creationId xmlns="" xmlns:a16="http://schemas.microsoft.com/office/drawing/2014/main" id="{63892543-A298-ADD9-FEFB-297F52B87E05}"/>
              </a:ext>
            </a:extLst>
          </p:cNvPr>
          <p:cNvSpPr txBox="1"/>
          <p:nvPr/>
        </p:nvSpPr>
        <p:spPr>
          <a:xfrm>
            <a:off x="6406871" y="2020865"/>
            <a:ext cx="1888659" cy="553998"/>
          </a:xfrm>
          <a:prstGeom prst="rect">
            <a:avLst/>
          </a:prstGeom>
          <a:noFill/>
        </p:spPr>
        <p:txBody>
          <a:bodyPr wrap="none" rtlCol="0">
            <a:spAutoFit/>
          </a:bodyPr>
          <a:lstStyle/>
          <a:p>
            <a:r>
              <a:rPr lang="en-IN" b="1" dirty="0">
                <a:solidFill>
                  <a:srgbClr val="C00000"/>
                </a:solidFill>
              </a:rPr>
              <a:t>Subnet3 </a:t>
            </a:r>
            <a:r>
              <a:rPr lang="en-IN" sz="1400" b="1" dirty="0">
                <a:solidFill>
                  <a:srgbClr val="C00000"/>
                </a:solidFill>
              </a:rPr>
              <a:t>10.0.2.0/27</a:t>
            </a:r>
          </a:p>
          <a:p>
            <a:r>
              <a:rPr lang="en-IN" sz="1200" b="1" dirty="0">
                <a:solidFill>
                  <a:srgbClr val="C00000"/>
                </a:solidFill>
              </a:rPr>
              <a:t>10.0.2.0 -&gt; 10.0.2.32</a:t>
            </a:r>
            <a:endParaRPr lang="en-IN" sz="1200" dirty="0">
              <a:solidFill>
                <a:srgbClr val="C00000"/>
              </a:solidFill>
            </a:endParaRPr>
          </a:p>
        </p:txBody>
      </p:sp>
      <p:pic>
        <p:nvPicPr>
          <p:cNvPr id="8" name="Picture 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78829" y="822796"/>
            <a:ext cx="1257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Rectangle 22"/>
          <p:cNvSpPr/>
          <p:nvPr/>
        </p:nvSpPr>
        <p:spPr>
          <a:xfrm>
            <a:off x="1242541" y="1143159"/>
            <a:ext cx="1620187" cy="369332"/>
          </a:xfrm>
          <a:prstGeom prst="rect">
            <a:avLst/>
          </a:prstGeom>
        </p:spPr>
        <p:txBody>
          <a:bodyPr wrap="none">
            <a:spAutoFit/>
          </a:bodyPr>
          <a:lstStyle/>
          <a:p>
            <a:r>
              <a:rPr lang="en-IN" b="1" dirty="0" smtClean="0">
                <a:solidFill>
                  <a:prstClr val="black"/>
                </a:solidFill>
              </a:rPr>
              <a:t>Cloud Platform</a:t>
            </a:r>
            <a:endParaRPr lang="en-IN" dirty="0"/>
          </a:p>
        </p:txBody>
      </p:sp>
      <p:pic>
        <p:nvPicPr>
          <p:cNvPr id="60" name="Picture 4" descr="C:\Users\moham\Downloads\datacenter11.jpeg"/>
          <p:cNvPicPr>
            <a:picLocks noChangeAspect="1" noChangeArrowheads="1"/>
          </p:cNvPicPr>
          <p:nvPr/>
        </p:nvPicPr>
        <p:blipFill>
          <a:blip r:embed="rId24" cstate="print">
            <a:extLst>
              <a:ext uri="{BEBA8EAE-BF5A-486C-A8C5-ECC9F3942E4B}">
                <a14:imgProps xmlns:a14="http://schemas.microsoft.com/office/drawing/2010/main">
                  <a14:imgLayer r:embed="rId25">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9232139" y="3425307"/>
            <a:ext cx="1428718" cy="2258984"/>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p:cNvSpPr/>
          <p:nvPr/>
        </p:nvSpPr>
        <p:spPr>
          <a:xfrm>
            <a:off x="8883486" y="1838045"/>
            <a:ext cx="1907868" cy="281622"/>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Physical (Infra)</a:t>
            </a:r>
            <a:endParaRPr lang="en-IN" dirty="0"/>
          </a:p>
        </p:txBody>
      </p:sp>
      <p:sp>
        <p:nvSpPr>
          <p:cNvPr id="62" name="Rectangle 61"/>
          <p:cNvSpPr/>
          <p:nvPr/>
        </p:nvSpPr>
        <p:spPr>
          <a:xfrm>
            <a:off x="8883486" y="2365124"/>
            <a:ext cx="1907868" cy="281622"/>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Logical (Network)</a:t>
            </a:r>
            <a:endParaRPr lang="en-IN" dirty="0"/>
          </a:p>
        </p:txBody>
      </p:sp>
      <p:sp>
        <p:nvSpPr>
          <p:cNvPr id="66" name="Rectangle 65"/>
          <p:cNvSpPr/>
          <p:nvPr/>
        </p:nvSpPr>
        <p:spPr>
          <a:xfrm>
            <a:off x="8883486" y="2910346"/>
            <a:ext cx="1907868" cy="281622"/>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Security</a:t>
            </a:r>
            <a:endParaRPr lang="en-IN" dirty="0"/>
          </a:p>
        </p:txBody>
      </p:sp>
      <p:pic>
        <p:nvPicPr>
          <p:cNvPr id="67" name="Picture 21"/>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2887161" y="2716437"/>
            <a:ext cx="372701" cy="458709"/>
          </a:xfrm>
          <a:prstGeom prst="rect">
            <a:avLst/>
          </a:prstGeom>
          <a:ln w="38100">
            <a:solidFill>
              <a:srgbClr val="0070C0"/>
            </a:solidFill>
            <a:miter lim="800000"/>
            <a:headEnd/>
            <a:tailEnd/>
          </a:ln>
          <a:effectLst>
            <a:outerShdw blurRad="57150" dist="50800" dir="2700000" algn="tl" rotWithShape="0">
              <a:srgbClr val="000000">
                <a:alpha val="4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Rectangle 31"/>
          <p:cNvSpPr/>
          <p:nvPr/>
        </p:nvSpPr>
        <p:spPr>
          <a:xfrm>
            <a:off x="3591524" y="3738727"/>
            <a:ext cx="1612842" cy="154214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Rectangle 64"/>
          <p:cNvSpPr/>
          <p:nvPr/>
        </p:nvSpPr>
        <p:spPr>
          <a:xfrm>
            <a:off x="3769562" y="3795461"/>
            <a:ext cx="1194707" cy="685851"/>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TextBox 67"/>
          <p:cNvSpPr txBox="1"/>
          <p:nvPr/>
        </p:nvSpPr>
        <p:spPr>
          <a:xfrm>
            <a:off x="3688968" y="3709576"/>
            <a:ext cx="1010085" cy="276999"/>
          </a:xfrm>
          <a:prstGeom prst="rect">
            <a:avLst/>
          </a:prstGeom>
          <a:noFill/>
        </p:spPr>
        <p:txBody>
          <a:bodyPr wrap="none" rtlCol="0">
            <a:spAutoFit/>
          </a:bodyPr>
          <a:lstStyle/>
          <a:p>
            <a:r>
              <a:rPr lang="en-IN" sz="1200" b="1" dirty="0" smtClean="0">
                <a:solidFill>
                  <a:srgbClr val="7030A0"/>
                </a:solidFill>
              </a:rPr>
              <a:t>Hosts/Nodes</a:t>
            </a:r>
            <a:endParaRPr lang="en-IN" sz="1200" dirty="0">
              <a:solidFill>
                <a:srgbClr val="7030A0"/>
              </a:solidFill>
            </a:endParaRPr>
          </a:p>
        </p:txBody>
      </p:sp>
      <p:sp>
        <p:nvSpPr>
          <p:cNvPr id="69" name="TextBox 68"/>
          <p:cNvSpPr txBox="1"/>
          <p:nvPr/>
        </p:nvSpPr>
        <p:spPr>
          <a:xfrm>
            <a:off x="3100359" y="3681821"/>
            <a:ext cx="544060" cy="276999"/>
          </a:xfrm>
          <a:prstGeom prst="rect">
            <a:avLst/>
          </a:prstGeom>
          <a:noFill/>
        </p:spPr>
        <p:txBody>
          <a:bodyPr wrap="none" rtlCol="0">
            <a:spAutoFit/>
          </a:bodyPr>
          <a:lstStyle/>
          <a:p>
            <a:r>
              <a:rPr lang="en-IN" sz="1200" b="1" dirty="0" smtClean="0">
                <a:solidFill>
                  <a:srgbClr val="7030A0"/>
                </a:solidFill>
              </a:rPr>
              <a:t>Racks</a:t>
            </a:r>
            <a:endParaRPr lang="en-IN" sz="1200" dirty="0">
              <a:solidFill>
                <a:srgbClr val="7030A0"/>
              </a:solidFill>
            </a:endParaRPr>
          </a:p>
        </p:txBody>
      </p:sp>
      <p:sp>
        <p:nvSpPr>
          <p:cNvPr id="35" name="Rectangle 34"/>
          <p:cNvSpPr/>
          <p:nvPr/>
        </p:nvSpPr>
        <p:spPr>
          <a:xfrm>
            <a:off x="3688968" y="4197249"/>
            <a:ext cx="1042273" cy="276999"/>
          </a:xfrm>
          <a:prstGeom prst="rect">
            <a:avLst/>
          </a:prstGeom>
        </p:spPr>
        <p:txBody>
          <a:bodyPr wrap="none">
            <a:spAutoFit/>
          </a:bodyPr>
          <a:lstStyle/>
          <a:p>
            <a:r>
              <a:rPr lang="en-IN" sz="1200" b="1" dirty="0" smtClean="0">
                <a:solidFill>
                  <a:srgbClr val="C00000"/>
                </a:solidFill>
              </a:rPr>
              <a:t>VM1 10.0.0.5</a:t>
            </a:r>
            <a:endParaRPr lang="en-IN" sz="1200" dirty="0"/>
          </a:p>
        </p:txBody>
      </p:sp>
      <p:sp>
        <p:nvSpPr>
          <p:cNvPr id="71" name="Rectangle 70"/>
          <p:cNvSpPr/>
          <p:nvPr/>
        </p:nvSpPr>
        <p:spPr>
          <a:xfrm>
            <a:off x="3699577" y="4736946"/>
            <a:ext cx="1042273" cy="276999"/>
          </a:xfrm>
          <a:prstGeom prst="rect">
            <a:avLst/>
          </a:prstGeom>
        </p:spPr>
        <p:txBody>
          <a:bodyPr wrap="none">
            <a:spAutoFit/>
          </a:bodyPr>
          <a:lstStyle/>
          <a:p>
            <a:r>
              <a:rPr lang="en-IN" sz="1200" b="1" dirty="0" smtClean="0">
                <a:solidFill>
                  <a:srgbClr val="C00000"/>
                </a:solidFill>
              </a:rPr>
              <a:t>VM1 10.0.0.6</a:t>
            </a:r>
            <a:endParaRPr lang="en-IN" sz="1200" dirty="0"/>
          </a:p>
        </p:txBody>
      </p:sp>
      <p:sp>
        <p:nvSpPr>
          <p:cNvPr id="36" name="Rectangle 35"/>
          <p:cNvSpPr/>
          <p:nvPr/>
        </p:nvSpPr>
        <p:spPr>
          <a:xfrm>
            <a:off x="2777812" y="3140911"/>
            <a:ext cx="593432" cy="369332"/>
          </a:xfrm>
          <a:prstGeom prst="rect">
            <a:avLst/>
          </a:prstGeom>
        </p:spPr>
        <p:txBody>
          <a:bodyPr wrap="none">
            <a:spAutoFit/>
          </a:bodyPr>
          <a:lstStyle/>
          <a:p>
            <a:r>
              <a:rPr lang="en-IN" b="1" dirty="0" smtClean="0">
                <a:solidFill>
                  <a:srgbClr val="0070C0"/>
                </a:solidFill>
              </a:rPr>
              <a:t>NSG</a:t>
            </a:r>
            <a:endParaRPr lang="en-IN" dirty="0">
              <a:solidFill>
                <a:srgbClr val="0070C0"/>
              </a:solidFill>
            </a:endParaRPr>
          </a:p>
        </p:txBody>
      </p:sp>
      <p:cxnSp>
        <p:nvCxnSpPr>
          <p:cNvPr id="74" name="Straight Arrow Connector 73"/>
          <p:cNvCxnSpPr>
            <a:endCxn id="3092" idx="3"/>
          </p:cNvCxnSpPr>
          <p:nvPr/>
        </p:nvCxnSpPr>
        <p:spPr>
          <a:xfrm flipH="1" flipV="1">
            <a:off x="1000594" y="2126970"/>
            <a:ext cx="461328" cy="1611757"/>
          </a:xfrm>
          <a:prstGeom prst="straightConnector1">
            <a:avLst/>
          </a:prstGeom>
          <a:ln w="38100">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75" name="TextBox 74"/>
          <p:cNvSpPr txBox="1"/>
          <p:nvPr/>
        </p:nvSpPr>
        <p:spPr>
          <a:xfrm>
            <a:off x="10729810" y="1761523"/>
            <a:ext cx="922047" cy="600164"/>
          </a:xfrm>
          <a:prstGeom prst="rect">
            <a:avLst/>
          </a:prstGeom>
          <a:noFill/>
        </p:spPr>
        <p:txBody>
          <a:bodyPr wrap="none" rtlCol="0">
            <a:spAutoFit/>
          </a:bodyPr>
          <a:lstStyle/>
          <a:p>
            <a:r>
              <a:rPr lang="en-IN" sz="1100" b="1" dirty="0" smtClean="0">
                <a:solidFill>
                  <a:srgbClr val="7030A0"/>
                </a:solidFill>
              </a:rPr>
              <a:t>Region, AZ, </a:t>
            </a:r>
          </a:p>
          <a:p>
            <a:r>
              <a:rPr lang="en-IN" sz="1100" b="1" dirty="0" smtClean="0">
                <a:solidFill>
                  <a:srgbClr val="7030A0"/>
                </a:solidFill>
              </a:rPr>
              <a:t>Scaled units,</a:t>
            </a:r>
          </a:p>
          <a:p>
            <a:r>
              <a:rPr lang="en-IN" sz="1100" b="1" dirty="0" smtClean="0">
                <a:solidFill>
                  <a:srgbClr val="7030A0"/>
                </a:solidFill>
              </a:rPr>
              <a:t>Rack, Hosts</a:t>
            </a:r>
            <a:endParaRPr lang="en-IN" sz="1100" dirty="0">
              <a:solidFill>
                <a:srgbClr val="7030A0"/>
              </a:solidFill>
            </a:endParaRPr>
          </a:p>
        </p:txBody>
      </p:sp>
      <p:sp>
        <p:nvSpPr>
          <p:cNvPr id="78" name="TextBox 77"/>
          <p:cNvSpPr txBox="1"/>
          <p:nvPr/>
        </p:nvSpPr>
        <p:spPr>
          <a:xfrm>
            <a:off x="10738602" y="2285259"/>
            <a:ext cx="1125629" cy="600164"/>
          </a:xfrm>
          <a:prstGeom prst="rect">
            <a:avLst/>
          </a:prstGeom>
          <a:noFill/>
        </p:spPr>
        <p:txBody>
          <a:bodyPr wrap="none" rtlCol="0">
            <a:spAutoFit/>
          </a:bodyPr>
          <a:lstStyle/>
          <a:p>
            <a:r>
              <a:rPr lang="en-IN" sz="1100" b="1" dirty="0" smtClean="0">
                <a:solidFill>
                  <a:srgbClr val="C00000"/>
                </a:solidFill>
              </a:rPr>
              <a:t>Virtual Network</a:t>
            </a:r>
          </a:p>
          <a:p>
            <a:r>
              <a:rPr lang="en-IN" sz="1100" b="1" dirty="0" smtClean="0">
                <a:solidFill>
                  <a:srgbClr val="C00000"/>
                </a:solidFill>
              </a:rPr>
              <a:t>Subnetwork</a:t>
            </a:r>
          </a:p>
          <a:p>
            <a:r>
              <a:rPr lang="en-IN" sz="1100" b="1" dirty="0" smtClean="0">
                <a:solidFill>
                  <a:srgbClr val="C00000"/>
                </a:solidFill>
              </a:rPr>
              <a:t>Virtual Machine</a:t>
            </a:r>
            <a:endParaRPr lang="en-IN" sz="1100" dirty="0">
              <a:solidFill>
                <a:srgbClr val="C00000"/>
              </a:solidFill>
            </a:endParaRPr>
          </a:p>
        </p:txBody>
      </p:sp>
      <p:sp>
        <p:nvSpPr>
          <p:cNvPr id="82" name="TextBox 81"/>
          <p:cNvSpPr txBox="1"/>
          <p:nvPr/>
        </p:nvSpPr>
        <p:spPr>
          <a:xfrm>
            <a:off x="10749445" y="2839743"/>
            <a:ext cx="1301959" cy="430887"/>
          </a:xfrm>
          <a:prstGeom prst="rect">
            <a:avLst/>
          </a:prstGeom>
          <a:noFill/>
        </p:spPr>
        <p:txBody>
          <a:bodyPr wrap="none" rtlCol="0">
            <a:spAutoFit/>
          </a:bodyPr>
          <a:lstStyle/>
          <a:p>
            <a:r>
              <a:rPr lang="en-IN" sz="1100" b="1" dirty="0" smtClean="0">
                <a:solidFill>
                  <a:srgbClr val="0070C0"/>
                </a:solidFill>
              </a:rPr>
              <a:t>Firewall</a:t>
            </a:r>
          </a:p>
          <a:p>
            <a:r>
              <a:rPr lang="en-IN" sz="1100" b="1" dirty="0" smtClean="0">
                <a:solidFill>
                  <a:srgbClr val="0070C0"/>
                </a:solidFill>
              </a:rPr>
              <a:t>Net Security Group</a:t>
            </a:r>
            <a:endParaRPr lang="en-IN" sz="1100" dirty="0">
              <a:solidFill>
                <a:srgbClr val="0070C0"/>
              </a:solidFill>
            </a:endParaRPr>
          </a:p>
        </p:txBody>
      </p:sp>
    </p:spTree>
    <p:extLst>
      <p:ext uri="{BB962C8B-B14F-4D97-AF65-F5344CB8AC3E}">
        <p14:creationId xmlns:p14="http://schemas.microsoft.com/office/powerpoint/2010/main" val="94170812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2" descr="Azure cloud infrastructure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8" name="Picture 4" descr="C:\Users\moham\Downloads\network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356" y="724609"/>
            <a:ext cx="6941057" cy="4627372"/>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2"/>
          <p:cNvSpPr txBox="1">
            <a:spLocks noChangeArrowheads="1"/>
          </p:cNvSpPr>
          <p:nvPr/>
        </p:nvSpPr>
        <p:spPr>
          <a:xfrm>
            <a:off x="52518" y="82458"/>
            <a:ext cx="5577450" cy="40334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latin typeface="+mn-lt"/>
              </a:rPr>
              <a:t>Azure </a:t>
            </a:r>
            <a:r>
              <a:rPr lang="en-US" sz="3200" dirty="0" smtClean="0">
                <a:latin typeface="+mn-lt"/>
              </a:rPr>
              <a:t>Virtual Network</a:t>
            </a:r>
            <a:endParaRPr lang="en-US" sz="3200" dirty="0">
              <a:latin typeface="+mn-lt"/>
            </a:endParaRPr>
          </a:p>
        </p:txBody>
      </p:sp>
      <p:sp>
        <p:nvSpPr>
          <p:cNvPr id="2" name="TextBox 1"/>
          <p:cNvSpPr txBox="1"/>
          <p:nvPr/>
        </p:nvSpPr>
        <p:spPr>
          <a:xfrm>
            <a:off x="7477571" y="3741195"/>
            <a:ext cx="1351909" cy="369332"/>
          </a:xfrm>
          <a:prstGeom prst="rect">
            <a:avLst/>
          </a:prstGeom>
          <a:noFill/>
        </p:spPr>
        <p:txBody>
          <a:bodyPr wrap="none" rtlCol="0">
            <a:spAutoFit/>
          </a:bodyPr>
          <a:lstStyle/>
          <a:p>
            <a:r>
              <a:rPr lang="en-IN" b="1" dirty="0" smtClean="0"/>
              <a:t>Scaled Units</a:t>
            </a:r>
            <a:endParaRPr lang="en-IN" b="1" dirty="0"/>
          </a:p>
        </p:txBody>
      </p:sp>
      <p:pic>
        <p:nvPicPr>
          <p:cNvPr id="6" name="Picture 4" descr="C:\Users\moham\Downloads\datacenter11.jpeg"/>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8959315" y="160338"/>
            <a:ext cx="2935819" cy="46419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904576" y="724609"/>
            <a:ext cx="247828" cy="258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10056976" y="877009"/>
            <a:ext cx="247828" cy="258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9752176" y="1131412"/>
            <a:ext cx="247828" cy="258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9904576" y="1283812"/>
            <a:ext cx="247828" cy="258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0608180" y="2919454"/>
            <a:ext cx="247828" cy="25815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10760580" y="3071854"/>
            <a:ext cx="247828" cy="25815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10636666" y="3395170"/>
            <a:ext cx="247828" cy="25815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10789066" y="3547570"/>
            <a:ext cx="247828" cy="25815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77509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7" y="929954"/>
            <a:ext cx="4365326" cy="41554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7591" y="920412"/>
            <a:ext cx="3573366" cy="41649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9066" y="110615"/>
            <a:ext cx="3626771" cy="27078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2181" y="2928681"/>
            <a:ext cx="2042791" cy="37993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8" name="Rectangle 2"/>
          <p:cNvSpPr txBox="1">
            <a:spLocks noChangeArrowheads="1"/>
          </p:cNvSpPr>
          <p:nvPr/>
        </p:nvSpPr>
        <p:spPr>
          <a:xfrm>
            <a:off x="52518" y="82458"/>
            <a:ext cx="5577450" cy="40334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latin typeface="+mn-lt"/>
              </a:rPr>
              <a:t>Azure Virtual Network</a:t>
            </a:r>
          </a:p>
        </p:txBody>
      </p:sp>
    </p:spTree>
    <p:extLst>
      <p:ext uri="{BB962C8B-B14F-4D97-AF65-F5344CB8AC3E}">
        <p14:creationId xmlns:p14="http://schemas.microsoft.com/office/powerpoint/2010/main" val="39721073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9700" y="3073133"/>
            <a:ext cx="2517351" cy="748246"/>
          </a:xfrm>
        </p:spPr>
        <p:txBody>
          <a:bodyPr>
            <a:normAutofit/>
          </a:bodyPr>
          <a:lstStyle/>
          <a:p>
            <a:pPr algn="ctr"/>
            <a:r>
              <a:rPr lang="en-US" b="1" dirty="0">
                <a:solidFill>
                  <a:srgbClr val="C00000"/>
                </a:solidFill>
              </a:rPr>
              <a:t>Azure VM</a:t>
            </a:r>
            <a:endParaRPr lang="en-IN" b="1" dirty="0">
              <a:solidFill>
                <a:srgbClr val="C00000"/>
              </a:solidFill>
            </a:endParaRPr>
          </a:p>
        </p:txBody>
      </p:sp>
    </p:spTree>
    <p:extLst>
      <p:ext uri="{BB962C8B-B14F-4D97-AF65-F5344CB8AC3E}">
        <p14:creationId xmlns:p14="http://schemas.microsoft.com/office/powerpoint/2010/main" val="3220585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VNs, </a:t>
            </a:r>
            <a:r>
              <a:rPr lang="en-US" sz="3200" dirty="0"/>
              <a:t>Subnet &amp; Compute Engine - </a:t>
            </a:r>
            <a:r>
              <a:rPr lang="en-US" sz="3200" dirty="0" err="1"/>
              <a:t>Handson</a:t>
            </a:r>
            <a:endParaRPr lang="en-US" sz="3200" dirty="0"/>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7505640" y="882720"/>
              <a:ext cx="1118160" cy="1943280"/>
            </p14:xfrm>
          </p:contentPart>
        </mc:Choice>
        <mc:Fallback xmlns="">
          <p:pic>
            <p:nvPicPr>
              <p:cNvPr id="6" name="Ink 5"/>
              <p:cNvPicPr/>
              <p:nvPr/>
            </p:nvPicPr>
            <p:blipFill>
              <a:blip r:embed="rId4"/>
              <a:stretch>
                <a:fillRect/>
              </a:stretch>
            </p:blipFill>
            <p:spPr>
              <a:xfrm>
                <a:off x="7496280" y="873360"/>
                <a:ext cx="1136880" cy="1962000"/>
              </a:xfrm>
              <a:prstGeom prst="rect">
                <a:avLst/>
              </a:prstGeom>
            </p:spPr>
          </p:pic>
        </mc:Fallback>
      </mc:AlternateContent>
      <p:graphicFrame>
        <p:nvGraphicFramePr>
          <p:cNvPr id="2" name="Diagram 1"/>
          <p:cNvGraphicFramePr/>
          <p:nvPr>
            <p:extLst>
              <p:ext uri="{D42A27DB-BD31-4B8C-83A1-F6EECF244321}">
                <p14:modId xmlns:p14="http://schemas.microsoft.com/office/powerpoint/2010/main" val="3592165210"/>
              </p:ext>
            </p:extLst>
          </p:nvPr>
        </p:nvGraphicFramePr>
        <p:xfrm>
          <a:off x="310479" y="810113"/>
          <a:ext cx="11235426" cy="88345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7" name="Diagram 6"/>
          <p:cNvGraphicFramePr/>
          <p:nvPr>
            <p:extLst>
              <p:ext uri="{D42A27DB-BD31-4B8C-83A1-F6EECF244321}">
                <p14:modId xmlns:p14="http://schemas.microsoft.com/office/powerpoint/2010/main" val="2076255167"/>
              </p:ext>
            </p:extLst>
          </p:nvPr>
        </p:nvGraphicFramePr>
        <p:xfrm>
          <a:off x="379487" y="1747750"/>
          <a:ext cx="11235426" cy="883458"/>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8" name="TextBox 7"/>
          <p:cNvSpPr txBox="1"/>
          <p:nvPr/>
        </p:nvSpPr>
        <p:spPr>
          <a:xfrm>
            <a:off x="258225" y="2826000"/>
            <a:ext cx="11532260" cy="3416320"/>
          </a:xfrm>
          <a:prstGeom prst="rect">
            <a:avLst/>
          </a:prstGeom>
          <a:noFill/>
        </p:spPr>
        <p:txBody>
          <a:bodyPr wrap="none" rtlCol="0">
            <a:spAutoFit/>
          </a:bodyPr>
          <a:lstStyle/>
          <a:p>
            <a:pPr>
              <a:spcBef>
                <a:spcPts val="600"/>
              </a:spcBef>
            </a:pPr>
            <a:r>
              <a:rPr lang="en-US" sz="1200" b="1" u="sng" dirty="0" smtClean="0">
                <a:solidFill>
                  <a:prstClr val="black"/>
                </a:solidFill>
              </a:rPr>
              <a:t>Network &amp; Infra definitions:</a:t>
            </a:r>
          </a:p>
          <a:p>
            <a:pPr marL="285750" indent="-285750">
              <a:spcBef>
                <a:spcPts val="600"/>
              </a:spcBef>
              <a:buFont typeface="Wingdings" panose="05000000000000000000" pitchFamily="2" charset="2"/>
              <a:buChar char="ü"/>
            </a:pPr>
            <a:r>
              <a:rPr lang="en-US" sz="1200" b="1" dirty="0" smtClean="0">
                <a:solidFill>
                  <a:prstClr val="black"/>
                </a:solidFill>
              </a:rPr>
              <a:t>A </a:t>
            </a:r>
            <a:r>
              <a:rPr lang="en-US" sz="1200" b="1" dirty="0">
                <a:solidFill>
                  <a:prstClr val="black"/>
                </a:solidFill>
              </a:rPr>
              <a:t>Region in Microsoft Azure is a specific geographical area that contains one or more datacenters where Azure resources are hosted. </a:t>
            </a:r>
            <a:endParaRPr lang="en-US" sz="1200" b="1" dirty="0" smtClean="0">
              <a:solidFill>
                <a:prstClr val="black"/>
              </a:solidFill>
            </a:endParaRPr>
          </a:p>
          <a:p>
            <a:pPr marL="285750" indent="-285750">
              <a:spcBef>
                <a:spcPts val="600"/>
              </a:spcBef>
              <a:buFont typeface="Wingdings" panose="05000000000000000000" pitchFamily="2" charset="2"/>
              <a:buChar char="ü"/>
            </a:pPr>
            <a:r>
              <a:rPr lang="en-US" sz="1200" b="1" dirty="0" smtClean="0">
                <a:solidFill>
                  <a:prstClr val="black"/>
                </a:solidFill>
              </a:rPr>
              <a:t>Each </a:t>
            </a:r>
            <a:r>
              <a:rPr lang="en-US" sz="1200" b="1" dirty="0">
                <a:solidFill>
                  <a:prstClr val="black"/>
                </a:solidFill>
              </a:rPr>
              <a:t>region is made up of multiple availability zones for high availability and disaster recovery.</a:t>
            </a:r>
          </a:p>
          <a:p>
            <a:pPr marL="285750" indent="-285750">
              <a:spcBef>
                <a:spcPts val="600"/>
              </a:spcBef>
              <a:buFont typeface="Wingdings" panose="05000000000000000000" pitchFamily="2" charset="2"/>
              <a:buChar char="ü"/>
            </a:pPr>
            <a:r>
              <a:rPr lang="en-US" sz="1200" b="1" dirty="0">
                <a:solidFill>
                  <a:prstClr val="black"/>
                </a:solidFill>
              </a:rPr>
              <a:t>A Virtual Network (</a:t>
            </a:r>
            <a:r>
              <a:rPr lang="en-US" sz="1200" b="1" dirty="0" err="1">
                <a:solidFill>
                  <a:prstClr val="black"/>
                </a:solidFill>
              </a:rPr>
              <a:t>VNet</a:t>
            </a:r>
            <a:r>
              <a:rPr lang="en-US" sz="1200" b="1" dirty="0">
                <a:solidFill>
                  <a:prstClr val="black"/>
                </a:solidFill>
              </a:rPr>
              <a:t>) in Azure </a:t>
            </a:r>
            <a:r>
              <a:rPr lang="en-US" sz="1200" b="1" dirty="0" smtClean="0">
                <a:solidFill>
                  <a:prstClr val="black"/>
                </a:solidFill>
              </a:rPr>
              <a:t>is </a:t>
            </a:r>
            <a:r>
              <a:rPr lang="en-US" sz="1200" b="1" dirty="0">
                <a:solidFill>
                  <a:prstClr val="black"/>
                </a:solidFill>
              </a:rPr>
              <a:t>a logically isolated network within Azure that allows Azure resources such as virtual machines to securely communicate with each other, </a:t>
            </a:r>
            <a:endParaRPr lang="en-US" sz="1200" b="1" dirty="0" smtClean="0">
              <a:solidFill>
                <a:prstClr val="black"/>
              </a:solidFill>
            </a:endParaRPr>
          </a:p>
          <a:p>
            <a:pPr>
              <a:spcBef>
                <a:spcPts val="600"/>
              </a:spcBef>
            </a:pPr>
            <a:r>
              <a:rPr lang="en-US" sz="1200" b="1" dirty="0" smtClean="0">
                <a:solidFill>
                  <a:prstClr val="black"/>
                </a:solidFill>
              </a:rPr>
              <a:t>the </a:t>
            </a:r>
            <a:r>
              <a:rPr lang="en-US" sz="1200" b="1" dirty="0">
                <a:solidFill>
                  <a:prstClr val="black"/>
                </a:solidFill>
              </a:rPr>
              <a:t>internet, and on-premises networks.</a:t>
            </a:r>
          </a:p>
          <a:p>
            <a:pPr marL="285750" indent="-285750">
              <a:spcBef>
                <a:spcPts val="600"/>
              </a:spcBef>
              <a:buFont typeface="Wingdings" panose="05000000000000000000" pitchFamily="2" charset="2"/>
              <a:buChar char="ü"/>
            </a:pPr>
            <a:r>
              <a:rPr lang="en-US" sz="1200" b="1" dirty="0">
                <a:solidFill>
                  <a:prstClr val="black"/>
                </a:solidFill>
              </a:rPr>
              <a:t>An Availability Zone in Azure is a physically separate datacenter within a region. </a:t>
            </a:r>
          </a:p>
          <a:p>
            <a:pPr marL="285750" indent="-285750">
              <a:spcBef>
                <a:spcPts val="600"/>
              </a:spcBef>
              <a:buFont typeface="Wingdings" panose="05000000000000000000" pitchFamily="2" charset="2"/>
              <a:buChar char="ü"/>
            </a:pPr>
            <a:r>
              <a:rPr lang="en-US" sz="1200" b="1" dirty="0">
                <a:solidFill>
                  <a:prstClr val="black"/>
                </a:solidFill>
              </a:rPr>
              <a:t>A Subnet is a segmented IP address range within an Azure </a:t>
            </a:r>
            <a:r>
              <a:rPr lang="en-US" sz="1200" b="1" dirty="0" err="1">
                <a:solidFill>
                  <a:prstClr val="black"/>
                </a:solidFill>
              </a:rPr>
              <a:t>VNet</a:t>
            </a:r>
            <a:r>
              <a:rPr lang="en-US" sz="1200" b="1" dirty="0">
                <a:solidFill>
                  <a:prstClr val="black"/>
                </a:solidFill>
              </a:rPr>
              <a:t>. </a:t>
            </a:r>
            <a:endParaRPr lang="en-US" sz="1200" b="1" dirty="0" smtClean="0">
              <a:solidFill>
                <a:prstClr val="black"/>
              </a:solidFill>
            </a:endParaRPr>
          </a:p>
          <a:p>
            <a:pPr marL="285750" indent="-285750">
              <a:spcBef>
                <a:spcPts val="600"/>
              </a:spcBef>
              <a:buFont typeface="Wingdings" panose="05000000000000000000" pitchFamily="2" charset="2"/>
              <a:buChar char="ü"/>
            </a:pPr>
            <a:r>
              <a:rPr lang="en-US" sz="1200" b="1" dirty="0" smtClean="0">
                <a:solidFill>
                  <a:prstClr val="black"/>
                </a:solidFill>
              </a:rPr>
              <a:t>A </a:t>
            </a:r>
            <a:r>
              <a:rPr lang="en-US" sz="1200" b="1" dirty="0" smtClean="0">
                <a:solidFill>
                  <a:prstClr val="black"/>
                </a:solidFill>
              </a:rPr>
              <a:t>Scaled units </a:t>
            </a:r>
            <a:r>
              <a:rPr lang="en-US" sz="1200" b="1" dirty="0">
                <a:solidFill>
                  <a:prstClr val="black"/>
                </a:solidFill>
              </a:rPr>
              <a:t>in Azure generally refers to a group of servers or nodes working </a:t>
            </a:r>
            <a:r>
              <a:rPr lang="en-US" sz="1200" b="1" dirty="0" smtClean="0">
                <a:solidFill>
                  <a:prstClr val="black"/>
                </a:solidFill>
              </a:rPr>
              <a:t>together</a:t>
            </a:r>
          </a:p>
          <a:p>
            <a:pPr marL="285750" indent="-285750">
              <a:spcBef>
                <a:spcPts val="600"/>
              </a:spcBef>
              <a:buFont typeface="Wingdings" panose="05000000000000000000" pitchFamily="2" charset="2"/>
              <a:buChar char="ü"/>
            </a:pPr>
            <a:r>
              <a:rPr lang="en-US" sz="1200" b="1" dirty="0" smtClean="0">
                <a:solidFill>
                  <a:prstClr val="black"/>
                </a:solidFill>
              </a:rPr>
              <a:t>CIDR </a:t>
            </a:r>
            <a:r>
              <a:rPr lang="en-US" sz="1200" b="1" dirty="0">
                <a:solidFill>
                  <a:prstClr val="black"/>
                </a:solidFill>
              </a:rPr>
              <a:t>stands for Classless Inter-Domain Routing. It is used in Azure to define IP address ranges for </a:t>
            </a:r>
            <a:r>
              <a:rPr lang="en-US" sz="1200" b="1" dirty="0" err="1">
                <a:solidFill>
                  <a:prstClr val="black"/>
                </a:solidFill>
              </a:rPr>
              <a:t>VNets</a:t>
            </a:r>
            <a:r>
              <a:rPr lang="en-US" sz="1200" b="1" dirty="0">
                <a:solidFill>
                  <a:prstClr val="black"/>
                </a:solidFill>
              </a:rPr>
              <a:t> and subnets, such as 10.0.0.0/16 or 10.0.1.0/24.</a:t>
            </a:r>
          </a:p>
          <a:p>
            <a:pPr marL="285750" indent="-285750">
              <a:spcBef>
                <a:spcPts val="600"/>
              </a:spcBef>
              <a:buFont typeface="Wingdings" panose="05000000000000000000" pitchFamily="2" charset="2"/>
              <a:buChar char="ü"/>
            </a:pPr>
            <a:r>
              <a:rPr lang="en-US" sz="1200" b="1" dirty="0">
                <a:solidFill>
                  <a:prstClr val="black"/>
                </a:solidFill>
              </a:rPr>
              <a:t>Network Security Groups (NSGs) in Azure act like firewall </a:t>
            </a:r>
            <a:r>
              <a:rPr lang="en-US" sz="1200" b="1" dirty="0" smtClean="0">
                <a:solidFill>
                  <a:prstClr val="black"/>
                </a:solidFill>
              </a:rPr>
              <a:t>rules will allow </a:t>
            </a:r>
            <a:r>
              <a:rPr lang="en-US" sz="1200" b="1" dirty="0">
                <a:solidFill>
                  <a:prstClr val="black"/>
                </a:solidFill>
              </a:rPr>
              <a:t>or deny inbound (ingress) and outbound (egress) traffic to Azure resources such as </a:t>
            </a:r>
            <a:endParaRPr lang="en-US" sz="1200" b="1" dirty="0" smtClean="0">
              <a:solidFill>
                <a:prstClr val="black"/>
              </a:solidFill>
            </a:endParaRPr>
          </a:p>
          <a:p>
            <a:pPr>
              <a:spcBef>
                <a:spcPts val="600"/>
              </a:spcBef>
            </a:pPr>
            <a:r>
              <a:rPr lang="en-US" sz="1200" b="1" dirty="0" smtClean="0">
                <a:solidFill>
                  <a:prstClr val="black"/>
                </a:solidFill>
              </a:rPr>
              <a:t>virtual </a:t>
            </a:r>
            <a:r>
              <a:rPr lang="en-US" sz="1200" b="1" dirty="0">
                <a:solidFill>
                  <a:prstClr val="black"/>
                </a:solidFill>
              </a:rPr>
              <a:t>machines and subnets.</a:t>
            </a:r>
          </a:p>
          <a:p>
            <a:pPr marL="285750" indent="-285750">
              <a:spcBef>
                <a:spcPts val="600"/>
              </a:spcBef>
              <a:buFont typeface="Wingdings" panose="05000000000000000000" pitchFamily="2" charset="2"/>
              <a:buChar char="ü"/>
            </a:pPr>
            <a:r>
              <a:rPr lang="en-US" sz="1200" b="1" dirty="0">
                <a:solidFill>
                  <a:prstClr val="black"/>
                </a:solidFill>
              </a:rPr>
              <a:t>Route Tables in Azure define how network traffic is directed between subnets, </a:t>
            </a:r>
            <a:r>
              <a:rPr lang="en-US" sz="1200" b="1" dirty="0" err="1">
                <a:solidFill>
                  <a:prstClr val="black"/>
                </a:solidFill>
              </a:rPr>
              <a:t>VNets</a:t>
            </a:r>
            <a:r>
              <a:rPr lang="en-US" sz="1200" b="1" dirty="0">
                <a:solidFill>
                  <a:prstClr val="black"/>
                </a:solidFill>
              </a:rPr>
              <a:t>, on-premises networks, and the internet.</a:t>
            </a:r>
          </a:p>
          <a:p>
            <a:pPr marL="285750" indent="-285750">
              <a:spcBef>
                <a:spcPts val="600"/>
              </a:spcBef>
              <a:buFont typeface="Wingdings" panose="05000000000000000000" pitchFamily="2" charset="2"/>
              <a:buChar char="ü"/>
            </a:pPr>
            <a:r>
              <a:rPr lang="en-US" sz="1200" b="1" dirty="0">
                <a:solidFill>
                  <a:prstClr val="black"/>
                </a:solidFill>
              </a:rPr>
              <a:t>An Internet Gateway equivalent in Azure is provided through the default system route that allows </a:t>
            </a:r>
            <a:r>
              <a:rPr lang="en-US" sz="1200" b="1" dirty="0" smtClean="0">
                <a:solidFill>
                  <a:prstClr val="black"/>
                </a:solidFill>
              </a:rPr>
              <a:t>Azure </a:t>
            </a:r>
            <a:r>
              <a:rPr lang="en-US" sz="1200" b="1" dirty="0">
                <a:solidFill>
                  <a:prstClr val="black"/>
                </a:solidFill>
              </a:rPr>
              <a:t>resources with public IPs to communicate with the </a:t>
            </a:r>
            <a:r>
              <a:rPr lang="en-US" sz="1200" b="1" dirty="0" smtClean="0">
                <a:solidFill>
                  <a:prstClr val="black"/>
                </a:solidFill>
              </a:rPr>
              <a:t>internet.</a:t>
            </a:r>
            <a:endParaRPr lang="en-US" sz="1200" b="1" dirty="0">
              <a:solidFill>
                <a:prstClr val="black"/>
              </a:solidFill>
            </a:endParaRPr>
          </a:p>
        </p:txBody>
      </p:sp>
    </p:spTree>
    <p:extLst>
      <p:ext uri="{BB962C8B-B14F-4D97-AF65-F5344CB8AC3E}">
        <p14:creationId xmlns:p14="http://schemas.microsoft.com/office/powerpoint/2010/main" val="2486360066"/>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4267200" y="2667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0" name="Slide Number Placeholder 5"/>
          <p:cNvSpPr>
            <a:spLocks noGrp="1"/>
          </p:cNvSpPr>
          <p:nvPr>
            <p:ph type="sldNum" sz="quarter" idx="12"/>
          </p:nvPr>
        </p:nvSpPr>
        <p:spPr>
          <a:xfrm>
            <a:off x="9042400" y="6858000"/>
            <a:ext cx="2844800" cy="476250"/>
          </a:xfrm>
        </p:spPr>
        <p:txBody>
          <a:bodyPr/>
          <a:lstStyle/>
          <a:p>
            <a:fld id="{AE902279-0A6D-DA46-9BBD-C808C4BA877F}" type="slidenum">
              <a:rPr lang="en-US">
                <a:solidFill>
                  <a:prstClr val="black">
                    <a:tint val="75000"/>
                  </a:prstClr>
                </a:solidFill>
              </a:rPr>
              <a:pPr/>
              <a:t>51</a:t>
            </a:fld>
            <a:endParaRPr lang="en-US">
              <a:solidFill>
                <a:prstClr val="black">
                  <a:tint val="75000"/>
                </a:prstClr>
              </a:solidFill>
            </a:endParaRPr>
          </a:p>
        </p:txBody>
      </p:sp>
      <p:sp>
        <p:nvSpPr>
          <p:cNvPr id="11" name="Text Box 5"/>
          <p:cNvSpPr txBox="1">
            <a:spLocks noChangeArrowheads="1"/>
          </p:cNvSpPr>
          <p:nvPr/>
        </p:nvSpPr>
        <p:spPr bwMode="auto">
          <a:xfrm>
            <a:off x="4267200" y="3048000"/>
            <a:ext cx="1930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solidFill>
                <a:prstClr val="black"/>
              </a:solidFill>
            </a:endParaRPr>
          </a:p>
        </p:txBody>
      </p:sp>
      <p:sp>
        <p:nvSpPr>
          <p:cNvPr id="12" name="Title 1"/>
          <p:cNvSpPr>
            <a:spLocks noGrp="1"/>
          </p:cNvSpPr>
          <p:nvPr>
            <p:ph type="title"/>
          </p:nvPr>
        </p:nvSpPr>
        <p:spPr>
          <a:xfrm>
            <a:off x="0" y="0"/>
            <a:ext cx="10972800" cy="592311"/>
          </a:xfrm>
        </p:spPr>
        <p:txBody>
          <a:bodyPr vert="horz" lIns="91440" tIns="45720" rIns="91440" bIns="45720" rtlCol="0" anchor="ctr">
            <a:normAutofit/>
          </a:bodyPr>
          <a:lstStyle/>
          <a:p>
            <a:r>
              <a:rPr lang="en-US" sz="2800" b="1" dirty="0" smtClean="0">
                <a:solidFill>
                  <a:srgbClr val="FF0000"/>
                </a:solidFill>
              </a:rPr>
              <a:t>Virtual Machine</a:t>
            </a:r>
            <a:endParaRPr lang="en-US" sz="2800" b="1" dirty="0">
              <a:solidFill>
                <a:srgbClr val="FF0000"/>
              </a:solidFill>
            </a:endParaRPr>
          </a:p>
        </p:txBody>
      </p:sp>
      <p:sp>
        <p:nvSpPr>
          <p:cNvPr id="2" name="Rectangle 1"/>
          <p:cNvSpPr/>
          <p:nvPr/>
        </p:nvSpPr>
        <p:spPr>
          <a:xfrm>
            <a:off x="-3461" y="759362"/>
            <a:ext cx="5337295" cy="4955203"/>
          </a:xfrm>
          <a:prstGeom prst="rect">
            <a:avLst/>
          </a:prstGeom>
        </p:spPr>
        <p:txBody>
          <a:bodyPr wrap="square">
            <a:spAutoFit/>
          </a:bodyPr>
          <a:lstStyle/>
          <a:p>
            <a:pPr marL="342900" indent="-342900">
              <a:buFont typeface="Wingdings" pitchFamily="2" charset="2"/>
              <a:buChar char="ü"/>
            </a:pPr>
            <a:r>
              <a:rPr lang="en-US" sz="1100" b="1" dirty="0">
                <a:solidFill>
                  <a:prstClr val="black"/>
                </a:solidFill>
              </a:rPr>
              <a:t>Azure VMs</a:t>
            </a:r>
            <a:r>
              <a:rPr lang="en-US" sz="1100" dirty="0">
                <a:solidFill>
                  <a:prstClr val="black"/>
                </a:solidFill>
              </a:rPr>
              <a:t> can be understood as a </a:t>
            </a:r>
            <a:r>
              <a:rPr lang="en-US" sz="1100" b="1" dirty="0">
                <a:solidFill>
                  <a:prstClr val="black"/>
                </a:solidFill>
              </a:rPr>
              <a:t>digital</a:t>
            </a:r>
            <a:r>
              <a:rPr lang="en-US" sz="1100" dirty="0">
                <a:solidFill>
                  <a:prstClr val="black"/>
                </a:solidFill>
              </a:rPr>
              <a:t> version (VM) of the physical computer (Host). </a:t>
            </a:r>
          </a:p>
          <a:p>
            <a:pPr marL="342900" indent="-342900">
              <a:buFont typeface="Wingdings" pitchFamily="2" charset="2"/>
              <a:buChar char="ü"/>
            </a:pPr>
            <a:endParaRPr lang="en-IN" sz="1100" b="1" dirty="0" smtClean="0"/>
          </a:p>
          <a:p>
            <a:pPr marL="342900" indent="-342900">
              <a:buFont typeface="Wingdings" pitchFamily="2" charset="2"/>
              <a:buChar char="ü"/>
            </a:pPr>
            <a:r>
              <a:rPr lang="en-IN" sz="1100" b="1" dirty="0" smtClean="0"/>
              <a:t>Azure </a:t>
            </a:r>
            <a:r>
              <a:rPr lang="en-IN" sz="1100" b="1" dirty="0"/>
              <a:t>Virtual Machine</a:t>
            </a:r>
            <a:r>
              <a:rPr lang="en-US" sz="1100" dirty="0">
                <a:solidFill>
                  <a:prstClr val="black"/>
                </a:solidFill>
              </a:rPr>
              <a:t> is a virtual machine (</a:t>
            </a:r>
            <a:r>
              <a:rPr lang="en-US" sz="1100" b="1" dirty="0">
                <a:solidFill>
                  <a:prstClr val="black"/>
                </a:solidFill>
              </a:rPr>
              <a:t>VM</a:t>
            </a:r>
            <a:r>
              <a:rPr lang="en-US" sz="1100" dirty="0">
                <a:solidFill>
                  <a:prstClr val="black"/>
                </a:solidFill>
              </a:rPr>
              <a:t>) service that allows users to create and run VMS on </a:t>
            </a:r>
            <a:r>
              <a:rPr lang="en-US" sz="1100" dirty="0" smtClean="0">
                <a:solidFill>
                  <a:prstClr val="black"/>
                </a:solidFill>
              </a:rPr>
              <a:t>Azure </a:t>
            </a:r>
            <a:r>
              <a:rPr lang="en-US" sz="1100" dirty="0">
                <a:solidFill>
                  <a:prstClr val="black"/>
                </a:solidFill>
              </a:rPr>
              <a:t>infrastructure (IAAS -&gt; PAAS)</a:t>
            </a:r>
          </a:p>
          <a:p>
            <a:endParaRPr lang="en-US" sz="1100" dirty="0">
              <a:solidFill>
                <a:prstClr val="black"/>
              </a:solidFill>
            </a:endParaRPr>
          </a:p>
          <a:p>
            <a:pPr marL="342900" indent="-342900">
              <a:buFont typeface="Wingdings" pitchFamily="2" charset="2"/>
              <a:buChar char="ü"/>
            </a:pPr>
            <a:r>
              <a:rPr lang="en-US" sz="1100" dirty="0">
                <a:solidFill>
                  <a:prstClr val="black"/>
                </a:solidFill>
              </a:rPr>
              <a:t>Each virtual machine consists of a complete </a:t>
            </a:r>
            <a:r>
              <a:rPr lang="en-US" sz="1100" b="1" dirty="0">
                <a:solidFill>
                  <a:prstClr val="black"/>
                </a:solidFill>
              </a:rPr>
              <a:t>operating system</a:t>
            </a:r>
            <a:r>
              <a:rPr lang="en-US" sz="1100" dirty="0">
                <a:solidFill>
                  <a:prstClr val="black"/>
                </a:solidFill>
              </a:rPr>
              <a:t> and a set of </a:t>
            </a:r>
            <a:r>
              <a:rPr lang="en-US" sz="1100" b="1" dirty="0">
                <a:solidFill>
                  <a:prstClr val="black"/>
                </a:solidFill>
              </a:rPr>
              <a:t>virtualized</a:t>
            </a:r>
            <a:r>
              <a:rPr lang="en-US" sz="1100" dirty="0">
                <a:solidFill>
                  <a:prstClr val="black"/>
                </a:solidFill>
              </a:rPr>
              <a:t> hardware resources, including </a:t>
            </a:r>
            <a:r>
              <a:rPr lang="en-US" sz="1100" b="1" dirty="0">
                <a:solidFill>
                  <a:prstClr val="black"/>
                </a:solidFill>
              </a:rPr>
              <a:t>CPU</a:t>
            </a:r>
            <a:r>
              <a:rPr lang="en-US" sz="1100" dirty="0">
                <a:solidFill>
                  <a:prstClr val="black"/>
                </a:solidFill>
              </a:rPr>
              <a:t>, </a:t>
            </a:r>
            <a:r>
              <a:rPr lang="en-US" sz="1100" b="1" dirty="0">
                <a:solidFill>
                  <a:prstClr val="black"/>
                </a:solidFill>
              </a:rPr>
              <a:t>memory</a:t>
            </a:r>
            <a:r>
              <a:rPr lang="en-US" sz="1100" dirty="0">
                <a:solidFill>
                  <a:prstClr val="black"/>
                </a:solidFill>
              </a:rPr>
              <a:t>, </a:t>
            </a:r>
            <a:r>
              <a:rPr lang="en-US" sz="1100" b="1" dirty="0">
                <a:solidFill>
                  <a:prstClr val="black"/>
                </a:solidFill>
              </a:rPr>
              <a:t>storage</a:t>
            </a:r>
            <a:r>
              <a:rPr lang="en-US" sz="1100" dirty="0">
                <a:solidFill>
                  <a:prstClr val="black"/>
                </a:solidFill>
              </a:rPr>
              <a:t>, and </a:t>
            </a:r>
            <a:r>
              <a:rPr lang="en-US" sz="1100" b="1" dirty="0">
                <a:solidFill>
                  <a:prstClr val="black"/>
                </a:solidFill>
              </a:rPr>
              <a:t>network</a:t>
            </a:r>
            <a:r>
              <a:rPr lang="en-US" sz="1100" dirty="0">
                <a:solidFill>
                  <a:prstClr val="black"/>
                </a:solidFill>
              </a:rPr>
              <a:t> interfaces. The </a:t>
            </a:r>
            <a:r>
              <a:rPr lang="en-US" sz="1100" b="1" dirty="0">
                <a:solidFill>
                  <a:prstClr val="black"/>
                </a:solidFill>
              </a:rPr>
              <a:t>operating</a:t>
            </a:r>
            <a:r>
              <a:rPr lang="en-US" sz="1100" dirty="0">
                <a:solidFill>
                  <a:prstClr val="black"/>
                </a:solidFill>
              </a:rPr>
              <a:t> </a:t>
            </a:r>
            <a:r>
              <a:rPr lang="en-US" sz="1100" b="1" dirty="0">
                <a:solidFill>
                  <a:prstClr val="black"/>
                </a:solidFill>
              </a:rPr>
              <a:t>system</a:t>
            </a:r>
            <a:r>
              <a:rPr lang="en-US" sz="1100" dirty="0">
                <a:solidFill>
                  <a:prstClr val="black"/>
                </a:solidFill>
              </a:rPr>
              <a:t> running inside the </a:t>
            </a:r>
            <a:r>
              <a:rPr lang="en-US" sz="1100" b="1" dirty="0">
                <a:solidFill>
                  <a:prstClr val="black"/>
                </a:solidFill>
              </a:rPr>
              <a:t>virtual</a:t>
            </a:r>
            <a:r>
              <a:rPr lang="en-US" sz="1100" dirty="0">
                <a:solidFill>
                  <a:prstClr val="black"/>
                </a:solidFill>
              </a:rPr>
              <a:t> </a:t>
            </a:r>
            <a:r>
              <a:rPr lang="en-US" sz="1100" b="1" dirty="0">
                <a:solidFill>
                  <a:prstClr val="black"/>
                </a:solidFill>
              </a:rPr>
              <a:t>machine</a:t>
            </a:r>
            <a:r>
              <a:rPr lang="en-US" sz="1100" dirty="0">
                <a:solidFill>
                  <a:prstClr val="black"/>
                </a:solidFill>
              </a:rPr>
              <a:t> is </a:t>
            </a:r>
            <a:r>
              <a:rPr lang="en-US" sz="1100" b="1" dirty="0">
                <a:solidFill>
                  <a:prstClr val="black"/>
                </a:solidFill>
              </a:rPr>
              <a:t>isolated</a:t>
            </a:r>
            <a:r>
              <a:rPr lang="en-US" sz="1100" dirty="0">
                <a:solidFill>
                  <a:prstClr val="black"/>
                </a:solidFill>
              </a:rPr>
              <a:t> from the </a:t>
            </a:r>
            <a:r>
              <a:rPr lang="en-US" sz="1100" b="1" dirty="0">
                <a:solidFill>
                  <a:prstClr val="black"/>
                </a:solidFill>
              </a:rPr>
              <a:t>host</a:t>
            </a:r>
            <a:r>
              <a:rPr lang="en-US" sz="1100" dirty="0">
                <a:solidFill>
                  <a:prstClr val="black"/>
                </a:solidFill>
              </a:rPr>
              <a:t> </a:t>
            </a:r>
            <a:r>
              <a:rPr lang="en-US" sz="1100" b="1" dirty="0">
                <a:solidFill>
                  <a:prstClr val="black"/>
                </a:solidFill>
              </a:rPr>
              <a:t>operating</a:t>
            </a:r>
            <a:r>
              <a:rPr lang="en-US" sz="1100" dirty="0">
                <a:solidFill>
                  <a:prstClr val="black"/>
                </a:solidFill>
              </a:rPr>
              <a:t> </a:t>
            </a:r>
            <a:r>
              <a:rPr lang="en-US" sz="1100" b="1" dirty="0" smtClean="0">
                <a:solidFill>
                  <a:prstClr val="black"/>
                </a:solidFill>
              </a:rPr>
              <a:t>system/hypervisor</a:t>
            </a:r>
            <a:r>
              <a:rPr lang="en-US" sz="1100" dirty="0" smtClean="0">
                <a:solidFill>
                  <a:prstClr val="black"/>
                </a:solidFill>
              </a:rPr>
              <a:t> </a:t>
            </a:r>
            <a:r>
              <a:rPr lang="en-US" sz="1100" dirty="0">
                <a:solidFill>
                  <a:prstClr val="black"/>
                </a:solidFill>
              </a:rPr>
              <a:t>and other virtual machines running on the same physical machine</a:t>
            </a:r>
            <a:r>
              <a:rPr lang="en-US" sz="1100" dirty="0" smtClean="0">
                <a:solidFill>
                  <a:prstClr val="black"/>
                </a:solidFill>
              </a:rPr>
              <a:t>.</a:t>
            </a:r>
            <a:endParaRPr lang="en-US" sz="1100" dirty="0">
              <a:solidFill>
                <a:prstClr val="black"/>
              </a:solidFill>
            </a:endParaRPr>
          </a:p>
          <a:p>
            <a:pPr marL="342900" indent="-342900">
              <a:buFont typeface="Wingdings" pitchFamily="2" charset="2"/>
              <a:buChar char="ü"/>
            </a:pPr>
            <a:endParaRPr lang="en-US" sz="1100" dirty="0">
              <a:solidFill>
                <a:prstClr val="black"/>
              </a:solidFill>
            </a:endParaRPr>
          </a:p>
          <a:p>
            <a:pPr marL="342900" indent="-342900">
              <a:buFont typeface="Wingdings" pitchFamily="2" charset="2"/>
              <a:buChar char="ü"/>
            </a:pPr>
            <a:r>
              <a:rPr lang="en-US" sz="1100" dirty="0">
                <a:solidFill>
                  <a:prstClr val="black"/>
                </a:solidFill>
              </a:rPr>
              <a:t>Virtual machines run on a physical </a:t>
            </a:r>
            <a:r>
              <a:rPr lang="en-US" sz="1100" dirty="0" smtClean="0">
                <a:solidFill>
                  <a:prstClr val="black"/>
                </a:solidFill>
              </a:rPr>
              <a:t>machine can controlled by a software/mini OS </a:t>
            </a:r>
            <a:r>
              <a:rPr lang="en-US" sz="1100" dirty="0">
                <a:solidFill>
                  <a:prstClr val="black"/>
                </a:solidFill>
              </a:rPr>
              <a:t>which is known as a </a:t>
            </a:r>
            <a:r>
              <a:rPr lang="en-US" sz="1100" b="1" dirty="0">
                <a:solidFill>
                  <a:prstClr val="black"/>
                </a:solidFill>
              </a:rPr>
              <a:t>hypervisor</a:t>
            </a:r>
            <a:r>
              <a:rPr lang="en-US" sz="1100" dirty="0">
                <a:solidFill>
                  <a:prstClr val="black"/>
                </a:solidFill>
              </a:rPr>
              <a:t>. </a:t>
            </a:r>
          </a:p>
          <a:p>
            <a:pPr marL="342900" indent="-342900">
              <a:buFont typeface="Wingdings" pitchFamily="2" charset="2"/>
              <a:buChar char="ü"/>
            </a:pPr>
            <a:endParaRPr lang="en-US" sz="1100" dirty="0">
              <a:solidFill>
                <a:prstClr val="black"/>
              </a:solidFill>
            </a:endParaRPr>
          </a:p>
          <a:p>
            <a:pPr marL="342900" indent="-342900">
              <a:buFont typeface="Wingdings" pitchFamily="2" charset="2"/>
              <a:buChar char="ü"/>
            </a:pPr>
            <a:r>
              <a:rPr lang="en-US" sz="1100" b="1" dirty="0">
                <a:solidFill>
                  <a:prstClr val="black"/>
                </a:solidFill>
              </a:rPr>
              <a:t>Placement types </a:t>
            </a:r>
            <a:r>
              <a:rPr lang="en-US" sz="1100" dirty="0">
                <a:solidFill>
                  <a:prstClr val="black"/>
                </a:solidFill>
              </a:rPr>
              <a:t>– Standard/spot – </a:t>
            </a:r>
          </a:p>
          <a:p>
            <a:r>
              <a:rPr lang="en-US" sz="1000" dirty="0" smtClean="0">
                <a:solidFill>
                  <a:prstClr val="black"/>
                </a:solidFill>
              </a:rPr>
              <a:t>Standard </a:t>
            </a:r>
            <a:r>
              <a:rPr lang="en-US" sz="1000" dirty="0">
                <a:solidFill>
                  <a:prstClr val="black"/>
                </a:solidFill>
              </a:rPr>
              <a:t>Whether we need the VM for a long time </a:t>
            </a:r>
            <a:r>
              <a:rPr lang="en-US" sz="1000" dirty="0" smtClean="0">
                <a:solidFill>
                  <a:prstClr val="black"/>
                </a:solidFill>
              </a:rPr>
              <a:t>(Azure </a:t>
            </a:r>
            <a:r>
              <a:rPr lang="en-US" sz="1000" dirty="0">
                <a:solidFill>
                  <a:prstClr val="black"/>
                </a:solidFill>
              </a:rPr>
              <a:t>can’t take this VM out)</a:t>
            </a:r>
          </a:p>
          <a:p>
            <a:r>
              <a:rPr lang="en-US" sz="1000" dirty="0" err="1">
                <a:solidFill>
                  <a:prstClr val="black"/>
                </a:solidFill>
              </a:rPr>
              <a:t>Preemtable</a:t>
            </a:r>
            <a:r>
              <a:rPr lang="en-US" sz="1000" dirty="0">
                <a:solidFill>
                  <a:prstClr val="black"/>
                </a:solidFill>
              </a:rPr>
              <a:t>/spot instances - Whether we need the VM for a short </a:t>
            </a:r>
            <a:r>
              <a:rPr lang="en-US" sz="1000" dirty="0" smtClean="0">
                <a:solidFill>
                  <a:prstClr val="black"/>
                </a:solidFill>
              </a:rPr>
              <a:t>time</a:t>
            </a:r>
            <a:endParaRPr lang="en-US" sz="1000" dirty="0">
              <a:solidFill>
                <a:prstClr val="black"/>
              </a:solidFill>
            </a:endParaRPr>
          </a:p>
          <a:p>
            <a:endParaRPr lang="en-US" sz="1000" dirty="0">
              <a:solidFill>
                <a:prstClr val="black"/>
              </a:solidFill>
            </a:endParaRPr>
          </a:p>
          <a:p>
            <a:pPr marL="342900" indent="-342900">
              <a:buFont typeface="Wingdings" pitchFamily="2" charset="2"/>
              <a:buChar char="ü"/>
            </a:pPr>
            <a:r>
              <a:rPr lang="en-US" sz="1100" dirty="0">
                <a:solidFill>
                  <a:prstClr val="black"/>
                </a:solidFill>
              </a:rPr>
              <a:t>Committed Use </a:t>
            </a:r>
            <a:r>
              <a:rPr lang="en-US" sz="1100" dirty="0" smtClean="0">
                <a:solidFill>
                  <a:prstClr val="black"/>
                </a:solidFill>
              </a:rPr>
              <a:t>Discounts (Reservations) </a:t>
            </a:r>
            <a:r>
              <a:rPr lang="en-US" sz="1100" dirty="0">
                <a:solidFill>
                  <a:prstClr val="black"/>
                </a:solidFill>
              </a:rPr>
              <a:t>: Commitments provide discounts for VMs and software licensing in return for 1-3 year purchase agreements. Can be a good option if your workloads have predictable resource needs.</a:t>
            </a:r>
          </a:p>
          <a:p>
            <a:pPr marL="342900" indent="-342900">
              <a:buFont typeface="Wingdings" pitchFamily="2" charset="2"/>
              <a:buChar char="ü"/>
            </a:pPr>
            <a:endParaRPr lang="en-US" sz="1100" dirty="0">
              <a:solidFill>
                <a:prstClr val="black"/>
              </a:solidFill>
            </a:endParaRPr>
          </a:p>
          <a:p>
            <a:pPr marL="342900" indent="-342900">
              <a:buFont typeface="Wingdings" pitchFamily="2" charset="2"/>
              <a:buChar char="ü"/>
            </a:pPr>
            <a:r>
              <a:rPr lang="en-US" sz="1100" dirty="0" smtClean="0">
                <a:solidFill>
                  <a:prstClr val="black"/>
                </a:solidFill>
              </a:rPr>
              <a:t>Capacity Reservation: </a:t>
            </a:r>
            <a:r>
              <a:rPr lang="en-US" sz="1100" dirty="0">
                <a:solidFill>
                  <a:prstClr val="black"/>
                </a:solidFill>
              </a:rPr>
              <a:t>To make sure that Compute Engine resources are available when you need them, use reservations. Reservations provide a very high level of assurance in obtaining capacity for Compute Engine zonal resources. </a:t>
            </a:r>
            <a:endParaRPr lang="en-US" sz="1100" dirty="0" smtClean="0">
              <a:solidFill>
                <a:prstClr val="black"/>
              </a:solidFill>
            </a:endParaRPr>
          </a:p>
          <a:p>
            <a:pPr marL="342900" indent="-342900">
              <a:buFont typeface="Wingdings" pitchFamily="2" charset="2"/>
              <a:buChar char="ü"/>
            </a:pPr>
            <a:r>
              <a:rPr lang="en-US" sz="1100" dirty="0" smtClean="0">
                <a:solidFill>
                  <a:prstClr val="black"/>
                </a:solidFill>
              </a:rPr>
              <a:t>Fleets:</a:t>
            </a:r>
          </a:p>
          <a:p>
            <a:pPr marL="342900" indent="-342900">
              <a:buFont typeface="Wingdings" pitchFamily="2" charset="2"/>
              <a:buChar char="ü"/>
            </a:pPr>
            <a:r>
              <a:rPr lang="en-US" sz="1100" dirty="0" smtClean="0">
                <a:solidFill>
                  <a:prstClr val="black"/>
                </a:solidFill>
              </a:rPr>
              <a:t>Proximity Services:</a:t>
            </a:r>
            <a:endParaRPr lang="en-US" sz="1100" dirty="0">
              <a:solidFill>
                <a:prstClr val="black"/>
              </a:solidFill>
            </a:endParaRPr>
          </a:p>
        </p:txBody>
      </p:sp>
      <p:grpSp>
        <p:nvGrpSpPr>
          <p:cNvPr id="5" name="Group 4"/>
          <p:cNvGrpSpPr/>
          <p:nvPr/>
        </p:nvGrpSpPr>
        <p:grpSpPr>
          <a:xfrm>
            <a:off x="5333835" y="222978"/>
            <a:ext cx="6476427" cy="6275244"/>
            <a:chOff x="5333837" y="362220"/>
            <a:chExt cx="6476427" cy="6275244"/>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837" y="4826927"/>
              <a:ext cx="6476427" cy="181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7893754" y="362220"/>
              <a:ext cx="1200778" cy="369332"/>
            </a:xfrm>
            <a:prstGeom prst="rect">
              <a:avLst/>
            </a:prstGeom>
            <a:noFill/>
          </p:spPr>
          <p:txBody>
            <a:bodyPr wrap="none" rtlCol="0">
              <a:spAutoFit/>
            </a:bodyPr>
            <a:lstStyle/>
            <a:p>
              <a:r>
                <a:rPr lang="en-IN" dirty="0">
                  <a:solidFill>
                    <a:prstClr val="black"/>
                  </a:solidFill>
                </a:rPr>
                <a:t>Host Types</a:t>
              </a:r>
            </a:p>
          </p:txBody>
        </p:sp>
        <p:sp>
          <p:nvSpPr>
            <p:cNvPr id="13" name="TextBox 12"/>
            <p:cNvSpPr txBox="1"/>
            <p:nvPr/>
          </p:nvSpPr>
          <p:spPr>
            <a:xfrm>
              <a:off x="6716747" y="4517977"/>
              <a:ext cx="3614003" cy="369332"/>
            </a:xfrm>
            <a:prstGeom prst="rect">
              <a:avLst/>
            </a:prstGeom>
            <a:noFill/>
          </p:spPr>
          <p:txBody>
            <a:bodyPr wrap="none" rtlCol="0">
              <a:spAutoFit/>
            </a:bodyPr>
            <a:lstStyle/>
            <a:p>
              <a:r>
                <a:rPr lang="en-IN" dirty="0">
                  <a:solidFill>
                    <a:prstClr val="black"/>
                  </a:solidFill>
                </a:rPr>
                <a:t>Machine Types (Predefined/Custom)</a:t>
              </a:r>
            </a:p>
          </p:txBody>
        </p:sp>
      </p:gr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8924" y="572462"/>
            <a:ext cx="6502977" cy="36627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9" name="Ink 8"/>
              <p14:cNvContentPartPr/>
              <p14:nvPr/>
            </p14:nvContentPartPr>
            <p14:xfrm>
              <a:off x="9728280" y="870120"/>
              <a:ext cx="360" cy="360"/>
            </p14:xfrm>
          </p:contentPart>
        </mc:Choice>
        <mc:Fallback xmlns="">
          <p:pic>
            <p:nvPicPr>
              <p:cNvPr id="9" name="Ink 8"/>
              <p:cNvPicPr/>
              <p:nvPr/>
            </p:nvPicPr>
            <p:blipFill>
              <a:blip r:embed="rId5"/>
              <a:stretch>
                <a:fillRect/>
              </a:stretch>
            </p:blipFill>
            <p:spPr>
              <a:xfrm>
                <a:off x="9718920" y="860760"/>
                <a:ext cx="19080" cy="19080"/>
              </a:xfrm>
              <a:prstGeom prst="rect">
                <a:avLst/>
              </a:prstGeom>
            </p:spPr>
          </p:pic>
        </mc:Fallback>
      </mc:AlternateContent>
      <p:sp>
        <p:nvSpPr>
          <p:cNvPr id="3" name="Rectangle 2">
            <a:extLst>
              <a:ext uri="{FF2B5EF4-FFF2-40B4-BE49-F238E27FC236}">
                <a16:creationId xmlns="" xmlns:a16="http://schemas.microsoft.com/office/drawing/2014/main" id="{FF90DDCF-DA64-E3A0-0C96-DF8B4B776CD2}"/>
              </a:ext>
            </a:extLst>
          </p:cNvPr>
          <p:cNvSpPr/>
          <p:nvPr/>
        </p:nvSpPr>
        <p:spPr>
          <a:xfrm>
            <a:off x="5328924" y="592311"/>
            <a:ext cx="3221329" cy="3642226"/>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7" name="Rectangle 6">
            <a:extLst>
              <a:ext uri="{FF2B5EF4-FFF2-40B4-BE49-F238E27FC236}">
                <a16:creationId xmlns="" xmlns:a16="http://schemas.microsoft.com/office/drawing/2014/main" id="{B21C2BF4-7E38-35C4-B074-627718E09129}"/>
              </a:ext>
            </a:extLst>
          </p:cNvPr>
          <p:cNvSpPr/>
          <p:nvPr/>
        </p:nvSpPr>
        <p:spPr>
          <a:xfrm>
            <a:off x="8651919" y="582034"/>
            <a:ext cx="3221329" cy="3642226"/>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5" name="Picture 4" descr="C:\Users\moham\Downloads\datacenter11.jpeg"/>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25000"/>
                    </a14:imgEffect>
                    <a14:imgEffect>
                      <a14:brightnessContrast bright="8000" contrast="16000"/>
                    </a14:imgEffect>
                  </a14:imgLayer>
                </a14:imgProps>
              </a:ext>
              <a:ext uri="{28A0092B-C50C-407E-A947-70E740481C1C}">
                <a14:useLocalDpi xmlns:a14="http://schemas.microsoft.com/office/drawing/2010/main" val="0"/>
              </a:ext>
            </a:extLst>
          </a:blip>
          <a:srcRect/>
          <a:stretch>
            <a:fillRect/>
          </a:stretch>
        </p:blipFill>
        <p:spPr bwMode="auto">
          <a:xfrm>
            <a:off x="8900043" y="989000"/>
            <a:ext cx="1657194" cy="262023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495955" y="2299117"/>
            <a:ext cx="1127035" cy="1546577"/>
          </a:xfrm>
          <a:prstGeom prst="rect">
            <a:avLst/>
          </a:prstGeom>
          <a:noFill/>
        </p:spPr>
        <p:txBody>
          <a:bodyPr wrap="square" rtlCol="0">
            <a:spAutoFit/>
          </a:bodyPr>
          <a:lstStyle/>
          <a:p>
            <a:r>
              <a:rPr lang="en-IN" sz="1050" b="1" dirty="0" smtClean="0"/>
              <a:t>1 Host (</a:t>
            </a:r>
            <a:r>
              <a:rPr lang="en-IN" sz="1050" b="1" dirty="0" err="1" smtClean="0"/>
              <a:t>Phy</a:t>
            </a:r>
            <a:r>
              <a:rPr lang="en-IN" sz="1050" b="1" dirty="0" smtClean="0"/>
              <a:t>):</a:t>
            </a:r>
          </a:p>
          <a:p>
            <a:r>
              <a:rPr lang="en-IN" sz="1050" dirty="0" smtClean="0"/>
              <a:t>24cores</a:t>
            </a:r>
          </a:p>
          <a:p>
            <a:r>
              <a:rPr lang="en-IN" sz="1050" dirty="0" smtClean="0"/>
              <a:t>48gb ram</a:t>
            </a:r>
          </a:p>
          <a:p>
            <a:r>
              <a:rPr lang="en-IN" sz="1050" dirty="0" smtClean="0"/>
              <a:t>96gb </a:t>
            </a:r>
            <a:r>
              <a:rPr lang="en-IN" sz="1050" dirty="0" err="1" smtClean="0"/>
              <a:t>hdd</a:t>
            </a:r>
            <a:endParaRPr lang="en-IN" sz="1050" dirty="0" smtClean="0"/>
          </a:p>
          <a:p>
            <a:endParaRPr lang="en-IN" sz="1050" dirty="0"/>
          </a:p>
          <a:p>
            <a:r>
              <a:rPr lang="en-IN" sz="1050" b="1" dirty="0" smtClean="0"/>
              <a:t>12 VMs (Log) </a:t>
            </a:r>
            <a:r>
              <a:rPr lang="en-IN" sz="1050" dirty="0" smtClean="0"/>
              <a:t>2cores</a:t>
            </a:r>
          </a:p>
          <a:p>
            <a:r>
              <a:rPr lang="en-IN" sz="1050" dirty="0" smtClean="0"/>
              <a:t>4gb ram</a:t>
            </a:r>
          </a:p>
          <a:p>
            <a:r>
              <a:rPr lang="en-IN" sz="1050" dirty="0" smtClean="0"/>
              <a:t>8gb </a:t>
            </a:r>
            <a:r>
              <a:rPr lang="en-IN" sz="1050" dirty="0" err="1" smtClean="0"/>
              <a:t>hdd</a:t>
            </a:r>
            <a:endParaRPr lang="en-IN" sz="1050" dirty="0" smtClean="0"/>
          </a:p>
        </p:txBody>
      </p:sp>
    </p:spTree>
    <p:extLst>
      <p:ext uri="{BB962C8B-B14F-4D97-AF65-F5344CB8AC3E}">
        <p14:creationId xmlns:p14="http://schemas.microsoft.com/office/powerpoint/2010/main" val="283818721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52518" y="82458"/>
            <a:ext cx="5577450" cy="403347"/>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a:latin typeface="+mn-lt"/>
              </a:rPr>
              <a:t>Azure Virtual Machine</a:t>
            </a:r>
          </a:p>
        </p:txBody>
      </p:sp>
      <p:sp>
        <p:nvSpPr>
          <p:cNvPr id="2" name="TextBox 1"/>
          <p:cNvSpPr txBox="1"/>
          <p:nvPr/>
        </p:nvSpPr>
        <p:spPr>
          <a:xfrm>
            <a:off x="152400" y="618565"/>
            <a:ext cx="11520654" cy="6463308"/>
          </a:xfrm>
          <a:prstGeom prst="rect">
            <a:avLst/>
          </a:prstGeom>
          <a:solidFill>
            <a:schemeClr val="accent3">
              <a:lumMod val="20000"/>
              <a:lumOff val="80000"/>
            </a:schemeClr>
          </a:solidFill>
        </p:spPr>
        <p:txBody>
          <a:bodyPr wrap="none" rtlCol="0">
            <a:spAutoFit/>
          </a:bodyPr>
          <a:lstStyle/>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create \</a:t>
            </a:r>
          </a:p>
          <a:p>
            <a:r>
              <a:rPr lang="en-IN" dirty="0">
                <a:solidFill>
                  <a:srgbClr val="0070C0"/>
                </a:solidFill>
              </a:rPr>
              <a:t>  --resource-group wd36-rg1 \</a:t>
            </a:r>
          </a:p>
          <a:p>
            <a:r>
              <a:rPr lang="en-IN" dirty="0">
                <a:solidFill>
                  <a:srgbClr val="0070C0"/>
                </a:solidFill>
              </a:rPr>
              <a:t>  --name </a:t>
            </a:r>
            <a:r>
              <a:rPr lang="en-IN" dirty="0" err="1">
                <a:solidFill>
                  <a:srgbClr val="0070C0"/>
                </a:solidFill>
              </a:rPr>
              <a:t>MyUbuntuVM</a:t>
            </a:r>
            <a:r>
              <a:rPr lang="en-IN" dirty="0">
                <a:solidFill>
                  <a:srgbClr val="0070C0"/>
                </a:solidFill>
              </a:rPr>
              <a:t> \</a:t>
            </a:r>
          </a:p>
          <a:p>
            <a:r>
              <a:rPr lang="en-IN" dirty="0">
                <a:solidFill>
                  <a:srgbClr val="0070C0"/>
                </a:solidFill>
              </a:rPr>
              <a:t>  --image Ubuntu2204 \</a:t>
            </a:r>
          </a:p>
          <a:p>
            <a:r>
              <a:rPr lang="en-IN" dirty="0">
                <a:solidFill>
                  <a:srgbClr val="0070C0"/>
                </a:solidFill>
              </a:rPr>
              <a:t>  --size Standard_L2aos_v4 \</a:t>
            </a:r>
          </a:p>
          <a:p>
            <a:r>
              <a:rPr lang="en-IN" dirty="0">
                <a:solidFill>
                  <a:srgbClr val="0070C0"/>
                </a:solidFill>
              </a:rPr>
              <a:t>  --admin-username </a:t>
            </a:r>
            <a:r>
              <a:rPr lang="en-IN" dirty="0" err="1">
                <a:solidFill>
                  <a:srgbClr val="0070C0"/>
                </a:solidFill>
              </a:rPr>
              <a:t>azureuser</a:t>
            </a:r>
            <a:r>
              <a:rPr lang="en-IN" dirty="0">
                <a:solidFill>
                  <a:srgbClr val="0070C0"/>
                </a:solidFill>
              </a:rPr>
              <a:t> \</a:t>
            </a:r>
          </a:p>
          <a:p>
            <a:r>
              <a:rPr lang="en-IN" dirty="0">
                <a:solidFill>
                  <a:srgbClr val="0070C0"/>
                </a:solidFill>
              </a:rPr>
              <a:t>  --generate-</a:t>
            </a:r>
            <a:r>
              <a:rPr lang="en-IN" dirty="0" err="1">
                <a:solidFill>
                  <a:srgbClr val="0070C0"/>
                </a:solidFill>
              </a:rPr>
              <a:t>ssh</a:t>
            </a:r>
            <a:r>
              <a:rPr lang="en-IN" dirty="0">
                <a:solidFill>
                  <a:srgbClr val="0070C0"/>
                </a:solidFill>
              </a:rPr>
              <a:t>-keys \</a:t>
            </a:r>
          </a:p>
          <a:p>
            <a:r>
              <a:rPr lang="en-IN" dirty="0">
                <a:solidFill>
                  <a:srgbClr val="0070C0"/>
                </a:solidFill>
              </a:rPr>
              <a:t>  --</a:t>
            </a:r>
            <a:r>
              <a:rPr lang="en-IN" dirty="0" err="1">
                <a:solidFill>
                  <a:srgbClr val="0070C0"/>
                </a:solidFill>
              </a:rPr>
              <a:t>vnet</a:t>
            </a:r>
            <a:r>
              <a:rPr lang="en-IN" dirty="0">
                <a:solidFill>
                  <a:srgbClr val="0070C0"/>
                </a:solidFill>
              </a:rPr>
              <a:t>-name wd36_vn \</a:t>
            </a:r>
          </a:p>
          <a:p>
            <a:r>
              <a:rPr lang="en-IN" dirty="0">
                <a:solidFill>
                  <a:srgbClr val="0070C0"/>
                </a:solidFill>
              </a:rPr>
              <a:t>  --subnet wd36_sn1 \</a:t>
            </a:r>
          </a:p>
          <a:p>
            <a:r>
              <a:rPr lang="en-IN" dirty="0">
                <a:solidFill>
                  <a:srgbClr val="0070C0"/>
                </a:solidFill>
              </a:rPr>
              <a:t>  --</a:t>
            </a:r>
            <a:r>
              <a:rPr lang="en-IN" dirty="0" err="1">
                <a:solidFill>
                  <a:srgbClr val="0070C0"/>
                </a:solidFill>
              </a:rPr>
              <a:t>nsg</a:t>
            </a:r>
            <a:r>
              <a:rPr lang="en-IN" dirty="0">
                <a:solidFill>
                  <a:srgbClr val="0070C0"/>
                </a:solidFill>
              </a:rPr>
              <a:t> wd36_nsg1 \</a:t>
            </a:r>
          </a:p>
          <a:p>
            <a:r>
              <a:rPr lang="en-IN" dirty="0">
                <a:solidFill>
                  <a:srgbClr val="0070C0"/>
                </a:solidFill>
              </a:rPr>
              <a:t>  --public-</a:t>
            </a:r>
            <a:r>
              <a:rPr lang="en-IN" dirty="0" err="1">
                <a:solidFill>
                  <a:srgbClr val="0070C0"/>
                </a:solidFill>
              </a:rPr>
              <a:t>ip</a:t>
            </a:r>
            <a:r>
              <a:rPr lang="en-IN" dirty="0">
                <a:solidFill>
                  <a:srgbClr val="0070C0"/>
                </a:solidFill>
              </a:rPr>
              <a:t>-</a:t>
            </a:r>
            <a:r>
              <a:rPr lang="en-IN" dirty="0" err="1">
                <a:solidFill>
                  <a:srgbClr val="0070C0"/>
                </a:solidFill>
              </a:rPr>
              <a:t>sku</a:t>
            </a:r>
            <a:r>
              <a:rPr lang="en-IN" dirty="0">
                <a:solidFill>
                  <a:srgbClr val="0070C0"/>
                </a:solidFill>
              </a:rPr>
              <a:t> Standard</a:t>
            </a: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list --output table</a:t>
            </a: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stop --resource-group wd36-rg1 --name </a:t>
            </a:r>
            <a:r>
              <a:rPr lang="en-IN" dirty="0" err="1">
                <a:solidFill>
                  <a:srgbClr val="0070C0"/>
                </a:solidFill>
              </a:rPr>
              <a:t>MyUbuntuVM</a:t>
            </a:r>
            <a:endParaRPr lang="en-IN" dirty="0">
              <a:solidFill>
                <a:srgbClr val="0070C0"/>
              </a:solidFill>
            </a:endParaRP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start --resource-group wd36-rg1 --name </a:t>
            </a:r>
            <a:r>
              <a:rPr lang="en-IN" dirty="0" err="1">
                <a:solidFill>
                  <a:srgbClr val="0070C0"/>
                </a:solidFill>
              </a:rPr>
              <a:t>MyUbuntuVM</a:t>
            </a:r>
            <a:endParaRPr lang="en-IN" dirty="0">
              <a:solidFill>
                <a:srgbClr val="0070C0"/>
              </a:solidFill>
            </a:endParaRP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restart  --resource-group wd36-rg1 --name </a:t>
            </a:r>
            <a:r>
              <a:rPr lang="en-IN" dirty="0" err="1">
                <a:solidFill>
                  <a:srgbClr val="0070C0"/>
                </a:solidFill>
              </a:rPr>
              <a:t>MyUbuntuVM</a:t>
            </a:r>
            <a:endParaRPr lang="en-IN" dirty="0">
              <a:solidFill>
                <a:srgbClr val="0070C0"/>
              </a:solidFill>
            </a:endParaRPr>
          </a:p>
          <a:p>
            <a:endParaRPr lang="en-IN" dirty="0">
              <a:solidFill>
                <a:srgbClr val="0070C0"/>
              </a:solidFill>
            </a:endParaRPr>
          </a:p>
          <a:p>
            <a:r>
              <a:rPr lang="en-IN" dirty="0" err="1">
                <a:solidFill>
                  <a:srgbClr val="0070C0"/>
                </a:solidFill>
              </a:rPr>
              <a:t>az</a:t>
            </a:r>
            <a:r>
              <a:rPr lang="en-IN" dirty="0">
                <a:solidFill>
                  <a:srgbClr val="0070C0"/>
                </a:solidFill>
              </a:rPr>
              <a:t> </a:t>
            </a:r>
            <a:r>
              <a:rPr lang="en-IN" dirty="0" err="1">
                <a:solidFill>
                  <a:srgbClr val="0070C0"/>
                </a:solidFill>
              </a:rPr>
              <a:t>vm</a:t>
            </a:r>
            <a:r>
              <a:rPr lang="en-IN" dirty="0">
                <a:solidFill>
                  <a:srgbClr val="0070C0"/>
                </a:solidFill>
              </a:rPr>
              <a:t> delete --resource-group </a:t>
            </a:r>
            <a:r>
              <a:rPr lang="en-IN" dirty="0" smtClean="0">
                <a:solidFill>
                  <a:srgbClr val="0070C0"/>
                </a:solidFill>
              </a:rPr>
              <a:t>wd36-rg1 </a:t>
            </a:r>
            <a:r>
              <a:rPr lang="en-IN" dirty="0">
                <a:solidFill>
                  <a:srgbClr val="0070C0"/>
                </a:solidFill>
              </a:rPr>
              <a:t>--name </a:t>
            </a:r>
            <a:r>
              <a:rPr lang="en-IN" dirty="0" err="1">
                <a:solidFill>
                  <a:srgbClr val="0070C0"/>
                </a:solidFill>
              </a:rPr>
              <a:t>MyUbuntuVM</a:t>
            </a:r>
            <a:r>
              <a:rPr lang="en-IN" dirty="0">
                <a:solidFill>
                  <a:srgbClr val="0070C0"/>
                </a:solidFill>
              </a:rPr>
              <a:t> --yes</a:t>
            </a:r>
          </a:p>
          <a:p>
            <a:endParaRPr lang="en-US" dirty="0">
              <a:solidFill>
                <a:srgbClr val="0070C0"/>
              </a:solidFill>
            </a:endParaRPr>
          </a:p>
          <a:p>
            <a:r>
              <a:rPr lang="en-US" dirty="0" err="1">
                <a:solidFill>
                  <a:srgbClr val="0070C0"/>
                </a:solidFill>
              </a:rPr>
              <a:t>az</a:t>
            </a:r>
            <a:r>
              <a:rPr lang="en-US" dirty="0">
                <a:solidFill>
                  <a:srgbClr val="0070C0"/>
                </a:solidFill>
              </a:rPr>
              <a:t> ssh </a:t>
            </a:r>
            <a:r>
              <a:rPr lang="en-US" dirty="0" err="1">
                <a:solidFill>
                  <a:srgbClr val="0070C0"/>
                </a:solidFill>
              </a:rPr>
              <a:t>vm</a:t>
            </a:r>
            <a:r>
              <a:rPr lang="en-US" dirty="0">
                <a:solidFill>
                  <a:srgbClr val="0070C0"/>
                </a:solidFill>
              </a:rPr>
              <a:t> --resource-group we45-resourcegroup --</a:t>
            </a:r>
            <a:r>
              <a:rPr lang="en-US" dirty="0" err="1">
                <a:solidFill>
                  <a:srgbClr val="0070C0"/>
                </a:solidFill>
              </a:rPr>
              <a:t>vm</a:t>
            </a:r>
            <a:r>
              <a:rPr lang="en-US" dirty="0">
                <a:solidFill>
                  <a:srgbClr val="0070C0"/>
                </a:solidFill>
              </a:rPr>
              <a:t>-name vm2 --subscription b9f2b1ae-1c93-4be7-a4bc-7c233e4cc3c4</a:t>
            </a:r>
            <a:endParaRPr lang="en-IN" dirty="0">
              <a:solidFill>
                <a:srgbClr val="0070C0"/>
              </a:solidFill>
            </a:endParaRPr>
          </a:p>
        </p:txBody>
      </p:sp>
    </p:spTree>
    <p:extLst>
      <p:ext uri="{BB962C8B-B14F-4D97-AF65-F5344CB8AC3E}">
        <p14:creationId xmlns:p14="http://schemas.microsoft.com/office/powerpoint/2010/main" val="40240406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8292" y="2155952"/>
            <a:ext cx="9328638" cy="1430136"/>
          </a:xfrm>
        </p:spPr>
        <p:txBody>
          <a:bodyPr>
            <a:noAutofit/>
          </a:bodyPr>
          <a:lstStyle/>
          <a:p>
            <a:pPr algn="ctr"/>
            <a:r>
              <a:rPr lang="en-US" sz="8800" b="1" dirty="0" smtClean="0">
                <a:solidFill>
                  <a:srgbClr val="C00000"/>
                </a:solidFill>
              </a:rPr>
              <a:t>Azure </a:t>
            </a:r>
            <a:r>
              <a:rPr lang="en-US" sz="8800" b="1" dirty="0" err="1" smtClean="0">
                <a:solidFill>
                  <a:srgbClr val="C00000"/>
                </a:solidFill>
              </a:rPr>
              <a:t>Databricks</a:t>
            </a:r>
            <a:endParaRPr lang="en-IN" sz="8800" b="1" dirty="0">
              <a:solidFill>
                <a:srgbClr val="C00000"/>
              </a:solidFill>
            </a:endParaRPr>
          </a:p>
        </p:txBody>
      </p:sp>
      <p:pic>
        <p:nvPicPr>
          <p:cNvPr id="4" name="object 4"/>
          <p:cNvPicPr/>
          <p:nvPr/>
        </p:nvPicPr>
        <p:blipFill>
          <a:blip r:embed="rId2" cstate="print"/>
          <a:stretch>
            <a:fillRect/>
          </a:stretch>
        </p:blipFill>
        <p:spPr>
          <a:xfrm>
            <a:off x="6974575" y="4269625"/>
            <a:ext cx="1479803" cy="1592695"/>
          </a:xfrm>
          <a:prstGeom prst="rect">
            <a:avLst/>
          </a:prstGeom>
        </p:spPr>
      </p:pic>
      <p:pic>
        <p:nvPicPr>
          <p:cNvPr id="6" name="object 3"/>
          <p:cNvPicPr/>
          <p:nvPr/>
        </p:nvPicPr>
        <p:blipFill>
          <a:blip r:embed="rId3" cstate="print"/>
          <a:stretch>
            <a:fillRect/>
          </a:stretch>
        </p:blipFill>
        <p:spPr>
          <a:xfrm>
            <a:off x="3152731" y="4026622"/>
            <a:ext cx="2301240" cy="2145792"/>
          </a:xfrm>
          <a:prstGeom prst="rect">
            <a:avLst/>
          </a:prstGeom>
        </p:spPr>
      </p:pic>
      <p:sp>
        <p:nvSpPr>
          <p:cNvPr id="7" name="Rectangle 6"/>
          <p:cNvSpPr/>
          <p:nvPr/>
        </p:nvSpPr>
        <p:spPr>
          <a:xfrm>
            <a:off x="5453971" y="4341878"/>
            <a:ext cx="747320" cy="1446550"/>
          </a:xfrm>
          <a:prstGeom prst="rect">
            <a:avLst/>
          </a:prstGeom>
          <a:noFill/>
        </p:spPr>
        <p:txBody>
          <a:bodyPr wrap="non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88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a:t>
            </a:r>
          </a:p>
        </p:txBody>
      </p:sp>
      <p:pic>
        <p:nvPicPr>
          <p:cNvPr id="8" name="object 4"/>
          <p:cNvPicPr/>
          <p:nvPr/>
        </p:nvPicPr>
        <p:blipFill>
          <a:blip r:embed="rId2" cstate="print"/>
          <a:stretch>
            <a:fillRect/>
          </a:stretch>
        </p:blipFill>
        <p:spPr>
          <a:xfrm>
            <a:off x="6401576" y="913887"/>
            <a:ext cx="739139" cy="795527"/>
          </a:xfrm>
          <a:prstGeom prst="rect">
            <a:avLst/>
          </a:prstGeom>
        </p:spPr>
      </p:pic>
      <p:pic>
        <p:nvPicPr>
          <p:cNvPr id="9" name="object 3"/>
          <p:cNvPicPr/>
          <p:nvPr/>
        </p:nvPicPr>
        <p:blipFill>
          <a:blip r:embed="rId3" cstate="print"/>
          <a:stretch>
            <a:fillRect/>
          </a:stretch>
        </p:blipFill>
        <p:spPr>
          <a:xfrm>
            <a:off x="3325451" y="31490"/>
            <a:ext cx="2301240" cy="2145792"/>
          </a:xfrm>
          <a:prstGeom prst="rect">
            <a:avLst/>
          </a:prstGeom>
        </p:spPr>
      </p:pic>
      <p:sp>
        <p:nvSpPr>
          <p:cNvPr id="3" name="TextBox 2"/>
          <p:cNvSpPr txBox="1"/>
          <p:nvPr/>
        </p:nvSpPr>
        <p:spPr>
          <a:xfrm>
            <a:off x="6185339" y="5953383"/>
            <a:ext cx="3058273" cy="369332"/>
          </a:xfrm>
          <a:prstGeom prst="rect">
            <a:avLst/>
          </a:prstGeom>
          <a:noFill/>
        </p:spPr>
        <p:txBody>
          <a:bodyPr wrap="none" rtlCol="0">
            <a:spAutoFit/>
          </a:bodyPr>
          <a:lstStyle/>
          <a:p>
            <a:r>
              <a:rPr lang="en-IN" dirty="0" smtClean="0"/>
              <a:t>Unified Platform DE+BI+AI+DS</a:t>
            </a:r>
            <a:endParaRPr lang="en-IN" dirty="0"/>
          </a:p>
        </p:txBody>
      </p:sp>
      <p:sp>
        <p:nvSpPr>
          <p:cNvPr id="5" name="Rectangle 4"/>
          <p:cNvSpPr/>
          <p:nvPr/>
        </p:nvSpPr>
        <p:spPr>
          <a:xfrm>
            <a:off x="553707" y="4152368"/>
            <a:ext cx="2902718" cy="2031325"/>
          </a:xfrm>
          <a:prstGeom prst="rect">
            <a:avLst/>
          </a:prstGeom>
        </p:spPr>
        <p:txBody>
          <a:bodyPr wrap="none">
            <a:spAutoFit/>
          </a:bodyPr>
          <a:lstStyle/>
          <a:p>
            <a:r>
              <a:rPr lang="en-IN" b="1" u="sng" dirty="0" smtClean="0"/>
              <a:t>MS Fabric (Unified platform)</a:t>
            </a:r>
          </a:p>
          <a:p>
            <a:r>
              <a:rPr lang="en-IN" dirty="0" smtClean="0"/>
              <a:t>ADLS Gen2</a:t>
            </a:r>
          </a:p>
          <a:p>
            <a:r>
              <a:rPr lang="en-IN" dirty="0" smtClean="0"/>
              <a:t>ADF</a:t>
            </a:r>
          </a:p>
          <a:p>
            <a:r>
              <a:rPr lang="en-IN" dirty="0" smtClean="0"/>
              <a:t>HDInsight</a:t>
            </a:r>
          </a:p>
          <a:p>
            <a:r>
              <a:rPr lang="en-IN" dirty="0" smtClean="0"/>
              <a:t>Synapse</a:t>
            </a:r>
          </a:p>
          <a:p>
            <a:r>
              <a:rPr lang="en-IN" dirty="0" err="1" smtClean="0"/>
              <a:t>PowerBI</a:t>
            </a:r>
            <a:endParaRPr lang="en-IN" dirty="0" smtClean="0"/>
          </a:p>
          <a:p>
            <a:r>
              <a:rPr lang="en-IN" dirty="0" err="1" smtClean="0"/>
              <a:t>OpenAI</a:t>
            </a:r>
            <a:r>
              <a:rPr lang="en-IN" dirty="0" smtClean="0"/>
              <a:t>/Foundry</a:t>
            </a:r>
            <a:endParaRPr lang="en-IN" dirty="0"/>
          </a:p>
        </p:txBody>
      </p:sp>
      <p:sp>
        <p:nvSpPr>
          <p:cNvPr id="11" name="Rectangle 10"/>
          <p:cNvSpPr/>
          <p:nvPr/>
        </p:nvSpPr>
        <p:spPr>
          <a:xfrm>
            <a:off x="9243612" y="4141089"/>
            <a:ext cx="2921954" cy="2031325"/>
          </a:xfrm>
          <a:prstGeom prst="rect">
            <a:avLst/>
          </a:prstGeom>
        </p:spPr>
        <p:txBody>
          <a:bodyPr wrap="none">
            <a:spAutoFit/>
          </a:bodyPr>
          <a:lstStyle/>
          <a:p>
            <a:r>
              <a:rPr lang="en-IN" b="1" u="sng" dirty="0" err="1" smtClean="0"/>
              <a:t>Databricks</a:t>
            </a:r>
            <a:r>
              <a:rPr lang="en-IN" b="1" u="sng" dirty="0" smtClean="0"/>
              <a:t>(Unified platform)</a:t>
            </a:r>
          </a:p>
          <a:p>
            <a:r>
              <a:rPr lang="en-IN" b="1" dirty="0" smtClean="0"/>
              <a:t>DBFS</a:t>
            </a:r>
          </a:p>
          <a:p>
            <a:r>
              <a:rPr lang="en-IN" b="1" dirty="0" err="1" smtClean="0"/>
              <a:t>Lakeflow</a:t>
            </a:r>
            <a:r>
              <a:rPr lang="en-IN" b="1" dirty="0" smtClean="0"/>
              <a:t> services</a:t>
            </a:r>
          </a:p>
          <a:p>
            <a:r>
              <a:rPr lang="en-IN" b="1" dirty="0" smtClean="0"/>
              <a:t>Spark</a:t>
            </a:r>
          </a:p>
          <a:p>
            <a:r>
              <a:rPr lang="en-IN" b="1" dirty="0" smtClean="0"/>
              <a:t>Delta tables (</a:t>
            </a:r>
            <a:r>
              <a:rPr lang="en-IN" b="1" dirty="0"/>
              <a:t>SQL </a:t>
            </a:r>
            <a:r>
              <a:rPr lang="en-IN" b="1" dirty="0" err="1"/>
              <a:t>serverless</a:t>
            </a:r>
            <a:r>
              <a:rPr lang="en-IN" b="1" dirty="0" smtClean="0"/>
              <a:t>)</a:t>
            </a:r>
          </a:p>
          <a:p>
            <a:r>
              <a:rPr lang="en-IN" b="1" dirty="0" smtClean="0"/>
              <a:t>Dashboard &amp; Genie</a:t>
            </a:r>
          </a:p>
          <a:p>
            <a:r>
              <a:rPr lang="en-IN" b="1" dirty="0" smtClean="0"/>
              <a:t>AI/ML </a:t>
            </a:r>
            <a:r>
              <a:rPr lang="en-IN" dirty="0" smtClean="0"/>
              <a:t>services</a:t>
            </a:r>
            <a:endParaRPr lang="en-IN" dirty="0"/>
          </a:p>
        </p:txBody>
      </p:sp>
    </p:spTree>
    <p:extLst>
      <p:ext uri="{BB962C8B-B14F-4D97-AF65-F5344CB8AC3E}">
        <p14:creationId xmlns:p14="http://schemas.microsoft.com/office/powerpoint/2010/main" val="1095310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a:t>
            </a:r>
            <a:r>
              <a:rPr lang="en-US" sz="3200" dirty="0" err="1" smtClean="0"/>
              <a:t>Databricks</a:t>
            </a:r>
            <a:r>
              <a:rPr lang="en-US" sz="3200" dirty="0" smtClean="0"/>
              <a:t> – Planes/Grounds</a:t>
            </a:r>
            <a:endParaRPr lang="en-US" sz="3200" dirty="0"/>
          </a:p>
        </p:txBody>
      </p:sp>
      <p:pic>
        <p:nvPicPr>
          <p:cNvPr id="2050" name="Picture 2" descr="C:\Users\moham\Downloads\az databrick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8437" y="748985"/>
            <a:ext cx="8927886" cy="595192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a:xfrm>
            <a:off x="5870961" y="3435409"/>
            <a:ext cx="1674975" cy="1358782"/>
          </a:xfrm>
          <a:prstGeom prst="straightConnector1">
            <a:avLst/>
          </a:prstGeom>
          <a:ln w="19050">
            <a:solidFill>
              <a:schemeClr val="tx2">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172264" y="3930134"/>
            <a:ext cx="563809" cy="307777"/>
          </a:xfrm>
          <a:prstGeom prst="rect">
            <a:avLst/>
          </a:prstGeom>
        </p:spPr>
        <p:txBody>
          <a:bodyPr wrap="none">
            <a:spAutoFit/>
          </a:bodyPr>
          <a:lstStyle/>
          <a:p>
            <a:r>
              <a:rPr lang="en-IN" sz="1400" b="1" dirty="0" smtClean="0"/>
              <a:t>DBFS</a:t>
            </a:r>
            <a:endParaRPr lang="en-IN" sz="1400" b="1" dirty="0"/>
          </a:p>
        </p:txBody>
      </p:sp>
      <p:pic>
        <p:nvPicPr>
          <p:cNvPr id="8" name="object 4"/>
          <p:cNvPicPr/>
          <p:nvPr/>
        </p:nvPicPr>
        <p:blipFill>
          <a:blip r:embed="rId3" cstate="print"/>
          <a:stretch>
            <a:fillRect/>
          </a:stretch>
        </p:blipFill>
        <p:spPr>
          <a:xfrm>
            <a:off x="5823015" y="1818127"/>
            <a:ext cx="510228" cy="549153"/>
          </a:xfrm>
          <a:prstGeom prst="rect">
            <a:avLst/>
          </a:prstGeom>
        </p:spPr>
      </p:pic>
      <p:sp>
        <p:nvSpPr>
          <p:cNvPr id="11" name="Rectangle 10"/>
          <p:cNvSpPr/>
          <p:nvPr/>
        </p:nvSpPr>
        <p:spPr>
          <a:xfrm>
            <a:off x="5972561" y="2353548"/>
            <a:ext cx="1542410" cy="923330"/>
          </a:xfrm>
          <a:prstGeom prst="rect">
            <a:avLst/>
          </a:prstGeom>
        </p:spPr>
        <p:txBody>
          <a:bodyPr wrap="none">
            <a:spAutoFit/>
          </a:bodyPr>
          <a:lstStyle/>
          <a:p>
            <a:pPr marL="342900" indent="-342900">
              <a:buAutoNum type="arabicPeriod"/>
            </a:pPr>
            <a:r>
              <a:rPr lang="en-IN" sz="900" b="1" dirty="0" smtClean="0"/>
              <a:t>DB access </a:t>
            </a:r>
          </a:p>
          <a:p>
            <a:r>
              <a:rPr lang="en-IN" sz="900" b="1" dirty="0" smtClean="0"/>
              <a:t>Webserver VM of AZ</a:t>
            </a:r>
          </a:p>
          <a:p>
            <a:r>
              <a:rPr lang="en-IN" sz="900" b="1" dirty="0" smtClean="0"/>
              <a:t>2. </a:t>
            </a:r>
            <a:r>
              <a:rPr lang="en-IN" sz="900" b="1" dirty="0" err="1" smtClean="0"/>
              <a:t>Orch</a:t>
            </a:r>
            <a:r>
              <a:rPr lang="en-IN" sz="900" b="1" dirty="0" smtClean="0"/>
              <a:t> &amp; Scheduling </a:t>
            </a:r>
          </a:p>
          <a:p>
            <a:r>
              <a:rPr lang="en-IN" sz="900" b="1" dirty="0" smtClean="0"/>
              <a:t>using VM of AZ</a:t>
            </a:r>
          </a:p>
          <a:p>
            <a:r>
              <a:rPr lang="en-IN" sz="900" b="1" dirty="0" smtClean="0"/>
              <a:t>3. UC services using </a:t>
            </a:r>
          </a:p>
          <a:p>
            <a:r>
              <a:rPr lang="en-IN" sz="900" b="1" dirty="0" smtClean="0"/>
              <a:t>Storage, DBs, Security of AZ.</a:t>
            </a:r>
            <a:endParaRPr lang="en-IN" sz="900" b="1" dirty="0"/>
          </a:p>
        </p:txBody>
      </p:sp>
      <p:sp>
        <p:nvSpPr>
          <p:cNvPr id="12" name="Rectangle 11"/>
          <p:cNvSpPr/>
          <p:nvPr/>
        </p:nvSpPr>
        <p:spPr>
          <a:xfrm>
            <a:off x="8547128" y="4123174"/>
            <a:ext cx="2569229" cy="307777"/>
          </a:xfrm>
          <a:prstGeom prst="rect">
            <a:avLst/>
          </a:prstGeom>
        </p:spPr>
        <p:txBody>
          <a:bodyPr wrap="none">
            <a:spAutoFit/>
          </a:bodyPr>
          <a:lstStyle/>
          <a:p>
            <a:r>
              <a:rPr lang="en-IN" sz="1400" b="1" dirty="0" smtClean="0"/>
              <a:t>AZ - Storage, Network, DB Plane</a:t>
            </a:r>
            <a:endParaRPr lang="en-IN" sz="1400" b="1" dirty="0"/>
          </a:p>
        </p:txBody>
      </p:sp>
      <p:sp>
        <p:nvSpPr>
          <p:cNvPr id="13" name="Rectangle 12"/>
          <p:cNvSpPr/>
          <p:nvPr/>
        </p:nvSpPr>
        <p:spPr>
          <a:xfrm>
            <a:off x="8303288" y="1938814"/>
            <a:ext cx="1644425" cy="307777"/>
          </a:xfrm>
          <a:prstGeom prst="rect">
            <a:avLst/>
          </a:prstGeom>
        </p:spPr>
        <p:txBody>
          <a:bodyPr wrap="none">
            <a:spAutoFit/>
          </a:bodyPr>
          <a:lstStyle/>
          <a:p>
            <a:r>
              <a:rPr lang="en-IN" sz="1400" b="1" dirty="0" smtClean="0"/>
              <a:t>AZ –Compute Plane</a:t>
            </a:r>
            <a:endParaRPr lang="en-IN" sz="1400" b="1" dirty="0"/>
          </a:p>
        </p:txBody>
      </p:sp>
      <p:sp>
        <p:nvSpPr>
          <p:cNvPr id="14" name="Rectangle 13"/>
          <p:cNvSpPr/>
          <p:nvPr/>
        </p:nvSpPr>
        <p:spPr>
          <a:xfrm>
            <a:off x="6365304" y="4502101"/>
            <a:ext cx="832792" cy="523220"/>
          </a:xfrm>
          <a:prstGeom prst="rect">
            <a:avLst/>
          </a:prstGeom>
        </p:spPr>
        <p:txBody>
          <a:bodyPr wrap="none">
            <a:spAutoFit/>
          </a:bodyPr>
          <a:lstStyle/>
          <a:p>
            <a:r>
              <a:rPr lang="en-IN" sz="1400" b="1" dirty="0" smtClean="0"/>
              <a:t>Network</a:t>
            </a:r>
          </a:p>
          <a:p>
            <a:r>
              <a:rPr lang="en-IN" sz="1400" b="1" dirty="0" smtClean="0"/>
              <a:t>    VMs</a:t>
            </a:r>
            <a:endParaRPr lang="en-IN" sz="1400" b="1" dirty="0"/>
          </a:p>
        </p:txBody>
      </p:sp>
    </p:spTree>
    <p:extLst>
      <p:ext uri="{BB962C8B-B14F-4D97-AF65-F5344CB8AC3E}">
        <p14:creationId xmlns:p14="http://schemas.microsoft.com/office/powerpoint/2010/main" val="2159486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a:t>
            </a:r>
            <a:r>
              <a:rPr lang="en-US" sz="3200" dirty="0" err="1" smtClean="0"/>
              <a:t>Databricks</a:t>
            </a:r>
            <a:r>
              <a:rPr lang="en-US" sz="3200" dirty="0" smtClean="0"/>
              <a:t> – Hierarchy of resources</a:t>
            </a:r>
            <a:endParaRPr lang="en-US" sz="32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9847" y="748985"/>
            <a:ext cx="6383338" cy="560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719036" y="4836919"/>
            <a:ext cx="2860942" cy="2991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smtClean="0"/>
              <a:t>Databricks</a:t>
            </a:r>
            <a:endParaRPr lang="en-IN" dirty="0"/>
          </a:p>
        </p:txBody>
      </p:sp>
      <p:sp>
        <p:nvSpPr>
          <p:cNvPr id="8" name="Rectangle 7"/>
          <p:cNvSpPr/>
          <p:nvPr/>
        </p:nvSpPr>
        <p:spPr>
          <a:xfrm>
            <a:off x="4897216" y="5809714"/>
            <a:ext cx="2860942" cy="2991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smtClean="0"/>
              <a:t>Databricks</a:t>
            </a:r>
            <a:r>
              <a:rPr lang="en-IN" dirty="0" smtClean="0"/>
              <a:t> - Workspace</a:t>
            </a:r>
            <a:endParaRPr lang="en-IN" dirty="0"/>
          </a:p>
        </p:txBody>
      </p:sp>
    </p:spTree>
    <p:extLst>
      <p:ext uri="{BB962C8B-B14F-4D97-AF65-F5344CB8AC3E}">
        <p14:creationId xmlns:p14="http://schemas.microsoft.com/office/powerpoint/2010/main" val="34959184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descr="C:\Users\moham\Downloads\v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271" y="1789061"/>
            <a:ext cx="6056219" cy="40374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moham\Downloads\workspc.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816" y="1735434"/>
            <a:ext cx="5505653" cy="367043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a:t>
            </a:r>
            <a:r>
              <a:rPr lang="en-US" sz="3200" dirty="0" err="1" smtClean="0"/>
              <a:t>Databricks</a:t>
            </a:r>
            <a:r>
              <a:rPr lang="en-US" sz="3200" dirty="0" smtClean="0"/>
              <a:t> – Pricing Types &amp; </a:t>
            </a:r>
            <a:r>
              <a:rPr lang="en-US" sz="3200" dirty="0"/>
              <a:t>W</a:t>
            </a:r>
            <a:r>
              <a:rPr lang="en-US" sz="3200" dirty="0" smtClean="0"/>
              <a:t>orkspace </a:t>
            </a:r>
            <a:r>
              <a:rPr lang="en-US" sz="3200" dirty="0"/>
              <a:t>T</a:t>
            </a:r>
            <a:r>
              <a:rPr lang="en-US" sz="3200" dirty="0" smtClean="0"/>
              <a:t>ypes</a:t>
            </a:r>
            <a:endParaRPr lang="en-US" sz="3200" dirty="0"/>
          </a:p>
        </p:txBody>
      </p:sp>
    </p:spTree>
    <p:extLst>
      <p:ext uri="{BB962C8B-B14F-4D97-AF65-F5344CB8AC3E}">
        <p14:creationId xmlns:p14="http://schemas.microsoft.com/office/powerpoint/2010/main" val="33131605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a:t>
            </a:r>
            <a:r>
              <a:rPr lang="en-US" sz="3200" dirty="0" err="1" smtClean="0"/>
              <a:t>Databricks</a:t>
            </a:r>
            <a:r>
              <a:rPr lang="en-US" sz="3200" dirty="0" smtClean="0"/>
              <a:t> – Compute</a:t>
            </a:r>
            <a:endParaRPr lang="en-IN" sz="3200" dirty="0"/>
          </a:p>
          <a:p>
            <a:endParaRPr lang="en-US" sz="3200" dirty="0"/>
          </a:p>
        </p:txBody>
      </p:sp>
      <p:pic>
        <p:nvPicPr>
          <p:cNvPr id="3074" name="Picture 2" descr="C:\Users\moham\Downloads\az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4300" y="420282"/>
            <a:ext cx="9626600" cy="6417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9952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135137" y="69598"/>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a:t>
            </a:r>
            <a:r>
              <a:rPr lang="en-US" sz="3200" dirty="0" err="1" smtClean="0"/>
              <a:t>Databricks</a:t>
            </a:r>
            <a:r>
              <a:rPr lang="en-US" sz="3200" dirty="0" smtClean="0"/>
              <a:t> – Compute Policies</a:t>
            </a:r>
            <a:endParaRPr lang="en-IN" sz="3200" dirty="0"/>
          </a:p>
          <a:p>
            <a:endParaRPr lang="en-US"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012755"/>
            <a:ext cx="11087234" cy="4922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1307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721" y="1626208"/>
            <a:ext cx="6059003" cy="39363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6"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10879" y="1626207"/>
            <a:ext cx="5427156" cy="46793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7" name="Rectangle 6"/>
          <p:cNvSpPr/>
          <p:nvPr/>
        </p:nvSpPr>
        <p:spPr>
          <a:xfrm>
            <a:off x="95247" y="410482"/>
            <a:ext cx="10029225" cy="800219"/>
          </a:xfrm>
          <a:prstGeom prst="rect">
            <a:avLst/>
          </a:prstGeom>
        </p:spPr>
        <p:txBody>
          <a:bodyPr wrap="square">
            <a:spAutoFit/>
          </a:bodyPr>
          <a:lstStyle/>
          <a:p>
            <a:r>
              <a:rPr lang="en-US" b="1" dirty="0"/>
              <a:t>1. Create a </a:t>
            </a:r>
            <a:r>
              <a:rPr lang="en-US" b="1" u="sng" dirty="0"/>
              <a:t>Resource  </a:t>
            </a:r>
            <a:r>
              <a:rPr lang="en-US" b="1" dirty="0"/>
              <a:t>under (Resource Group)</a:t>
            </a:r>
          </a:p>
          <a:p>
            <a:r>
              <a:rPr lang="en-US" sz="1400" b="1" dirty="0"/>
              <a:t>Once the resource group is created -&gt; Create -&gt; resource -&gt; Market place -&gt; Azure services only -&gt; search for </a:t>
            </a:r>
            <a:r>
              <a:rPr lang="en-US" sz="1400" b="1" dirty="0" err="1"/>
              <a:t>Databricks</a:t>
            </a:r>
            <a:r>
              <a:rPr lang="en-US" sz="1400" b="1" dirty="0"/>
              <a:t> -&gt; Click on Review &amp; Create -&gt; </a:t>
            </a:r>
            <a:r>
              <a:rPr lang="en-IN" sz="1400" b="1" dirty="0"/>
              <a:t>Validation Succeeded -&gt; Create -&gt; Wait for few minutes to launch the workspace</a:t>
            </a:r>
            <a:endParaRPr lang="cs-CZ" sz="1400" b="1" dirty="0"/>
          </a:p>
        </p:txBody>
      </p:sp>
      <p:sp>
        <p:nvSpPr>
          <p:cNvPr id="8" name="Rectangle 7"/>
          <p:cNvSpPr/>
          <p:nvPr/>
        </p:nvSpPr>
        <p:spPr>
          <a:xfrm>
            <a:off x="19050" y="9525"/>
            <a:ext cx="6819900" cy="400110"/>
          </a:xfrm>
          <a:prstGeom prst="rect">
            <a:avLst/>
          </a:prstGeom>
        </p:spPr>
        <p:txBody>
          <a:bodyPr wrap="square">
            <a:spAutoFit/>
          </a:bodyPr>
          <a:lstStyle/>
          <a:p>
            <a:r>
              <a:rPr lang="en-US" sz="2000" dirty="0">
                <a:solidFill>
                  <a:srgbClr val="C00000"/>
                </a:solidFill>
              </a:rPr>
              <a:t> </a:t>
            </a:r>
            <a:r>
              <a:rPr lang="en-US" sz="2000" b="1" dirty="0">
                <a:solidFill>
                  <a:srgbClr val="C00000"/>
                </a:solidFill>
              </a:rPr>
              <a:t>Creating </a:t>
            </a:r>
            <a:r>
              <a:rPr lang="en-US" sz="2000" b="1" dirty="0" err="1">
                <a:solidFill>
                  <a:srgbClr val="C00000"/>
                </a:solidFill>
              </a:rPr>
              <a:t>Databricks</a:t>
            </a:r>
            <a:r>
              <a:rPr lang="en-US" sz="2000" b="1" dirty="0">
                <a:solidFill>
                  <a:srgbClr val="C00000"/>
                </a:solidFill>
              </a:rPr>
              <a:t> resource</a:t>
            </a:r>
            <a:endParaRPr lang="en-IN" sz="2000" dirty="0">
              <a:solidFill>
                <a:srgbClr val="C00000"/>
              </a:solidFill>
            </a:endParaRPr>
          </a:p>
        </p:txBody>
      </p:sp>
      <p:sp>
        <p:nvSpPr>
          <p:cNvPr id="9" name="Heptagon 8"/>
          <p:cNvSpPr/>
          <p:nvPr/>
        </p:nvSpPr>
        <p:spPr>
          <a:xfrm>
            <a:off x="3775506" y="1412689"/>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1</a:t>
            </a:r>
            <a:endParaRPr lang="en-IN" sz="3600" b="1" dirty="0"/>
          </a:p>
        </p:txBody>
      </p:sp>
      <p:sp>
        <p:nvSpPr>
          <p:cNvPr id="10" name="Heptagon 9"/>
          <p:cNvSpPr/>
          <p:nvPr/>
        </p:nvSpPr>
        <p:spPr>
          <a:xfrm>
            <a:off x="8522442" y="1412690"/>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2</a:t>
            </a:r>
            <a:endParaRPr lang="en-IN" sz="3600" b="1" dirty="0"/>
          </a:p>
        </p:txBody>
      </p:sp>
    </p:spTree>
    <p:extLst>
      <p:ext uri="{BB962C8B-B14F-4D97-AF65-F5344CB8AC3E}">
        <p14:creationId xmlns:p14="http://schemas.microsoft.com/office/powerpoint/2010/main" val="520637794"/>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sp>
        <p:nvSpPr>
          <p:cNvPr id="8" name="Rectangle 7"/>
          <p:cNvSpPr/>
          <p:nvPr/>
        </p:nvSpPr>
        <p:spPr>
          <a:xfrm>
            <a:off x="19050" y="9525"/>
            <a:ext cx="3593726" cy="400110"/>
          </a:xfrm>
          <a:prstGeom prst="rect">
            <a:avLst/>
          </a:prstGeom>
        </p:spPr>
        <p:txBody>
          <a:bodyPr wrap="square">
            <a:spAutoFit/>
          </a:bodyPr>
          <a:lstStyle/>
          <a:p>
            <a:r>
              <a:rPr lang="en-US" sz="2000" b="1" dirty="0">
                <a:solidFill>
                  <a:srgbClr val="C00000"/>
                </a:solidFill>
              </a:rPr>
              <a:t>Create a single node cluster</a:t>
            </a:r>
            <a:endParaRPr lang="en-IN" sz="2000" b="1" dirty="0">
              <a:solidFill>
                <a:srgbClr val="C00000"/>
              </a:solidFill>
            </a:endParaRPr>
          </a:p>
        </p:txBody>
      </p:sp>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247" y="1295659"/>
            <a:ext cx="5629946" cy="34573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819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7625" y="718259"/>
            <a:ext cx="5016500" cy="5511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0" name="Heptagon 9"/>
          <p:cNvSpPr/>
          <p:nvPr/>
        </p:nvSpPr>
        <p:spPr>
          <a:xfrm>
            <a:off x="8978677" y="428745"/>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2</a:t>
            </a:r>
            <a:endParaRPr lang="en-IN" sz="3600" b="1" dirty="0"/>
          </a:p>
        </p:txBody>
      </p:sp>
      <p:sp>
        <p:nvSpPr>
          <p:cNvPr id="3" name="Rectangle 2"/>
          <p:cNvSpPr/>
          <p:nvPr/>
        </p:nvSpPr>
        <p:spPr>
          <a:xfrm>
            <a:off x="95247" y="395093"/>
            <a:ext cx="6096000" cy="738664"/>
          </a:xfrm>
          <a:prstGeom prst="rect">
            <a:avLst/>
          </a:prstGeom>
        </p:spPr>
        <p:txBody>
          <a:bodyPr>
            <a:spAutoFit/>
          </a:bodyPr>
          <a:lstStyle/>
          <a:p>
            <a:r>
              <a:rPr lang="en-IN" sz="1400" b="1" dirty="0"/>
              <a:t>1. Choose Launch Workspace</a:t>
            </a:r>
          </a:p>
          <a:p>
            <a:r>
              <a:rPr lang="en-IN" sz="1400" b="1" dirty="0"/>
              <a:t>2. Choose Compute -&gt; All purpose Compute -&gt; Create single node -&gt; Auto terminate after 60 minutes (default 120 mins) -&gt; Create Compute</a:t>
            </a:r>
            <a:endParaRPr lang="en-IN" sz="1400" dirty="0"/>
          </a:p>
        </p:txBody>
      </p:sp>
      <p:sp>
        <p:nvSpPr>
          <p:cNvPr id="9" name="Heptagon 8"/>
          <p:cNvSpPr/>
          <p:nvPr/>
        </p:nvSpPr>
        <p:spPr>
          <a:xfrm>
            <a:off x="2183150" y="1295659"/>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1</a:t>
            </a:r>
            <a:endParaRPr lang="en-IN" sz="3600" b="1" dirty="0"/>
          </a:p>
        </p:txBody>
      </p:sp>
    </p:spTree>
    <p:extLst>
      <p:ext uri="{BB962C8B-B14F-4D97-AF65-F5344CB8AC3E}">
        <p14:creationId xmlns:p14="http://schemas.microsoft.com/office/powerpoint/2010/main" val="3081312795"/>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DD6097E-CC4E-E514-665A-B396DA860BE7}"/>
            </a:ext>
          </a:extLst>
        </p:cNvPr>
        <p:cNvGrpSpPr/>
        <p:nvPr/>
      </p:nvGrpSpPr>
      <p:grpSpPr>
        <a:xfrm>
          <a:off x="0" y="0"/>
          <a:ext cx="0" cy="0"/>
          <a:chOff x="0" y="0"/>
          <a:chExt cx="0" cy="0"/>
        </a:xfrm>
      </p:grpSpPr>
      <p:sp>
        <p:nvSpPr>
          <p:cNvPr id="34" name="Title 1">
            <a:extLst>
              <a:ext uri="{FF2B5EF4-FFF2-40B4-BE49-F238E27FC236}">
                <a16:creationId xmlns:a16="http://schemas.microsoft.com/office/drawing/2014/main" xmlns="" id="{68D52C3B-3FFF-406D-7FDE-454E7C71C6CB}"/>
              </a:ext>
            </a:extLst>
          </p:cNvPr>
          <p:cNvSpPr>
            <a:spLocks noGrp="1"/>
          </p:cNvSpPr>
          <p:nvPr>
            <p:ph type="title"/>
          </p:nvPr>
        </p:nvSpPr>
        <p:spPr>
          <a:xfrm>
            <a:off x="0" y="-17866"/>
            <a:ext cx="6777318" cy="369332"/>
          </a:xfrm>
        </p:spPr>
        <p:txBody>
          <a:bodyPr wrap="square">
            <a:spAutoFit/>
          </a:bodyPr>
          <a:lstStyle/>
          <a:p>
            <a:r>
              <a:rPr lang="en-US" sz="2000" b="1" dirty="0">
                <a:solidFill>
                  <a:srgbClr val="C00000"/>
                </a:solidFill>
                <a:latin typeface="+mn-lt"/>
                <a:ea typeface="+mn-ea"/>
                <a:cs typeface="+mn-cs"/>
              </a:rPr>
              <a:t>1. Creating DBFS Catalog &amp; Volume for source data handling</a:t>
            </a:r>
          </a:p>
        </p:txBody>
      </p:sp>
      <p:sp>
        <p:nvSpPr>
          <p:cNvPr id="8" name="Rectangle 7">
            <a:extLst>
              <a:ext uri="{FF2B5EF4-FFF2-40B4-BE49-F238E27FC236}">
                <a16:creationId xmlns:a16="http://schemas.microsoft.com/office/drawing/2014/main" xmlns="" id="{503FB65A-066E-B704-E40F-11F7E0BFE30E}"/>
              </a:ext>
            </a:extLst>
          </p:cNvPr>
          <p:cNvSpPr/>
          <p:nvPr/>
        </p:nvSpPr>
        <p:spPr>
          <a:xfrm>
            <a:off x="6714830" y="4977288"/>
            <a:ext cx="314619" cy="17317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xmlns="" id="{0B53ABFB-7CD0-991F-C07F-B13050D177C4}"/>
              </a:ext>
            </a:extLst>
          </p:cNvPr>
          <p:cNvGrpSpPr/>
          <p:nvPr/>
        </p:nvGrpSpPr>
        <p:grpSpPr>
          <a:xfrm>
            <a:off x="238125" y="2505902"/>
            <a:ext cx="6939324" cy="3549819"/>
            <a:chOff x="180975" y="1707541"/>
            <a:chExt cx="6939324" cy="3549819"/>
          </a:xfrm>
        </p:grpSpPr>
        <p:pic>
          <p:nvPicPr>
            <p:cNvPr id="4" name="Picture 3">
              <a:extLst>
                <a:ext uri="{FF2B5EF4-FFF2-40B4-BE49-F238E27FC236}">
                  <a16:creationId xmlns:a16="http://schemas.microsoft.com/office/drawing/2014/main" xmlns="" id="{2F9DA475-304F-376E-6C59-0991840EE277}"/>
                </a:ext>
              </a:extLst>
            </p:cNvPr>
            <p:cNvPicPr>
              <a:picLocks noChangeAspect="1"/>
            </p:cNvPicPr>
            <p:nvPr/>
          </p:nvPicPr>
          <p:blipFill>
            <a:blip r:embed="rId2"/>
            <a:stretch>
              <a:fillRect/>
            </a:stretch>
          </p:blipFill>
          <p:spPr>
            <a:xfrm>
              <a:off x="180975" y="1707541"/>
              <a:ext cx="6939324" cy="3549819"/>
            </a:xfrm>
            <a:prstGeom prst="rect">
              <a:avLst/>
            </a:prstGeom>
          </p:spPr>
        </p:pic>
        <p:sp>
          <p:nvSpPr>
            <p:cNvPr id="7" name="Rectangle 6">
              <a:extLst>
                <a:ext uri="{FF2B5EF4-FFF2-40B4-BE49-F238E27FC236}">
                  <a16:creationId xmlns:a16="http://schemas.microsoft.com/office/drawing/2014/main" xmlns="" id="{C38675D9-A1C2-1C21-5424-E879C29CE67F}"/>
                </a:ext>
              </a:extLst>
            </p:cNvPr>
            <p:cNvSpPr/>
            <p:nvPr/>
          </p:nvSpPr>
          <p:spPr>
            <a:xfrm>
              <a:off x="3634306" y="1874703"/>
              <a:ext cx="179882" cy="2129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xmlns="" id="{BAC573C4-9DA0-4674-AD50-281DF590CDF9}"/>
                </a:ext>
              </a:extLst>
            </p:cNvPr>
            <p:cNvSpPr/>
            <p:nvPr/>
          </p:nvSpPr>
          <p:spPr>
            <a:xfrm>
              <a:off x="4124030" y="3455010"/>
              <a:ext cx="724195" cy="3359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3E00D030-F654-BA76-E352-7D630B907F5F}"/>
                </a:ext>
              </a:extLst>
            </p:cNvPr>
            <p:cNvSpPr/>
            <p:nvPr/>
          </p:nvSpPr>
          <p:spPr>
            <a:xfrm>
              <a:off x="180975" y="2407260"/>
              <a:ext cx="724195" cy="1549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xmlns="" id="{5F350A2E-5DCA-D794-7C13-9AF5501E0F60}"/>
              </a:ext>
            </a:extLst>
          </p:cNvPr>
          <p:cNvSpPr txBox="1"/>
          <p:nvPr/>
        </p:nvSpPr>
        <p:spPr>
          <a:xfrm>
            <a:off x="114300" y="351466"/>
            <a:ext cx="5170070" cy="2154436"/>
          </a:xfrm>
          <a:prstGeom prst="rect">
            <a:avLst/>
          </a:prstGeom>
          <a:noFill/>
        </p:spPr>
        <p:txBody>
          <a:bodyPr wrap="none" rtlCol="0">
            <a:spAutoFit/>
          </a:bodyPr>
          <a:lstStyle/>
          <a:p>
            <a:pPr marL="342900" indent="-342900">
              <a:buAutoNum type="arabicPeriod"/>
            </a:pPr>
            <a:r>
              <a:rPr lang="en-US" sz="1400" b="1" dirty="0"/>
              <a:t>Create a Catalog</a:t>
            </a:r>
          </a:p>
          <a:p>
            <a:pPr marL="800100" lvl="1" indent="-342900">
              <a:buAutoNum type="arabicPeriod"/>
            </a:pPr>
            <a:r>
              <a:rPr lang="en-US" sz="1400" b="1" dirty="0"/>
              <a:t>Click on Catalog</a:t>
            </a:r>
          </a:p>
          <a:p>
            <a:pPr marL="800100" lvl="1" indent="-342900">
              <a:buAutoNum type="arabicPeriod"/>
            </a:pPr>
            <a:r>
              <a:rPr lang="en-US" sz="1400" b="1" dirty="0"/>
              <a:t>Click the + button</a:t>
            </a:r>
          </a:p>
          <a:p>
            <a:pPr marL="800100" lvl="1" indent="-342900">
              <a:buAutoNum type="arabicPeriod"/>
            </a:pPr>
            <a:r>
              <a:rPr lang="en-US" sz="1400" b="1" dirty="0"/>
              <a:t>Mention the catalog name as </a:t>
            </a:r>
            <a:r>
              <a:rPr lang="en-US" sz="1400" b="1" dirty="0" err="1"/>
              <a:t>inceptezcatalog</a:t>
            </a:r>
            <a:endParaRPr lang="en-US" sz="1400" b="1" dirty="0"/>
          </a:p>
          <a:p>
            <a:pPr marL="800100" lvl="1" indent="-342900">
              <a:buAutoNum type="arabicPeriod"/>
            </a:pPr>
            <a:r>
              <a:rPr lang="en-US" sz="1400" b="1" dirty="0"/>
              <a:t>Click Create</a:t>
            </a:r>
          </a:p>
          <a:p>
            <a:pPr marL="342900" indent="-342900">
              <a:buAutoNum type="arabicPeriod"/>
            </a:pPr>
            <a:r>
              <a:rPr lang="en-US" sz="1400" b="1" dirty="0"/>
              <a:t>Create a Volume running the below command in the notebook</a:t>
            </a:r>
          </a:p>
          <a:p>
            <a:r>
              <a:rPr lang="en-US" sz="1100" dirty="0">
                <a:solidFill>
                  <a:schemeClr val="accent1"/>
                </a:solidFill>
              </a:rPr>
              <a:t>%</a:t>
            </a:r>
            <a:r>
              <a:rPr lang="en-US" sz="1100" dirty="0" err="1">
                <a:solidFill>
                  <a:schemeClr val="accent1"/>
                </a:solidFill>
              </a:rPr>
              <a:t>sql</a:t>
            </a:r>
            <a:endParaRPr lang="en-US" sz="1100" dirty="0">
              <a:solidFill>
                <a:schemeClr val="accent1"/>
              </a:solidFill>
            </a:endParaRPr>
          </a:p>
          <a:p>
            <a:r>
              <a:rPr lang="en-US" sz="1100" dirty="0">
                <a:solidFill>
                  <a:schemeClr val="accent1"/>
                </a:solidFill>
              </a:rPr>
              <a:t>CREATE VOLUME IF NOT EXISTS </a:t>
            </a:r>
            <a:r>
              <a:rPr lang="en-US" sz="1100" dirty="0" err="1">
                <a:solidFill>
                  <a:schemeClr val="accent1"/>
                </a:solidFill>
              </a:rPr>
              <a:t>inceptezcatalog.default.izdatavolume</a:t>
            </a:r>
            <a:endParaRPr lang="en-US" sz="1100" dirty="0">
              <a:solidFill>
                <a:schemeClr val="accent1"/>
              </a:solidFill>
            </a:endParaRPr>
          </a:p>
          <a:p>
            <a:r>
              <a:rPr lang="en-US" sz="1100" dirty="0">
                <a:solidFill>
                  <a:schemeClr val="accent1"/>
                </a:solidFill>
              </a:rPr>
              <a:t>COMMENT 'Managed volume for </a:t>
            </a:r>
            <a:r>
              <a:rPr lang="en-US" sz="1100" dirty="0" err="1">
                <a:solidFill>
                  <a:schemeClr val="accent1"/>
                </a:solidFill>
              </a:rPr>
              <a:t>izdatavolume</a:t>
            </a:r>
            <a:r>
              <a:rPr lang="en-US" sz="1100" dirty="0">
                <a:solidFill>
                  <a:schemeClr val="accent1"/>
                </a:solidFill>
              </a:rPr>
              <a:t>';</a:t>
            </a:r>
            <a:endParaRPr lang="en-US" dirty="0">
              <a:solidFill>
                <a:schemeClr val="accent1"/>
              </a:solidFill>
            </a:endParaRPr>
          </a:p>
          <a:p>
            <a:endParaRPr lang="en-US" sz="1400" b="1" dirty="0"/>
          </a:p>
        </p:txBody>
      </p:sp>
    </p:spTree>
    <p:extLst>
      <p:ext uri="{BB962C8B-B14F-4D97-AF65-F5344CB8AC3E}">
        <p14:creationId xmlns:p14="http://schemas.microsoft.com/office/powerpoint/2010/main" val="38175281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602CAAA-BAAC-30B1-61F0-50FF50F3C0A5}"/>
            </a:ext>
          </a:extLst>
        </p:cNvPr>
        <p:cNvGrpSpPr/>
        <p:nvPr/>
      </p:nvGrpSpPr>
      <p:grpSpPr>
        <a:xfrm>
          <a:off x="0" y="0"/>
          <a:ext cx="0" cy="0"/>
          <a:chOff x="0" y="0"/>
          <a:chExt cx="0" cy="0"/>
        </a:xfrm>
      </p:grpSpPr>
      <p:sp>
        <p:nvSpPr>
          <p:cNvPr id="34" name="Title 1">
            <a:extLst>
              <a:ext uri="{FF2B5EF4-FFF2-40B4-BE49-F238E27FC236}">
                <a16:creationId xmlns:a16="http://schemas.microsoft.com/office/drawing/2014/main" xmlns="" id="{392581C3-29E8-372F-D2F5-9B441A8542AC}"/>
              </a:ext>
            </a:extLst>
          </p:cNvPr>
          <p:cNvSpPr>
            <a:spLocks noGrp="1"/>
          </p:cNvSpPr>
          <p:nvPr>
            <p:ph type="title"/>
          </p:nvPr>
        </p:nvSpPr>
        <p:spPr>
          <a:xfrm>
            <a:off x="0" y="-17866"/>
            <a:ext cx="9982200" cy="369332"/>
          </a:xfrm>
        </p:spPr>
        <p:txBody>
          <a:bodyPr wrap="square">
            <a:spAutoFit/>
          </a:bodyPr>
          <a:lstStyle/>
          <a:p>
            <a:r>
              <a:rPr lang="en-US" sz="2000" b="1" dirty="0">
                <a:solidFill>
                  <a:srgbClr val="C00000"/>
                </a:solidFill>
                <a:latin typeface="+mn-lt"/>
                <a:ea typeface="+mn-ea"/>
                <a:cs typeface="+mn-cs"/>
              </a:rPr>
              <a:t>2. Upload sample data into Databricks DBFS Volume created in the previous slide</a:t>
            </a:r>
          </a:p>
        </p:txBody>
      </p:sp>
      <p:sp>
        <p:nvSpPr>
          <p:cNvPr id="2" name="TextBox 1">
            <a:extLst>
              <a:ext uri="{FF2B5EF4-FFF2-40B4-BE49-F238E27FC236}">
                <a16:creationId xmlns:a16="http://schemas.microsoft.com/office/drawing/2014/main" xmlns="" id="{A1F03A93-96CA-93A1-C0D9-3A0614EC0F91}"/>
              </a:ext>
            </a:extLst>
          </p:cNvPr>
          <p:cNvSpPr txBox="1"/>
          <p:nvPr/>
        </p:nvSpPr>
        <p:spPr>
          <a:xfrm>
            <a:off x="180975" y="552450"/>
            <a:ext cx="11791950" cy="954107"/>
          </a:xfrm>
          <a:prstGeom prst="rect">
            <a:avLst/>
          </a:prstGeom>
          <a:noFill/>
        </p:spPr>
        <p:txBody>
          <a:bodyPr wrap="square" rtlCol="0">
            <a:spAutoFit/>
          </a:bodyPr>
          <a:lstStyle/>
          <a:p>
            <a:r>
              <a:rPr lang="en-US" sz="1400" b="1" u="sng" dirty="0"/>
              <a:t>Create a </a:t>
            </a:r>
            <a:r>
              <a:rPr lang="en-US" sz="1400" b="1" u="sng" dirty="0" err="1"/>
              <a:t>dbfs</a:t>
            </a:r>
            <a:r>
              <a:rPr lang="en-US" sz="1400" b="1" u="sng" dirty="0"/>
              <a:t> Volume (Drive) (using magic command) and upload custsmodified.csv into it using upload option as given below. </a:t>
            </a:r>
          </a:p>
          <a:p>
            <a:r>
              <a:rPr lang="en-US" sz="1400" dirty="0"/>
              <a:t>Goto left top corner -&gt; Click New -&gt; Add or Upload Data -&gt; Upload files to volume -&gt; Click below All Catalogs -&gt; </a:t>
            </a:r>
          </a:p>
          <a:p>
            <a:r>
              <a:rPr lang="en-US" sz="1400" dirty="0"/>
              <a:t>Choose your </a:t>
            </a:r>
            <a:r>
              <a:rPr lang="en-US" sz="1400" dirty="0" err="1"/>
              <a:t>databricks</a:t>
            </a:r>
            <a:r>
              <a:rPr lang="en-US" sz="1400" dirty="0"/>
              <a:t> catalog and volume created in the previous slide (/Volumes/</a:t>
            </a:r>
            <a:r>
              <a:rPr lang="en-US" sz="1400" dirty="0" err="1"/>
              <a:t>inceptezcatalog</a:t>
            </a:r>
            <a:r>
              <a:rPr lang="en-US" sz="1400" dirty="0"/>
              <a:t>/default/</a:t>
            </a:r>
            <a:r>
              <a:rPr lang="en-US" sz="1400" dirty="0" err="1"/>
              <a:t>izdatavolume</a:t>
            </a:r>
            <a:r>
              <a:rPr lang="en-US" sz="1400" dirty="0"/>
              <a:t>/) -&gt;  click upload file (Refer the below image) </a:t>
            </a:r>
          </a:p>
        </p:txBody>
      </p:sp>
      <p:grpSp>
        <p:nvGrpSpPr>
          <p:cNvPr id="16" name="Group 15">
            <a:extLst>
              <a:ext uri="{FF2B5EF4-FFF2-40B4-BE49-F238E27FC236}">
                <a16:creationId xmlns:a16="http://schemas.microsoft.com/office/drawing/2014/main" xmlns="" id="{1D9F1066-0A64-60E7-5564-AA41CEDF25C8}"/>
              </a:ext>
            </a:extLst>
          </p:cNvPr>
          <p:cNvGrpSpPr/>
          <p:nvPr/>
        </p:nvGrpSpPr>
        <p:grpSpPr>
          <a:xfrm>
            <a:off x="180975" y="1734446"/>
            <a:ext cx="6907053" cy="4153601"/>
            <a:chOff x="106116" y="1707541"/>
            <a:chExt cx="6907053" cy="4153601"/>
          </a:xfrm>
        </p:grpSpPr>
        <p:pic>
          <p:nvPicPr>
            <p:cNvPr id="5" name="Picture 4">
              <a:extLst>
                <a:ext uri="{FF2B5EF4-FFF2-40B4-BE49-F238E27FC236}">
                  <a16:creationId xmlns:a16="http://schemas.microsoft.com/office/drawing/2014/main" xmlns="" id="{9DAB88BD-DD7C-5CC0-C3B6-E4E4E06CC014}"/>
                </a:ext>
              </a:extLst>
            </p:cNvPr>
            <p:cNvPicPr>
              <a:picLocks noChangeAspect="1"/>
            </p:cNvPicPr>
            <p:nvPr/>
          </p:nvPicPr>
          <p:blipFill>
            <a:blip r:embed="rId2"/>
            <a:stretch>
              <a:fillRect/>
            </a:stretch>
          </p:blipFill>
          <p:spPr>
            <a:xfrm>
              <a:off x="106116" y="1707541"/>
              <a:ext cx="6907053" cy="41536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a:extLst>
                <a:ext uri="{FF2B5EF4-FFF2-40B4-BE49-F238E27FC236}">
                  <a16:creationId xmlns:a16="http://schemas.microsoft.com/office/drawing/2014/main" xmlns="" id="{BAD9EFE0-FDF3-E61A-FE72-6AC6A5B5966C}"/>
                </a:ext>
              </a:extLst>
            </p:cNvPr>
            <p:cNvSpPr/>
            <p:nvPr/>
          </p:nvSpPr>
          <p:spPr>
            <a:xfrm>
              <a:off x="2410358" y="3429000"/>
              <a:ext cx="751409" cy="55245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xmlns="" id="{D5D6F955-1031-07C4-C711-E9FEFCC778CC}"/>
                </a:ext>
              </a:extLst>
            </p:cNvPr>
            <p:cNvSpPr/>
            <p:nvPr/>
          </p:nvSpPr>
          <p:spPr>
            <a:xfrm>
              <a:off x="3629558" y="3221285"/>
              <a:ext cx="751409" cy="37733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xmlns="" id="{AF96102A-5A70-561D-2A9C-5138E237A5DB}"/>
                </a:ext>
              </a:extLst>
            </p:cNvPr>
            <p:cNvSpPr/>
            <p:nvPr/>
          </p:nvSpPr>
          <p:spPr>
            <a:xfrm>
              <a:off x="5856590" y="4454178"/>
              <a:ext cx="564545" cy="3118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xmlns="" id="{42659A33-54FB-0D47-C9E4-A22D2CB7F9AF}"/>
              </a:ext>
            </a:extLst>
          </p:cNvPr>
          <p:cNvGrpSpPr/>
          <p:nvPr/>
        </p:nvGrpSpPr>
        <p:grpSpPr>
          <a:xfrm>
            <a:off x="3161767" y="2074853"/>
            <a:ext cx="5072805" cy="3813194"/>
            <a:chOff x="7068944" y="1877744"/>
            <a:chExt cx="5072805" cy="3813194"/>
          </a:xfrm>
        </p:grpSpPr>
        <p:pic>
          <p:nvPicPr>
            <p:cNvPr id="13" name="Picture 12">
              <a:extLst>
                <a:ext uri="{FF2B5EF4-FFF2-40B4-BE49-F238E27FC236}">
                  <a16:creationId xmlns:a16="http://schemas.microsoft.com/office/drawing/2014/main" xmlns="" id="{164A35AC-836A-342F-7CE6-AE882FE75ABC}"/>
                </a:ext>
              </a:extLst>
            </p:cNvPr>
            <p:cNvPicPr>
              <a:picLocks noChangeAspect="1"/>
            </p:cNvPicPr>
            <p:nvPr/>
          </p:nvPicPr>
          <p:blipFill>
            <a:blip r:embed="rId3"/>
            <a:stretch>
              <a:fillRect/>
            </a:stretch>
          </p:blipFill>
          <p:spPr>
            <a:xfrm>
              <a:off x="7068944" y="1877744"/>
              <a:ext cx="5072805" cy="38131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Rectangle 13">
              <a:extLst>
                <a:ext uri="{FF2B5EF4-FFF2-40B4-BE49-F238E27FC236}">
                  <a16:creationId xmlns:a16="http://schemas.microsoft.com/office/drawing/2014/main" xmlns="" id="{456378CF-414F-CA18-41E9-CA33900864B4}"/>
                </a:ext>
              </a:extLst>
            </p:cNvPr>
            <p:cNvSpPr/>
            <p:nvPr/>
          </p:nvSpPr>
          <p:spPr>
            <a:xfrm>
              <a:off x="10448610" y="4745406"/>
              <a:ext cx="621000" cy="1936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09360E06-CABB-C51E-B572-02BC0064F8B6}"/>
                </a:ext>
              </a:extLst>
            </p:cNvPr>
            <p:cNvSpPr/>
            <p:nvPr/>
          </p:nvSpPr>
          <p:spPr>
            <a:xfrm>
              <a:off x="10785160" y="5421681"/>
              <a:ext cx="424151" cy="1936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097623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p:cNvSpPr>
            <a:spLocks noGrp="1"/>
          </p:cNvSpPr>
          <p:nvPr>
            <p:ph type="title"/>
          </p:nvPr>
        </p:nvSpPr>
        <p:spPr>
          <a:xfrm>
            <a:off x="0" y="-17866"/>
            <a:ext cx="6777318" cy="369332"/>
          </a:xfrm>
        </p:spPr>
        <p:txBody>
          <a:bodyPr wrap="square">
            <a:spAutoFit/>
          </a:bodyPr>
          <a:lstStyle/>
          <a:p>
            <a:r>
              <a:rPr lang="en-US" sz="2000" b="1" dirty="0">
                <a:solidFill>
                  <a:srgbClr val="C00000"/>
                </a:solidFill>
                <a:latin typeface="+mn-lt"/>
                <a:ea typeface="+mn-ea"/>
                <a:cs typeface="+mn-cs"/>
              </a:rPr>
              <a:t>Cluster Configurations (Compute -&gt; New Compute)</a:t>
            </a:r>
          </a:p>
        </p:txBody>
      </p:sp>
      <p:grpSp>
        <p:nvGrpSpPr>
          <p:cNvPr id="3" name="Group 2"/>
          <p:cNvGrpSpPr/>
          <p:nvPr/>
        </p:nvGrpSpPr>
        <p:grpSpPr>
          <a:xfrm>
            <a:off x="485705" y="457201"/>
            <a:ext cx="11347707" cy="5949786"/>
            <a:chOff x="485705" y="457201"/>
            <a:chExt cx="11347707" cy="5949786"/>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05" y="1299792"/>
              <a:ext cx="6681575" cy="5107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ular Callout 1"/>
            <p:cNvSpPr/>
            <p:nvPr/>
          </p:nvSpPr>
          <p:spPr>
            <a:xfrm>
              <a:off x="4925640" y="457201"/>
              <a:ext cx="5580996" cy="935377"/>
            </a:xfrm>
            <a:prstGeom prst="wedgeRectCallout">
              <a:avLst>
                <a:gd name="adj1" fmla="val -64144"/>
                <a:gd name="adj2" fmla="val 18756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base">
                <a:spcBef>
                  <a:spcPct val="0"/>
                </a:spcBef>
                <a:spcAft>
                  <a:spcPct val="0"/>
                </a:spcAft>
              </a:pPr>
              <a:r>
                <a:rPr lang="en-US" altLang="en-US" sz="800" b="1" u="sng" dirty="0">
                  <a:solidFill>
                    <a:schemeClr val="accent2">
                      <a:lumMod val="75000"/>
                    </a:schemeClr>
                  </a:solidFill>
                  <a:cs typeface="Arial" charset="0"/>
                </a:rPr>
                <a:t>Policy</a:t>
              </a:r>
            </a:p>
            <a:p>
              <a:pPr lvl="0" fontAlgn="base">
                <a:spcBef>
                  <a:spcPct val="0"/>
                </a:spcBef>
                <a:spcAft>
                  <a:spcPct val="0"/>
                </a:spcAft>
                <a:buFontTx/>
                <a:buChar char="•"/>
              </a:pPr>
              <a:r>
                <a:rPr lang="en-US" altLang="en-US" sz="800" b="1" dirty="0">
                  <a:solidFill>
                    <a:schemeClr val="accent2">
                      <a:lumMod val="75000"/>
                    </a:schemeClr>
                  </a:solidFill>
                  <a:cs typeface="Arial" charset="0"/>
                </a:rPr>
                <a:t>Unrestricted</a:t>
              </a:r>
              <a:r>
                <a:rPr lang="en-US" altLang="en-US" sz="800" dirty="0">
                  <a:solidFill>
                    <a:schemeClr val="accent2">
                      <a:lumMod val="75000"/>
                    </a:schemeClr>
                  </a:solidFill>
                  <a:cs typeface="Arial" charset="0"/>
                </a:rPr>
                <a:t>: Shared cluster with no restrictions, where all users share the same credentials and have full access to resources and data.</a:t>
              </a:r>
              <a:endParaRPr lang="en-US" altLang="en-US" sz="800" b="1" dirty="0">
                <a:solidFill>
                  <a:schemeClr val="accent2">
                    <a:lumMod val="75000"/>
                  </a:schemeClr>
                </a:solidFill>
                <a:cs typeface="Arial" charset="0"/>
              </a:endParaRPr>
            </a:p>
            <a:p>
              <a:pPr lvl="0" fontAlgn="base">
                <a:spcBef>
                  <a:spcPct val="0"/>
                </a:spcBef>
                <a:spcAft>
                  <a:spcPct val="0"/>
                </a:spcAft>
                <a:buFontTx/>
                <a:buChar char="•"/>
              </a:pPr>
              <a:r>
                <a:rPr lang="en-US" altLang="en-US" sz="800" b="1" dirty="0">
                  <a:solidFill>
                    <a:schemeClr val="accent2">
                      <a:lumMod val="75000"/>
                    </a:schemeClr>
                  </a:solidFill>
                  <a:cs typeface="Arial" charset="0"/>
                </a:rPr>
                <a:t>Personal Compute</a:t>
              </a:r>
              <a:r>
                <a:rPr lang="en-US" altLang="en-US" sz="800" dirty="0">
                  <a:solidFill>
                    <a:schemeClr val="accent2">
                      <a:lumMod val="75000"/>
                    </a:schemeClr>
                  </a:solidFill>
                  <a:cs typeface="Arial" charset="0"/>
                </a:rPr>
                <a:t>: Single user - providing full control &amp; isolation.</a:t>
              </a:r>
            </a:p>
            <a:p>
              <a:pPr lvl="0" eaLnBrk="0" fontAlgn="base" hangingPunct="0">
                <a:spcBef>
                  <a:spcPct val="0"/>
                </a:spcBef>
                <a:spcAft>
                  <a:spcPct val="0"/>
                </a:spcAft>
                <a:buFontTx/>
                <a:buChar char="•"/>
              </a:pPr>
              <a:r>
                <a:rPr lang="en-US" altLang="en-US" sz="800" b="1" dirty="0">
                  <a:solidFill>
                    <a:schemeClr val="accent2">
                      <a:lumMod val="75000"/>
                    </a:schemeClr>
                  </a:solidFill>
                  <a:cs typeface="Arial" charset="0"/>
                </a:rPr>
                <a:t>Power User Compute</a:t>
              </a:r>
              <a:r>
                <a:rPr lang="en-US" altLang="en-US" sz="800" dirty="0">
                  <a:solidFill>
                    <a:schemeClr val="accent2">
                      <a:lumMod val="75000"/>
                    </a:schemeClr>
                  </a:solidFill>
                  <a:cs typeface="Arial" charset="0"/>
                </a:rPr>
                <a:t>: Advanced users - custom configurations and elevated permissions with multi node cluster access.</a:t>
              </a:r>
            </a:p>
            <a:p>
              <a:pPr lvl="0" eaLnBrk="0" fontAlgn="base" hangingPunct="0">
                <a:spcBef>
                  <a:spcPct val="0"/>
                </a:spcBef>
                <a:spcAft>
                  <a:spcPct val="0"/>
                </a:spcAft>
                <a:buFontTx/>
                <a:buChar char="•"/>
              </a:pPr>
              <a:r>
                <a:rPr lang="en-US" altLang="en-US" sz="800" b="1" dirty="0">
                  <a:solidFill>
                    <a:schemeClr val="accent2">
                      <a:lumMod val="75000"/>
                    </a:schemeClr>
                  </a:solidFill>
                  <a:cs typeface="Arial" charset="0"/>
                </a:rPr>
                <a:t>Shared Compute</a:t>
              </a:r>
              <a:r>
                <a:rPr lang="en-US" altLang="en-US" sz="800" dirty="0">
                  <a:solidFill>
                    <a:schemeClr val="accent2">
                      <a:lumMod val="75000"/>
                    </a:schemeClr>
                  </a:solidFill>
                  <a:cs typeface="Arial" charset="0"/>
                </a:rPr>
                <a:t>: Multiple users - Share a cluster with credential with </a:t>
              </a:r>
              <a:r>
                <a:rPr lang="en-US" altLang="en-US" sz="800" b="1" i="1" dirty="0">
                  <a:solidFill>
                    <a:schemeClr val="accent2">
                      <a:lumMod val="75000"/>
                    </a:schemeClr>
                  </a:solidFill>
                  <a:cs typeface="Arial" charset="0"/>
                </a:rPr>
                <a:t>credentials isolation (separate credentials)</a:t>
              </a:r>
              <a:r>
                <a:rPr lang="en-US" altLang="en-US" sz="800" dirty="0">
                  <a:solidFill>
                    <a:schemeClr val="accent2">
                      <a:lumMod val="75000"/>
                    </a:schemeClr>
                  </a:solidFill>
                  <a:cs typeface="Arial" charset="0"/>
                </a:rPr>
                <a:t>.</a:t>
              </a:r>
            </a:p>
            <a:p>
              <a:pPr lvl="0" eaLnBrk="0" fontAlgn="base" hangingPunct="0">
                <a:spcBef>
                  <a:spcPct val="0"/>
                </a:spcBef>
                <a:spcAft>
                  <a:spcPct val="0"/>
                </a:spcAft>
                <a:buFontTx/>
                <a:buChar char="•"/>
              </a:pPr>
              <a:r>
                <a:rPr lang="en-US" altLang="en-US" sz="800" b="1" dirty="0">
                  <a:solidFill>
                    <a:schemeClr val="accent2">
                      <a:lumMod val="75000"/>
                    </a:schemeClr>
                  </a:solidFill>
                  <a:cs typeface="Arial" charset="0"/>
                </a:rPr>
                <a:t>Legacy Shared Compute</a:t>
              </a:r>
              <a:r>
                <a:rPr lang="en-US" altLang="en-US" sz="800" dirty="0">
                  <a:solidFill>
                    <a:schemeClr val="accent2">
                      <a:lumMod val="75000"/>
                    </a:schemeClr>
                  </a:solidFill>
                  <a:cs typeface="Arial" charset="0"/>
                </a:rPr>
                <a:t>: An older shared cluster type with </a:t>
              </a:r>
              <a:r>
                <a:rPr lang="en-US" altLang="en-US" sz="800" b="1" i="1" dirty="0">
                  <a:solidFill>
                    <a:schemeClr val="accent2">
                      <a:lumMod val="75000"/>
                    </a:schemeClr>
                  </a:solidFill>
                  <a:cs typeface="Arial" charset="0"/>
                </a:rPr>
                <a:t>no credentials isolation</a:t>
              </a:r>
              <a:r>
                <a:rPr lang="en-US" altLang="en-US" sz="800" dirty="0">
                  <a:solidFill>
                    <a:schemeClr val="accent2">
                      <a:lumMod val="75000"/>
                    </a:schemeClr>
                  </a:solidFill>
                  <a:cs typeface="Arial" charset="0"/>
                </a:rPr>
                <a:t>, (all users share the same credentials)</a:t>
              </a:r>
            </a:p>
          </p:txBody>
        </p:sp>
        <p:sp>
          <p:nvSpPr>
            <p:cNvPr id="14" name="Rectangular Callout 13"/>
            <p:cNvSpPr/>
            <p:nvPr/>
          </p:nvSpPr>
          <p:spPr>
            <a:xfrm>
              <a:off x="8870577" y="1828801"/>
              <a:ext cx="1986846" cy="959223"/>
            </a:xfrm>
            <a:prstGeom prst="wedgeRectCallout">
              <a:avLst>
                <a:gd name="adj1" fmla="val -222230"/>
                <a:gd name="adj2" fmla="val 11540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dirty="0">
                  <a:solidFill>
                    <a:schemeClr val="accent2">
                      <a:lumMod val="75000"/>
                    </a:schemeClr>
                  </a:solidFill>
                </a:rPr>
                <a:t>The </a:t>
              </a:r>
              <a:r>
                <a:rPr lang="en-US" sz="800" b="1" u="sng" dirty="0">
                  <a:solidFill>
                    <a:schemeClr val="accent2">
                      <a:lumMod val="75000"/>
                    </a:schemeClr>
                  </a:solidFill>
                </a:rPr>
                <a:t>Photon Accelerator</a:t>
              </a:r>
              <a:r>
                <a:rPr lang="en-US" sz="800" dirty="0">
                  <a:solidFill>
                    <a:schemeClr val="accent2">
                      <a:lumMod val="75000"/>
                    </a:schemeClr>
                  </a:solidFill>
                </a:rPr>
                <a:t> in Azure </a:t>
              </a:r>
              <a:r>
                <a:rPr lang="en-US" sz="800" dirty="0" err="1">
                  <a:solidFill>
                    <a:schemeClr val="accent2">
                      <a:lumMod val="75000"/>
                    </a:schemeClr>
                  </a:solidFill>
                </a:rPr>
                <a:t>Databricks</a:t>
              </a:r>
              <a:r>
                <a:rPr lang="en-US" sz="800" dirty="0">
                  <a:solidFill>
                    <a:schemeClr val="accent2">
                      <a:lumMod val="75000"/>
                    </a:schemeClr>
                  </a:solidFill>
                </a:rPr>
                <a:t> refers to a performance optimization feature that accelerates the execution of Apache Spark SQL workloads. Photon uses </a:t>
              </a:r>
              <a:r>
                <a:rPr lang="en-US" sz="800" b="1" i="1" dirty="0" err="1">
                  <a:solidFill>
                    <a:schemeClr val="accent2">
                      <a:lumMod val="75000"/>
                    </a:schemeClr>
                  </a:solidFill>
                </a:rPr>
                <a:t>vectorized</a:t>
              </a:r>
              <a:r>
                <a:rPr lang="en-US" sz="800" dirty="0">
                  <a:solidFill>
                    <a:schemeClr val="accent2">
                      <a:lumMod val="75000"/>
                    </a:schemeClr>
                  </a:solidFill>
                </a:rPr>
                <a:t> query execution and leverages </a:t>
              </a:r>
              <a:r>
                <a:rPr lang="en-US" sz="800" b="1" i="1" dirty="0">
                  <a:solidFill>
                    <a:schemeClr val="accent2">
                      <a:lumMod val="75000"/>
                    </a:schemeClr>
                  </a:solidFill>
                </a:rPr>
                <a:t>advanced hardware</a:t>
              </a:r>
              <a:r>
                <a:rPr lang="en-US" sz="800" dirty="0">
                  <a:solidFill>
                    <a:schemeClr val="accent2">
                      <a:lumMod val="75000"/>
                    </a:schemeClr>
                  </a:solidFill>
                </a:rPr>
                <a:t> capabilities, such as CPUs</a:t>
              </a:r>
              <a:endParaRPr lang="en-IN" sz="800" dirty="0">
                <a:solidFill>
                  <a:schemeClr val="accent2">
                    <a:lumMod val="75000"/>
                  </a:schemeClr>
                </a:solidFill>
              </a:endParaRPr>
            </a:p>
            <a:p>
              <a:endParaRPr lang="en-US" sz="800" dirty="0">
                <a:solidFill>
                  <a:schemeClr val="accent2">
                    <a:lumMod val="75000"/>
                  </a:schemeClr>
                </a:solidFill>
              </a:endParaRPr>
            </a:p>
          </p:txBody>
        </p:sp>
        <p:sp>
          <p:nvSpPr>
            <p:cNvPr id="24" name="Rectangular Callout 23"/>
            <p:cNvSpPr/>
            <p:nvPr/>
          </p:nvSpPr>
          <p:spPr>
            <a:xfrm>
              <a:off x="5416921" y="4435655"/>
              <a:ext cx="3263155" cy="767916"/>
            </a:xfrm>
            <a:prstGeom prst="wedgeRectCallout">
              <a:avLst>
                <a:gd name="adj1" fmla="val -94965"/>
                <a:gd name="adj2" fmla="val -5696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nSpc>
                  <a:spcPts val="2135"/>
                </a:lnSpc>
                <a:tabLst>
                  <a:tab pos="297815" algn="l"/>
                </a:tabLst>
              </a:pPr>
              <a:r>
                <a:rPr lang="en-US" sz="800" b="1" u="sng" dirty="0">
                  <a:solidFill>
                    <a:schemeClr val="accent2">
                      <a:lumMod val="75000"/>
                    </a:schemeClr>
                  </a:solidFill>
                  <a:cs typeface="Calibri"/>
                </a:rPr>
                <a:t>Auto</a:t>
              </a:r>
              <a:r>
                <a:rPr lang="en-US" sz="800" b="1" u="sng" spc="-60" dirty="0">
                  <a:solidFill>
                    <a:schemeClr val="accent2">
                      <a:lumMod val="75000"/>
                    </a:schemeClr>
                  </a:solidFill>
                  <a:cs typeface="Calibri"/>
                </a:rPr>
                <a:t> </a:t>
              </a:r>
              <a:r>
                <a:rPr lang="en-US" sz="800" b="1" u="sng" spc="-10" dirty="0">
                  <a:solidFill>
                    <a:schemeClr val="accent2">
                      <a:lumMod val="75000"/>
                    </a:schemeClr>
                  </a:solidFill>
                  <a:cs typeface="Calibri"/>
                </a:rPr>
                <a:t>Termination</a:t>
              </a:r>
              <a:endParaRPr lang="en-US" sz="800" b="1" u="sng" spc="-25" dirty="0">
                <a:solidFill>
                  <a:schemeClr val="accent2">
                    <a:lumMod val="75000"/>
                  </a:schemeClr>
                </a:solidFill>
                <a:cs typeface="Calibri"/>
              </a:endParaRPr>
            </a:p>
            <a:p>
              <a:pPr marL="184150" indent="-171450">
                <a:lnSpc>
                  <a:spcPts val="2135"/>
                </a:lnSpc>
                <a:buFont typeface="Arial" panose="020B0604020202020204" pitchFamily="34" charset="0"/>
                <a:buChar char="•"/>
                <a:tabLst>
                  <a:tab pos="297815" algn="l"/>
                </a:tabLst>
              </a:pPr>
              <a:r>
                <a:rPr lang="en-US" sz="800" b="1" spc="-25" dirty="0">
                  <a:solidFill>
                    <a:schemeClr val="accent2">
                      <a:lumMod val="75000"/>
                    </a:schemeClr>
                  </a:solidFill>
                  <a:cs typeface="Calibri"/>
                </a:rPr>
                <a:t>Terminates</a:t>
              </a:r>
              <a:r>
                <a:rPr lang="en-US" sz="800" b="1" spc="-50" dirty="0">
                  <a:solidFill>
                    <a:schemeClr val="accent2">
                      <a:lumMod val="75000"/>
                    </a:schemeClr>
                  </a:solidFill>
                  <a:cs typeface="Calibri"/>
                </a:rPr>
                <a:t> </a:t>
              </a:r>
              <a:r>
                <a:rPr lang="en-US" sz="800" b="1" dirty="0">
                  <a:solidFill>
                    <a:schemeClr val="accent2">
                      <a:lumMod val="75000"/>
                    </a:schemeClr>
                  </a:solidFill>
                  <a:cs typeface="Calibri"/>
                </a:rPr>
                <a:t>the</a:t>
              </a:r>
              <a:r>
                <a:rPr lang="en-US" sz="800" b="1" spc="-25" dirty="0">
                  <a:solidFill>
                    <a:schemeClr val="accent2">
                      <a:lumMod val="75000"/>
                    </a:schemeClr>
                  </a:solidFill>
                  <a:cs typeface="Calibri"/>
                </a:rPr>
                <a:t> </a:t>
              </a:r>
              <a:r>
                <a:rPr lang="en-US" sz="800" b="1" dirty="0">
                  <a:solidFill>
                    <a:schemeClr val="accent2">
                      <a:lumMod val="75000"/>
                    </a:schemeClr>
                  </a:solidFill>
                  <a:cs typeface="Calibri"/>
                </a:rPr>
                <a:t>cluster</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after</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X</a:t>
              </a:r>
              <a:r>
                <a:rPr lang="en-US" sz="800" b="1" spc="-30" dirty="0">
                  <a:solidFill>
                    <a:schemeClr val="accent2">
                      <a:lumMod val="75000"/>
                    </a:schemeClr>
                  </a:solidFill>
                  <a:cs typeface="Calibri"/>
                </a:rPr>
                <a:t> </a:t>
              </a:r>
              <a:r>
                <a:rPr lang="en-US" sz="800" b="1" dirty="0">
                  <a:solidFill>
                    <a:schemeClr val="accent2">
                      <a:lumMod val="75000"/>
                    </a:schemeClr>
                  </a:solidFill>
                  <a:cs typeface="Calibri"/>
                </a:rPr>
                <a:t>minutes</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of</a:t>
              </a:r>
              <a:r>
                <a:rPr lang="en-US" sz="800" b="1" spc="-30" dirty="0">
                  <a:solidFill>
                    <a:schemeClr val="accent2">
                      <a:lumMod val="75000"/>
                    </a:schemeClr>
                  </a:solidFill>
                  <a:cs typeface="Calibri"/>
                </a:rPr>
                <a:t> </a:t>
              </a:r>
              <a:r>
                <a:rPr lang="en-US" sz="800" b="1" spc="-10" dirty="0">
                  <a:solidFill>
                    <a:schemeClr val="accent2">
                      <a:lumMod val="75000"/>
                    </a:schemeClr>
                  </a:solidFill>
                  <a:cs typeface="Calibri"/>
                </a:rPr>
                <a:t>inactivity</a:t>
              </a:r>
              <a:endParaRPr lang="en-US" sz="800" b="1" dirty="0">
                <a:solidFill>
                  <a:schemeClr val="accent2">
                    <a:lumMod val="75000"/>
                  </a:schemeClr>
                </a:solidFill>
                <a:cs typeface="Calibri"/>
              </a:endParaRPr>
            </a:p>
            <a:p>
              <a:pPr marL="184150" indent="-171450">
                <a:lnSpc>
                  <a:spcPct val="100000"/>
                </a:lnSpc>
                <a:spcBef>
                  <a:spcPts val="20"/>
                </a:spcBef>
                <a:buFont typeface="Arial" panose="020B0604020202020204" pitchFamily="34" charset="0"/>
                <a:buChar char="•"/>
                <a:tabLst>
                  <a:tab pos="297815" algn="l"/>
                </a:tabLst>
              </a:pPr>
              <a:r>
                <a:rPr lang="en-US" sz="800" b="1" dirty="0">
                  <a:solidFill>
                    <a:schemeClr val="accent2">
                      <a:lumMod val="75000"/>
                    </a:schemeClr>
                  </a:solidFill>
                  <a:cs typeface="Calibri"/>
                </a:rPr>
                <a:t>Default</a:t>
              </a:r>
              <a:r>
                <a:rPr lang="en-US" sz="800" b="1" spc="-50" dirty="0">
                  <a:solidFill>
                    <a:schemeClr val="accent2">
                      <a:lumMod val="75000"/>
                    </a:schemeClr>
                  </a:solidFill>
                  <a:cs typeface="Calibri"/>
                </a:rPr>
                <a:t> </a:t>
              </a:r>
              <a:r>
                <a:rPr lang="en-US" sz="800" b="1" dirty="0">
                  <a:solidFill>
                    <a:schemeClr val="accent2">
                      <a:lumMod val="75000"/>
                    </a:schemeClr>
                  </a:solidFill>
                  <a:cs typeface="Calibri"/>
                </a:rPr>
                <a:t>value</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for</a:t>
              </a:r>
              <a:r>
                <a:rPr lang="en-US" sz="800" b="1" spc="-50" dirty="0">
                  <a:solidFill>
                    <a:schemeClr val="accent2">
                      <a:lumMod val="75000"/>
                    </a:schemeClr>
                  </a:solidFill>
                  <a:cs typeface="Calibri"/>
                </a:rPr>
                <a:t> </a:t>
              </a:r>
              <a:r>
                <a:rPr lang="en-US" sz="800" b="1" dirty="0">
                  <a:solidFill>
                    <a:schemeClr val="accent2">
                      <a:lumMod val="75000"/>
                    </a:schemeClr>
                  </a:solidFill>
                  <a:cs typeface="Calibri"/>
                </a:rPr>
                <a:t>Single</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Node</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and</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Standard</a:t>
              </a:r>
              <a:r>
                <a:rPr lang="en-US" sz="800" b="1" spc="-35" dirty="0">
                  <a:solidFill>
                    <a:schemeClr val="accent2">
                      <a:lumMod val="75000"/>
                    </a:schemeClr>
                  </a:solidFill>
                  <a:cs typeface="Calibri"/>
                </a:rPr>
                <a:t> </a:t>
              </a:r>
              <a:r>
                <a:rPr lang="en-US" sz="800" b="1" spc="-10" dirty="0">
                  <a:solidFill>
                    <a:schemeClr val="accent2">
                      <a:lumMod val="75000"/>
                    </a:schemeClr>
                  </a:solidFill>
                  <a:cs typeface="Calibri"/>
                </a:rPr>
                <a:t>clusters</a:t>
              </a:r>
              <a:r>
                <a:rPr lang="en-US" sz="800" b="1" spc="-50" dirty="0">
                  <a:solidFill>
                    <a:schemeClr val="accent2">
                      <a:lumMod val="75000"/>
                    </a:schemeClr>
                  </a:solidFill>
                  <a:cs typeface="Calibri"/>
                </a:rPr>
                <a:t> </a:t>
              </a:r>
              <a:r>
                <a:rPr lang="en-US" sz="800" b="1" dirty="0">
                  <a:solidFill>
                    <a:schemeClr val="accent2">
                      <a:lumMod val="75000"/>
                    </a:schemeClr>
                  </a:solidFill>
                  <a:cs typeface="Calibri"/>
                </a:rPr>
                <a:t>is</a:t>
              </a:r>
              <a:r>
                <a:rPr lang="en-US" sz="800" b="1" spc="-45" dirty="0">
                  <a:solidFill>
                    <a:schemeClr val="accent2">
                      <a:lumMod val="75000"/>
                    </a:schemeClr>
                  </a:solidFill>
                  <a:cs typeface="Calibri"/>
                </a:rPr>
                <a:t> </a:t>
              </a:r>
              <a:r>
                <a:rPr lang="en-US" sz="800" b="1" dirty="0">
                  <a:solidFill>
                    <a:schemeClr val="accent2">
                      <a:lumMod val="75000"/>
                    </a:schemeClr>
                  </a:solidFill>
                  <a:cs typeface="Calibri"/>
                </a:rPr>
                <a:t>120</a:t>
              </a:r>
              <a:r>
                <a:rPr lang="en-US" sz="800" b="1" spc="-45" dirty="0">
                  <a:solidFill>
                    <a:schemeClr val="accent2">
                      <a:lumMod val="75000"/>
                    </a:schemeClr>
                  </a:solidFill>
                  <a:cs typeface="Calibri"/>
                </a:rPr>
                <a:t> </a:t>
              </a:r>
              <a:r>
                <a:rPr lang="en-US" sz="800" b="1" spc="-10" dirty="0">
                  <a:solidFill>
                    <a:schemeClr val="accent2">
                      <a:lumMod val="75000"/>
                    </a:schemeClr>
                  </a:solidFill>
                  <a:cs typeface="Calibri"/>
                </a:rPr>
                <a:t>minutes</a:t>
              </a:r>
              <a:endParaRPr lang="en-US" sz="800" b="1" dirty="0">
                <a:solidFill>
                  <a:schemeClr val="accent2">
                    <a:lumMod val="75000"/>
                  </a:schemeClr>
                </a:solidFill>
                <a:cs typeface="Calibri"/>
              </a:endParaRPr>
            </a:p>
            <a:p>
              <a:pPr marL="184150" indent="-171450">
                <a:lnSpc>
                  <a:spcPct val="100000"/>
                </a:lnSpc>
                <a:spcBef>
                  <a:spcPts val="50"/>
                </a:spcBef>
                <a:buFont typeface="Arial" panose="020B0604020202020204" pitchFamily="34" charset="0"/>
                <a:buChar char="•"/>
                <a:tabLst>
                  <a:tab pos="297815" algn="l"/>
                </a:tabLst>
              </a:pPr>
              <a:r>
                <a:rPr lang="en-US" sz="800" b="1" dirty="0">
                  <a:solidFill>
                    <a:schemeClr val="accent2">
                      <a:lumMod val="75000"/>
                    </a:schemeClr>
                  </a:solidFill>
                  <a:cs typeface="Calibri"/>
                </a:rPr>
                <a:t>Users</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can</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specify</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a</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value</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between</a:t>
              </a:r>
              <a:r>
                <a:rPr lang="en-US" sz="800" b="1" spc="-30" dirty="0">
                  <a:solidFill>
                    <a:schemeClr val="accent2">
                      <a:lumMod val="75000"/>
                    </a:schemeClr>
                  </a:solidFill>
                  <a:cs typeface="Calibri"/>
                </a:rPr>
                <a:t> </a:t>
              </a:r>
              <a:r>
                <a:rPr lang="en-US" sz="800" b="1" dirty="0">
                  <a:solidFill>
                    <a:schemeClr val="accent2">
                      <a:lumMod val="75000"/>
                    </a:schemeClr>
                  </a:solidFill>
                  <a:cs typeface="Calibri"/>
                </a:rPr>
                <a:t>10</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and</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10000</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mins</a:t>
              </a:r>
              <a:r>
                <a:rPr lang="en-US" sz="800" b="1" spc="-35" dirty="0">
                  <a:solidFill>
                    <a:schemeClr val="accent2">
                      <a:lumMod val="75000"/>
                    </a:schemeClr>
                  </a:solidFill>
                  <a:cs typeface="Calibri"/>
                </a:rPr>
                <a:t> </a:t>
              </a:r>
              <a:r>
                <a:rPr lang="en-US" sz="800" b="1" dirty="0">
                  <a:solidFill>
                    <a:schemeClr val="accent2">
                      <a:lumMod val="75000"/>
                    </a:schemeClr>
                  </a:solidFill>
                  <a:cs typeface="Calibri"/>
                </a:rPr>
                <a:t>as</a:t>
              </a:r>
              <a:r>
                <a:rPr lang="en-US" sz="800" b="1" spc="-40" dirty="0">
                  <a:solidFill>
                    <a:schemeClr val="accent2">
                      <a:lumMod val="75000"/>
                    </a:schemeClr>
                  </a:solidFill>
                  <a:cs typeface="Calibri"/>
                </a:rPr>
                <a:t> </a:t>
              </a:r>
              <a:r>
                <a:rPr lang="en-US" sz="800" b="1" dirty="0">
                  <a:solidFill>
                    <a:schemeClr val="accent2">
                      <a:lumMod val="75000"/>
                    </a:schemeClr>
                  </a:solidFill>
                  <a:cs typeface="Calibri"/>
                </a:rPr>
                <a:t>the</a:t>
              </a:r>
              <a:r>
                <a:rPr lang="en-US" sz="800" b="1" spc="-35" dirty="0">
                  <a:solidFill>
                    <a:schemeClr val="accent2">
                      <a:lumMod val="75000"/>
                    </a:schemeClr>
                  </a:solidFill>
                  <a:cs typeface="Calibri"/>
                </a:rPr>
                <a:t> </a:t>
              </a:r>
              <a:r>
                <a:rPr lang="en-US" sz="800" b="1" spc="-10" dirty="0">
                  <a:solidFill>
                    <a:schemeClr val="accent2">
                      <a:lumMod val="75000"/>
                    </a:schemeClr>
                  </a:solidFill>
                  <a:cs typeface="Calibri"/>
                </a:rPr>
                <a:t>duration</a:t>
              </a:r>
              <a:endParaRPr lang="en-IN" sz="800" b="1" dirty="0">
                <a:solidFill>
                  <a:schemeClr val="accent2">
                    <a:lumMod val="75000"/>
                  </a:schemeClr>
                </a:solidFill>
              </a:endParaRPr>
            </a:p>
          </p:txBody>
        </p:sp>
        <p:sp>
          <p:nvSpPr>
            <p:cNvPr id="25" name="Rectangular Callout 24"/>
            <p:cNvSpPr/>
            <p:nvPr/>
          </p:nvSpPr>
          <p:spPr>
            <a:xfrm>
              <a:off x="9179860" y="3853390"/>
              <a:ext cx="2653552" cy="959223"/>
            </a:xfrm>
            <a:prstGeom prst="wedgeRectCallout">
              <a:avLst>
                <a:gd name="adj1" fmla="val -238362"/>
                <a:gd name="adj2" fmla="val -2114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u="sng" dirty="0">
                  <a:solidFill>
                    <a:schemeClr val="accent2">
                      <a:lumMod val="75000"/>
                    </a:schemeClr>
                  </a:solidFill>
                </a:rPr>
                <a:t>Auto Scaling</a:t>
              </a:r>
            </a:p>
            <a:p>
              <a:pPr marL="171450" indent="-171450">
                <a:buFont typeface="Wingdings" panose="05000000000000000000" pitchFamily="2" charset="2"/>
                <a:buChar char="§"/>
              </a:pPr>
              <a:r>
                <a:rPr lang="en-US" sz="800" b="1" dirty="0">
                  <a:solidFill>
                    <a:schemeClr val="accent2">
                      <a:lumMod val="75000"/>
                    </a:schemeClr>
                  </a:solidFill>
                </a:rPr>
                <a:t>User specifies the min and max work nodes</a:t>
              </a:r>
            </a:p>
            <a:p>
              <a:pPr marL="171450" indent="-171450">
                <a:buFont typeface="Wingdings" panose="05000000000000000000" pitchFamily="2" charset="2"/>
                <a:buChar char="§"/>
              </a:pPr>
              <a:r>
                <a:rPr lang="en-US" sz="800" b="1" dirty="0">
                  <a:solidFill>
                    <a:schemeClr val="accent2">
                      <a:lumMod val="75000"/>
                    </a:schemeClr>
                  </a:solidFill>
                </a:rPr>
                <a:t>Auto scales between min and max based on the workload</a:t>
              </a:r>
            </a:p>
            <a:p>
              <a:pPr marL="171450" indent="-171450">
                <a:buFont typeface="Wingdings" panose="05000000000000000000" pitchFamily="2" charset="2"/>
                <a:buChar char="§"/>
              </a:pPr>
              <a:r>
                <a:rPr lang="en-US" sz="800" b="1" dirty="0">
                  <a:solidFill>
                    <a:schemeClr val="accent2">
                      <a:lumMod val="75000"/>
                    </a:schemeClr>
                  </a:solidFill>
                </a:rPr>
                <a:t>Not recommended for streaming workloads</a:t>
              </a:r>
            </a:p>
          </p:txBody>
        </p:sp>
        <p:sp>
          <p:nvSpPr>
            <p:cNvPr id="28" name="Rectangular Callout 27"/>
            <p:cNvSpPr/>
            <p:nvPr/>
          </p:nvSpPr>
          <p:spPr>
            <a:xfrm>
              <a:off x="1546408" y="3270863"/>
              <a:ext cx="1340228" cy="767916"/>
            </a:xfrm>
            <a:prstGeom prst="wedgeRectCallout">
              <a:avLst>
                <a:gd name="adj1" fmla="val 75249"/>
                <a:gd name="adj2" fmla="val 1133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ct val="0"/>
                </a:spcBef>
                <a:spcAft>
                  <a:spcPct val="0"/>
                </a:spcAft>
              </a:pPr>
              <a:r>
                <a:rPr lang="en-US" sz="800" b="1" u="sng" dirty="0">
                  <a:solidFill>
                    <a:schemeClr val="accent2">
                      <a:lumMod val="75000"/>
                    </a:schemeClr>
                  </a:solidFill>
                  <a:cs typeface="Arial" charset="0"/>
                </a:rPr>
                <a:t>Worker Type</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Memory Optimized</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Compute Optimized</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Storage Optimized</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General Purpose</a:t>
              </a:r>
            </a:p>
            <a:p>
              <a:pPr marL="171450" indent="-171450" fontAlgn="base">
                <a:spcBef>
                  <a:spcPct val="0"/>
                </a:spcBef>
                <a:spcAft>
                  <a:spcPct val="0"/>
                </a:spcAft>
                <a:buFont typeface="Arial" panose="020B0604020202020204" pitchFamily="34" charset="0"/>
                <a:buChar char="•"/>
              </a:pPr>
              <a:r>
                <a:rPr lang="en-US" sz="800" dirty="0">
                  <a:solidFill>
                    <a:schemeClr val="accent2">
                      <a:lumMod val="75000"/>
                    </a:schemeClr>
                  </a:solidFill>
                  <a:cs typeface="Arial" charset="0"/>
                </a:rPr>
                <a:t>GPU Accelerated</a:t>
              </a:r>
            </a:p>
          </p:txBody>
        </p:sp>
      </p:grpSp>
    </p:spTree>
    <p:extLst>
      <p:ext uri="{BB962C8B-B14F-4D97-AF65-F5344CB8AC3E}">
        <p14:creationId xmlns:p14="http://schemas.microsoft.com/office/powerpoint/2010/main" val="33961046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08600" y="2698920"/>
              <a:ext cx="360" cy="360"/>
            </p14:xfrm>
          </p:contentPart>
        </mc:Choice>
        <mc:Fallback xmlns="">
          <p:pic>
            <p:nvPicPr>
              <p:cNvPr id="2" name="Ink 1"/>
              <p:cNvPicPr/>
              <p:nvPr/>
            </p:nvPicPr>
            <p:blipFill>
              <a:blip r:embed="rId5"/>
              <a:stretch>
                <a:fillRect/>
              </a:stretch>
            </p:blipFill>
            <p:spPr>
              <a:xfrm>
                <a:off x="4899240" y="2689560"/>
                <a:ext cx="19080" cy="19080"/>
              </a:xfrm>
              <a:prstGeom prst="rect">
                <a:avLst/>
              </a:prstGeom>
            </p:spPr>
          </p:pic>
        </mc:Fallback>
      </mc:AlternateContent>
      <p:sp>
        <p:nvSpPr>
          <p:cNvPr id="7" name="Rectangle 6"/>
          <p:cNvSpPr/>
          <p:nvPr/>
        </p:nvSpPr>
        <p:spPr>
          <a:xfrm>
            <a:off x="95247" y="410482"/>
            <a:ext cx="10029225" cy="738664"/>
          </a:xfrm>
          <a:prstGeom prst="rect">
            <a:avLst/>
          </a:prstGeom>
        </p:spPr>
        <p:txBody>
          <a:bodyPr wrap="square">
            <a:spAutoFit/>
          </a:bodyPr>
          <a:lstStyle/>
          <a:p>
            <a:pPr marL="342900" indent="-342900">
              <a:buAutoNum type="arabicPeriod"/>
            </a:pPr>
            <a:r>
              <a:rPr lang="en-IN" sz="1400" b="1" dirty="0"/>
              <a:t>Use </a:t>
            </a:r>
            <a:r>
              <a:rPr lang="en-IN" sz="1400" b="1" dirty="0" err="1"/>
              <a:t>Databricks</a:t>
            </a:r>
            <a:r>
              <a:rPr lang="en-IN" sz="1400" b="1" dirty="0"/>
              <a:t> Premium service</a:t>
            </a:r>
          </a:p>
          <a:p>
            <a:pPr marL="342900" indent="-342900">
              <a:buAutoNum type="arabicPeriod"/>
            </a:pPr>
            <a:r>
              <a:rPr lang="en-IN" sz="1400" b="1" dirty="0"/>
              <a:t>Choose Compute -&gt; Pools -&gt; Create a cluster pool with instance type “</a:t>
            </a:r>
            <a:r>
              <a:rPr lang="en-IN" sz="1400" b="1" dirty="0">
                <a:solidFill>
                  <a:schemeClr val="accent5">
                    <a:lumMod val="50000"/>
                  </a:schemeClr>
                </a:solidFill>
              </a:rPr>
              <a:t>Standard_F4</a:t>
            </a:r>
            <a:r>
              <a:rPr lang="en-IN" sz="1400" b="1" dirty="0"/>
              <a:t>”</a:t>
            </a:r>
          </a:p>
          <a:p>
            <a:pPr marL="342900" indent="-342900">
              <a:buAutoNum type="arabicPeriod"/>
            </a:pPr>
            <a:r>
              <a:rPr lang="en-IN" sz="1400" b="1" dirty="0">
                <a:solidFill>
                  <a:srgbClr val="C00000"/>
                </a:solidFill>
              </a:rPr>
              <a:t>Choose Compute -&gt; All purpose Compute -&gt; Create single node -&gt; Node type -&gt; Pool1</a:t>
            </a:r>
            <a:endParaRPr lang="cs-CZ" sz="1400" b="1" dirty="0">
              <a:solidFill>
                <a:srgbClr val="C00000"/>
              </a:solidFill>
            </a:endParaRPr>
          </a:p>
        </p:txBody>
      </p:sp>
      <p:sp>
        <p:nvSpPr>
          <p:cNvPr id="8" name="Rectangle 7"/>
          <p:cNvSpPr/>
          <p:nvPr/>
        </p:nvSpPr>
        <p:spPr>
          <a:xfrm>
            <a:off x="19050" y="9525"/>
            <a:ext cx="5637679" cy="400110"/>
          </a:xfrm>
          <a:prstGeom prst="rect">
            <a:avLst/>
          </a:prstGeom>
        </p:spPr>
        <p:txBody>
          <a:bodyPr wrap="square">
            <a:spAutoFit/>
          </a:bodyPr>
          <a:lstStyle/>
          <a:p>
            <a:r>
              <a:rPr lang="en-US" sz="2000" b="1" dirty="0">
                <a:solidFill>
                  <a:srgbClr val="C00000"/>
                </a:solidFill>
              </a:rPr>
              <a:t>Create a single node cluster using </a:t>
            </a:r>
            <a:r>
              <a:rPr lang="en-US" sz="2000" b="1" u="sng" dirty="0">
                <a:solidFill>
                  <a:srgbClr val="C00000"/>
                </a:solidFill>
              </a:rPr>
              <a:t>Cluster Pool</a:t>
            </a:r>
            <a:endParaRPr lang="en-IN" sz="2000" b="1" u="sng" dirty="0">
              <a:solidFill>
                <a:srgbClr val="C00000"/>
              </a:solidFill>
            </a:endParaRP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2213" y="2913404"/>
            <a:ext cx="3708251" cy="37559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9" name="Heptagon 8"/>
          <p:cNvSpPr/>
          <p:nvPr/>
        </p:nvSpPr>
        <p:spPr>
          <a:xfrm>
            <a:off x="9578532" y="2610792"/>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3</a:t>
            </a:r>
            <a:endParaRPr lang="en-IN" sz="3600" b="1" dirty="0"/>
          </a:p>
        </p:txBody>
      </p:sp>
      <p:pic>
        <p:nvPicPr>
          <p:cNvPr id="102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019" y="1503548"/>
            <a:ext cx="7997677" cy="13011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1" name="Heptagon 10"/>
          <p:cNvSpPr/>
          <p:nvPr/>
        </p:nvSpPr>
        <p:spPr>
          <a:xfrm>
            <a:off x="5682410" y="1703234"/>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1</a:t>
            </a:r>
          </a:p>
        </p:txBody>
      </p:sp>
      <p:sp>
        <p:nvSpPr>
          <p:cNvPr id="10" name="Rectangle 9"/>
          <p:cNvSpPr/>
          <p:nvPr/>
        </p:nvSpPr>
        <p:spPr>
          <a:xfrm>
            <a:off x="6997940" y="247004"/>
            <a:ext cx="4935072" cy="6136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50" b="1" u="sng" dirty="0">
                <a:solidFill>
                  <a:schemeClr val="accent2">
                    <a:lumMod val="75000"/>
                  </a:schemeClr>
                </a:solidFill>
              </a:rPr>
              <a:t>Cluster pool</a:t>
            </a:r>
            <a:r>
              <a:rPr lang="en-US" sz="1050" dirty="0">
                <a:solidFill>
                  <a:schemeClr val="accent2">
                    <a:lumMod val="75000"/>
                  </a:schemeClr>
                </a:solidFill>
              </a:rPr>
              <a:t> is a collection of pre-configured/pre-installed/pre-warmed virtual machines (VMs) that are shared among multiple clusters. </a:t>
            </a:r>
          </a:p>
          <a:p>
            <a:r>
              <a:rPr lang="en-US" sz="1050" b="1" i="1" dirty="0">
                <a:solidFill>
                  <a:schemeClr val="accent2">
                    <a:lumMod val="75000"/>
                  </a:schemeClr>
                </a:solidFill>
              </a:rPr>
              <a:t>Ideal for dynamic environments where clusters are frequently created and destroyed (should happen without taking longer time)</a:t>
            </a:r>
            <a:endParaRPr lang="en-IN" sz="1050" b="1" i="1" dirty="0">
              <a:solidFill>
                <a:schemeClr val="accent2">
                  <a:lumMod val="75000"/>
                </a:schemeClr>
              </a:solidFill>
            </a:endParaRPr>
          </a:p>
        </p:txBody>
      </p:sp>
      <p:pic>
        <p:nvPicPr>
          <p:cNvPr id="1331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8485" y="2998587"/>
            <a:ext cx="3781983" cy="37299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2" name="Heptagon 11"/>
          <p:cNvSpPr/>
          <p:nvPr/>
        </p:nvSpPr>
        <p:spPr>
          <a:xfrm>
            <a:off x="4364150" y="2960238"/>
            <a:ext cx="387795" cy="387795"/>
          </a:xfrm>
          <a:prstGeom prst="hept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2</a:t>
            </a:r>
            <a:endParaRPr lang="en-IN" sz="3600" b="1" dirty="0"/>
          </a:p>
        </p:txBody>
      </p:sp>
    </p:spTree>
    <p:extLst>
      <p:ext uri="{BB962C8B-B14F-4D97-AF65-F5344CB8AC3E}">
        <p14:creationId xmlns:p14="http://schemas.microsoft.com/office/powerpoint/2010/main" val="1161915248"/>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Software versions comparison 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2"/>
          <p:cNvSpPr txBox="1">
            <a:spLocks noChangeArrowheads="1"/>
          </p:cNvSpPr>
          <p:nvPr/>
        </p:nvSpPr>
        <p:spPr>
          <a:xfrm>
            <a:off x="103714" y="373287"/>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u="sng" dirty="0" smtClean="0"/>
              <a:t>Usecase1: Integrating Azure Storage &amp; </a:t>
            </a:r>
            <a:r>
              <a:rPr lang="en-US" sz="3200" u="sng" dirty="0" err="1" smtClean="0"/>
              <a:t>Databricks</a:t>
            </a:r>
            <a:endParaRPr lang="en-US" sz="3200" u="sng" dirty="0" smtClean="0"/>
          </a:p>
          <a:p>
            <a:r>
              <a:rPr lang="en-US" sz="2400" dirty="0" smtClean="0"/>
              <a:t>Reading BLOB using SAS &amp; Writing ADLS data using access keys</a:t>
            </a:r>
            <a:endParaRPr lang="en-IN" sz="2400" dirty="0"/>
          </a:p>
          <a:p>
            <a:endParaRPr lang="en-US" sz="3200" dirty="0"/>
          </a:p>
        </p:txBody>
      </p:sp>
      <p:sp>
        <p:nvSpPr>
          <p:cNvPr id="2" name="TextBox 1"/>
          <p:cNvSpPr txBox="1"/>
          <p:nvPr/>
        </p:nvSpPr>
        <p:spPr>
          <a:xfrm>
            <a:off x="36779" y="2539158"/>
            <a:ext cx="6237021" cy="3647152"/>
          </a:xfrm>
          <a:prstGeom prst="rect">
            <a:avLst/>
          </a:prstGeom>
          <a:solidFill>
            <a:schemeClr val="bg1">
              <a:lumMod val="95000"/>
            </a:schemeClr>
          </a:solidFill>
        </p:spPr>
        <p:txBody>
          <a:bodyPr wrap="square" rtlCol="0">
            <a:spAutoFit/>
          </a:bodyPr>
          <a:lstStyle/>
          <a:p>
            <a:r>
              <a:rPr lang="en-IN" sz="1100" b="1" dirty="0" smtClean="0"/>
              <a:t>#Read data from BLOB using SAS token</a:t>
            </a:r>
          </a:p>
          <a:p>
            <a:r>
              <a:rPr lang="en-IN" sz="1100" dirty="0" err="1" smtClean="0"/>
              <a:t>storage_account</a:t>
            </a:r>
            <a:r>
              <a:rPr lang="en-IN" sz="1100" dirty="0" smtClean="0"/>
              <a:t> </a:t>
            </a:r>
            <a:r>
              <a:rPr lang="en-IN" sz="1100" dirty="0"/>
              <a:t>= "wd36blobstorageacct2"</a:t>
            </a:r>
          </a:p>
          <a:p>
            <a:r>
              <a:rPr lang="en-IN" sz="1100" dirty="0" err="1"/>
              <a:t>container_name</a:t>
            </a:r>
            <a:r>
              <a:rPr lang="en-IN" sz="1100" dirty="0"/>
              <a:t> = "container1"</a:t>
            </a:r>
          </a:p>
          <a:p>
            <a:r>
              <a:rPr lang="en-IN" sz="1100" dirty="0" err="1"/>
              <a:t>sas_token</a:t>
            </a:r>
            <a:r>
              <a:rPr lang="en-IN" sz="1100" dirty="0"/>
              <a:t> = "</a:t>
            </a:r>
            <a:r>
              <a:rPr lang="en-IN" sz="1100" dirty="0" err="1"/>
              <a:t>sv</a:t>
            </a:r>
            <a:r>
              <a:rPr lang="en-IN" sz="1100" dirty="0"/>
              <a:t>=2024-11-04&amp;ss=</a:t>
            </a:r>
            <a:r>
              <a:rPr lang="en-IN" sz="1100" dirty="0" err="1"/>
              <a:t>b&amp;srt</a:t>
            </a:r>
            <a:r>
              <a:rPr lang="en-IN" sz="1100" dirty="0"/>
              <a:t>=</a:t>
            </a:r>
            <a:r>
              <a:rPr lang="en-IN" sz="1100" dirty="0" err="1"/>
              <a:t>co&amp;sp</a:t>
            </a:r>
            <a:r>
              <a:rPr lang="en-IN" sz="1100" dirty="0"/>
              <a:t>=</a:t>
            </a:r>
            <a:r>
              <a:rPr lang="en-IN" sz="1100" dirty="0" err="1"/>
              <a:t>rwdlaciyx&amp;se</a:t>
            </a:r>
            <a:r>
              <a:rPr lang="en-IN" sz="1100" dirty="0"/>
              <a:t>=2026-04-06T01:24:57Z&amp;st=2026-04-05T17:09:57Z&amp;spr=</a:t>
            </a:r>
            <a:r>
              <a:rPr lang="en-IN" sz="1100" dirty="0" err="1"/>
              <a:t>https&amp;sig</a:t>
            </a:r>
            <a:r>
              <a:rPr lang="en-IN" sz="1100" dirty="0"/>
              <a:t>=IBrByOt9w7%2BQvZC%2F%2FmJFDSfgjEQc8YMIM17L2%2FVJDjY%3D"</a:t>
            </a:r>
          </a:p>
          <a:p>
            <a:r>
              <a:rPr lang="en-IN" sz="1100" dirty="0" err="1"/>
              <a:t>spark.conf.set</a:t>
            </a:r>
            <a:r>
              <a:rPr lang="en-IN" sz="1100" dirty="0"/>
              <a:t>(</a:t>
            </a:r>
            <a:r>
              <a:rPr lang="en-IN" sz="1100" dirty="0" err="1"/>
              <a:t>f"fs.azure.sas</a:t>
            </a:r>
            <a:r>
              <a:rPr lang="en-IN" sz="1100" dirty="0"/>
              <a:t>.{</a:t>
            </a:r>
            <a:r>
              <a:rPr lang="en-IN" sz="1100" dirty="0" err="1"/>
              <a:t>container_name</a:t>
            </a:r>
            <a:r>
              <a:rPr lang="en-IN" sz="1100" dirty="0"/>
              <a:t>}.{</a:t>
            </a:r>
            <a:r>
              <a:rPr lang="en-IN" sz="1100" dirty="0" err="1"/>
              <a:t>storage_account</a:t>
            </a:r>
            <a:r>
              <a:rPr lang="en-IN" sz="1100" dirty="0"/>
              <a:t>}.blob.core.windows.net",</a:t>
            </a:r>
            <a:r>
              <a:rPr lang="en-IN" sz="1100" dirty="0" err="1"/>
              <a:t>sas_token</a:t>
            </a:r>
            <a:r>
              <a:rPr lang="en-IN" sz="1100" dirty="0"/>
              <a:t>)</a:t>
            </a:r>
          </a:p>
          <a:p>
            <a:r>
              <a:rPr lang="en-IN" sz="1100" dirty="0"/>
              <a:t/>
            </a:r>
            <a:br>
              <a:rPr lang="en-IN" sz="1100" dirty="0"/>
            </a:br>
            <a:r>
              <a:rPr lang="en-IN" sz="1100" dirty="0"/>
              <a:t>path = </a:t>
            </a:r>
            <a:r>
              <a:rPr lang="en-IN" sz="1100" dirty="0" err="1"/>
              <a:t>f"wasbs</a:t>
            </a:r>
            <a:r>
              <a:rPr lang="en-IN" sz="1100" dirty="0"/>
              <a:t>://{</a:t>
            </a:r>
            <a:r>
              <a:rPr lang="en-IN" sz="1100" dirty="0" err="1"/>
              <a:t>container_name</a:t>
            </a:r>
            <a:r>
              <a:rPr lang="en-IN" sz="1100" dirty="0"/>
              <a:t>}@{</a:t>
            </a:r>
            <a:r>
              <a:rPr lang="en-IN" sz="1100" dirty="0" err="1"/>
              <a:t>storage_account</a:t>
            </a:r>
            <a:r>
              <a:rPr lang="en-IN" sz="1100" dirty="0"/>
              <a:t>}.blob.core.windows.net/</a:t>
            </a:r>
            <a:r>
              <a:rPr lang="en-IN" sz="1100" dirty="0" err="1"/>
              <a:t>sourcedir</a:t>
            </a:r>
            <a:r>
              <a:rPr lang="en-IN" sz="1100" dirty="0"/>
              <a:t>/"</a:t>
            </a:r>
          </a:p>
          <a:p>
            <a:r>
              <a:rPr lang="en-IN" sz="1100" dirty="0"/>
              <a:t/>
            </a:r>
            <a:br>
              <a:rPr lang="en-IN" sz="1100" dirty="0"/>
            </a:br>
            <a:r>
              <a:rPr lang="en-IN" sz="1100" dirty="0" err="1"/>
              <a:t>df</a:t>
            </a:r>
            <a:r>
              <a:rPr lang="en-IN" sz="1100" dirty="0"/>
              <a:t> = spark.read.csv(</a:t>
            </a:r>
            <a:r>
              <a:rPr lang="en-IN" sz="1100" dirty="0" err="1"/>
              <a:t>path,header</a:t>
            </a:r>
            <a:r>
              <a:rPr lang="en-IN" sz="1100" dirty="0"/>
              <a:t>=True)</a:t>
            </a:r>
          </a:p>
          <a:p>
            <a:r>
              <a:rPr lang="en-IN" sz="1100" dirty="0"/>
              <a:t>display(</a:t>
            </a:r>
            <a:r>
              <a:rPr lang="en-IN" sz="1100" dirty="0" err="1"/>
              <a:t>df</a:t>
            </a:r>
            <a:r>
              <a:rPr lang="en-IN" sz="1100" dirty="0" smtClean="0"/>
              <a:t>)</a:t>
            </a:r>
          </a:p>
          <a:p>
            <a:endParaRPr lang="en-IN" sz="1100" dirty="0"/>
          </a:p>
          <a:p>
            <a:r>
              <a:rPr lang="en-IN" sz="1100" b="1" dirty="0" smtClean="0"/>
              <a:t>#Write data into ADLS using Access key</a:t>
            </a:r>
          </a:p>
          <a:p>
            <a:r>
              <a:rPr lang="en-IN" sz="1100" dirty="0" err="1"/>
              <a:t>adlsacct</a:t>
            </a:r>
            <a:r>
              <a:rPr lang="en-IN" sz="1100" dirty="0"/>
              <a:t>='wd36blobstorageacct1'</a:t>
            </a:r>
          </a:p>
          <a:p>
            <a:r>
              <a:rPr lang="en-IN" sz="1100" dirty="0" err="1"/>
              <a:t>containername</a:t>
            </a:r>
            <a:r>
              <a:rPr lang="en-IN" sz="1100" dirty="0"/>
              <a:t>='container11'</a:t>
            </a:r>
          </a:p>
          <a:p>
            <a:r>
              <a:rPr lang="en-IN" sz="1100" dirty="0" err="1"/>
              <a:t>accesskey</a:t>
            </a:r>
            <a:r>
              <a:rPr lang="en-IN" sz="1100" dirty="0"/>
              <a:t>='eB248csrKyfpaJ4owuoLUAsMRin2G+p4KI8zgF2wnvdBX9icn73GnYUYVEbHjvOdfWMPgP9Uk99y+AStt5BO3Q=='</a:t>
            </a:r>
          </a:p>
          <a:p>
            <a:r>
              <a:rPr lang="en-IN" sz="1100" dirty="0" err="1"/>
              <a:t>spark.conf.set</a:t>
            </a:r>
            <a:r>
              <a:rPr lang="en-IN" sz="1100" dirty="0"/>
              <a:t>(</a:t>
            </a:r>
            <a:r>
              <a:rPr lang="en-IN" sz="1100" dirty="0" err="1"/>
              <a:t>f"fs.azure.account.key</a:t>
            </a:r>
            <a:r>
              <a:rPr lang="en-IN" sz="1100" dirty="0"/>
              <a:t>.{</a:t>
            </a:r>
            <a:r>
              <a:rPr lang="en-IN" sz="1100" dirty="0" err="1"/>
              <a:t>adlsacct</a:t>
            </a:r>
            <a:r>
              <a:rPr lang="en-IN" sz="1100" dirty="0"/>
              <a:t>}.dfs.core.windows.net",</a:t>
            </a:r>
            <a:r>
              <a:rPr lang="en-IN" sz="1100" dirty="0" err="1"/>
              <a:t>accesskey</a:t>
            </a:r>
            <a:r>
              <a:rPr lang="en-IN" sz="1100" dirty="0"/>
              <a:t>)</a:t>
            </a:r>
          </a:p>
          <a:p>
            <a:r>
              <a:rPr lang="en-IN" sz="1100" dirty="0"/>
              <a:t>path = </a:t>
            </a:r>
            <a:r>
              <a:rPr lang="en-IN" sz="1100" dirty="0" err="1"/>
              <a:t>f"abfss</a:t>
            </a:r>
            <a:r>
              <a:rPr lang="en-IN" sz="1100" dirty="0"/>
              <a:t>://{</a:t>
            </a:r>
            <a:r>
              <a:rPr lang="en-IN" sz="1100" dirty="0" err="1"/>
              <a:t>containername</a:t>
            </a:r>
            <a:r>
              <a:rPr lang="en-IN" sz="1100" dirty="0"/>
              <a:t>}@{</a:t>
            </a:r>
            <a:r>
              <a:rPr lang="en-IN" sz="1100" dirty="0" err="1"/>
              <a:t>adlsacct</a:t>
            </a:r>
            <a:r>
              <a:rPr lang="en-IN" sz="1100" dirty="0"/>
              <a:t>}.dfs.core.windows.net/</a:t>
            </a:r>
            <a:r>
              <a:rPr lang="en-IN" sz="1100" dirty="0" err="1"/>
              <a:t>targetdir</a:t>
            </a:r>
            <a:r>
              <a:rPr lang="en-IN" sz="1100" dirty="0"/>
              <a:t>/"</a:t>
            </a:r>
          </a:p>
          <a:p>
            <a:r>
              <a:rPr lang="en-IN" sz="1100" dirty="0" err="1"/>
              <a:t>df.write.mode</a:t>
            </a:r>
            <a:r>
              <a:rPr lang="en-IN" sz="1100" dirty="0"/>
              <a:t>("overwrite").csv(</a:t>
            </a:r>
            <a:r>
              <a:rPr lang="en-IN" sz="1100" dirty="0" err="1"/>
              <a:t>path,header</a:t>
            </a:r>
            <a:r>
              <a:rPr lang="en-IN" sz="1100" dirty="0"/>
              <a:t>=True</a:t>
            </a:r>
            <a:r>
              <a:rPr lang="en-IN" sz="1100" dirty="0" smtClean="0"/>
              <a:t>)</a:t>
            </a:r>
          </a:p>
          <a:p>
            <a:endParaRPr lang="en-IN" sz="1100" dirty="0"/>
          </a:p>
        </p:txBody>
      </p:sp>
      <p:sp>
        <p:nvSpPr>
          <p:cNvPr id="5" name="Rectangle 4"/>
          <p:cNvSpPr/>
          <p:nvPr/>
        </p:nvSpPr>
        <p:spPr>
          <a:xfrm>
            <a:off x="103714" y="1087842"/>
            <a:ext cx="11918950" cy="1384995"/>
          </a:xfrm>
          <a:prstGeom prst="rect">
            <a:avLst/>
          </a:prstGeom>
        </p:spPr>
        <p:txBody>
          <a:bodyPr wrap="square">
            <a:spAutoFit/>
          </a:bodyPr>
          <a:lstStyle/>
          <a:p>
            <a:pPr marL="342900" indent="-342900">
              <a:buAutoNum type="arabicPeriod"/>
            </a:pPr>
            <a:r>
              <a:rPr lang="en-IN" sz="1400" b="1" dirty="0" smtClean="0"/>
              <a:t>Create blob Container/</a:t>
            </a:r>
            <a:r>
              <a:rPr lang="en-IN" sz="1400" b="1" dirty="0" err="1" smtClean="0"/>
              <a:t>sourcedir</a:t>
            </a:r>
            <a:r>
              <a:rPr lang="en-IN" sz="1400" b="1" dirty="0" smtClean="0"/>
              <a:t>/</a:t>
            </a:r>
          </a:p>
          <a:p>
            <a:pPr marL="342900" indent="-342900">
              <a:buAutoNum type="arabicPeriod"/>
            </a:pPr>
            <a:r>
              <a:rPr lang="en-IN" sz="1400" b="1" dirty="0"/>
              <a:t>Import sample data inside the </a:t>
            </a:r>
            <a:r>
              <a:rPr lang="en-IN" sz="1400" b="1" dirty="0"/>
              <a:t>above dir. </a:t>
            </a:r>
            <a:r>
              <a:rPr lang="en-IN" sz="1400" b="1" dirty="0">
                <a:solidFill>
                  <a:srgbClr val="C00000"/>
                </a:solidFill>
                <a:hlinkClick r:id="rId2"/>
              </a:rPr>
              <a:t>https://</a:t>
            </a:r>
            <a:r>
              <a:rPr lang="en-IN" sz="1400" b="1" dirty="0" smtClean="0">
                <a:solidFill>
                  <a:srgbClr val="C00000"/>
                </a:solidFill>
                <a:hlinkClick r:id="rId2"/>
              </a:rPr>
              <a:t>drive.google.com/file/d/1X-uAU9Pyyssge8M_UtsSzcYZEb_5LSva/view?usp=drive_link</a:t>
            </a:r>
            <a:endParaRPr lang="en-IN" sz="1400" b="1" dirty="0" smtClean="0">
              <a:solidFill>
                <a:srgbClr val="C00000"/>
              </a:solidFill>
            </a:endParaRPr>
          </a:p>
          <a:p>
            <a:pPr marL="342900" indent="-342900">
              <a:buAutoNum type="arabicPeriod"/>
            </a:pPr>
            <a:r>
              <a:rPr lang="en-IN" sz="1400" b="1" dirty="0"/>
              <a:t>Create </a:t>
            </a:r>
            <a:r>
              <a:rPr lang="en-IN" sz="1400" b="1" dirty="0" err="1" smtClean="0"/>
              <a:t>adls</a:t>
            </a:r>
            <a:r>
              <a:rPr lang="en-IN" sz="1400" b="1" dirty="0" smtClean="0"/>
              <a:t> Container/</a:t>
            </a:r>
            <a:r>
              <a:rPr lang="en-IN" sz="1400" b="1" dirty="0" err="1" smtClean="0"/>
              <a:t>bronzedir</a:t>
            </a:r>
            <a:r>
              <a:rPr lang="en-IN" sz="1400" b="1" dirty="0" smtClean="0"/>
              <a:t>/</a:t>
            </a:r>
          </a:p>
          <a:p>
            <a:pPr marL="342900" indent="-342900">
              <a:buAutoNum type="arabicPeriod"/>
            </a:pPr>
            <a:r>
              <a:rPr lang="en-IN" sz="1400" b="1" dirty="0" smtClean="0"/>
              <a:t>Capture the SAS for blob &amp; </a:t>
            </a:r>
            <a:r>
              <a:rPr lang="en-IN" sz="1400" b="1" dirty="0" err="1" smtClean="0"/>
              <a:t>accesskeys</a:t>
            </a:r>
            <a:r>
              <a:rPr lang="en-IN" sz="1400" b="1" dirty="0" smtClean="0"/>
              <a:t> for </a:t>
            </a:r>
            <a:r>
              <a:rPr lang="en-IN" sz="1400" b="1" dirty="0" err="1" smtClean="0"/>
              <a:t>adls</a:t>
            </a:r>
            <a:r>
              <a:rPr lang="en-IN" sz="1400" b="1" dirty="0" smtClean="0"/>
              <a:t>.</a:t>
            </a:r>
          </a:p>
          <a:p>
            <a:pPr marL="342900" indent="-342900">
              <a:buAutoNum type="arabicPeriod"/>
            </a:pPr>
            <a:r>
              <a:rPr lang="en-IN" sz="1400" b="1" dirty="0" smtClean="0"/>
              <a:t>Setup the </a:t>
            </a:r>
            <a:r>
              <a:rPr lang="en-IN" sz="1400" b="1" dirty="0" err="1" smtClean="0"/>
              <a:t>config</a:t>
            </a:r>
            <a:r>
              <a:rPr lang="en-IN" sz="1400" b="1" dirty="0" smtClean="0"/>
              <a:t> with blob and </a:t>
            </a:r>
            <a:r>
              <a:rPr lang="en-IN" sz="1400" b="1" dirty="0" err="1" smtClean="0"/>
              <a:t>adls</a:t>
            </a:r>
            <a:r>
              <a:rPr lang="en-IN" sz="1400" b="1" dirty="0" smtClean="0"/>
              <a:t> </a:t>
            </a:r>
            <a:r>
              <a:rPr lang="en-IN" sz="1400" b="1" dirty="0" err="1" smtClean="0"/>
              <a:t>accesskeys</a:t>
            </a:r>
            <a:r>
              <a:rPr lang="en-IN" sz="1400" b="1" dirty="0"/>
              <a:t> </a:t>
            </a:r>
            <a:r>
              <a:rPr lang="en-IN" sz="1400" b="1" dirty="0" smtClean="0"/>
              <a:t>(as per the below code)</a:t>
            </a:r>
          </a:p>
          <a:p>
            <a:pPr marL="342900" indent="-342900">
              <a:buAutoNum type="arabicPeriod"/>
            </a:pPr>
            <a:r>
              <a:rPr lang="en-IN" sz="1400" b="1" dirty="0" smtClean="0"/>
              <a:t>Read the above data from source blob and write into the </a:t>
            </a:r>
            <a:r>
              <a:rPr lang="en-IN" sz="1400" b="1" dirty="0" err="1" smtClean="0"/>
              <a:t>abfss</a:t>
            </a:r>
            <a:r>
              <a:rPr lang="en-IN" sz="1400" b="1" dirty="0" smtClean="0"/>
              <a:t> bronze location</a:t>
            </a:r>
            <a:endParaRPr lang="cs-CZ" sz="1400" b="1" dirty="0">
              <a:solidFill>
                <a:srgbClr val="C00000"/>
              </a:solidFill>
            </a:endParaRPr>
          </a:p>
        </p:txBody>
      </p:sp>
      <p:grpSp>
        <p:nvGrpSpPr>
          <p:cNvPr id="28" name="Group 27"/>
          <p:cNvGrpSpPr/>
          <p:nvPr/>
        </p:nvGrpSpPr>
        <p:grpSpPr>
          <a:xfrm>
            <a:off x="6428817" y="2436761"/>
            <a:ext cx="5825157" cy="2480518"/>
            <a:chOff x="6335819" y="3245854"/>
            <a:chExt cx="5825157" cy="2480518"/>
          </a:xfrm>
        </p:grpSpPr>
        <p:sp>
          <p:nvSpPr>
            <p:cNvPr id="6" name="Rectangle 5"/>
            <p:cNvSpPr/>
            <p:nvPr/>
          </p:nvSpPr>
          <p:spPr>
            <a:xfrm>
              <a:off x="7277847" y="3687884"/>
              <a:ext cx="4821019" cy="1904999"/>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b="1" dirty="0" smtClean="0">
                  <a:solidFill>
                    <a:schemeClr val="tx1"/>
                  </a:solidFill>
                </a:rPr>
                <a:t>                       </a:t>
              </a: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IN" b="1" dirty="0">
                <a:solidFill>
                  <a:schemeClr val="tx1"/>
                </a:solidFill>
              </a:endParaRPr>
            </a:p>
          </p:txBody>
        </p:sp>
        <p:grpSp>
          <p:nvGrpSpPr>
            <p:cNvPr id="8" name="Group 7"/>
            <p:cNvGrpSpPr/>
            <p:nvPr/>
          </p:nvGrpSpPr>
          <p:grpSpPr>
            <a:xfrm>
              <a:off x="11113741" y="4109485"/>
              <a:ext cx="633507" cy="1284093"/>
              <a:chOff x="3028951" y="4916280"/>
              <a:chExt cx="695629" cy="1553759"/>
            </a:xfrm>
          </p:grpSpPr>
          <p:pic>
            <p:nvPicPr>
              <p:cNvPr id="9"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7913" y="4916280"/>
                <a:ext cx="558651" cy="617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1" name="TextBox 10"/>
              <p:cNvSpPr txBox="1"/>
              <p:nvPr/>
            </p:nvSpPr>
            <p:spPr>
              <a:xfrm>
                <a:off x="3028951" y="5762458"/>
                <a:ext cx="695629" cy="707581"/>
              </a:xfrm>
              <a:prstGeom prst="rect">
                <a:avLst/>
              </a:prstGeom>
              <a:noFill/>
            </p:spPr>
            <p:txBody>
              <a:bodyPr wrap="none" rtlCol="0">
                <a:spAutoFit/>
              </a:bodyPr>
              <a:lstStyle/>
              <a:p>
                <a:pPr algn="ctr"/>
                <a:r>
                  <a:rPr lang="en-IN" sz="1600" b="1" i="1" dirty="0" smtClean="0"/>
                  <a:t>ADLS</a:t>
                </a:r>
                <a:endParaRPr lang="en-IN" sz="1600" b="1" i="1" dirty="0"/>
              </a:p>
              <a:p>
                <a:pPr algn="ctr"/>
                <a:r>
                  <a:rPr lang="en-US" sz="1600" b="1" i="1" dirty="0" smtClean="0"/>
                  <a:t>Gen2</a:t>
                </a:r>
                <a:endParaRPr lang="en-US" sz="1600" b="1" i="1" dirty="0"/>
              </a:p>
            </p:txBody>
          </p:sp>
        </p:grpSp>
        <p:cxnSp>
          <p:nvCxnSpPr>
            <p:cNvPr id="12" name="Elbow Connector 11"/>
            <p:cNvCxnSpPr>
              <a:stCxn id="13" idx="3"/>
            </p:cNvCxnSpPr>
            <p:nvPr/>
          </p:nvCxnSpPr>
          <p:spPr>
            <a:xfrm flipV="1">
              <a:off x="9504983" y="4447249"/>
              <a:ext cx="1556160" cy="3014"/>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pic>
          <p:nvPicPr>
            <p:cNvPr id="13"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1522" y="4082251"/>
              <a:ext cx="893461" cy="7360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5" name="Rectangle 14">
              <a:extLst>
                <a:ext uri="{FF2B5EF4-FFF2-40B4-BE49-F238E27FC236}">
                  <a16:creationId xmlns:a16="http://schemas.microsoft.com/office/drawing/2014/main" xmlns="" id="{C5A362DA-FB23-0441-E200-EAFDA192745D}"/>
                </a:ext>
              </a:extLst>
            </p:cNvPr>
            <p:cNvSpPr/>
            <p:nvPr/>
          </p:nvSpPr>
          <p:spPr>
            <a:xfrm>
              <a:off x="6335819" y="3245854"/>
              <a:ext cx="1137602" cy="248051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Source</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IN" b="1" dirty="0">
                <a:solidFill>
                  <a:schemeClr val="tx1"/>
                </a:solidFill>
              </a:endParaRPr>
            </a:p>
          </p:txBody>
        </p:sp>
        <p:pic>
          <p:nvPicPr>
            <p:cNvPr id="16" name="Picture 12">
              <a:extLst>
                <a:ext uri="{FF2B5EF4-FFF2-40B4-BE49-F238E27FC236}">
                  <a16:creationId xmlns:a16="http://schemas.microsoft.com/office/drawing/2014/main" xmlns="" id="{3411ED06-EE4D-EEE0-D5D4-E76FF3A69A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7156" y="3672145"/>
              <a:ext cx="860269" cy="880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8" name="Elbow Connector 32">
              <a:extLst>
                <a:ext uri="{FF2B5EF4-FFF2-40B4-BE49-F238E27FC236}">
                  <a16:creationId xmlns:a16="http://schemas.microsoft.com/office/drawing/2014/main" xmlns="" id="{3D80D3B3-5837-6738-CFF5-182FB8BF9117}"/>
                </a:ext>
              </a:extLst>
            </p:cNvPr>
            <p:cNvCxnSpPr>
              <a:stCxn id="16" idx="2"/>
              <a:endCxn id="13" idx="1"/>
            </p:cNvCxnSpPr>
            <p:nvPr/>
          </p:nvCxnSpPr>
          <p:spPr>
            <a:xfrm rot="5400000" flipH="1" flipV="1">
              <a:off x="7653355" y="3594199"/>
              <a:ext cx="102104" cy="1814231"/>
            </a:xfrm>
            <a:prstGeom prst="bentConnector4">
              <a:avLst>
                <a:gd name="adj1" fmla="val -223889"/>
                <a:gd name="adj2" fmla="val 61854"/>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6664120" y="4775939"/>
              <a:ext cx="1382110" cy="261610"/>
            </a:xfrm>
            <a:prstGeom prst="rect">
              <a:avLst/>
            </a:prstGeom>
          </p:spPr>
          <p:txBody>
            <a:bodyPr wrap="none">
              <a:spAutoFit/>
            </a:bodyPr>
            <a:lstStyle/>
            <a:p>
              <a:r>
                <a:rPr lang="en-US" sz="1100" b="1" i="1" dirty="0" smtClean="0"/>
                <a:t>Source push to BLOB</a:t>
              </a:r>
            </a:p>
          </p:txBody>
        </p:sp>
        <p:sp>
          <p:nvSpPr>
            <p:cNvPr id="22" name="Rectangle 21"/>
            <p:cNvSpPr/>
            <p:nvPr/>
          </p:nvSpPr>
          <p:spPr>
            <a:xfrm>
              <a:off x="8712998" y="4818274"/>
              <a:ext cx="690508" cy="369332"/>
            </a:xfrm>
            <a:prstGeom prst="rect">
              <a:avLst/>
            </a:prstGeom>
          </p:spPr>
          <p:txBody>
            <a:bodyPr wrap="none">
              <a:spAutoFit/>
            </a:bodyPr>
            <a:lstStyle/>
            <a:p>
              <a:r>
                <a:rPr lang="en-US" b="1" i="1" dirty="0"/>
                <a:t>BLOB</a:t>
              </a:r>
              <a:endParaRPr lang="en-IN" dirty="0"/>
            </a:p>
          </p:txBody>
        </p:sp>
        <p:sp>
          <p:nvSpPr>
            <p:cNvPr id="25" name="Rectangle 24"/>
            <p:cNvSpPr/>
            <p:nvPr/>
          </p:nvSpPr>
          <p:spPr>
            <a:xfrm>
              <a:off x="8256344" y="3764087"/>
              <a:ext cx="1573379" cy="276999"/>
            </a:xfrm>
            <a:prstGeom prst="rect">
              <a:avLst/>
            </a:prstGeom>
          </p:spPr>
          <p:txBody>
            <a:bodyPr wrap="none">
              <a:spAutoFit/>
            </a:bodyPr>
            <a:lstStyle/>
            <a:p>
              <a:r>
                <a:rPr lang="en-US" sz="1200" b="1" i="1" dirty="0" smtClean="0">
                  <a:solidFill>
                    <a:srgbClr val="C00000"/>
                  </a:solidFill>
                </a:rPr>
                <a:t>Read Using </a:t>
              </a:r>
              <a:r>
                <a:rPr lang="en-US" sz="1200" b="1" i="1" dirty="0">
                  <a:solidFill>
                    <a:srgbClr val="C00000"/>
                  </a:solidFill>
                </a:rPr>
                <a:t>SAS token</a:t>
              </a:r>
              <a:endParaRPr lang="en-IN" sz="1200" dirty="0">
                <a:solidFill>
                  <a:srgbClr val="C00000"/>
                </a:solidFill>
              </a:endParaRPr>
            </a:p>
          </p:txBody>
        </p:sp>
        <p:sp>
          <p:nvSpPr>
            <p:cNvPr id="26" name="Rectangle 25"/>
            <p:cNvSpPr/>
            <p:nvPr/>
          </p:nvSpPr>
          <p:spPr>
            <a:xfrm>
              <a:off x="10458779" y="3737516"/>
              <a:ext cx="1702197" cy="276999"/>
            </a:xfrm>
            <a:prstGeom prst="rect">
              <a:avLst/>
            </a:prstGeom>
          </p:spPr>
          <p:txBody>
            <a:bodyPr wrap="none">
              <a:spAutoFit/>
            </a:bodyPr>
            <a:lstStyle/>
            <a:p>
              <a:r>
                <a:rPr lang="en-US" sz="1200" b="1" i="1" dirty="0" smtClean="0">
                  <a:solidFill>
                    <a:srgbClr val="C00000"/>
                  </a:solidFill>
                </a:rPr>
                <a:t>Write Using Access keys</a:t>
              </a:r>
              <a:endParaRPr lang="en-IN" sz="1200" dirty="0">
                <a:solidFill>
                  <a:srgbClr val="C00000"/>
                </a:solidFill>
              </a:endParaRPr>
            </a:p>
          </p:txBody>
        </p:sp>
        <p:sp>
          <p:nvSpPr>
            <p:cNvPr id="27" name="Rectangle 26"/>
            <p:cNvSpPr/>
            <p:nvPr/>
          </p:nvSpPr>
          <p:spPr>
            <a:xfrm>
              <a:off x="9043033" y="3404823"/>
              <a:ext cx="1508042" cy="369332"/>
            </a:xfrm>
            <a:prstGeom prst="rect">
              <a:avLst/>
            </a:prstGeom>
          </p:spPr>
          <p:txBody>
            <a:bodyPr wrap="none">
              <a:spAutoFit/>
            </a:bodyPr>
            <a:lstStyle/>
            <a:p>
              <a:r>
                <a:rPr lang="en-US" b="1" dirty="0"/>
                <a:t>Azure Storage</a:t>
              </a:r>
              <a:endParaRPr lang="en-IN" dirty="0"/>
            </a:p>
          </p:txBody>
        </p:sp>
      </p:grpSp>
    </p:spTree>
    <p:extLst>
      <p:ext uri="{BB962C8B-B14F-4D97-AF65-F5344CB8AC3E}">
        <p14:creationId xmlns:p14="http://schemas.microsoft.com/office/powerpoint/2010/main" val="35797670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9" y="110859"/>
            <a:ext cx="10661596" cy="748245"/>
          </a:xfrm>
        </p:spPr>
        <p:txBody>
          <a:bodyPr>
            <a:normAutofit fontScale="90000"/>
          </a:bodyPr>
          <a:lstStyle/>
          <a:p>
            <a:pPr algn="ctr"/>
            <a:r>
              <a:rPr lang="en-US" sz="2700" b="1" u="sng" dirty="0">
                <a:solidFill>
                  <a:srgbClr val="002060"/>
                </a:solidFill>
              </a:rPr>
              <a:t>Healthcare &amp; Life Science Project </a:t>
            </a:r>
            <a:r>
              <a:rPr lang="en-US" sz="2700" u="sng" dirty="0">
                <a:solidFill>
                  <a:srgbClr val="002060"/>
                </a:solidFill>
              </a:rPr>
              <a:t>(BLOB, Datalake(ADLS), Databricks (Delta))</a:t>
            </a:r>
            <a:r>
              <a:rPr lang="en-US" sz="2700" dirty="0">
                <a:solidFill>
                  <a:srgbClr val="C00000"/>
                </a:solidFill>
              </a:rPr>
              <a:t/>
            </a:r>
            <a:br>
              <a:rPr lang="en-US" sz="2700" dirty="0">
                <a:solidFill>
                  <a:srgbClr val="C00000"/>
                </a:solidFill>
              </a:rPr>
            </a:br>
            <a:r>
              <a:rPr lang="en-US" sz="2700" b="1" dirty="0">
                <a:solidFill>
                  <a:srgbClr val="C00000"/>
                </a:solidFill>
              </a:rPr>
              <a:t>Implementation </a:t>
            </a:r>
            <a:r>
              <a:rPr lang="en-US" sz="2700" b="1" u="sng" dirty="0">
                <a:solidFill>
                  <a:srgbClr val="C00000"/>
                </a:solidFill>
              </a:rPr>
              <a:t>Medallion</a:t>
            </a:r>
            <a:r>
              <a:rPr lang="en-US" sz="2700" b="1" dirty="0">
                <a:solidFill>
                  <a:srgbClr val="C00000"/>
                </a:solidFill>
              </a:rPr>
              <a:t> (</a:t>
            </a:r>
            <a:r>
              <a:rPr lang="en-US" sz="2000" b="1" dirty="0">
                <a:solidFill>
                  <a:srgbClr val="C00000"/>
                </a:solidFill>
              </a:rPr>
              <a:t>Parallel Pipeline1&amp;2</a:t>
            </a:r>
            <a:r>
              <a:rPr lang="en-US" sz="2700" b="1" dirty="0">
                <a:solidFill>
                  <a:srgbClr val="C00000"/>
                </a:solidFill>
              </a:rPr>
              <a:t>) &amp; Understanding of </a:t>
            </a:r>
            <a:r>
              <a:rPr lang="en-US" sz="2700" b="1" u="sng" dirty="0" err="1">
                <a:solidFill>
                  <a:srgbClr val="C00000"/>
                </a:solidFill>
              </a:rPr>
              <a:t>Deltalake</a:t>
            </a:r>
            <a:endParaRPr lang="en-IN" b="1" u="sng" dirty="0">
              <a:solidFill>
                <a:srgbClr val="C00000"/>
              </a:solidFill>
            </a:endParaRPr>
          </a:p>
        </p:txBody>
      </p:sp>
      <p:sp>
        <p:nvSpPr>
          <p:cNvPr id="3" name="Rectangle 2"/>
          <p:cNvSpPr/>
          <p:nvPr/>
        </p:nvSpPr>
        <p:spPr>
          <a:xfrm>
            <a:off x="4130670" y="4141699"/>
            <a:ext cx="7896225" cy="1904999"/>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Storage</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IN" b="1" dirty="0">
              <a:solidFill>
                <a:schemeClr val="tx1"/>
              </a:solidFill>
            </a:endParaRP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4389" y="4492623"/>
            <a:ext cx="802934" cy="6612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3139" y="4492623"/>
            <a:ext cx="802934" cy="6612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grpSp>
        <p:nvGrpSpPr>
          <p:cNvPr id="9" name="Group 8"/>
          <p:cNvGrpSpPr/>
          <p:nvPr/>
        </p:nvGrpSpPr>
        <p:grpSpPr>
          <a:xfrm>
            <a:off x="6100025" y="4571212"/>
            <a:ext cx="960519" cy="1147075"/>
            <a:chOff x="2848478" y="4916280"/>
            <a:chExt cx="1056570" cy="1387968"/>
          </a:xfrm>
        </p:grpSpPr>
        <p:pic>
          <p:nvPicPr>
            <p:cNvPr id="10"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7913" y="4916280"/>
              <a:ext cx="558651" cy="617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1" name="TextBox 10"/>
            <p:cNvSpPr txBox="1"/>
            <p:nvPr/>
          </p:nvSpPr>
          <p:spPr>
            <a:xfrm>
              <a:off x="2848478" y="5578046"/>
              <a:ext cx="1056570" cy="726202"/>
            </a:xfrm>
            <a:prstGeom prst="rect">
              <a:avLst/>
            </a:prstGeom>
            <a:noFill/>
          </p:spPr>
          <p:txBody>
            <a:bodyPr wrap="none" rtlCol="0">
              <a:spAutoFit/>
            </a:bodyPr>
            <a:lstStyle/>
            <a:p>
              <a:pPr algn="ctr"/>
              <a:r>
                <a:rPr lang="en-US" sz="1100" dirty="0"/>
                <a:t>Azure</a:t>
              </a:r>
              <a:r>
                <a:rPr lang="en-IN" sz="1100" dirty="0"/>
                <a:t> ADLS</a:t>
              </a:r>
            </a:p>
            <a:p>
              <a:pPr algn="ctr"/>
              <a:r>
                <a:rPr lang="en-US" sz="1100" dirty="0"/>
                <a:t>Gen2 Storage</a:t>
              </a:r>
            </a:p>
            <a:p>
              <a:pPr algn="ctr"/>
              <a:r>
                <a:rPr lang="en-US" sz="1100" dirty="0"/>
                <a:t>parquet</a:t>
              </a:r>
            </a:p>
          </p:txBody>
        </p:sp>
      </p:grpSp>
      <p:sp>
        <p:nvSpPr>
          <p:cNvPr id="12" name="Rectangle 11"/>
          <p:cNvSpPr/>
          <p:nvPr/>
        </p:nvSpPr>
        <p:spPr>
          <a:xfrm>
            <a:off x="5403795" y="1202413"/>
            <a:ext cx="5276850" cy="2849154"/>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Process</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p:txBody>
      </p:sp>
      <p:pic>
        <p:nvPicPr>
          <p:cNvPr id="13"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2327" y="2772616"/>
            <a:ext cx="4153755" cy="11894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4"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4389" y="1625189"/>
            <a:ext cx="981075" cy="10858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cxnSp>
        <p:nvCxnSpPr>
          <p:cNvPr id="16" name="Elbow Connector 15"/>
          <p:cNvCxnSpPr>
            <a:stCxn id="25" idx="3"/>
          </p:cNvCxnSpPr>
          <p:nvPr/>
        </p:nvCxnSpPr>
        <p:spPr>
          <a:xfrm flipV="1">
            <a:off x="5104308" y="4828851"/>
            <a:ext cx="1118637" cy="3014"/>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10" idx="3"/>
            <a:endCxn id="4" idx="1"/>
          </p:cNvCxnSpPr>
          <p:nvPr/>
        </p:nvCxnSpPr>
        <p:spPr>
          <a:xfrm flipV="1">
            <a:off x="6825557" y="4823243"/>
            <a:ext cx="758832" cy="3334"/>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9" name="Elbow Connector 18"/>
          <p:cNvCxnSpPr>
            <a:endCxn id="5" idx="1"/>
          </p:cNvCxnSpPr>
          <p:nvPr/>
        </p:nvCxnSpPr>
        <p:spPr>
          <a:xfrm>
            <a:off x="8387323" y="4813718"/>
            <a:ext cx="625816" cy="9525"/>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2524486" y="4783397"/>
            <a:ext cx="1484702" cy="769441"/>
          </a:xfrm>
          <a:prstGeom prst="rect">
            <a:avLst/>
          </a:prstGeom>
        </p:spPr>
        <p:txBody>
          <a:bodyPr wrap="none">
            <a:spAutoFit/>
          </a:bodyPr>
          <a:lstStyle/>
          <a:p>
            <a:r>
              <a:rPr lang="en-US" sz="1100" b="1" i="1" u="sng" dirty="0"/>
              <a:t>Pipeline1:</a:t>
            </a:r>
          </a:p>
          <a:p>
            <a:r>
              <a:rPr lang="en-US" sz="1100" b="1" i="1" dirty="0"/>
              <a:t>Source</a:t>
            </a:r>
          </a:p>
          <a:p>
            <a:r>
              <a:rPr lang="en-US" sz="1100" b="1" i="1" dirty="0"/>
              <a:t>pushed drugs.csv data</a:t>
            </a:r>
          </a:p>
          <a:p>
            <a:r>
              <a:rPr lang="en-US" sz="1100" b="1" i="1" dirty="0"/>
              <a:t>into BLOB container</a:t>
            </a:r>
            <a:endParaRPr lang="en-IN" sz="1100" dirty="0"/>
          </a:p>
        </p:txBody>
      </p:sp>
      <p:sp>
        <p:nvSpPr>
          <p:cNvPr id="28" name="Rectangle 27"/>
          <p:cNvSpPr/>
          <p:nvPr/>
        </p:nvSpPr>
        <p:spPr>
          <a:xfrm>
            <a:off x="6954744" y="4830203"/>
            <a:ext cx="500458" cy="430887"/>
          </a:xfrm>
          <a:prstGeom prst="rect">
            <a:avLst/>
          </a:prstGeom>
        </p:spPr>
        <p:txBody>
          <a:bodyPr wrap="none">
            <a:spAutoFit/>
          </a:bodyPr>
          <a:lstStyle/>
          <a:p>
            <a:r>
              <a:rPr lang="en-US" sz="1100" b="1" i="1" dirty="0"/>
              <a:t>  ETL</a:t>
            </a:r>
          </a:p>
          <a:p>
            <a:r>
              <a:rPr lang="en-US" sz="1100" b="1" i="1" dirty="0"/>
              <a:t>Delta</a:t>
            </a:r>
            <a:endParaRPr lang="en-IN" sz="1100" dirty="0"/>
          </a:p>
        </p:txBody>
      </p:sp>
      <p:sp>
        <p:nvSpPr>
          <p:cNvPr id="29" name="TextBox 28"/>
          <p:cNvSpPr txBox="1"/>
          <p:nvPr/>
        </p:nvSpPr>
        <p:spPr>
          <a:xfrm>
            <a:off x="7552435" y="5140418"/>
            <a:ext cx="960519" cy="600164"/>
          </a:xfrm>
          <a:prstGeom prst="rect">
            <a:avLst/>
          </a:prstGeom>
          <a:noFill/>
        </p:spPr>
        <p:txBody>
          <a:bodyPr wrap="none" rtlCol="0">
            <a:spAutoFit/>
          </a:bodyPr>
          <a:lstStyle/>
          <a:p>
            <a:pPr algn="ctr"/>
            <a:r>
              <a:rPr lang="en-US" sz="1100" dirty="0"/>
              <a:t>Azure</a:t>
            </a:r>
            <a:r>
              <a:rPr lang="en-IN" sz="1100" dirty="0"/>
              <a:t> ADLS</a:t>
            </a:r>
          </a:p>
          <a:p>
            <a:pPr algn="ctr"/>
            <a:r>
              <a:rPr lang="en-US" sz="1100" dirty="0"/>
              <a:t>Gen2 Storage</a:t>
            </a:r>
          </a:p>
          <a:p>
            <a:pPr algn="ctr"/>
            <a:r>
              <a:rPr lang="en-US" sz="1100" dirty="0"/>
              <a:t>Delta</a:t>
            </a:r>
          </a:p>
        </p:txBody>
      </p:sp>
      <p:sp>
        <p:nvSpPr>
          <p:cNvPr id="30" name="TextBox 29"/>
          <p:cNvSpPr txBox="1"/>
          <p:nvPr/>
        </p:nvSpPr>
        <p:spPr>
          <a:xfrm>
            <a:off x="8981185" y="5140425"/>
            <a:ext cx="960519" cy="600164"/>
          </a:xfrm>
          <a:prstGeom prst="rect">
            <a:avLst/>
          </a:prstGeom>
          <a:noFill/>
        </p:spPr>
        <p:txBody>
          <a:bodyPr wrap="none" rtlCol="0">
            <a:spAutoFit/>
          </a:bodyPr>
          <a:lstStyle/>
          <a:p>
            <a:pPr algn="ctr"/>
            <a:r>
              <a:rPr lang="en-US" sz="1100" dirty="0"/>
              <a:t>Azure</a:t>
            </a:r>
            <a:r>
              <a:rPr lang="en-IN" sz="1100" dirty="0"/>
              <a:t> ADLS</a:t>
            </a:r>
          </a:p>
          <a:p>
            <a:pPr algn="ctr"/>
            <a:r>
              <a:rPr lang="en-US" sz="1100" dirty="0"/>
              <a:t>Gen2 Storage</a:t>
            </a:r>
          </a:p>
          <a:p>
            <a:pPr algn="ctr"/>
            <a:r>
              <a:rPr lang="en-US" sz="1100" dirty="0"/>
              <a:t>Delta</a:t>
            </a:r>
          </a:p>
        </p:txBody>
      </p:sp>
      <p:sp>
        <p:nvSpPr>
          <p:cNvPr id="23" name="Rectangle 22"/>
          <p:cNvSpPr/>
          <p:nvPr/>
        </p:nvSpPr>
        <p:spPr>
          <a:xfrm>
            <a:off x="5943600" y="4306334"/>
            <a:ext cx="4123765" cy="13561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p:cNvSpPr/>
          <p:nvPr/>
        </p:nvSpPr>
        <p:spPr>
          <a:xfrm>
            <a:off x="10067365" y="4299755"/>
            <a:ext cx="1402948" cy="577081"/>
          </a:xfrm>
          <a:prstGeom prst="rect">
            <a:avLst/>
          </a:prstGeom>
          <a:solidFill>
            <a:schemeClr val="bg2">
              <a:lumMod val="75000"/>
            </a:schemeClr>
          </a:solidFill>
        </p:spPr>
        <p:txBody>
          <a:bodyPr wrap="none">
            <a:spAutoFit/>
          </a:bodyPr>
          <a:lstStyle/>
          <a:p>
            <a:r>
              <a:rPr lang="en-US" sz="1050" b="1" dirty="0">
                <a:solidFill>
                  <a:srgbClr val="C00000"/>
                </a:solidFill>
              </a:rPr>
              <a:t>1. medallionproject3</a:t>
            </a:r>
          </a:p>
          <a:p>
            <a:r>
              <a:rPr lang="en-US" sz="1050" b="1" dirty="0">
                <a:solidFill>
                  <a:srgbClr val="C00000"/>
                </a:solidFill>
              </a:rPr>
              <a:t>Storage account</a:t>
            </a:r>
          </a:p>
          <a:p>
            <a:r>
              <a:rPr lang="en-US" sz="1050" b="1" dirty="0">
                <a:solidFill>
                  <a:srgbClr val="C00000"/>
                </a:solidFill>
              </a:rPr>
              <a:t>2. Create 3 containers</a:t>
            </a:r>
          </a:p>
        </p:txBody>
      </p:sp>
      <p:sp>
        <p:nvSpPr>
          <p:cNvPr id="36" name="Rectangle 35"/>
          <p:cNvSpPr/>
          <p:nvPr/>
        </p:nvSpPr>
        <p:spPr>
          <a:xfrm>
            <a:off x="8630112" y="1627480"/>
            <a:ext cx="3079689" cy="253916"/>
          </a:xfrm>
          <a:prstGeom prst="rect">
            <a:avLst/>
          </a:prstGeom>
          <a:solidFill>
            <a:schemeClr val="bg2">
              <a:lumMod val="75000"/>
            </a:schemeClr>
          </a:solidFill>
        </p:spPr>
        <p:txBody>
          <a:bodyPr wrap="none">
            <a:spAutoFit/>
          </a:bodyPr>
          <a:lstStyle/>
          <a:p>
            <a:r>
              <a:rPr lang="en-US" sz="1050" b="1" dirty="0">
                <a:solidFill>
                  <a:srgbClr val="C00000"/>
                </a:solidFill>
              </a:rPr>
              <a:t>4. Use </a:t>
            </a:r>
            <a:r>
              <a:rPr lang="en-US" sz="1050" b="1" dirty="0" err="1">
                <a:solidFill>
                  <a:srgbClr val="C00000"/>
                </a:solidFill>
              </a:rPr>
              <a:t>Deltalake</a:t>
            </a:r>
            <a:r>
              <a:rPr lang="en-US" sz="1050" b="1" dirty="0">
                <a:solidFill>
                  <a:srgbClr val="C00000"/>
                </a:solidFill>
              </a:rPr>
              <a:t> library to access the container data</a:t>
            </a:r>
            <a:endParaRPr lang="en-IN" sz="1050" dirty="0"/>
          </a:p>
        </p:txBody>
      </p:sp>
      <p:sp>
        <p:nvSpPr>
          <p:cNvPr id="37" name="Rectangle 36"/>
          <p:cNvSpPr/>
          <p:nvPr/>
        </p:nvSpPr>
        <p:spPr>
          <a:xfrm>
            <a:off x="10219765" y="2724379"/>
            <a:ext cx="1967205" cy="577081"/>
          </a:xfrm>
          <a:prstGeom prst="rect">
            <a:avLst/>
          </a:prstGeom>
          <a:solidFill>
            <a:schemeClr val="bg2">
              <a:lumMod val="75000"/>
            </a:schemeClr>
          </a:solidFill>
        </p:spPr>
        <p:txBody>
          <a:bodyPr wrap="none">
            <a:spAutoFit/>
          </a:bodyPr>
          <a:lstStyle/>
          <a:p>
            <a:r>
              <a:rPr lang="en-US" sz="1050" b="1" dirty="0">
                <a:solidFill>
                  <a:srgbClr val="C00000"/>
                </a:solidFill>
              </a:rPr>
              <a:t>3. Using mounts created on top</a:t>
            </a:r>
          </a:p>
          <a:p>
            <a:r>
              <a:rPr lang="en-US" sz="1050" b="1" dirty="0">
                <a:solidFill>
                  <a:srgbClr val="C00000"/>
                </a:solidFill>
              </a:rPr>
              <a:t>Of the containers, we are going </a:t>
            </a:r>
          </a:p>
          <a:p>
            <a:r>
              <a:rPr lang="en-US" sz="1050" b="1" dirty="0">
                <a:solidFill>
                  <a:srgbClr val="C00000"/>
                </a:solidFill>
              </a:rPr>
              <a:t>to access the data</a:t>
            </a:r>
            <a:endParaRPr lang="en-IN" sz="1050" dirty="0"/>
          </a:p>
        </p:txBody>
      </p:sp>
      <p:sp>
        <p:nvSpPr>
          <p:cNvPr id="38" name="TextBox 37"/>
          <p:cNvSpPr txBox="1"/>
          <p:nvPr/>
        </p:nvSpPr>
        <p:spPr>
          <a:xfrm>
            <a:off x="158239" y="904205"/>
            <a:ext cx="3393878" cy="1446550"/>
          </a:xfrm>
          <a:prstGeom prst="rect">
            <a:avLst/>
          </a:prstGeom>
          <a:noFill/>
        </p:spPr>
        <p:txBody>
          <a:bodyPr wrap="none" rtlCol="0">
            <a:spAutoFit/>
          </a:bodyPr>
          <a:lstStyle/>
          <a:p>
            <a:r>
              <a:rPr lang="en-US" sz="1100" b="1" u="sng" dirty="0"/>
              <a:t>Create a </a:t>
            </a:r>
            <a:r>
              <a:rPr lang="en-US" sz="1100" b="1" u="sng" dirty="0" err="1"/>
              <a:t>Databricks</a:t>
            </a:r>
            <a:r>
              <a:rPr lang="en-US" sz="1100" b="1" u="sng" dirty="0"/>
              <a:t> notebook (delta_lake_concepts_1)</a:t>
            </a:r>
          </a:p>
          <a:p>
            <a:endParaRPr lang="en-US" sz="1100" b="1" u="sng" dirty="0"/>
          </a:p>
          <a:p>
            <a:r>
              <a:rPr lang="en-US" sz="1100" b="1" dirty="0">
                <a:solidFill>
                  <a:srgbClr val="C00000"/>
                </a:solidFill>
              </a:rPr>
              <a:t>1. Create medallionproject3 Storage account</a:t>
            </a:r>
          </a:p>
          <a:p>
            <a:r>
              <a:rPr lang="en-US" sz="1100" b="1" dirty="0">
                <a:solidFill>
                  <a:srgbClr val="C00000"/>
                </a:solidFill>
              </a:rPr>
              <a:t>2. Create 3 containers</a:t>
            </a:r>
          </a:p>
          <a:p>
            <a:r>
              <a:rPr lang="en-US" sz="1100" b="1" dirty="0">
                <a:solidFill>
                  <a:srgbClr val="C00000"/>
                </a:solidFill>
              </a:rPr>
              <a:t>3. Using the access/</a:t>
            </a:r>
            <a:r>
              <a:rPr lang="en-US" sz="1100" b="1" dirty="0" err="1">
                <a:solidFill>
                  <a:srgbClr val="C00000"/>
                </a:solidFill>
              </a:rPr>
              <a:t>oauth</a:t>
            </a:r>
            <a:r>
              <a:rPr lang="en-US" sz="1100" b="1" dirty="0">
                <a:solidFill>
                  <a:srgbClr val="C00000"/>
                </a:solidFill>
              </a:rPr>
              <a:t>/</a:t>
            </a:r>
            <a:r>
              <a:rPr lang="en-US" sz="1100" b="1" dirty="0" err="1">
                <a:solidFill>
                  <a:srgbClr val="C00000"/>
                </a:solidFill>
              </a:rPr>
              <a:t>rbac</a:t>
            </a:r>
            <a:r>
              <a:rPr lang="en-US" sz="1100" b="1" dirty="0">
                <a:solidFill>
                  <a:srgbClr val="C00000"/>
                </a:solidFill>
              </a:rPr>
              <a:t> SP access we are going </a:t>
            </a:r>
          </a:p>
          <a:p>
            <a:r>
              <a:rPr lang="en-US" sz="1100" b="1" dirty="0">
                <a:solidFill>
                  <a:srgbClr val="C00000"/>
                </a:solidFill>
              </a:rPr>
              <a:t>to access the data</a:t>
            </a:r>
            <a:endParaRPr lang="en-IN" sz="1100" dirty="0"/>
          </a:p>
          <a:p>
            <a:r>
              <a:rPr lang="en-US" sz="1100" b="1" dirty="0">
                <a:solidFill>
                  <a:srgbClr val="C00000"/>
                </a:solidFill>
              </a:rPr>
              <a:t>4. Use </a:t>
            </a:r>
            <a:r>
              <a:rPr lang="en-US" sz="1100" b="1" dirty="0" err="1">
                <a:solidFill>
                  <a:srgbClr val="C00000"/>
                </a:solidFill>
              </a:rPr>
              <a:t>Deltalake</a:t>
            </a:r>
            <a:r>
              <a:rPr lang="en-US" sz="1100" b="1" dirty="0">
                <a:solidFill>
                  <a:srgbClr val="C00000"/>
                </a:solidFill>
              </a:rPr>
              <a:t> library to access the container data</a:t>
            </a:r>
            <a:endParaRPr lang="en-IN" sz="1100" dirty="0"/>
          </a:p>
          <a:p>
            <a:endParaRPr lang="en-IN" sz="1100" b="1" u="sng" dirty="0"/>
          </a:p>
        </p:txBody>
      </p:sp>
      <p:pic>
        <p:nvPicPr>
          <p:cNvPr id="25"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2422" y="4463853"/>
            <a:ext cx="891886" cy="7360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7" name="Rectangle 26"/>
          <p:cNvSpPr/>
          <p:nvPr/>
        </p:nvSpPr>
        <p:spPr>
          <a:xfrm>
            <a:off x="5207507" y="4809123"/>
            <a:ext cx="649537" cy="261610"/>
          </a:xfrm>
          <a:prstGeom prst="rect">
            <a:avLst/>
          </a:prstGeom>
        </p:spPr>
        <p:txBody>
          <a:bodyPr wrap="none">
            <a:spAutoFit/>
          </a:bodyPr>
          <a:lstStyle/>
          <a:p>
            <a:r>
              <a:rPr lang="en-US" sz="1100" b="1" i="1" dirty="0"/>
              <a:t>Parquet</a:t>
            </a:r>
            <a:endParaRPr lang="en-IN" sz="1100" dirty="0"/>
          </a:p>
        </p:txBody>
      </p:sp>
      <p:sp>
        <p:nvSpPr>
          <p:cNvPr id="7" name="Rectangle 6"/>
          <p:cNvSpPr/>
          <p:nvPr/>
        </p:nvSpPr>
        <p:spPr>
          <a:xfrm>
            <a:off x="4287269" y="5212279"/>
            <a:ext cx="742191" cy="369332"/>
          </a:xfrm>
          <a:prstGeom prst="rect">
            <a:avLst/>
          </a:prstGeom>
        </p:spPr>
        <p:txBody>
          <a:bodyPr wrap="none">
            <a:spAutoFit/>
          </a:bodyPr>
          <a:lstStyle/>
          <a:p>
            <a:r>
              <a:rPr lang="en-US" b="1" i="1" dirty="0"/>
              <a:t>BLOB </a:t>
            </a:r>
            <a:endParaRPr lang="en-IN" dirty="0"/>
          </a:p>
        </p:txBody>
      </p:sp>
      <p:sp>
        <p:nvSpPr>
          <p:cNvPr id="8" name="Rectangle 7"/>
          <p:cNvSpPr/>
          <p:nvPr/>
        </p:nvSpPr>
        <p:spPr>
          <a:xfrm>
            <a:off x="4172518" y="5659082"/>
            <a:ext cx="2383858" cy="369332"/>
          </a:xfrm>
          <a:prstGeom prst="rect">
            <a:avLst/>
          </a:prstGeom>
        </p:spPr>
        <p:txBody>
          <a:bodyPr wrap="none">
            <a:spAutoFit/>
          </a:bodyPr>
          <a:lstStyle/>
          <a:p>
            <a:r>
              <a:rPr lang="en-IN" dirty="0"/>
              <a:t>source-to-bronze-load1</a:t>
            </a:r>
          </a:p>
        </p:txBody>
      </p:sp>
      <p:sp>
        <p:nvSpPr>
          <p:cNvPr id="6" name="Rectangle 5">
            <a:extLst>
              <a:ext uri="{FF2B5EF4-FFF2-40B4-BE49-F238E27FC236}">
                <a16:creationId xmlns:a16="http://schemas.microsoft.com/office/drawing/2014/main" xmlns="" id="{90780B62-AD3C-E9A6-FEE5-00CCBA16ECF4}"/>
              </a:ext>
            </a:extLst>
          </p:cNvPr>
          <p:cNvSpPr/>
          <p:nvPr/>
        </p:nvSpPr>
        <p:spPr>
          <a:xfrm>
            <a:off x="2524486" y="5646938"/>
            <a:ext cx="1638590" cy="600164"/>
          </a:xfrm>
          <a:prstGeom prst="rect">
            <a:avLst/>
          </a:prstGeom>
        </p:spPr>
        <p:txBody>
          <a:bodyPr wrap="none">
            <a:spAutoFit/>
          </a:bodyPr>
          <a:lstStyle/>
          <a:p>
            <a:r>
              <a:rPr lang="en-US" sz="1100" b="1" i="1" u="sng" dirty="0"/>
              <a:t>Pipeline2:</a:t>
            </a:r>
          </a:p>
          <a:p>
            <a:r>
              <a:rPr lang="en-US" sz="1100" b="1" i="1" dirty="0"/>
              <a:t>pushed patients.csv data</a:t>
            </a:r>
          </a:p>
          <a:p>
            <a:r>
              <a:rPr lang="en-US" sz="1100" b="1" i="1" dirty="0"/>
              <a:t>into BLOB container</a:t>
            </a:r>
            <a:endParaRPr lang="en-IN" sz="1100" dirty="0"/>
          </a:p>
        </p:txBody>
      </p:sp>
      <p:pic>
        <p:nvPicPr>
          <p:cNvPr id="15" name="Picture 8">
            <a:extLst>
              <a:ext uri="{FF2B5EF4-FFF2-40B4-BE49-F238E27FC236}">
                <a16:creationId xmlns:a16="http://schemas.microsoft.com/office/drawing/2014/main" xmlns="" id="{5A4967E9-59C8-DF0C-BB97-153B06E101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99541" y="4984389"/>
            <a:ext cx="1137847" cy="7871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7" name="Rectangle 16">
            <a:extLst>
              <a:ext uri="{FF2B5EF4-FFF2-40B4-BE49-F238E27FC236}">
                <a16:creationId xmlns:a16="http://schemas.microsoft.com/office/drawing/2014/main" xmlns="" id="{C5A362DA-FB23-0441-E200-EAFDA192745D}"/>
              </a:ext>
            </a:extLst>
          </p:cNvPr>
          <p:cNvSpPr/>
          <p:nvPr/>
        </p:nvSpPr>
        <p:spPr>
          <a:xfrm>
            <a:off x="2073269" y="2298088"/>
            <a:ext cx="940369" cy="248051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Source</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IN" b="1" dirty="0">
              <a:solidFill>
                <a:schemeClr val="tx1"/>
              </a:solidFill>
            </a:endParaRPr>
          </a:p>
        </p:txBody>
      </p:sp>
      <p:pic>
        <p:nvPicPr>
          <p:cNvPr id="20" name="Picture 12">
            <a:extLst>
              <a:ext uri="{FF2B5EF4-FFF2-40B4-BE49-F238E27FC236}">
                <a16:creationId xmlns:a16="http://schemas.microsoft.com/office/drawing/2014/main" xmlns="" id="{3411ED06-EE4D-EEE0-D5D4-E76FF3A69A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4551" y="2724379"/>
            <a:ext cx="858753" cy="880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Elbow Connector 32">
            <a:extLst>
              <a:ext uri="{FF2B5EF4-FFF2-40B4-BE49-F238E27FC236}">
                <a16:creationId xmlns:a16="http://schemas.microsoft.com/office/drawing/2014/main" xmlns="" id="{3D80D3B3-5837-6738-CFF5-182FB8BF9117}"/>
              </a:ext>
            </a:extLst>
          </p:cNvPr>
          <p:cNvCxnSpPr>
            <a:stCxn id="20" idx="2"/>
          </p:cNvCxnSpPr>
          <p:nvPr/>
        </p:nvCxnSpPr>
        <p:spPr>
          <a:xfrm rot="16200000" flipH="1">
            <a:off x="2861415" y="3277113"/>
            <a:ext cx="1027031" cy="1682005"/>
          </a:xfrm>
          <a:prstGeom prst="bentConnector2">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2" name="8-Point Star 33">
            <a:extLst>
              <a:ext uri="{FF2B5EF4-FFF2-40B4-BE49-F238E27FC236}">
                <a16:creationId xmlns:a16="http://schemas.microsoft.com/office/drawing/2014/main" xmlns="" id="{AF4A735C-2C01-959E-ADF3-4297F92CB4D3}"/>
              </a:ext>
            </a:extLst>
          </p:cNvPr>
          <p:cNvSpPr/>
          <p:nvPr/>
        </p:nvSpPr>
        <p:spPr>
          <a:xfrm>
            <a:off x="3083200" y="4274930"/>
            <a:ext cx="352541" cy="320492"/>
          </a:xfrm>
          <a:prstGeom prst="star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endParaRPr lang="en-IN" b="1" dirty="0">
              <a:solidFill>
                <a:schemeClr val="tx1"/>
              </a:solidFill>
            </a:endParaRPr>
          </a:p>
        </p:txBody>
      </p:sp>
      <p:grpSp>
        <p:nvGrpSpPr>
          <p:cNvPr id="24" name="Group 23">
            <a:extLst>
              <a:ext uri="{FF2B5EF4-FFF2-40B4-BE49-F238E27FC236}">
                <a16:creationId xmlns:a16="http://schemas.microsoft.com/office/drawing/2014/main" xmlns="" id="{AD135829-449A-8693-C28F-5F96EB84C8A6}"/>
              </a:ext>
            </a:extLst>
          </p:cNvPr>
          <p:cNvGrpSpPr/>
          <p:nvPr/>
        </p:nvGrpSpPr>
        <p:grpSpPr>
          <a:xfrm>
            <a:off x="6096000" y="6105885"/>
            <a:ext cx="940194" cy="797016"/>
            <a:chOff x="2859660" y="4916280"/>
            <a:chExt cx="1034212" cy="964393"/>
          </a:xfrm>
        </p:grpSpPr>
        <p:pic>
          <p:nvPicPr>
            <p:cNvPr id="31" name="Picture 14">
              <a:extLst>
                <a:ext uri="{FF2B5EF4-FFF2-40B4-BE49-F238E27FC236}">
                  <a16:creationId xmlns:a16="http://schemas.microsoft.com/office/drawing/2014/main" xmlns="" id="{7C5EF2D0-0036-B834-876B-A3306B2917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7913" y="4916280"/>
              <a:ext cx="558651" cy="617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2" name="TextBox 31">
              <a:extLst>
                <a:ext uri="{FF2B5EF4-FFF2-40B4-BE49-F238E27FC236}">
                  <a16:creationId xmlns:a16="http://schemas.microsoft.com/office/drawing/2014/main" xmlns="" id="{D75755C6-3318-11E1-0E6A-63629FAA9213}"/>
                </a:ext>
              </a:extLst>
            </p:cNvPr>
            <p:cNvSpPr txBox="1"/>
            <p:nvPr/>
          </p:nvSpPr>
          <p:spPr>
            <a:xfrm>
              <a:off x="2859660" y="5545503"/>
              <a:ext cx="1034212" cy="335170"/>
            </a:xfrm>
            <a:prstGeom prst="rect">
              <a:avLst/>
            </a:prstGeom>
            <a:noFill/>
          </p:spPr>
          <p:txBody>
            <a:bodyPr wrap="none" rtlCol="0">
              <a:spAutoFit/>
            </a:bodyPr>
            <a:lstStyle/>
            <a:p>
              <a:pPr algn="ctr"/>
              <a:r>
                <a:rPr lang="en-US" sz="1200" dirty="0"/>
                <a:t>Delta Tables</a:t>
              </a:r>
              <a:endParaRPr lang="en-US" sz="1200" b="1" dirty="0"/>
            </a:p>
          </p:txBody>
        </p:sp>
      </p:grpSp>
      <p:sp>
        <p:nvSpPr>
          <p:cNvPr id="33" name="Rectangle 32">
            <a:extLst>
              <a:ext uri="{FF2B5EF4-FFF2-40B4-BE49-F238E27FC236}">
                <a16:creationId xmlns:a16="http://schemas.microsoft.com/office/drawing/2014/main" xmlns="" id="{DA559668-124D-5D19-D407-2D7161BF1641}"/>
              </a:ext>
            </a:extLst>
          </p:cNvPr>
          <p:cNvSpPr/>
          <p:nvPr/>
        </p:nvSpPr>
        <p:spPr>
          <a:xfrm>
            <a:off x="8437449" y="4830203"/>
            <a:ext cx="667170" cy="938719"/>
          </a:xfrm>
          <a:prstGeom prst="rect">
            <a:avLst/>
          </a:prstGeom>
        </p:spPr>
        <p:txBody>
          <a:bodyPr wrap="none">
            <a:spAutoFit/>
          </a:bodyPr>
          <a:lstStyle/>
          <a:p>
            <a:r>
              <a:rPr lang="en-US" sz="1100" b="1" i="1" dirty="0"/>
              <a:t>Flatten</a:t>
            </a:r>
          </a:p>
          <a:p>
            <a:r>
              <a:rPr lang="en-US" sz="1100" b="1" i="1" dirty="0"/>
              <a:t>Joined</a:t>
            </a:r>
          </a:p>
          <a:p>
            <a:r>
              <a:rPr lang="en-US" sz="1100" b="1" i="1" dirty="0"/>
              <a:t>Patients</a:t>
            </a:r>
          </a:p>
          <a:p>
            <a:r>
              <a:rPr lang="en-US" sz="1100" b="1" i="1" dirty="0"/>
              <a:t>      &amp;</a:t>
            </a:r>
          </a:p>
          <a:p>
            <a:r>
              <a:rPr lang="en-US" sz="1100" b="1" i="1" dirty="0"/>
              <a:t>  Drugs</a:t>
            </a:r>
            <a:endParaRPr lang="en-IN" sz="1100" dirty="0"/>
          </a:p>
        </p:txBody>
      </p:sp>
    </p:spTree>
    <p:extLst>
      <p:ext uri="{BB962C8B-B14F-4D97-AF65-F5344CB8AC3E}">
        <p14:creationId xmlns:p14="http://schemas.microsoft.com/office/powerpoint/2010/main" val="6741549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16"/>
          <p:cNvSpPr txBox="1"/>
          <p:nvPr/>
        </p:nvSpPr>
        <p:spPr>
          <a:xfrm>
            <a:off x="109275" y="477223"/>
            <a:ext cx="6121196" cy="1356782"/>
          </a:xfrm>
          <a:prstGeom prst="rect">
            <a:avLst/>
          </a:prstGeom>
          <a:solidFill>
            <a:schemeClr val="bg2"/>
          </a:solidFill>
        </p:spPr>
        <p:txBody>
          <a:bodyPr vert="horz" wrap="square" lIns="0" tIns="12700" rIns="0" bIns="0" rtlCol="0">
            <a:spAutoFit/>
          </a:bodyPr>
          <a:lstStyle/>
          <a:p>
            <a:pPr marL="12700">
              <a:lnSpc>
                <a:spcPct val="100000"/>
              </a:lnSpc>
              <a:spcBef>
                <a:spcPts val="100"/>
              </a:spcBef>
            </a:pPr>
            <a:r>
              <a:rPr lang="en-US" sz="1400" b="1" i="1" u="sng" dirty="0">
                <a:latin typeface="Calibri"/>
                <a:cs typeface="Calibri"/>
              </a:rPr>
              <a:t>Cost Effectiveness Considerations</a:t>
            </a:r>
          </a:p>
          <a:p>
            <a:pPr marL="298450" indent="-285750">
              <a:lnSpc>
                <a:spcPct val="100000"/>
              </a:lnSpc>
              <a:spcBef>
                <a:spcPts val="100"/>
              </a:spcBef>
              <a:buFont typeface="Wingdings" panose="05000000000000000000" pitchFamily="2" charset="2"/>
              <a:buChar char="ü"/>
            </a:pPr>
            <a:r>
              <a:rPr sz="1400" dirty="0">
                <a:latin typeface="Calibri"/>
                <a:cs typeface="Calibri"/>
              </a:rPr>
              <a:t>Set</a:t>
            </a:r>
            <a:r>
              <a:rPr sz="1400" spc="-50" dirty="0">
                <a:latin typeface="Calibri"/>
                <a:cs typeface="Calibri"/>
              </a:rPr>
              <a:t> </a:t>
            </a:r>
            <a:r>
              <a:rPr sz="1400" dirty="0">
                <a:latin typeface="Calibri"/>
                <a:cs typeface="Calibri"/>
              </a:rPr>
              <a:t>budget</a:t>
            </a:r>
            <a:r>
              <a:rPr sz="1400" spc="-50" dirty="0">
                <a:latin typeface="Calibri"/>
                <a:cs typeface="Calibri"/>
              </a:rPr>
              <a:t> </a:t>
            </a:r>
            <a:r>
              <a:rPr sz="1400" dirty="0">
                <a:latin typeface="Calibri"/>
                <a:cs typeface="Calibri"/>
              </a:rPr>
              <a:t>alerts</a:t>
            </a:r>
            <a:r>
              <a:rPr sz="1400" spc="-40" dirty="0">
                <a:latin typeface="Calibri"/>
                <a:cs typeface="Calibri"/>
              </a:rPr>
              <a:t> </a:t>
            </a:r>
            <a:r>
              <a:rPr sz="1400" dirty="0">
                <a:latin typeface="Calibri"/>
                <a:cs typeface="Calibri"/>
              </a:rPr>
              <a:t>on</a:t>
            </a:r>
            <a:r>
              <a:rPr sz="1400" spc="-45" dirty="0">
                <a:latin typeface="Calibri"/>
                <a:cs typeface="Calibri"/>
              </a:rPr>
              <a:t> </a:t>
            </a:r>
            <a:r>
              <a:rPr sz="1400" spc="-10" dirty="0">
                <a:latin typeface="Calibri"/>
                <a:cs typeface="Calibri"/>
              </a:rPr>
              <a:t>subscription</a:t>
            </a:r>
            <a:endParaRPr lang="en-US" sz="1400" spc="-10" dirty="0">
              <a:latin typeface="Calibri"/>
              <a:cs typeface="Calibri"/>
            </a:endParaRPr>
          </a:p>
          <a:p>
            <a:pPr marL="298450" indent="-285750">
              <a:spcBef>
                <a:spcPts val="100"/>
              </a:spcBef>
              <a:buFont typeface="Wingdings" panose="05000000000000000000" pitchFamily="2" charset="2"/>
              <a:buChar char="ü"/>
            </a:pPr>
            <a:r>
              <a:rPr lang="en-IN" sz="1400" dirty="0">
                <a:cs typeface="Calibri"/>
              </a:rPr>
              <a:t>Scheduling </a:t>
            </a:r>
            <a:r>
              <a:rPr lang="en-US" sz="1400" dirty="0">
                <a:cs typeface="Calibri"/>
              </a:rPr>
              <a:t>-</a:t>
            </a:r>
            <a:r>
              <a:rPr lang="en-US" sz="1400" spc="-45" dirty="0">
                <a:cs typeface="Calibri"/>
              </a:rPr>
              <a:t> </a:t>
            </a:r>
            <a:r>
              <a:rPr lang="en-US" sz="1400" spc="-10" dirty="0">
                <a:cs typeface="Calibri"/>
              </a:rPr>
              <a:t>Don’t forget to pause/delete the scheduling</a:t>
            </a:r>
            <a:endParaRPr lang="en-US" sz="1400" dirty="0">
              <a:cs typeface="Calibri"/>
            </a:endParaRPr>
          </a:p>
          <a:p>
            <a:pPr marL="298450" indent="-285750">
              <a:spcBef>
                <a:spcPts val="100"/>
              </a:spcBef>
              <a:buFont typeface="Wingdings" panose="05000000000000000000" pitchFamily="2" charset="2"/>
              <a:buChar char="ü"/>
            </a:pPr>
            <a:r>
              <a:rPr lang="en-US" sz="1400" b="1" i="1" dirty="0">
                <a:cs typeface="Calibri"/>
              </a:rPr>
              <a:t>Azure</a:t>
            </a:r>
            <a:r>
              <a:rPr lang="en-US" sz="1400" b="1" i="1" spc="-80" dirty="0">
                <a:cs typeface="Calibri"/>
              </a:rPr>
              <a:t> </a:t>
            </a:r>
            <a:r>
              <a:rPr lang="en-US" sz="1400" b="1" i="1" spc="-10" dirty="0" err="1">
                <a:cs typeface="Calibri"/>
              </a:rPr>
              <a:t>Databricks</a:t>
            </a:r>
            <a:r>
              <a:rPr lang="en-US" sz="1400" b="1" i="1" spc="-90" dirty="0">
                <a:cs typeface="Calibri"/>
              </a:rPr>
              <a:t>  </a:t>
            </a:r>
            <a:r>
              <a:rPr lang="en-US" sz="1400" b="1" i="1" dirty="0">
                <a:cs typeface="Calibri"/>
              </a:rPr>
              <a:t>Cluster</a:t>
            </a:r>
            <a:r>
              <a:rPr lang="en-US" sz="1400" b="1" i="1" spc="-85" dirty="0">
                <a:cs typeface="Calibri"/>
              </a:rPr>
              <a:t> </a:t>
            </a:r>
            <a:r>
              <a:rPr lang="en-US" sz="1400" b="1" i="1" spc="-20" dirty="0">
                <a:cs typeface="Calibri"/>
              </a:rPr>
              <a:t>Pool - </a:t>
            </a:r>
            <a:r>
              <a:rPr lang="en-US" sz="1400" b="1" i="1" u="sng" dirty="0">
                <a:cs typeface="Calibri"/>
              </a:rPr>
              <a:t>Delete</a:t>
            </a:r>
            <a:r>
              <a:rPr lang="en-US" sz="1400" b="1" i="1" u="sng" spc="-45" dirty="0">
                <a:cs typeface="Calibri"/>
              </a:rPr>
              <a:t> </a:t>
            </a:r>
            <a:r>
              <a:rPr lang="en-US" sz="1400" b="1" i="1" u="sng" dirty="0">
                <a:cs typeface="Calibri"/>
              </a:rPr>
              <a:t>the</a:t>
            </a:r>
            <a:r>
              <a:rPr lang="en-US" sz="1400" b="1" i="1" u="sng" spc="-45" dirty="0">
                <a:cs typeface="Calibri"/>
              </a:rPr>
              <a:t> </a:t>
            </a:r>
            <a:r>
              <a:rPr lang="en-US" sz="1400" b="1" i="1" u="sng" dirty="0">
                <a:cs typeface="Calibri"/>
              </a:rPr>
              <a:t>cluster</a:t>
            </a:r>
            <a:r>
              <a:rPr lang="en-US" sz="1400" b="1" i="1" u="sng" spc="-45" dirty="0">
                <a:cs typeface="Calibri"/>
              </a:rPr>
              <a:t> </a:t>
            </a:r>
            <a:r>
              <a:rPr lang="en-US" sz="1400" b="1" i="1" u="sng" dirty="0">
                <a:cs typeface="Calibri"/>
              </a:rPr>
              <a:t>pool</a:t>
            </a:r>
            <a:r>
              <a:rPr lang="en-US" sz="1400" b="1" i="1" u="sng" spc="-55" dirty="0">
                <a:cs typeface="Calibri"/>
              </a:rPr>
              <a:t> </a:t>
            </a:r>
            <a:r>
              <a:rPr lang="en-US" sz="1400" b="1" i="1" u="sng" dirty="0">
                <a:cs typeface="Calibri"/>
              </a:rPr>
              <a:t>once your practice is complete</a:t>
            </a:r>
            <a:endParaRPr lang="en-US" sz="1400" b="1" i="1" u="sng" spc="-20" dirty="0">
              <a:cs typeface="Calibri"/>
            </a:endParaRPr>
          </a:p>
          <a:p>
            <a:pPr marL="298450" indent="-285750">
              <a:spcBef>
                <a:spcPts val="100"/>
              </a:spcBef>
              <a:buFont typeface="Wingdings" panose="05000000000000000000" pitchFamily="2" charset="2"/>
              <a:buChar char="ü"/>
            </a:pPr>
            <a:r>
              <a:rPr lang="en-US" sz="1400" b="1" i="1" dirty="0">
                <a:cs typeface="Calibri"/>
              </a:rPr>
              <a:t>Azure</a:t>
            </a:r>
            <a:r>
              <a:rPr lang="en-US" sz="1400" b="1" i="1" spc="-55" dirty="0">
                <a:cs typeface="Calibri"/>
              </a:rPr>
              <a:t> </a:t>
            </a:r>
            <a:r>
              <a:rPr lang="en-US" sz="1400" b="1" i="1" spc="-10" dirty="0" err="1">
                <a:cs typeface="Calibri"/>
              </a:rPr>
              <a:t>Databricks</a:t>
            </a:r>
            <a:r>
              <a:rPr lang="en-US" sz="1400" b="1" i="1" spc="-65" dirty="0">
                <a:cs typeface="Calibri"/>
              </a:rPr>
              <a:t> </a:t>
            </a:r>
            <a:r>
              <a:rPr lang="en-US" sz="1400" b="1" i="1" dirty="0">
                <a:cs typeface="Calibri"/>
              </a:rPr>
              <a:t>All</a:t>
            </a:r>
            <a:r>
              <a:rPr lang="en-US" sz="1400" b="1" i="1" spc="-60" dirty="0">
                <a:cs typeface="Calibri"/>
              </a:rPr>
              <a:t> </a:t>
            </a:r>
            <a:r>
              <a:rPr lang="en-US" sz="1400" b="1" i="1" dirty="0">
                <a:cs typeface="Calibri"/>
              </a:rPr>
              <a:t>Purpose</a:t>
            </a:r>
            <a:r>
              <a:rPr lang="en-US" sz="1400" b="1" i="1" spc="-55" dirty="0">
                <a:cs typeface="Calibri"/>
              </a:rPr>
              <a:t> </a:t>
            </a:r>
            <a:r>
              <a:rPr lang="en-US" sz="1400" b="1" i="1" spc="-10" dirty="0">
                <a:cs typeface="Calibri"/>
              </a:rPr>
              <a:t>Cluster - </a:t>
            </a:r>
            <a:r>
              <a:rPr lang="en-US" sz="1400" b="1" i="1" u="sng" dirty="0">
                <a:cs typeface="Calibri"/>
              </a:rPr>
              <a:t>Set</a:t>
            </a:r>
            <a:r>
              <a:rPr lang="en-US" sz="1400" b="1" i="1" u="sng" spc="-40" dirty="0">
                <a:cs typeface="Calibri"/>
              </a:rPr>
              <a:t> </a:t>
            </a:r>
            <a:r>
              <a:rPr lang="en-US" sz="1400" b="1" i="1" u="sng" dirty="0">
                <a:cs typeface="Calibri"/>
              </a:rPr>
              <a:t>Auto</a:t>
            </a:r>
            <a:r>
              <a:rPr lang="en-US" sz="1400" b="1" i="1" u="sng" spc="-40" dirty="0">
                <a:cs typeface="Calibri"/>
              </a:rPr>
              <a:t> </a:t>
            </a:r>
            <a:r>
              <a:rPr lang="en-US" sz="1400" b="1" i="1" u="sng" spc="-25" dirty="0">
                <a:cs typeface="Calibri"/>
              </a:rPr>
              <a:t>Termination</a:t>
            </a:r>
            <a:r>
              <a:rPr lang="en-US" sz="1400" b="1" i="1" u="sng" spc="-40" dirty="0">
                <a:cs typeface="Calibri"/>
              </a:rPr>
              <a:t> </a:t>
            </a:r>
            <a:r>
              <a:rPr lang="en-US" sz="1400" b="1" i="1" u="sng" dirty="0">
                <a:cs typeface="Calibri"/>
              </a:rPr>
              <a:t>for an hour</a:t>
            </a:r>
          </a:p>
        </p:txBody>
      </p:sp>
      <p:sp>
        <p:nvSpPr>
          <p:cNvPr id="34" name="Title 1"/>
          <p:cNvSpPr>
            <a:spLocks noGrp="1"/>
          </p:cNvSpPr>
          <p:nvPr>
            <p:ph type="title"/>
          </p:nvPr>
        </p:nvSpPr>
        <p:spPr>
          <a:xfrm>
            <a:off x="0" y="-17866"/>
            <a:ext cx="6777318" cy="369332"/>
          </a:xfrm>
        </p:spPr>
        <p:txBody>
          <a:bodyPr wrap="square">
            <a:spAutoFit/>
          </a:bodyPr>
          <a:lstStyle/>
          <a:p>
            <a:r>
              <a:rPr lang="en-US" sz="2000" b="1" dirty="0" err="1">
                <a:solidFill>
                  <a:srgbClr val="C00000"/>
                </a:solidFill>
                <a:latin typeface="+mn-lt"/>
                <a:ea typeface="+mn-ea"/>
                <a:cs typeface="+mn-cs"/>
              </a:rPr>
              <a:t>Databricks</a:t>
            </a:r>
            <a:r>
              <a:rPr lang="en-US" sz="2000" b="1" dirty="0">
                <a:solidFill>
                  <a:srgbClr val="C00000"/>
                </a:solidFill>
                <a:latin typeface="+mn-lt"/>
                <a:ea typeface="+mn-ea"/>
                <a:cs typeface="+mn-cs"/>
              </a:rPr>
              <a:t> Pricing Calculation &amp; Cluster Tiers</a:t>
            </a:r>
          </a:p>
        </p:txBody>
      </p:sp>
      <p:grpSp>
        <p:nvGrpSpPr>
          <p:cNvPr id="8" name="Group 7"/>
          <p:cNvGrpSpPr/>
          <p:nvPr/>
        </p:nvGrpSpPr>
        <p:grpSpPr>
          <a:xfrm>
            <a:off x="109275" y="2491262"/>
            <a:ext cx="5332301" cy="4079867"/>
            <a:chOff x="109275" y="2491262"/>
            <a:chExt cx="5332301" cy="4079867"/>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74" y="2926939"/>
              <a:ext cx="1437169" cy="35308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2581" y="2926939"/>
              <a:ext cx="3424904" cy="14893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676348" y="2501364"/>
              <a:ext cx="1441870" cy="277485"/>
            </a:xfrm>
            <a:prstGeom prst="rect">
              <a:avLst/>
            </a:prstGeom>
            <a:solidFill>
              <a:schemeClr val="accent1">
                <a:lumMod val="20000"/>
                <a:lumOff val="80000"/>
              </a:schemeClr>
            </a:solidFill>
          </p:spPr>
          <p:txBody>
            <a:bodyPr wrap="none">
              <a:spAutoFit/>
            </a:bodyPr>
            <a:lstStyle/>
            <a:p>
              <a:r>
                <a:rPr lang="en-US" dirty="0">
                  <a:cs typeface="Calibri"/>
                </a:rPr>
                <a:t>Standard Tier</a:t>
              </a:r>
              <a:endParaRPr lang="en-IN" dirty="0"/>
            </a:p>
          </p:txBody>
        </p:sp>
        <p:sp>
          <p:nvSpPr>
            <p:cNvPr id="7" name="Rectangle 6"/>
            <p:cNvSpPr/>
            <p:nvPr/>
          </p:nvSpPr>
          <p:spPr>
            <a:xfrm>
              <a:off x="109275" y="2491262"/>
              <a:ext cx="5332301" cy="4079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 name="Group 8"/>
          <p:cNvGrpSpPr/>
          <p:nvPr/>
        </p:nvGrpSpPr>
        <p:grpSpPr>
          <a:xfrm>
            <a:off x="5748206" y="1976161"/>
            <a:ext cx="6201746" cy="4881839"/>
            <a:chOff x="5524089" y="1949782"/>
            <a:chExt cx="6201746" cy="4881839"/>
          </a:xfrm>
        </p:grpSpPr>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463" y="2054690"/>
              <a:ext cx="1091570" cy="4723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3543" y="2491262"/>
              <a:ext cx="4855083" cy="10484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 name="Rectangle 34"/>
            <p:cNvSpPr/>
            <p:nvPr/>
          </p:nvSpPr>
          <p:spPr>
            <a:xfrm>
              <a:off x="7673722" y="1951808"/>
              <a:ext cx="2504596" cy="277485"/>
            </a:xfrm>
            <a:prstGeom prst="rect">
              <a:avLst/>
            </a:prstGeom>
            <a:solidFill>
              <a:schemeClr val="accent1">
                <a:lumMod val="20000"/>
                <a:lumOff val="80000"/>
              </a:schemeClr>
            </a:solidFill>
          </p:spPr>
          <p:txBody>
            <a:bodyPr wrap="none">
              <a:spAutoFit/>
            </a:bodyPr>
            <a:lstStyle/>
            <a:p>
              <a:r>
                <a:rPr lang="en-US" dirty="0">
                  <a:cs typeface="Calibri"/>
                </a:rPr>
                <a:t>Premium/Enterprise Tier</a:t>
              </a:r>
              <a:endParaRPr lang="en-IN" dirty="0"/>
            </a:p>
          </p:txBody>
        </p:sp>
        <p:sp>
          <p:nvSpPr>
            <p:cNvPr id="39" name="Rectangle 38"/>
            <p:cNvSpPr/>
            <p:nvPr/>
          </p:nvSpPr>
          <p:spPr>
            <a:xfrm>
              <a:off x="5524089" y="1949782"/>
              <a:ext cx="6201746" cy="48818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819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1068" y="331602"/>
            <a:ext cx="4163543" cy="15152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6" name="Rectangle 35"/>
          <p:cNvSpPr/>
          <p:nvPr/>
        </p:nvSpPr>
        <p:spPr>
          <a:xfrm>
            <a:off x="6689858" y="39356"/>
            <a:ext cx="4129464" cy="307777"/>
          </a:xfrm>
          <a:prstGeom prst="rect">
            <a:avLst/>
          </a:prstGeom>
        </p:spPr>
        <p:txBody>
          <a:bodyPr wrap="none">
            <a:spAutoFit/>
          </a:bodyPr>
          <a:lstStyle/>
          <a:p>
            <a:r>
              <a:rPr lang="en-IN" sz="1400" dirty="0">
                <a:hlinkClick r:id="rId7"/>
              </a:rPr>
              <a:t>https://azure.microsoft.com/en-us/pricing/calculator/</a:t>
            </a:r>
            <a:endParaRPr lang="en-IN" sz="1400" dirty="0"/>
          </a:p>
        </p:txBody>
      </p:sp>
    </p:spTree>
    <p:extLst>
      <p:ext uri="{BB962C8B-B14F-4D97-AF65-F5344CB8AC3E}">
        <p14:creationId xmlns:p14="http://schemas.microsoft.com/office/powerpoint/2010/main" val="31301592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860864075"/>
              </p:ext>
            </p:extLst>
          </p:nvPr>
        </p:nvGraphicFramePr>
        <p:xfrm>
          <a:off x="337820" y="1943894"/>
          <a:ext cx="6350000" cy="762000"/>
        </p:xfrm>
        <a:graphic>
          <a:graphicData uri="http://schemas.openxmlformats.org/drawingml/2006/table">
            <a:tbl>
              <a:tblPr/>
              <a:tblGrid>
                <a:gridCol w="673100"/>
                <a:gridCol w="4102100"/>
                <a:gridCol w="1574800"/>
              </a:tblGrid>
              <a:tr h="190500">
                <a:tc>
                  <a:txBody>
                    <a:bodyPr/>
                    <a:lstStyle/>
                    <a:p>
                      <a:pPr algn="l" rtl="0" fontAlgn="ctr"/>
                      <a:r>
                        <a:rPr lang="en-IN" sz="1100" b="1" i="0" u="none" strike="noStrike">
                          <a:solidFill>
                            <a:srgbClr val="1F1F1F"/>
                          </a:solidFill>
                          <a:effectLst/>
                          <a:latin typeface="Arial"/>
                        </a:rPr>
                        <a:t>Feature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IN" sz="1100" b="1" i="0" u="none" strike="noStrike">
                          <a:solidFill>
                            <a:srgbClr val="1F1F1F"/>
                          </a:solidFill>
                          <a:effectLst/>
                          <a:latin typeface="Arial"/>
                        </a:rPr>
                        <a:t>Purpose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IN" sz="1100" b="1" i="0" u="none" strike="noStrike">
                          <a:solidFill>
                            <a:srgbClr val="1F1F1F"/>
                          </a:solidFill>
                          <a:effectLst/>
                          <a:latin typeface="Arial"/>
                        </a:rPr>
                        <a:t>Level</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190500">
                <a:tc>
                  <a:txBody>
                    <a:bodyPr/>
                    <a:lstStyle/>
                    <a:p>
                      <a:pPr algn="l" rtl="0" fontAlgn="ctr"/>
                      <a:r>
                        <a:rPr lang="en-IN" sz="1100" b="1" i="0" u="none" strike="noStrike">
                          <a:solidFill>
                            <a:srgbClr val="1F1F1F"/>
                          </a:solidFill>
                          <a:effectLst/>
                          <a:latin typeface="Arial"/>
                        </a:rPr>
                        <a:t>CDC</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US" sz="1100" b="0" i="0" u="none" strike="noStrike">
                          <a:solidFill>
                            <a:srgbClr val="1F1F1F"/>
                          </a:solidFill>
                          <a:effectLst/>
                          <a:latin typeface="Arial"/>
                        </a:rPr>
                        <a:t>Bringing changes </a:t>
                      </a:r>
                      <a:r>
                        <a:rPr lang="en-US" sz="1100" b="1" i="0" u="none" strike="noStrike">
                          <a:solidFill>
                            <a:srgbClr val="1F1F1F"/>
                          </a:solidFill>
                          <a:effectLst/>
                          <a:latin typeface="Arial"/>
                        </a:rPr>
                        <a:t>into</a:t>
                      </a:r>
                      <a:r>
                        <a:rPr lang="en-US" sz="1100" b="0" i="0" u="none" strike="noStrike">
                          <a:solidFill>
                            <a:srgbClr val="1F1F1F"/>
                          </a:solidFill>
                          <a:effectLst/>
                          <a:latin typeface="Arial"/>
                        </a:rPr>
                        <a:t> Databricks from the outside world.</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IN" sz="1100" b="0" i="0" u="none" strike="noStrike">
                          <a:solidFill>
                            <a:srgbClr val="1F1F1F"/>
                          </a:solidFill>
                          <a:effectLst/>
                          <a:latin typeface="Arial"/>
                        </a:rPr>
                        <a:t>Source → Bronze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500">
                <a:tc>
                  <a:txBody>
                    <a:bodyPr/>
                    <a:lstStyle/>
                    <a:p>
                      <a:pPr algn="l" rtl="0" fontAlgn="ctr"/>
                      <a:r>
                        <a:rPr lang="en-IN" sz="1100" b="1" i="0" u="none" strike="noStrike">
                          <a:solidFill>
                            <a:srgbClr val="1F1F1F"/>
                          </a:solidFill>
                          <a:effectLst/>
                          <a:latin typeface="Arial"/>
                        </a:rPr>
                        <a:t>CDF</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US" sz="1100" b="0" i="0" u="none" strike="noStrike">
                          <a:solidFill>
                            <a:srgbClr val="1F1F1F"/>
                          </a:solidFill>
                          <a:effectLst/>
                          <a:latin typeface="Arial"/>
                        </a:rPr>
                        <a:t>Exposing changes </a:t>
                      </a:r>
                      <a:r>
                        <a:rPr lang="en-US" sz="1100" b="1" i="0" u="none" strike="noStrike">
                          <a:solidFill>
                            <a:srgbClr val="1F1F1F"/>
                          </a:solidFill>
                          <a:effectLst/>
                          <a:latin typeface="Arial"/>
                        </a:rPr>
                        <a:t>from</a:t>
                      </a:r>
                      <a:r>
                        <a:rPr lang="en-US" sz="1100" b="0" i="0" u="none" strike="noStrike">
                          <a:solidFill>
                            <a:srgbClr val="1F1F1F"/>
                          </a:solidFill>
                          <a:effectLst/>
                          <a:latin typeface="Arial"/>
                        </a:rPr>
                        <a:t> a Delta table for downstream use.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IN" sz="1100" b="0" i="0" u="none" strike="noStrike">
                          <a:solidFill>
                            <a:srgbClr val="1F1F1F"/>
                          </a:solidFill>
                          <a:effectLst/>
                          <a:latin typeface="Arial"/>
                        </a:rPr>
                        <a:t>Bronze → Silver → Gold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500">
                <a:tc>
                  <a:txBody>
                    <a:bodyPr/>
                    <a:lstStyle/>
                    <a:p>
                      <a:pPr algn="l" rtl="0" fontAlgn="ctr"/>
                      <a:r>
                        <a:rPr lang="en-IN" sz="1100" b="1" i="0" u="none" strike="noStrike">
                          <a:solidFill>
                            <a:srgbClr val="1F1F1F"/>
                          </a:solidFill>
                          <a:effectLst/>
                          <a:latin typeface="Arial"/>
                        </a:rPr>
                        <a:t>SCD</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rtl="0" fontAlgn="ctr"/>
                      <a:r>
                        <a:rPr lang="en-US" sz="1100" b="0" i="0" u="none" strike="noStrike">
                          <a:solidFill>
                            <a:srgbClr val="1F1F1F"/>
                          </a:solidFill>
                          <a:effectLst/>
                          <a:latin typeface="Arial"/>
                        </a:rPr>
                        <a:t>Determining </a:t>
                      </a:r>
                      <a:r>
                        <a:rPr lang="en-US" sz="1100" b="1" i="0" u="none" strike="noStrike">
                          <a:solidFill>
                            <a:srgbClr val="1F1F1F"/>
                          </a:solidFill>
                          <a:effectLst/>
                          <a:latin typeface="Arial"/>
                        </a:rPr>
                        <a:t>how</a:t>
                      </a:r>
                      <a:r>
                        <a:rPr lang="en-US" sz="1100" b="0" i="0" u="none" strike="noStrike">
                          <a:solidFill>
                            <a:srgbClr val="1F1F1F"/>
                          </a:solidFill>
                          <a:effectLst/>
                          <a:latin typeface="Arial"/>
                        </a:rPr>
                        <a:t> to store those changes (overwrite vs. history).</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IN" sz="1100" b="0" i="0" u="none" strike="noStrike" dirty="0">
                          <a:solidFill>
                            <a:srgbClr val="1F1F1F"/>
                          </a:solidFill>
                          <a:effectLst/>
                          <a:latin typeface="Arial"/>
                        </a:rPr>
                        <a:t>Target Table Logic</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Rectangle 2"/>
          <p:cNvSpPr txBox="1">
            <a:spLocks noChangeArrowheads="1"/>
          </p:cNvSpPr>
          <p:nvPr/>
        </p:nvSpPr>
        <p:spPr>
          <a:xfrm>
            <a:off x="284601" y="34430"/>
            <a:ext cx="10868870" cy="7145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FF0000"/>
                </a:solidFill>
                <a:latin typeface="+mj-lt"/>
                <a:ea typeface="+mj-ea"/>
                <a:cs typeface="+mj-cs"/>
              </a:defRPr>
            </a:lvl1pPr>
          </a:lstStyle>
          <a:p>
            <a:r>
              <a:rPr lang="en-US" sz="3200" dirty="0" smtClean="0"/>
              <a:t>Azure </a:t>
            </a:r>
            <a:r>
              <a:rPr lang="en-US" sz="3200" dirty="0" err="1" smtClean="0"/>
              <a:t>Databricks</a:t>
            </a:r>
            <a:r>
              <a:rPr lang="en-US" sz="3200" dirty="0" smtClean="0"/>
              <a:t> – CDC, CDF, SCD</a:t>
            </a:r>
            <a:endParaRPr lang="en-US" sz="3200" dirty="0"/>
          </a:p>
        </p:txBody>
      </p:sp>
    </p:spTree>
    <p:extLst>
      <p:ext uri="{BB962C8B-B14F-4D97-AF65-F5344CB8AC3E}">
        <p14:creationId xmlns:p14="http://schemas.microsoft.com/office/powerpoint/2010/main" val="2101137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389781</TotalTime>
  <Words>7180</Words>
  <Application>Microsoft Office PowerPoint</Application>
  <PresentationFormat>Custom</PresentationFormat>
  <Paragraphs>1344</Paragraphs>
  <Slides>68</Slides>
  <Notes>25</Notes>
  <HiddenSlides>1</HiddenSlides>
  <MMClips>0</MMClips>
  <ScaleCrop>false</ScaleCrop>
  <HeadingPairs>
    <vt:vector size="4" baseType="variant">
      <vt:variant>
        <vt:lpstr>Theme</vt:lpstr>
      </vt:variant>
      <vt:variant>
        <vt:i4>3</vt:i4>
      </vt:variant>
      <vt:variant>
        <vt:lpstr>Slide Titles</vt:lpstr>
      </vt:variant>
      <vt:variant>
        <vt:i4>68</vt:i4>
      </vt:variant>
    </vt:vector>
  </HeadingPairs>
  <TitlesOfParts>
    <vt:vector size="71" baseType="lpstr">
      <vt:lpstr>Office Theme</vt:lpstr>
      <vt:lpstr>1_Office Theme</vt:lpstr>
      <vt:lpstr>2_Office Theme</vt:lpstr>
      <vt:lpstr>Cloud Computing</vt:lpstr>
      <vt:lpstr>All about Cloud Computing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Azure – Account Creation We will do it later Programmatic access </vt:lpstr>
      <vt:lpstr>PowerPoint Presentation</vt:lpstr>
      <vt:lpstr>PowerPoint Presentation</vt:lpstr>
      <vt:lpstr>About Azure</vt:lpstr>
      <vt:lpstr>Azure Data Engineering/AI/BI Services (Software)</vt:lpstr>
      <vt:lpstr>        Azure – Resource Hierarchy</vt:lpstr>
      <vt:lpstr>PowerPoint Presentation</vt:lpstr>
      <vt:lpstr>PowerPoint Presentation</vt:lpstr>
      <vt:lpstr>PowerPoint Presentation</vt:lpstr>
      <vt:lpstr>PowerPoint Presentation</vt:lpstr>
      <vt:lpstr>PowerPoint Presentation</vt:lpstr>
      <vt:lpstr>PowerPoint Presentation</vt:lpstr>
      <vt:lpstr>        Azure – Connectivity    (CLI/Programmatic/UI)</vt:lpstr>
      <vt:lpstr>PowerPoint Presentation</vt:lpstr>
      <vt:lpstr>Cloud SDK &amp; CLIs </vt:lpstr>
      <vt:lpstr>1. Download &amp; Install az SDK - Classroom - Practice</vt:lpstr>
      <vt:lpstr>3. Az Commands list - Classroom - Practice</vt:lpstr>
      <vt:lpstr>Az – SECURITY (core)</vt:lpstr>
      <vt:lpstr>PowerPoint Presentation</vt:lpstr>
      <vt:lpstr>    IAM (RBAC) – Ms Entra/Ms AD</vt:lpstr>
      <vt:lpstr>RBAC – IAM (Identity) (User/group/role management)</vt:lpstr>
      <vt:lpstr>RBAC – IAM (Access) (Role Assignment)</vt:lpstr>
      <vt:lpstr>Azure Storage Resource BLOB/ADLS Gen2-V2</vt:lpstr>
      <vt:lpstr>PowerPoint Presentation</vt:lpstr>
      <vt:lpstr>Azure Storage Container Basic Characteristics</vt:lpstr>
      <vt:lpstr>Storage Tiers (Storage Classes in GCP Standard/Nearline(30d)/Coldline(90d)/Archival(365d))</vt:lpstr>
      <vt:lpstr>Redundancy (Location) Types</vt:lpstr>
      <vt:lpstr>Storage Security</vt:lpstr>
      <vt:lpstr>PowerPoint Presentation</vt:lpstr>
      <vt:lpstr>PowerPoint Presentation</vt:lpstr>
      <vt:lpstr>PowerPoint Presentation</vt:lpstr>
      <vt:lpstr>PowerPoint Presentation</vt:lpstr>
      <vt:lpstr>PowerPoint Presentation</vt:lpstr>
      <vt:lpstr>PowerPoint Presentation</vt:lpstr>
      <vt:lpstr>Azure  Virtual (Pvt) Network  (GCP - VPC)</vt:lpstr>
      <vt:lpstr> Azure – Infra &amp; Network Hierarchy</vt:lpstr>
      <vt:lpstr>PowerPoint Presentation</vt:lpstr>
      <vt:lpstr>PowerPoint Presentation</vt:lpstr>
      <vt:lpstr>Azure VM</vt:lpstr>
      <vt:lpstr>PowerPoint Presentation</vt:lpstr>
      <vt:lpstr>Virtual Machine</vt:lpstr>
      <vt:lpstr>PowerPoint Presentation</vt:lpstr>
      <vt:lpstr>Azure Databricks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Creating DBFS Catalog &amp; Volume for source data handling</vt:lpstr>
      <vt:lpstr>2. Upload sample data into Databricks DBFS Volume created in the previous slide</vt:lpstr>
      <vt:lpstr>Cluster Configurations (Compute -&gt; New Compute)</vt:lpstr>
      <vt:lpstr>PowerPoint Presentation</vt:lpstr>
      <vt:lpstr>PowerPoint Presentation</vt:lpstr>
      <vt:lpstr>Healthcare &amp; Life Science Project (BLOB, Datalake(ADLS), Databricks (Delta)) Implementation Medallion (Parallel Pipeline1&amp;2) &amp; Understanding of Deltalake</vt:lpstr>
      <vt:lpstr>Databricks Pricing Calculation &amp; Cluster Tiers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mohamed irfan</cp:lastModifiedBy>
  <cp:revision>1092</cp:revision>
  <dcterms:created xsi:type="dcterms:W3CDTF">2019-02-11T01:32:33Z</dcterms:created>
  <dcterms:modified xsi:type="dcterms:W3CDTF">2026-04-06T05:43:22Z</dcterms:modified>
</cp:coreProperties>
</file>